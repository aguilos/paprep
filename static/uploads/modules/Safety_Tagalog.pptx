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51741179-2A61-C378-86C3-8816DF5F8BBC}">
          <p14:sldIdLst>
            <p14:sldId id="256"/>
            <p14:sldId id="257"/>
          </p14:sldIdLst>
        </p14:section>
        <p14:section name="Topics" id="{88C4186C-37ED-6E40-7804-73C97BC2FBAE}">
          <p14:sldIdLst>
            <p14:sldId id="258"/>
            <p14:sldId id="259"/>
            <p14:sldId id="260"/>
            <p14:sldId id="261"/>
            <p14:sldId id="262"/>
            <p14:sldId id="263"/>
            <p14:sldId id="264"/>
            <p14:sldId id="265"/>
            <p14:sldId id="266"/>
            <p14:sldId id="267"/>
            <p14:sldId id="268"/>
          </p14:sldIdLst>
        </p14:section>
        <p14:section name="Quiz" id="{C2574D11-0609-AB21-9EBF-0C1F2D70E720}">
          <p14:sldIdLst>
            <p14:sldId id="269"/>
            <p14:sldId id="270"/>
            <p14:sldId id="271"/>
            <p14:sldId id="272"/>
            <p14:sldId id="273"/>
            <p14:sldId id="274"/>
            <p14:sldId id="275"/>
            <p14:sldId id="276"/>
            <p14:sldId id="277"/>
            <p14:sldId id="278"/>
            <p14:sldId id="279"/>
            <p14:sldId id="280"/>
            <p14:sldId id="281"/>
          </p14:sldIdLst>
        </p14:section>
        <p14:section name="Wrap-up" id="{F5106F84-9BE9-F73F-EBCD-BE96228A6AA9}">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4392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Patakbuhin ang deck sa Slide Show mode para gumana ang mga card, button at sagot sa quiz. Batay sa ibinigay na teksto sa Kaligtasan at sa seksyong Safety ng REdbook notes.</a:t>
            </a:r>
          </a:p>
        </p:txBody>
      </p:sp>
      <p:sp>
        <p:nvSpPr>
          <p:cNvPr id="4" name="Slide Number Placeholder 3"/>
          <p:cNvSpPr>
            <a:spLocks noGrp="1"/>
          </p:cNvSpPr>
          <p:nvPr>
            <p:ph type="sldNum" sz="quarter" idx="10"/>
          </p:nvPr>
        </p:nvSpPr>
        <p:spPr/>
        <p:txBody>
          <a:bodyPr/>
          <a:lstStyle/>
          <a:p>
            <a:fld id="{F7021451-1387-4CA6-816F-3879F97B5CBC}" type="slidenum">
              <a:rPr lang="fil-PH"/>
              <a:t>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3</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4</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5</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Mula sa teksto: kung bukas ang bintana, huwag maglagay ng mababang mesa, sopa, upuan o baby gate sa harap nito dahil maaaring umakyat at mahulog ang bata. Maglagay ng window guard sa bintanang bumubukas mula sa ibaba. May US poison hotline ang teksto; gamitin ang numero ng lokal na poison center.</a:t>
            </a:r>
          </a:p>
        </p:txBody>
      </p:sp>
      <p:sp>
        <p:nvSpPr>
          <p:cNvPr id="4" name="Slide Number Placeholder 3"/>
          <p:cNvSpPr>
            <a:spLocks noGrp="1"/>
          </p:cNvSpPr>
          <p:nvPr>
            <p:ph type="sldNum" sz="quarter" idx="10"/>
          </p:nvPr>
        </p:nvSpPr>
        <p:spPr/>
        <p:txBody>
          <a:bodyPr/>
          <a:lstStyle/>
          <a:p>
            <a:fld id="{F7021451-1387-4CA6-816F-3879F97B5CBC}" type="slidenum">
              <a:rPr lang="fil-PH"/>
              <a:t>6</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7</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8</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9</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10</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12</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13</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14</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B. Laging ihiga ang sanggol nang nakatihaya. Ang pagtulog nang nakatagilid o nakadapa ay maaaring magdulot ng pagkasakal o pagkabulunan.</a:t>
            </a:r>
          </a:p>
        </p:txBody>
      </p:sp>
      <p:sp>
        <p:nvSpPr>
          <p:cNvPr id="4" name="Slide Number Placeholder 3"/>
          <p:cNvSpPr>
            <a:spLocks noGrp="1"/>
          </p:cNvSpPr>
          <p:nvPr>
            <p:ph type="sldNum" sz="quarter" idx="10"/>
          </p:nvPr>
        </p:nvSpPr>
        <p:spPr/>
        <p:txBody>
          <a:bodyPr/>
          <a:lstStyle/>
          <a:p>
            <a:fld id="{F7021451-1387-4CA6-816F-3879F97B5CBC}" type="slidenum">
              <a:rPr lang="fil-PH"/>
              <a:t>15</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16</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17</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C. Maaaring malunod ang sanggol at maliliit na bata sa 1 hanggang 2 pulgada lang ng tubig, kaya huwag silang iwan mag-isa malapit sa tubig.</a:t>
            </a:r>
          </a:p>
        </p:txBody>
      </p:sp>
      <p:sp>
        <p:nvSpPr>
          <p:cNvPr id="4" name="Slide Number Placeholder 3"/>
          <p:cNvSpPr>
            <a:spLocks noGrp="1"/>
          </p:cNvSpPr>
          <p:nvPr>
            <p:ph type="sldNum" sz="quarter" idx="10"/>
          </p:nvPr>
        </p:nvSpPr>
        <p:spPr/>
        <p:txBody>
          <a:bodyPr/>
          <a:lstStyle/>
          <a:p>
            <a:fld id="{F7021451-1387-4CA6-816F-3879F97B5CBC}" type="slidenum">
              <a:rPr lang="fil-PH"/>
              <a:t>18</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19</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20</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A. Nakasakay ang sanggol nang paatras sa likurang upuan hanggang hindi bababa sa 2 taong gulang, o sa limitasyon ng taas o timbang ng seat.</a:t>
            </a:r>
          </a:p>
        </p:txBody>
      </p:sp>
      <p:sp>
        <p:nvSpPr>
          <p:cNvPr id="4" name="Slide Number Placeholder 3"/>
          <p:cNvSpPr>
            <a:spLocks noGrp="1"/>
          </p:cNvSpPr>
          <p:nvPr>
            <p:ph type="sldNum" sz="quarter" idx="10"/>
          </p:nvPr>
        </p:nvSpPr>
        <p:spPr/>
        <p:txBody>
          <a:bodyPr/>
          <a:lstStyle/>
          <a:p>
            <a:fld id="{F7021451-1387-4CA6-816F-3879F97B5CBC}" type="slidenum">
              <a:rPr lang="fil-PH"/>
              <a:t>21</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22</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23</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Tamang sagot: C. Napakadelikado ng baby walker. Hindi ito kailangan ng bata para matutong maglakad, at maraming sanggol ang nasasaktan sa pagkahulog.</a:t>
            </a:r>
          </a:p>
        </p:txBody>
      </p:sp>
      <p:sp>
        <p:nvSpPr>
          <p:cNvPr id="4" name="Slide Number Placeholder 3"/>
          <p:cNvSpPr>
            <a:spLocks noGrp="1"/>
          </p:cNvSpPr>
          <p:nvPr>
            <p:ph type="sldNum" sz="quarter" idx="10"/>
          </p:nvPr>
        </p:nvSpPr>
        <p:spPr/>
        <p:txBody>
          <a:bodyPr/>
          <a:lstStyle/>
          <a:p>
            <a:fld id="{F7021451-1387-4CA6-816F-3879F97B5CBC}" type="slidenum">
              <a:rPr lang="fil-PH"/>
              <a:t>24</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25</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l-PH" dirty="0"/>
          </a:p>
        </p:txBody>
      </p:sp>
      <p:sp>
        <p:nvSpPr>
          <p:cNvPr id="4" name="Slide Number Placeholder 3"/>
          <p:cNvSpPr>
            <a:spLocks noGrp="1"/>
          </p:cNvSpPr>
          <p:nvPr>
            <p:ph type="sldNum" sz="quarter" idx="10"/>
          </p:nvPr>
        </p:nvSpPr>
        <p:spPr/>
        <p:txBody>
          <a:bodyPr/>
          <a:lstStyle/>
          <a:p>
            <a:fld id="{F7021451-1387-4CA6-816F-3879F97B5CBC}" type="slidenum">
              <a:rPr lang="fil-PH"/>
              <a:t>26</a:t>
            </a:fld>
            <a:endParaRPr lang="fil-PH"/>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il-PH" dirty="0"/>
              <a:t>Pagtatapos. Pinagmulan: ibinigay na teksto sa Kaligtasan, at seksyong Safety ng REdbook notes.</a:t>
            </a:r>
          </a:p>
        </p:txBody>
      </p:sp>
      <p:sp>
        <p:nvSpPr>
          <p:cNvPr id="4" name="Slide Number Placeholder 3"/>
          <p:cNvSpPr>
            <a:spLocks noGrp="1"/>
          </p:cNvSpPr>
          <p:nvPr>
            <p:ph type="sldNum" sz="quarter" idx="10"/>
          </p:nvPr>
        </p:nvSpPr>
        <p:spPr/>
        <p:txBody>
          <a:bodyPr/>
          <a:lstStyle/>
          <a:p>
            <a:fld id="{F7021451-1387-4CA6-816F-3879F97B5CBC}" type="slidenum">
              <a:rPr lang="fil-PH"/>
              <a:t>27</a:t>
            </a:fld>
            <a:endParaRPr lang="fil-PH"/>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663440"/>
            <a:ext cx="1737360" cy="329184"/>
          </a:xfrm>
          <a:prstGeom prst="rect">
            <a:avLst/>
          </a:prstGeom>
          <a:noFill/>
          <a:ln/>
        </p:spPr>
        <p:txBody>
          <a:bodyPr wrap="square" lIns="0" tIns="0" rIns="0" bIns="0" rtlCol="0" anchor="ctr"/>
          <a:lstStyle/>
          <a:p>
            <a:pPr marL="0" indent="0">
              <a:buNone/>
            </a:pPr>
            <a:r>
              <a:rPr lang="en-US" sz="1000" dirty="0">
                <a:solidFill>
                  <a:schemeClr val="tx2"/>
                </a:solidFill>
              </a:rPr>
              <a:t>Safety Guide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14.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image" Target="../media/image6.png"/><Relationship Id="rId3" Type="http://schemas.openxmlformats.org/officeDocument/2006/relationships/slide" Target="slide14.xml"/><Relationship Id="rId7" Type="http://schemas.openxmlformats.org/officeDocument/2006/relationships/image" Target="../media/image3.png"/><Relationship Id="rId12"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4.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10" Type="http://schemas.openxmlformats.org/officeDocument/2006/relationships/slide" Target="slide7.xml"/><Relationship Id="rId4" Type="http://schemas.openxmlformats.org/officeDocument/2006/relationships/slide" Target="slide3.xml"/><Relationship Id="rId9" Type="http://schemas.openxmlformats.org/officeDocument/2006/relationships/image" Target="../media/image4.png"/><Relationship Id="rId14" Type="http://schemas.openxmlformats.org/officeDocument/2006/relationships/slide" Target="slide1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2.xml"/><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6.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4.xml"/><Relationship Id="rId5" Type="http://schemas.openxmlformats.org/officeDocument/2006/relationships/image" Target="../media/image10.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slide" Target="slide7.xml"/><Relationship Id="rId5" Type="http://schemas.openxmlformats.org/officeDocument/2006/relationships/image" Target="../media/image12.png"/><Relationship Id="rId10" Type="http://schemas.openxmlformats.org/officeDocument/2006/relationships/slide" Target="slide5.xml"/><Relationship Id="rId4" Type="http://schemas.openxmlformats.org/officeDocument/2006/relationships/image" Target="../media/image1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0.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2.xml"/><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slide" Target="slide11.xml"/></Relationships>
</file>

<file path=ppt/slides/_rels/slide11.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 Target="slide2.xml"/><Relationship Id="rId7" Type="http://schemas.openxmlformats.org/officeDocument/2006/relationships/slide" Target="slide10.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3.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slide" Target="slide11.xml"/><Relationship Id="rId5" Type="http://schemas.openxmlformats.org/officeDocument/2006/relationships/image" Target="../media/image24.png"/><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slide" Target="slide14.xml"/><Relationship Id="rId3" Type="http://schemas.openxmlformats.org/officeDocument/2006/relationships/slide" Target="slide2.xml"/><Relationship Id="rId7" Type="http://schemas.openxmlformats.org/officeDocument/2006/relationships/image" Target="../media/image8.png"/><Relationship Id="rId12" Type="http://schemas.openxmlformats.org/officeDocument/2006/relationships/slide" Target="slide12.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24.png"/><Relationship Id="rId5" Type="http://schemas.openxmlformats.org/officeDocument/2006/relationships/image" Target="../media/image26.png"/><Relationship Id="rId10" Type="http://schemas.openxmlformats.org/officeDocument/2006/relationships/image" Target="../media/image28.png"/><Relationship Id="rId4" Type="http://schemas.openxmlformats.org/officeDocument/2006/relationships/image" Target="../media/image25.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slide" Target="slide15.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slide" Target="slide16.xml"/><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5.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slide" Target="slide19.xml"/><Relationship Id="rId4" Type="http://schemas.openxmlformats.org/officeDocument/2006/relationships/slide" Target="slide20.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8.xml"/></Relationships>
</file>

<file path=ppt/slides/_rels/slide2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slide" Target="slide23.xml"/><Relationship Id="rId4" Type="http://schemas.openxmlformats.org/officeDocument/2006/relationships/slide" Target="slide22.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4.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slide" Target="slide25.xml"/><Relationship Id="rId4" Type="http://schemas.openxmlformats.org/officeDocument/2006/relationships/slide" Target="slide26.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7.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slide" Target="slide15.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photo" descr="A smiling boy holding up wooden blocks that spell SAFE"/>
          <p:cNvPicPr>
            <a:picLocks noChangeAspect="1"/>
          </p:cNvPicPr>
          <p:nvPr/>
        </p:nvPicPr>
        <p:blipFill>
          <a:blip r:embed="rId3"/>
          <a:stretch>
            <a:fillRect/>
          </a:stretch>
        </p:blipFill>
        <p:spPr>
          <a:xfrm>
            <a:off x="4023360" y="0"/>
            <a:ext cx="5120640" cy="5143500"/>
          </a:xfrm>
          <a:prstGeom prst="rect">
            <a:avLst/>
          </a:prstGeom>
        </p:spPr>
      </p:pic>
      <p:sp>
        <p:nvSpPr>
          <p:cNvPr id="3" name="Eyebrow"/>
          <p:cNvSpPr txBox="1"/>
          <p:nvPr/>
        </p:nvSpPr>
        <p:spPr>
          <a:xfrm>
            <a:off x="548640" y="822960"/>
            <a:ext cx="329184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GABAY SA KALIGTASAN</a:t>
            </a:r>
            <a:endParaRPr lang="fil-PH" sz="1400" dirty="0"/>
          </a:p>
        </p:txBody>
      </p:sp>
      <p:sp>
        <p:nvSpPr>
          <p:cNvPr id="4" name="Deck title"/>
          <p:cNvSpPr txBox="1"/>
          <p:nvPr/>
        </p:nvSpPr>
        <p:spPr>
          <a:xfrm>
            <a:off x="548640" y="1234440"/>
            <a:ext cx="3291840" cy="2103120"/>
          </a:xfrm>
          <a:prstGeom prst="rect">
            <a:avLst/>
          </a:prstGeom>
          <a:noFill/>
          <a:ln/>
        </p:spPr>
        <p:txBody>
          <a:bodyPr wrap="square" lIns="0" tIns="0" rIns="0" bIns="0" rtlCol="0" anchor="t"/>
          <a:lstStyle/>
          <a:p>
            <a:pPr marL="0" indent="0">
              <a:buNone/>
            </a:pPr>
            <a:r>
              <a:rPr lang="fil-PH" sz="3000" b="1" dirty="0">
                <a:solidFill>
                  <a:schemeClr val="bg1"/>
                </a:solidFill>
                <a:latin typeface="+mj-lt" pitchFamily="34" charset="0"/>
                <a:ea typeface="+mj-lt" pitchFamily="34" charset="-122"/>
                <a:cs typeface="+mj-lt" pitchFamily="34" charset="-120"/>
              </a:rPr>
              <a:t>Ligtas na tahanan para sa sanggol at bata</a:t>
            </a:r>
            <a:endParaRPr lang="fil-PH" sz="3000" dirty="0"/>
          </a:p>
        </p:txBody>
      </p:sp>
      <p:sp>
        <p:nvSpPr>
          <p:cNvPr id="5" name="Subtitle"/>
          <p:cNvSpPr txBox="1"/>
          <p:nvPr/>
        </p:nvSpPr>
        <p:spPr>
          <a:xfrm>
            <a:off x="548640" y="3429000"/>
            <a:ext cx="3200400" cy="640080"/>
          </a:xfrm>
          <a:prstGeom prst="rect">
            <a:avLst/>
          </a:prstGeom>
          <a:noFill/>
          <a:ln/>
        </p:spPr>
        <p:txBody>
          <a:bodyPr wrap="square" lIns="0" tIns="0" rIns="0" bIns="0" rtlCol="0" anchor="t"/>
          <a:lstStyle/>
          <a:p>
            <a:pPr marL="0" indent="0">
              <a:buNone/>
            </a:pPr>
            <a:r>
              <a:rPr lang="fil-PH" sz="1600">
                <a:solidFill>
                  <a:schemeClr val="bg1"/>
                </a:solidFill>
              </a:rPr>
              <a:t>Isang gabay</a:t>
            </a:r>
            <a:r>
              <a:rPr lang="fil-PH" sz="1600" dirty="0">
                <a:solidFill>
                  <a:schemeClr val="bg1"/>
                </a:solidFill>
              </a:rPr>
              <a:t>. Pindutin ang card para mag-explore, saka mag-quiz.</a:t>
            </a:r>
            <a:endParaRPr lang="fil-PH" sz="1600" dirty="0"/>
          </a:p>
        </p:txBody>
      </p:sp>
      <p:sp>
        <p:nvSpPr>
          <p:cNvPr id="6" name="Start button">
            <a:hlinkClick r:id="rId4" action="ppaction://hlinksldjump" tooltip="Open the topic menu"/>
          </p:cNvPr>
          <p:cNvSpPr/>
          <p:nvPr/>
        </p:nvSpPr>
        <p:spPr>
          <a:xfrm>
            <a:off x="548640" y="4206240"/>
            <a:ext cx="16002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Simulan</a:t>
            </a:r>
            <a:endParaRPr lang="fil-PH" sz="1400" dirty="0"/>
          </a:p>
        </p:txBody>
      </p:sp>
      <p:sp>
        <p:nvSpPr>
          <p:cNvPr id="7" name="Quiz button">
            <a:hlinkClick r:id="rId5" action="ppaction://hlinksldjump" tooltip="Jump to the quiz"/>
          </p:cNvPr>
          <p:cNvSpPr/>
          <p:nvPr/>
        </p:nvSpPr>
        <p:spPr>
          <a:xfrm>
            <a:off x="2286000" y="4206240"/>
            <a:ext cx="150876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Mag-quiz</a:t>
            </a:r>
            <a:endParaRPr lang="fil-PH"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Pumili ng paksang tuklasin</a:t>
            </a:r>
            <a:endParaRPr lang="fil-PH" sz="3000" dirty="0"/>
          </a:p>
        </p:txBody>
      </p:sp>
      <p:sp>
        <p:nvSpPr>
          <p:cNvPr id="3" name="Quiz shortcut">
            <a:hlinkClick r:id="rId3" action="ppaction://hlinksldjump" tooltip="Jump to the quiz"/>
          </p:cNvPr>
          <p:cNvSpPr/>
          <p:nvPr/>
        </p:nvSpPr>
        <p:spPr>
          <a:xfrm>
            <a:off x="6812280" y="365760"/>
            <a:ext cx="187452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Mag-quiz ›</a:t>
            </a:r>
            <a:endParaRPr lang="fil-PH" sz="1400" dirty="0"/>
          </a:p>
        </p:txBody>
      </p:sp>
      <p:sp>
        <p:nvSpPr>
          <p:cNvPr id="4" name="Menu card Choking">
            <a:hlinkClick r:id="rId4" action="ppaction://hlinksldjump" tooltip="Open Choking"/>
          </p:cNvPr>
          <p:cNvSpPr/>
          <p:nvPr/>
        </p:nvSpPr>
        <p:spPr>
          <a:xfrm>
            <a:off x="45720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Pagkabulunan</a:t>
            </a:r>
            <a:endParaRPr lang="fil-PH" sz="1800" dirty="0"/>
          </a:p>
          <a:p>
            <a:pPr marL="0" indent="0" algn="l">
              <a:buNone/>
            </a:pPr>
            <a:r>
              <a:rPr lang="fil-PH" sz="1400" dirty="0">
                <a:solidFill>
                  <a:schemeClr val="tx2"/>
                </a:solidFill>
              </a:rPr>
              <a:t>Pagkain at maliliit na bagay</a:t>
            </a:r>
            <a:endParaRPr lang="fil-PH" sz="1800" dirty="0"/>
          </a:p>
        </p:txBody>
      </p:sp>
      <p:sp>
        <p:nvSpPr>
          <p:cNvPr id="5" name="Choking circle">
            <a:hlinkClick r:id="rId4" action="ppaction://hlinksldjump" tooltip="Open Choking"/>
          </p:cNvPr>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6" name="Choking glyph" descr="Choking">
            <a:hlinkClick r:id="rId4" action="ppaction://hlinksldjump" tooltip="Open Choking"/>
          </p:cNvPr>
          <p:cNvPicPr>
            <a:picLocks noChangeAspect="1"/>
          </p:cNvPicPr>
          <p:nvPr/>
        </p:nvPicPr>
        <p:blipFill>
          <a:blip r:embed="rId5"/>
          <a:stretch>
            <a:fillRect/>
          </a:stretch>
        </p:blipFill>
        <p:spPr>
          <a:xfrm>
            <a:off x="794614" y="1526134"/>
            <a:ext cx="285293" cy="285293"/>
          </a:xfrm>
          <a:prstGeom prst="rect">
            <a:avLst/>
          </a:prstGeom>
        </p:spPr>
      </p:pic>
      <p:sp>
        <p:nvSpPr>
          <p:cNvPr id="7" name="Menu card Safe sleep">
            <a:hlinkClick r:id="rId6" action="ppaction://hlinksldjump" tooltip="Open Safe sleep"/>
          </p:cNvPr>
          <p:cNvSpPr/>
          <p:nvPr/>
        </p:nvSpPr>
        <p:spPr>
          <a:xfrm>
            <a:off x="329184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Ligtas na tulog</a:t>
            </a:r>
            <a:endParaRPr lang="fil-PH" sz="1800" dirty="0"/>
          </a:p>
          <a:p>
            <a:pPr marL="0" indent="0" algn="l">
              <a:buNone/>
            </a:pPr>
            <a:r>
              <a:rPr lang="fil-PH" sz="1400" dirty="0">
                <a:solidFill>
                  <a:schemeClr val="tx2"/>
                </a:solidFill>
              </a:rPr>
              <a:t>Nakatihaya tuwing tulog</a:t>
            </a:r>
            <a:endParaRPr lang="fil-PH" sz="1800" dirty="0"/>
          </a:p>
        </p:txBody>
      </p:sp>
      <p:sp>
        <p:nvSpPr>
          <p:cNvPr id="8" name="Safe sleep circle">
            <a:hlinkClick r:id="rId6" action="ppaction://hlinksldjump" tooltip="Open Safe sleep"/>
          </p:cNvPr>
          <p:cNvSpPr/>
          <p:nvPr/>
        </p:nvSpPr>
        <p:spPr>
          <a:xfrm>
            <a:off x="3474720" y="1371600"/>
            <a:ext cx="594360" cy="594360"/>
          </a:xfrm>
          <a:prstGeom prst="ellipse">
            <a:avLst/>
          </a:prstGeom>
          <a:solidFill>
            <a:schemeClr val="accent6"/>
          </a:solidFill>
          <a:ln w="12700">
            <a:solidFill>
              <a:schemeClr val="accent6"/>
            </a:solidFill>
            <a:prstDash val="solid"/>
          </a:ln>
        </p:spPr>
      </p:sp>
      <p:pic>
        <p:nvPicPr>
          <p:cNvPr id="9" name="Safe sleep glyph" descr="Safe sleep">
            <a:hlinkClick r:id="rId6" action="ppaction://hlinksldjump" tooltip="Open Safe sleep"/>
          </p:cNvPr>
          <p:cNvPicPr>
            <a:picLocks noChangeAspect="1"/>
          </p:cNvPicPr>
          <p:nvPr/>
        </p:nvPicPr>
        <p:blipFill>
          <a:blip r:embed="rId7"/>
          <a:stretch>
            <a:fillRect/>
          </a:stretch>
        </p:blipFill>
        <p:spPr>
          <a:xfrm>
            <a:off x="3629254" y="1526134"/>
            <a:ext cx="285293" cy="285293"/>
          </a:xfrm>
          <a:prstGeom prst="rect">
            <a:avLst/>
          </a:prstGeom>
        </p:spPr>
      </p:pic>
      <p:sp>
        <p:nvSpPr>
          <p:cNvPr id="10" name="Menu card Around the home">
            <a:hlinkClick r:id="rId8" action="ppaction://hlinksldjump" tooltip="Open Around the home"/>
          </p:cNvPr>
          <p:cNvSpPr/>
          <p:nvPr/>
        </p:nvSpPr>
        <p:spPr>
          <a:xfrm>
            <a:off x="6126480" y="118872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Sa loob ng bahay</a:t>
            </a:r>
            <a:endParaRPr lang="fil-PH" sz="1800" dirty="0"/>
          </a:p>
          <a:p>
            <a:pPr marL="0" indent="0" algn="l">
              <a:buNone/>
            </a:pPr>
            <a:r>
              <a:rPr lang="fil-PH" sz="1400" dirty="0">
                <a:solidFill>
                  <a:schemeClr val="tx2"/>
                </a:solidFill>
              </a:rPr>
              <a:t>Kamay, kandado, bintana</a:t>
            </a:r>
            <a:endParaRPr lang="fil-PH" sz="1800" dirty="0"/>
          </a:p>
        </p:txBody>
      </p:sp>
      <p:sp>
        <p:nvSpPr>
          <p:cNvPr id="11" name="Around the home circle">
            <a:hlinkClick r:id="rId8" action="ppaction://hlinksldjump" tooltip="Open Around the home"/>
          </p:cNvPr>
          <p:cNvSpPr/>
          <p:nvPr/>
        </p:nvSpPr>
        <p:spPr>
          <a:xfrm>
            <a:off x="6309360" y="1371600"/>
            <a:ext cx="594360" cy="594360"/>
          </a:xfrm>
          <a:prstGeom prst="ellipse">
            <a:avLst/>
          </a:prstGeom>
          <a:solidFill>
            <a:schemeClr val="accent4"/>
          </a:solidFill>
          <a:ln w="12700">
            <a:solidFill>
              <a:schemeClr val="accent4"/>
            </a:solidFill>
            <a:prstDash val="solid"/>
          </a:ln>
        </p:spPr>
      </p:sp>
      <p:pic>
        <p:nvPicPr>
          <p:cNvPr id="12" name="Around the home glyph" descr="Around the home">
            <a:hlinkClick r:id="rId8" action="ppaction://hlinksldjump" tooltip="Open Around the home"/>
          </p:cNvPr>
          <p:cNvPicPr>
            <a:picLocks noChangeAspect="1"/>
          </p:cNvPicPr>
          <p:nvPr/>
        </p:nvPicPr>
        <p:blipFill>
          <a:blip r:embed="rId9"/>
          <a:stretch>
            <a:fillRect/>
          </a:stretch>
        </p:blipFill>
        <p:spPr>
          <a:xfrm>
            <a:off x="6463894" y="1526134"/>
            <a:ext cx="285293" cy="285293"/>
          </a:xfrm>
          <a:prstGeom prst="rect">
            <a:avLst/>
          </a:prstGeom>
        </p:spPr>
      </p:pic>
      <p:sp>
        <p:nvSpPr>
          <p:cNvPr id="13" name="Menu card Water and baths">
            <a:hlinkClick r:id="rId10" action="ppaction://hlinksldjump" tooltip="Open Water and baths"/>
          </p:cNvPr>
          <p:cNvSpPr/>
          <p:nvPr/>
        </p:nvSpPr>
        <p:spPr>
          <a:xfrm>
            <a:off x="45720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Tubig at paliligo</a:t>
            </a:r>
            <a:endParaRPr lang="fil-PH" sz="1800" dirty="0"/>
          </a:p>
          <a:p>
            <a:pPr marL="0" indent="0" algn="l">
              <a:buNone/>
            </a:pPr>
            <a:r>
              <a:rPr lang="fil-PH" sz="1400" dirty="0">
                <a:solidFill>
                  <a:schemeClr val="tx2"/>
                </a:solidFill>
              </a:rPr>
              <a:t>Panganib ng lunod at paso</a:t>
            </a:r>
            <a:endParaRPr lang="fil-PH" sz="1800" dirty="0"/>
          </a:p>
        </p:txBody>
      </p:sp>
      <p:sp>
        <p:nvSpPr>
          <p:cNvPr id="14" name="Water and baths circle">
            <a:hlinkClick r:id="rId10" action="ppaction://hlinksldjump" tooltip="Open Water and baths"/>
          </p:cNvPr>
          <p:cNvSpPr/>
          <p:nvPr/>
        </p:nvSpPr>
        <p:spPr>
          <a:xfrm>
            <a:off x="640080" y="3108960"/>
            <a:ext cx="594360" cy="594360"/>
          </a:xfrm>
          <a:prstGeom prst="ellipse">
            <a:avLst/>
          </a:prstGeom>
          <a:solidFill>
            <a:schemeClr val="accent5"/>
          </a:solidFill>
          <a:ln w="12700">
            <a:solidFill>
              <a:schemeClr val="accent5"/>
            </a:solidFill>
            <a:prstDash val="solid"/>
          </a:ln>
        </p:spPr>
      </p:sp>
      <p:pic>
        <p:nvPicPr>
          <p:cNvPr id="15" name="Water and baths glyph" descr="Water and baths">
            <a:hlinkClick r:id="rId10" action="ppaction://hlinksldjump" tooltip="Open Water and baths"/>
          </p:cNvPr>
          <p:cNvPicPr>
            <a:picLocks noChangeAspect="1"/>
          </p:cNvPicPr>
          <p:nvPr/>
        </p:nvPicPr>
        <p:blipFill>
          <a:blip r:embed="rId11"/>
          <a:stretch>
            <a:fillRect/>
          </a:stretch>
        </p:blipFill>
        <p:spPr>
          <a:xfrm>
            <a:off x="794614" y="3263494"/>
            <a:ext cx="285293" cy="285293"/>
          </a:xfrm>
          <a:prstGeom prst="rect">
            <a:avLst/>
          </a:prstGeom>
        </p:spPr>
      </p:pic>
      <p:sp>
        <p:nvSpPr>
          <p:cNvPr id="16" name="Menu card Baby gear">
            <a:hlinkClick r:id="rId12" action="ppaction://hlinksldjump" tooltip="Open Baby gear"/>
          </p:cNvPr>
          <p:cNvSpPr/>
          <p:nvPr/>
        </p:nvSpPr>
        <p:spPr>
          <a:xfrm>
            <a:off x="329184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Gamit ng sanggol</a:t>
            </a:r>
            <a:endParaRPr lang="fil-PH" sz="1800" dirty="0"/>
          </a:p>
          <a:p>
            <a:pPr marL="0" indent="0" algn="l">
              <a:buNone/>
            </a:pPr>
            <a:r>
              <a:rPr lang="fil-PH" sz="1400" dirty="0">
                <a:solidFill>
                  <a:schemeClr val="tx2"/>
                </a:solidFill>
              </a:rPr>
              <a:t>Kuna, highchair, car seat</a:t>
            </a:r>
            <a:endParaRPr lang="fil-PH" sz="1800" dirty="0"/>
          </a:p>
        </p:txBody>
      </p:sp>
      <p:sp>
        <p:nvSpPr>
          <p:cNvPr id="17" name="Baby gear circle">
            <a:hlinkClick r:id="rId12" action="ppaction://hlinksldjump" tooltip="Open Baby gear"/>
          </p:cNvPr>
          <p:cNvSpPr/>
          <p:nvPr/>
        </p:nvSpPr>
        <p:spPr>
          <a:xfrm>
            <a:off x="3474720" y="3108960"/>
            <a:ext cx="594360" cy="594360"/>
          </a:xfrm>
          <a:prstGeom prst="ellipse">
            <a:avLst/>
          </a:prstGeom>
          <a:solidFill>
            <a:schemeClr val="accent2"/>
          </a:solidFill>
          <a:ln w="12700">
            <a:solidFill>
              <a:schemeClr val="accent2"/>
            </a:solidFill>
            <a:prstDash val="solid"/>
          </a:ln>
        </p:spPr>
      </p:sp>
      <p:pic>
        <p:nvPicPr>
          <p:cNvPr id="18" name="Baby gear glyph" descr="Baby gear">
            <a:hlinkClick r:id="rId12" action="ppaction://hlinksldjump" tooltip="Open Baby gear"/>
          </p:cNvPr>
          <p:cNvPicPr>
            <a:picLocks noChangeAspect="1"/>
          </p:cNvPicPr>
          <p:nvPr/>
        </p:nvPicPr>
        <p:blipFill>
          <a:blip r:embed="rId13"/>
          <a:stretch>
            <a:fillRect/>
          </a:stretch>
        </p:blipFill>
        <p:spPr>
          <a:xfrm>
            <a:off x="3629254" y="3263494"/>
            <a:ext cx="285293" cy="285293"/>
          </a:xfrm>
          <a:prstGeom prst="rect">
            <a:avLst/>
          </a:prstGeom>
        </p:spPr>
      </p:pic>
      <p:sp>
        <p:nvSpPr>
          <p:cNvPr id="19" name="Menu card Active and protected">
            <a:hlinkClick r:id="rId14" action="ppaction://hlinksldjump" tooltip="Open Active and protected"/>
          </p:cNvPr>
          <p:cNvSpPr/>
          <p:nvPr/>
        </p:nvSpPr>
        <p:spPr>
          <a:xfrm>
            <a:off x="6126480" y="2926080"/>
            <a:ext cx="2560320" cy="1600200"/>
          </a:xfrm>
          <a:prstGeom prst="roundRect">
            <a:avLst>
              <a:gd name="adj" fmla="val 6857"/>
            </a:avLst>
          </a:prstGeom>
          <a:solidFill>
            <a:schemeClr val="bg1"/>
          </a:solidFill>
          <a:ln/>
          <a:effectLst>
            <a:outerShdw blurRad="101600" dist="25400" dir="5400000" algn="bl" rotWithShape="0">
              <a:srgbClr val="17304F">
                <a:alpha val="14000"/>
              </a:srgbClr>
            </a:outerShdw>
          </a:effectLst>
        </p:spPr>
        <p:txBody>
          <a:bodyPr wrap="square" lIns="177800" tIns="0" rIns="152400" bIns="177800" rtlCol="0" anchor="b"/>
          <a:lstStyle/>
          <a:p>
            <a:pPr marL="0" indent="0" algn="l">
              <a:buNone/>
            </a:pPr>
            <a:r>
              <a:rPr lang="fil-PH" sz="1800" b="1" dirty="0">
                <a:solidFill>
                  <a:schemeClr val="tx1"/>
                </a:solidFill>
              </a:rPr>
              <a:t>Aktibo at protektado</a:t>
            </a:r>
            <a:endParaRPr lang="fil-PH" sz="1800" dirty="0"/>
          </a:p>
          <a:p>
            <a:pPr marL="0" indent="0" algn="l">
              <a:buNone/>
            </a:pPr>
            <a:r>
              <a:rPr lang="fil-PH" sz="1400" dirty="0">
                <a:solidFill>
                  <a:schemeClr val="tx2"/>
                </a:solidFill>
              </a:rPr>
              <a:t>Lead, injury, proteksyon</a:t>
            </a:r>
            <a:endParaRPr lang="fil-PH" sz="1800" dirty="0"/>
          </a:p>
        </p:txBody>
      </p:sp>
      <p:sp>
        <p:nvSpPr>
          <p:cNvPr id="20" name="Active and protected circle">
            <a:hlinkClick r:id="rId14" action="ppaction://hlinksldjump" tooltip="Open Active and protected"/>
          </p:cNvPr>
          <p:cNvSpPr/>
          <p:nvPr/>
        </p:nvSpPr>
        <p:spPr>
          <a:xfrm>
            <a:off x="6309360" y="3108960"/>
            <a:ext cx="594360" cy="594360"/>
          </a:xfrm>
          <a:prstGeom prst="ellipse">
            <a:avLst/>
          </a:prstGeom>
          <a:solidFill>
            <a:schemeClr val="accent3"/>
          </a:solidFill>
          <a:ln w="12700">
            <a:solidFill>
              <a:schemeClr val="accent3"/>
            </a:solidFill>
            <a:prstDash val="solid"/>
          </a:ln>
        </p:spPr>
      </p:sp>
      <p:pic>
        <p:nvPicPr>
          <p:cNvPr id="21" name="Active and protected glyph" descr="Active and protected">
            <a:hlinkClick r:id="rId14" action="ppaction://hlinksldjump" tooltip="Open Active and protected"/>
          </p:cNvPr>
          <p:cNvPicPr>
            <a:picLocks noChangeAspect="1"/>
          </p:cNvPicPr>
          <p:nvPr/>
        </p:nvPicPr>
        <p:blipFill>
          <a:blip r:embed="rId15"/>
          <a:stretch>
            <a:fillRect/>
          </a:stretch>
        </p:blipFill>
        <p:spPr>
          <a:xfrm>
            <a:off x="6463894" y="3263494"/>
            <a:ext cx="285293" cy="285293"/>
          </a:xfrm>
          <a:prstGeom prst="rect">
            <a:avLst/>
          </a:prstGeom>
        </p:spPr>
      </p:pic>
      <p:sp>
        <p:nvSpPr>
          <p:cNvPr id="22" name="Tip"/>
          <p:cNvSpPr txBox="1"/>
          <p:nvPr/>
        </p:nvSpPr>
        <p:spPr>
          <a:xfrm>
            <a:off x="2286000" y="4663440"/>
            <a:ext cx="4023360" cy="329184"/>
          </a:xfrm>
          <a:prstGeom prst="rect">
            <a:avLst/>
          </a:prstGeom>
          <a:noFill/>
          <a:ln/>
        </p:spPr>
        <p:txBody>
          <a:bodyPr wrap="square" lIns="0" tIns="0" rIns="0" bIns="0" rtlCol="0" anchor="ctr"/>
          <a:lstStyle/>
          <a:p>
            <a:pPr marL="0" indent="0">
              <a:buNone/>
            </a:pPr>
            <a:endParaRPr lang="fil-PH"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Ilayo ang maliliit na bagay</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Mealtime card"/>
          <p:cNvSpPr/>
          <p:nvPr/>
        </p:nvSpPr>
        <p:spPr>
          <a:xfrm>
            <a:off x="457200" y="1143000"/>
            <a:ext cx="3291840" cy="3383280"/>
          </a:xfrm>
          <a:prstGeom prst="roundRect">
            <a:avLst>
              <a:gd name="adj" fmla="val 333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Mealtime circle"/>
          <p:cNvSpPr/>
          <p:nvPr/>
        </p:nvSpPr>
        <p:spPr>
          <a:xfrm>
            <a:off x="640080" y="1307592"/>
            <a:ext cx="457200" cy="457200"/>
          </a:xfrm>
          <a:prstGeom prst="ellipse">
            <a:avLst/>
          </a:prstGeom>
          <a:solidFill>
            <a:schemeClr val="accent1"/>
          </a:solidFill>
          <a:ln w="12700">
            <a:solidFill>
              <a:schemeClr val="accent1"/>
            </a:solidFill>
            <a:prstDash val="solid"/>
          </a:ln>
        </p:spPr>
      </p:sp>
      <p:pic>
        <p:nvPicPr>
          <p:cNvPr id="6" name="Mealtime glyph" descr="Mealtime"/>
          <p:cNvPicPr>
            <a:picLocks noChangeAspect="1"/>
          </p:cNvPicPr>
          <p:nvPr/>
        </p:nvPicPr>
        <p:blipFill>
          <a:blip r:embed="rId4"/>
          <a:stretch>
            <a:fillRect/>
          </a:stretch>
        </p:blipFill>
        <p:spPr>
          <a:xfrm>
            <a:off x="758952" y="1426464"/>
            <a:ext cx="219456" cy="219456"/>
          </a:xfrm>
          <a:prstGeom prst="rect">
            <a:avLst/>
          </a:prstGeom>
        </p:spPr>
      </p:pic>
      <p:sp>
        <p:nvSpPr>
          <p:cNvPr id="7" name="Mealtime heading"/>
          <p:cNvSpPr txBox="1"/>
          <p:nvPr/>
        </p:nvSpPr>
        <p:spPr>
          <a:xfrm>
            <a:off x="1207008" y="1307592"/>
            <a:ext cx="2377440" cy="457200"/>
          </a:xfrm>
          <a:prstGeom prst="rect">
            <a:avLst/>
          </a:prstGeom>
          <a:noFill/>
          <a:ln/>
        </p:spPr>
        <p:txBody>
          <a:bodyPr wrap="square" lIns="0" tIns="0" rIns="0" bIns="0" rtlCol="0" anchor="ctr"/>
          <a:lstStyle/>
          <a:p>
            <a:pPr marL="0" indent="0">
              <a:buNone/>
            </a:pPr>
            <a:r>
              <a:rPr lang="fil-PH" sz="1800" b="1" dirty="0">
                <a:solidFill>
                  <a:schemeClr val="tx1"/>
                </a:solidFill>
              </a:rPr>
              <a:t>Sa oras ng kain</a:t>
            </a:r>
            <a:endParaRPr lang="fil-PH" sz="1800" dirty="0"/>
          </a:p>
        </p:txBody>
      </p:sp>
      <p:sp>
        <p:nvSpPr>
          <p:cNvPr id="8" name="Mealtime list"/>
          <p:cNvSpPr txBox="1"/>
          <p:nvPr/>
        </p:nvSpPr>
        <p:spPr>
          <a:xfrm>
            <a:off x="640080" y="1920240"/>
            <a:ext cx="2926080" cy="2514600"/>
          </a:xfrm>
          <a:prstGeom prst="rect">
            <a:avLst/>
          </a:prstGeom>
          <a:noFill/>
          <a:ln/>
        </p:spPr>
        <p:txBody>
          <a:bodyPr wrap="square" lIns="0" tIns="0" rIns="0" bIns="0" rtlCol="0" anchor="t"/>
          <a:lstStyle/>
          <a:p>
            <a:pPr marL="177800" indent="-177800">
              <a:spcAft>
                <a:spcPts val="600"/>
              </a:spcAft>
              <a:buSzPct val="100000"/>
              <a:buChar char="•"/>
            </a:pPr>
            <a:r>
              <a:rPr lang="fil-PH" sz="1400" dirty="0">
                <a:solidFill>
                  <a:schemeClr val="tx2"/>
                </a:solidFill>
              </a:rPr>
              <a:t>Karga ang sanggol kapag pinapakain</a:t>
            </a:r>
            <a:endParaRPr lang="fil-PH" sz="1400" dirty="0"/>
          </a:p>
          <a:p>
            <a:pPr marL="177800" indent="-177800">
              <a:spcAft>
                <a:spcPts val="600"/>
              </a:spcAft>
              <a:buSzPct val="100000"/>
              <a:buChar char="•"/>
            </a:pPr>
            <a:r>
              <a:rPr lang="fil-PH" sz="1400" dirty="0">
                <a:solidFill>
                  <a:schemeClr val="tx2"/>
                </a:solidFill>
              </a:rPr>
              <a:t>Huwag isandal ang sanggol o bigyan ng strained food sa bote</a:t>
            </a:r>
            <a:endParaRPr lang="fil-PH" sz="1400" dirty="0"/>
          </a:p>
          <a:p>
            <a:pPr marL="177800" indent="-177800">
              <a:spcAft>
                <a:spcPts val="600"/>
              </a:spcAft>
              <a:buSzPct val="100000"/>
              <a:buChar char="•"/>
            </a:pPr>
            <a:r>
              <a:rPr lang="fil-PH" sz="1400" dirty="0">
                <a:solidFill>
                  <a:schemeClr val="tx2"/>
                </a:solidFill>
              </a:rPr>
              <a:t>Huwag iwan mag-isa ang maliit na bata habang kumakain</a:t>
            </a:r>
            <a:endParaRPr lang="fil-PH" sz="1400" dirty="0"/>
          </a:p>
          <a:p>
            <a:pPr marL="177800" indent="-177800">
              <a:spcAft>
                <a:spcPts val="600"/>
              </a:spcAft>
              <a:buSzPct val="100000"/>
              <a:buChar char="•"/>
            </a:pPr>
            <a:r>
              <a:rPr lang="fil-PH" sz="1400" dirty="0">
                <a:solidFill>
                  <a:schemeClr val="tx2"/>
                </a:solidFill>
              </a:rPr>
              <a:t>Gumagapang o naglalakad na? Walang kutsara, lollipop o Popsicle stick sa bibig</a:t>
            </a:r>
            <a:endParaRPr lang="fil-PH" sz="1400" dirty="0"/>
          </a:p>
        </p:txBody>
      </p:sp>
      <p:sp>
        <p:nvSpPr>
          <p:cNvPr id="9" name="Objects label"/>
          <p:cNvSpPr txBox="1"/>
          <p:nvPr/>
        </p:nvSpPr>
        <p:spPr>
          <a:xfrm>
            <a:off x="3977640" y="1097280"/>
            <a:ext cx="4709160" cy="320040"/>
          </a:xfrm>
          <a:prstGeom prst="rect">
            <a:avLst/>
          </a:prstGeom>
          <a:noFill/>
          <a:ln/>
        </p:spPr>
        <p:txBody>
          <a:bodyPr wrap="square" lIns="0" tIns="0" rIns="0" bIns="0" rtlCol="0" anchor="ctr"/>
          <a:lstStyle/>
          <a:p>
            <a:pPr marL="0" indent="0">
              <a:buNone/>
            </a:pPr>
            <a:r>
              <a:rPr lang="fil-PH" sz="1400" b="1" dirty="0">
                <a:solidFill>
                  <a:schemeClr val="tx1"/>
                </a:solidFill>
              </a:rPr>
              <a:t>Isinusubo ng sanggol ang lahat ng makuha. Ilayo ang mga ito:</a:t>
            </a:r>
            <a:endParaRPr lang="fil-PH" sz="1400" dirty="0"/>
          </a:p>
        </p:txBody>
      </p:sp>
      <p:sp>
        <p:nvSpPr>
          <p:cNvPr id="10" name="Object Marbles"/>
          <p:cNvSpPr/>
          <p:nvPr/>
        </p:nvSpPr>
        <p:spPr>
          <a:xfrm>
            <a:off x="39776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Dot Marbles"/>
          <p:cNvSpPr/>
          <p:nvPr/>
        </p:nvSpPr>
        <p:spPr>
          <a:xfrm>
            <a:off x="4114800" y="1746504"/>
            <a:ext cx="182880" cy="182880"/>
          </a:xfrm>
          <a:prstGeom prst="ellipse">
            <a:avLst/>
          </a:prstGeom>
          <a:solidFill>
            <a:schemeClr val="accent2"/>
          </a:solidFill>
          <a:ln w="12700">
            <a:solidFill>
              <a:schemeClr val="accent2"/>
            </a:solidFill>
            <a:prstDash val="solid"/>
          </a:ln>
        </p:spPr>
      </p:sp>
      <p:sp>
        <p:nvSpPr>
          <p:cNvPr id="12" name="Object Marbles text"/>
          <p:cNvSpPr txBox="1"/>
          <p:nvPr/>
        </p:nvSpPr>
        <p:spPr>
          <a:xfrm>
            <a:off x="4389120" y="1508760"/>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Holen</a:t>
            </a:r>
            <a:endParaRPr lang="fil-PH" sz="1400" dirty="0"/>
          </a:p>
        </p:txBody>
      </p:sp>
      <p:sp>
        <p:nvSpPr>
          <p:cNvPr id="13" name="Object Batteries"/>
          <p:cNvSpPr/>
          <p:nvPr/>
        </p:nvSpPr>
        <p:spPr>
          <a:xfrm>
            <a:off x="55778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Dot Batteries"/>
          <p:cNvSpPr/>
          <p:nvPr/>
        </p:nvSpPr>
        <p:spPr>
          <a:xfrm>
            <a:off x="5715000" y="1746504"/>
            <a:ext cx="182880" cy="182880"/>
          </a:xfrm>
          <a:prstGeom prst="ellipse">
            <a:avLst/>
          </a:prstGeom>
          <a:solidFill>
            <a:schemeClr val="accent1"/>
          </a:solidFill>
          <a:ln w="12700">
            <a:solidFill>
              <a:schemeClr val="accent1"/>
            </a:solidFill>
            <a:prstDash val="solid"/>
          </a:ln>
        </p:spPr>
      </p:sp>
      <p:sp>
        <p:nvSpPr>
          <p:cNvPr id="15" name="Object Batteries text"/>
          <p:cNvSpPr txBox="1"/>
          <p:nvPr/>
        </p:nvSpPr>
        <p:spPr>
          <a:xfrm>
            <a:off x="5989320" y="1508760"/>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Baterya</a:t>
            </a:r>
            <a:endParaRPr lang="fil-PH" sz="1400" dirty="0"/>
          </a:p>
        </p:txBody>
      </p:sp>
      <p:sp>
        <p:nvSpPr>
          <p:cNvPr id="16" name="Object Jewelry"/>
          <p:cNvSpPr/>
          <p:nvPr/>
        </p:nvSpPr>
        <p:spPr>
          <a:xfrm>
            <a:off x="7178040" y="1508760"/>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Dot Jewelry"/>
          <p:cNvSpPr/>
          <p:nvPr/>
        </p:nvSpPr>
        <p:spPr>
          <a:xfrm>
            <a:off x="7315200" y="1746504"/>
            <a:ext cx="182880" cy="182880"/>
          </a:xfrm>
          <a:prstGeom prst="ellipse">
            <a:avLst/>
          </a:prstGeom>
          <a:solidFill>
            <a:schemeClr val="accent5"/>
          </a:solidFill>
          <a:ln w="12700">
            <a:solidFill>
              <a:schemeClr val="accent5"/>
            </a:solidFill>
            <a:prstDash val="solid"/>
          </a:ln>
        </p:spPr>
      </p:sp>
      <p:sp>
        <p:nvSpPr>
          <p:cNvPr id="18" name="Object Jewelry text"/>
          <p:cNvSpPr txBox="1"/>
          <p:nvPr/>
        </p:nvSpPr>
        <p:spPr>
          <a:xfrm>
            <a:off x="7589520" y="1508760"/>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Alahas</a:t>
            </a:r>
            <a:endParaRPr lang="fil-PH" sz="1400" dirty="0"/>
          </a:p>
        </p:txBody>
      </p:sp>
      <p:sp>
        <p:nvSpPr>
          <p:cNvPr id="19" name="Object Magnets"/>
          <p:cNvSpPr/>
          <p:nvPr/>
        </p:nvSpPr>
        <p:spPr>
          <a:xfrm>
            <a:off x="39776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Dot Magnets"/>
          <p:cNvSpPr/>
          <p:nvPr/>
        </p:nvSpPr>
        <p:spPr>
          <a:xfrm>
            <a:off x="4114800" y="2496312"/>
            <a:ext cx="182880" cy="182880"/>
          </a:xfrm>
          <a:prstGeom prst="ellipse">
            <a:avLst/>
          </a:prstGeom>
          <a:solidFill>
            <a:schemeClr val="accent6"/>
          </a:solidFill>
          <a:ln w="12700">
            <a:solidFill>
              <a:schemeClr val="accent6"/>
            </a:solidFill>
            <a:prstDash val="solid"/>
          </a:ln>
        </p:spPr>
      </p:sp>
      <p:sp>
        <p:nvSpPr>
          <p:cNvPr id="21" name="Object Magnets text"/>
          <p:cNvSpPr txBox="1"/>
          <p:nvPr/>
        </p:nvSpPr>
        <p:spPr>
          <a:xfrm>
            <a:off x="4389120" y="2258568"/>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Magnet</a:t>
            </a:r>
            <a:endParaRPr lang="fil-PH" sz="1400" dirty="0"/>
          </a:p>
        </p:txBody>
      </p:sp>
      <p:sp>
        <p:nvSpPr>
          <p:cNvPr id="22" name="Object Nuts and seeds"/>
          <p:cNvSpPr/>
          <p:nvPr/>
        </p:nvSpPr>
        <p:spPr>
          <a:xfrm>
            <a:off x="55778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3" name="Dot Nuts and seeds"/>
          <p:cNvSpPr/>
          <p:nvPr/>
        </p:nvSpPr>
        <p:spPr>
          <a:xfrm>
            <a:off x="5715000" y="2496312"/>
            <a:ext cx="182880" cy="182880"/>
          </a:xfrm>
          <a:prstGeom prst="ellipse">
            <a:avLst/>
          </a:prstGeom>
          <a:solidFill>
            <a:schemeClr val="accent4"/>
          </a:solidFill>
          <a:ln w="12700">
            <a:solidFill>
              <a:schemeClr val="accent4"/>
            </a:solidFill>
            <a:prstDash val="solid"/>
          </a:ln>
        </p:spPr>
      </p:sp>
      <p:sp>
        <p:nvSpPr>
          <p:cNvPr id="24" name="Object Nuts and seeds text"/>
          <p:cNvSpPr txBox="1"/>
          <p:nvPr/>
        </p:nvSpPr>
        <p:spPr>
          <a:xfrm>
            <a:off x="5989320" y="2258568"/>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Mani, buto</a:t>
            </a:r>
            <a:endParaRPr lang="fil-PH" sz="1400" dirty="0"/>
          </a:p>
        </p:txBody>
      </p:sp>
      <p:sp>
        <p:nvSpPr>
          <p:cNvPr id="25" name="Object Grapes"/>
          <p:cNvSpPr/>
          <p:nvPr/>
        </p:nvSpPr>
        <p:spPr>
          <a:xfrm>
            <a:off x="7178040" y="2258568"/>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6" name="Dot Grapes"/>
          <p:cNvSpPr/>
          <p:nvPr/>
        </p:nvSpPr>
        <p:spPr>
          <a:xfrm>
            <a:off x="7315200" y="2496312"/>
            <a:ext cx="182880" cy="182880"/>
          </a:xfrm>
          <a:prstGeom prst="ellipse">
            <a:avLst/>
          </a:prstGeom>
          <a:solidFill>
            <a:schemeClr val="accent2"/>
          </a:solidFill>
          <a:ln w="12700">
            <a:solidFill>
              <a:schemeClr val="accent2"/>
            </a:solidFill>
            <a:prstDash val="solid"/>
          </a:ln>
        </p:spPr>
      </p:sp>
      <p:sp>
        <p:nvSpPr>
          <p:cNvPr id="27" name="Object Grapes text"/>
          <p:cNvSpPr txBox="1"/>
          <p:nvPr/>
        </p:nvSpPr>
        <p:spPr>
          <a:xfrm>
            <a:off x="7589520" y="2258568"/>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Ubas</a:t>
            </a:r>
            <a:endParaRPr lang="fil-PH" sz="1400" dirty="0"/>
          </a:p>
        </p:txBody>
      </p:sp>
      <p:sp>
        <p:nvSpPr>
          <p:cNvPr id="28" name="Object Candy"/>
          <p:cNvSpPr/>
          <p:nvPr/>
        </p:nvSpPr>
        <p:spPr>
          <a:xfrm>
            <a:off x="39776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9" name="Dot Candy"/>
          <p:cNvSpPr/>
          <p:nvPr/>
        </p:nvSpPr>
        <p:spPr>
          <a:xfrm>
            <a:off x="4114800" y="3246120"/>
            <a:ext cx="182880" cy="182880"/>
          </a:xfrm>
          <a:prstGeom prst="ellipse">
            <a:avLst/>
          </a:prstGeom>
          <a:solidFill>
            <a:schemeClr val="accent1"/>
          </a:solidFill>
          <a:ln w="12700">
            <a:solidFill>
              <a:schemeClr val="accent1"/>
            </a:solidFill>
            <a:prstDash val="solid"/>
          </a:ln>
        </p:spPr>
      </p:sp>
      <p:sp>
        <p:nvSpPr>
          <p:cNvPr id="30" name="Object Candy text"/>
          <p:cNvSpPr txBox="1"/>
          <p:nvPr/>
        </p:nvSpPr>
        <p:spPr>
          <a:xfrm>
            <a:off x="4389120" y="3008376"/>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Kendi</a:t>
            </a:r>
            <a:endParaRPr lang="fil-PH" sz="1400" dirty="0"/>
          </a:p>
        </p:txBody>
      </p:sp>
      <p:sp>
        <p:nvSpPr>
          <p:cNvPr id="31" name="Object Ear buds"/>
          <p:cNvSpPr/>
          <p:nvPr/>
        </p:nvSpPr>
        <p:spPr>
          <a:xfrm>
            <a:off x="55778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2" name="Dot Ear buds"/>
          <p:cNvSpPr/>
          <p:nvPr/>
        </p:nvSpPr>
        <p:spPr>
          <a:xfrm>
            <a:off x="5715000" y="3246120"/>
            <a:ext cx="182880" cy="182880"/>
          </a:xfrm>
          <a:prstGeom prst="ellipse">
            <a:avLst/>
          </a:prstGeom>
          <a:solidFill>
            <a:schemeClr val="accent5"/>
          </a:solidFill>
          <a:ln w="12700">
            <a:solidFill>
              <a:schemeClr val="accent5"/>
            </a:solidFill>
            <a:prstDash val="solid"/>
          </a:ln>
        </p:spPr>
      </p:sp>
      <p:sp>
        <p:nvSpPr>
          <p:cNvPr id="33" name="Object Ear buds text"/>
          <p:cNvSpPr txBox="1"/>
          <p:nvPr/>
        </p:nvSpPr>
        <p:spPr>
          <a:xfrm>
            <a:off x="5989320" y="3008376"/>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Ear buds</a:t>
            </a:r>
            <a:endParaRPr lang="fil-PH" sz="1400" dirty="0"/>
          </a:p>
        </p:txBody>
      </p:sp>
      <p:sp>
        <p:nvSpPr>
          <p:cNvPr id="34" name="Object Balloons"/>
          <p:cNvSpPr/>
          <p:nvPr/>
        </p:nvSpPr>
        <p:spPr>
          <a:xfrm>
            <a:off x="7178040" y="3008376"/>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5" name="Dot Balloons"/>
          <p:cNvSpPr/>
          <p:nvPr/>
        </p:nvSpPr>
        <p:spPr>
          <a:xfrm>
            <a:off x="7315200" y="3246120"/>
            <a:ext cx="182880" cy="182880"/>
          </a:xfrm>
          <a:prstGeom prst="ellipse">
            <a:avLst/>
          </a:prstGeom>
          <a:solidFill>
            <a:schemeClr val="accent6"/>
          </a:solidFill>
          <a:ln w="12700">
            <a:solidFill>
              <a:schemeClr val="accent6"/>
            </a:solidFill>
            <a:prstDash val="solid"/>
          </a:ln>
        </p:spPr>
      </p:sp>
      <p:sp>
        <p:nvSpPr>
          <p:cNvPr id="36" name="Object Balloons text"/>
          <p:cNvSpPr txBox="1"/>
          <p:nvPr/>
        </p:nvSpPr>
        <p:spPr>
          <a:xfrm>
            <a:off x="7589520" y="3008376"/>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Lobo</a:t>
            </a:r>
            <a:endParaRPr lang="fil-PH" sz="1400" dirty="0"/>
          </a:p>
        </p:txBody>
      </p:sp>
      <p:sp>
        <p:nvSpPr>
          <p:cNvPr id="37" name="Object Plastic bags"/>
          <p:cNvSpPr/>
          <p:nvPr/>
        </p:nvSpPr>
        <p:spPr>
          <a:xfrm>
            <a:off x="3977640" y="3758184"/>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8" name="Dot Plastic bags"/>
          <p:cNvSpPr/>
          <p:nvPr/>
        </p:nvSpPr>
        <p:spPr>
          <a:xfrm>
            <a:off x="4114800" y="3995928"/>
            <a:ext cx="182880" cy="182880"/>
          </a:xfrm>
          <a:prstGeom prst="ellipse">
            <a:avLst/>
          </a:prstGeom>
          <a:solidFill>
            <a:schemeClr val="accent4"/>
          </a:solidFill>
          <a:ln w="12700">
            <a:solidFill>
              <a:schemeClr val="accent4"/>
            </a:solidFill>
            <a:prstDash val="solid"/>
          </a:ln>
        </p:spPr>
      </p:sp>
      <p:sp>
        <p:nvSpPr>
          <p:cNvPr id="39" name="Object Plastic bags text"/>
          <p:cNvSpPr txBox="1"/>
          <p:nvPr/>
        </p:nvSpPr>
        <p:spPr>
          <a:xfrm>
            <a:off x="4389120" y="3758184"/>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Plastic bag</a:t>
            </a:r>
            <a:endParaRPr lang="fil-PH" sz="1400" dirty="0"/>
          </a:p>
        </p:txBody>
      </p:sp>
      <p:sp>
        <p:nvSpPr>
          <p:cNvPr id="40" name="Object Coins"/>
          <p:cNvSpPr/>
          <p:nvPr/>
        </p:nvSpPr>
        <p:spPr>
          <a:xfrm>
            <a:off x="5577840" y="3758184"/>
            <a:ext cx="1508760" cy="658368"/>
          </a:xfrm>
          <a:prstGeom prst="roundRect">
            <a:avLst>
              <a:gd name="adj" fmla="val 1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41" name="Dot Coins"/>
          <p:cNvSpPr/>
          <p:nvPr/>
        </p:nvSpPr>
        <p:spPr>
          <a:xfrm>
            <a:off x="5715000" y="3995928"/>
            <a:ext cx="182880" cy="182880"/>
          </a:xfrm>
          <a:prstGeom prst="ellipse">
            <a:avLst/>
          </a:prstGeom>
          <a:solidFill>
            <a:schemeClr val="accent2"/>
          </a:solidFill>
          <a:ln w="12700">
            <a:solidFill>
              <a:schemeClr val="accent2"/>
            </a:solidFill>
            <a:prstDash val="solid"/>
          </a:ln>
        </p:spPr>
      </p:sp>
      <p:sp>
        <p:nvSpPr>
          <p:cNvPr id="42" name="Object Coins text"/>
          <p:cNvSpPr txBox="1"/>
          <p:nvPr/>
        </p:nvSpPr>
        <p:spPr>
          <a:xfrm>
            <a:off x="5989320" y="3758184"/>
            <a:ext cx="1051560" cy="658368"/>
          </a:xfrm>
          <a:prstGeom prst="rect">
            <a:avLst/>
          </a:prstGeom>
          <a:noFill/>
          <a:ln/>
        </p:spPr>
        <p:txBody>
          <a:bodyPr wrap="square" lIns="0" tIns="0" rIns="0" bIns="0" rtlCol="0" anchor="ctr"/>
          <a:lstStyle/>
          <a:p>
            <a:pPr marL="0" indent="0">
              <a:buNone/>
            </a:pPr>
            <a:r>
              <a:rPr lang="fil-PH" sz="1400" b="1" dirty="0">
                <a:solidFill>
                  <a:schemeClr val="tx1"/>
                </a:solidFill>
              </a:rPr>
              <a:t>Barya</a:t>
            </a:r>
            <a:endParaRPr lang="fil-PH" sz="1400" dirty="0"/>
          </a:p>
        </p:txBody>
      </p:sp>
      <p:sp>
        <p:nvSpPr>
          <p:cNvPr id="43" name="Back button">
            <a:hlinkClick r:id="rId3"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44"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Ligtas na tulog sa bawat idlip</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Card Back to sleep"/>
          <p:cNvSpPr/>
          <p:nvPr/>
        </p:nvSpPr>
        <p:spPr>
          <a:xfrm>
            <a:off x="457200" y="11430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Back to sleep circle"/>
          <p:cNvSpPr/>
          <p:nvPr/>
        </p:nvSpPr>
        <p:spPr>
          <a:xfrm>
            <a:off x="640080" y="1307592"/>
            <a:ext cx="457200" cy="457200"/>
          </a:xfrm>
          <a:prstGeom prst="ellipse">
            <a:avLst/>
          </a:prstGeom>
          <a:solidFill>
            <a:schemeClr val="accent6"/>
          </a:solidFill>
          <a:ln w="12700">
            <a:solidFill>
              <a:schemeClr val="accent6"/>
            </a:solidFill>
            <a:prstDash val="solid"/>
          </a:ln>
        </p:spPr>
      </p:sp>
      <p:pic>
        <p:nvPicPr>
          <p:cNvPr id="6" name="Back to sleep glyph" descr="Back to sleep"/>
          <p:cNvPicPr>
            <a:picLocks noChangeAspect="1"/>
          </p:cNvPicPr>
          <p:nvPr/>
        </p:nvPicPr>
        <p:blipFill>
          <a:blip r:embed="rId4"/>
          <a:stretch>
            <a:fillRect/>
          </a:stretch>
        </p:blipFill>
        <p:spPr>
          <a:xfrm>
            <a:off x="758952" y="1426464"/>
            <a:ext cx="219456" cy="219456"/>
          </a:xfrm>
          <a:prstGeom prst="rect">
            <a:avLst/>
          </a:prstGeom>
        </p:spPr>
      </p:pic>
      <p:sp>
        <p:nvSpPr>
          <p:cNvPr id="7" name="Back to sleep heading"/>
          <p:cNvSpPr txBox="1"/>
          <p:nvPr/>
        </p:nvSpPr>
        <p:spPr>
          <a:xfrm>
            <a:off x="1207008" y="1307592"/>
            <a:ext cx="3108960" cy="457200"/>
          </a:xfrm>
          <a:prstGeom prst="rect">
            <a:avLst/>
          </a:prstGeom>
          <a:noFill/>
          <a:ln/>
        </p:spPr>
        <p:txBody>
          <a:bodyPr wrap="square" lIns="0" tIns="0" rIns="0" bIns="0" rtlCol="0" anchor="ctr"/>
          <a:lstStyle/>
          <a:p>
            <a:pPr marL="0" indent="0">
              <a:buNone/>
            </a:pPr>
            <a:r>
              <a:rPr lang="fil-PH" sz="1600" b="1" dirty="0">
                <a:solidFill>
                  <a:schemeClr val="tx1"/>
                </a:solidFill>
              </a:rPr>
              <a:t>Patulugin nang nakatihaya</a:t>
            </a:r>
            <a:endParaRPr lang="fil-PH" sz="1600" dirty="0"/>
          </a:p>
        </p:txBody>
      </p:sp>
      <p:sp>
        <p:nvSpPr>
          <p:cNvPr id="8" name="Back to sleep text"/>
          <p:cNvSpPr txBox="1"/>
          <p:nvPr/>
        </p:nvSpPr>
        <p:spPr>
          <a:xfrm>
            <a:off x="640080" y="1856232"/>
            <a:ext cx="3657600" cy="640080"/>
          </a:xfrm>
          <a:prstGeom prst="rect">
            <a:avLst/>
          </a:prstGeom>
          <a:noFill/>
          <a:ln/>
        </p:spPr>
        <p:txBody>
          <a:bodyPr wrap="square" lIns="0" tIns="0" rIns="0" bIns="0" rtlCol="0" anchor="t"/>
          <a:lstStyle/>
          <a:p>
            <a:pPr marL="0" indent="0">
              <a:buNone/>
            </a:pPr>
            <a:r>
              <a:rPr lang="fil-PH" sz="1400" dirty="0">
                <a:solidFill>
                  <a:schemeClr val="tx2"/>
                </a:solidFill>
              </a:rPr>
              <a:t>Laging nakatihaya ang sanggol. Huwag nakatagilid o nakadapa: puwede itong magdulot ng pagkasakal.</a:t>
            </a:r>
            <a:endParaRPr lang="fil-PH" sz="1400" dirty="0"/>
          </a:p>
        </p:txBody>
      </p:sp>
      <p:sp>
        <p:nvSpPr>
          <p:cNvPr id="9" name="Card Crib or bassinet"/>
          <p:cNvSpPr/>
          <p:nvPr/>
        </p:nvSpPr>
        <p:spPr>
          <a:xfrm>
            <a:off x="4663440" y="11430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rib or bassinet circle"/>
          <p:cNvSpPr/>
          <p:nvPr/>
        </p:nvSpPr>
        <p:spPr>
          <a:xfrm>
            <a:off x="4846320" y="1307592"/>
            <a:ext cx="457200" cy="457200"/>
          </a:xfrm>
          <a:prstGeom prst="ellipse">
            <a:avLst/>
          </a:prstGeom>
          <a:solidFill>
            <a:schemeClr val="accent4"/>
          </a:solidFill>
          <a:ln w="12700">
            <a:solidFill>
              <a:schemeClr val="accent4"/>
            </a:solidFill>
            <a:prstDash val="solid"/>
          </a:ln>
        </p:spPr>
      </p:sp>
      <p:pic>
        <p:nvPicPr>
          <p:cNvPr id="11" name="Crib or bassinet glyph" descr="Crib or bassinet"/>
          <p:cNvPicPr>
            <a:picLocks noChangeAspect="1"/>
          </p:cNvPicPr>
          <p:nvPr/>
        </p:nvPicPr>
        <p:blipFill>
          <a:blip r:embed="rId5"/>
          <a:stretch>
            <a:fillRect/>
          </a:stretch>
        </p:blipFill>
        <p:spPr>
          <a:xfrm>
            <a:off x="4965192" y="1426464"/>
            <a:ext cx="219456" cy="219456"/>
          </a:xfrm>
          <a:prstGeom prst="rect">
            <a:avLst/>
          </a:prstGeom>
        </p:spPr>
      </p:pic>
      <p:sp>
        <p:nvSpPr>
          <p:cNvPr id="12" name="Crib or bassinet heading"/>
          <p:cNvSpPr txBox="1"/>
          <p:nvPr/>
        </p:nvSpPr>
        <p:spPr>
          <a:xfrm>
            <a:off x="5413248" y="1307592"/>
            <a:ext cx="3108960" cy="457200"/>
          </a:xfrm>
          <a:prstGeom prst="rect">
            <a:avLst/>
          </a:prstGeom>
          <a:noFill/>
          <a:ln/>
        </p:spPr>
        <p:txBody>
          <a:bodyPr wrap="square" lIns="0" tIns="0" rIns="0" bIns="0" rtlCol="0" anchor="ctr"/>
          <a:lstStyle/>
          <a:p>
            <a:pPr marL="0" indent="0">
              <a:buNone/>
            </a:pPr>
            <a:r>
              <a:rPr lang="fil-PH" sz="1600" b="1" dirty="0">
                <a:solidFill>
                  <a:schemeClr val="tx1"/>
                </a:solidFill>
              </a:rPr>
              <a:t>Kuna o bassinet</a:t>
            </a:r>
            <a:endParaRPr lang="fil-PH" sz="1600" dirty="0"/>
          </a:p>
        </p:txBody>
      </p:sp>
      <p:sp>
        <p:nvSpPr>
          <p:cNvPr id="13" name="Crib or bassinet text"/>
          <p:cNvSpPr txBox="1"/>
          <p:nvPr/>
        </p:nvSpPr>
        <p:spPr>
          <a:xfrm>
            <a:off x="4846320" y="1856232"/>
            <a:ext cx="3657600" cy="640080"/>
          </a:xfrm>
          <a:prstGeom prst="rect">
            <a:avLst/>
          </a:prstGeom>
          <a:noFill/>
          <a:ln/>
        </p:spPr>
        <p:txBody>
          <a:bodyPr wrap="square" lIns="0" tIns="0" rIns="0" bIns="0" rtlCol="0" anchor="t"/>
          <a:lstStyle/>
          <a:p>
            <a:pPr marL="0" indent="0">
              <a:buNone/>
            </a:pPr>
            <a:r>
              <a:rPr lang="fil-PH" sz="1400" dirty="0">
                <a:solidFill>
                  <a:schemeClr val="tx2"/>
                </a:solidFill>
              </a:rPr>
              <a:t>Pinakaligtas na tulugan. Ang bed-sharing ay nagpapataas ng tsansa ng SUID.</a:t>
            </a:r>
            <a:endParaRPr lang="fil-PH" sz="1400" dirty="0"/>
          </a:p>
        </p:txBody>
      </p:sp>
      <p:sp>
        <p:nvSpPr>
          <p:cNvPr id="14" name="Card Room-sharing"/>
          <p:cNvSpPr/>
          <p:nvPr/>
        </p:nvSpPr>
        <p:spPr>
          <a:xfrm>
            <a:off x="457200" y="27432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Room-sharing circle"/>
          <p:cNvSpPr/>
          <p:nvPr/>
        </p:nvSpPr>
        <p:spPr>
          <a:xfrm>
            <a:off x="640080" y="2907792"/>
            <a:ext cx="457200" cy="457200"/>
          </a:xfrm>
          <a:prstGeom prst="ellipse">
            <a:avLst/>
          </a:prstGeom>
          <a:solidFill>
            <a:schemeClr val="accent5"/>
          </a:solidFill>
          <a:ln w="12700">
            <a:solidFill>
              <a:schemeClr val="accent5"/>
            </a:solidFill>
            <a:prstDash val="solid"/>
          </a:ln>
        </p:spPr>
      </p:sp>
      <p:pic>
        <p:nvPicPr>
          <p:cNvPr id="16" name="Room-sharing glyph" descr="Room-sharing"/>
          <p:cNvPicPr>
            <a:picLocks noChangeAspect="1"/>
          </p:cNvPicPr>
          <p:nvPr/>
        </p:nvPicPr>
        <p:blipFill>
          <a:blip r:embed="rId6"/>
          <a:stretch>
            <a:fillRect/>
          </a:stretch>
        </p:blipFill>
        <p:spPr>
          <a:xfrm>
            <a:off x="758952" y="3026664"/>
            <a:ext cx="219456" cy="219456"/>
          </a:xfrm>
          <a:prstGeom prst="rect">
            <a:avLst/>
          </a:prstGeom>
        </p:spPr>
      </p:pic>
      <p:sp>
        <p:nvSpPr>
          <p:cNvPr id="17" name="Room-sharing heading"/>
          <p:cNvSpPr txBox="1"/>
          <p:nvPr/>
        </p:nvSpPr>
        <p:spPr>
          <a:xfrm>
            <a:off x="1207008" y="2907792"/>
            <a:ext cx="3108960" cy="457200"/>
          </a:xfrm>
          <a:prstGeom prst="rect">
            <a:avLst/>
          </a:prstGeom>
          <a:noFill/>
          <a:ln/>
        </p:spPr>
        <p:txBody>
          <a:bodyPr wrap="square" lIns="0" tIns="0" rIns="0" bIns="0" rtlCol="0" anchor="ctr"/>
          <a:lstStyle/>
          <a:p>
            <a:pPr marL="0" indent="0">
              <a:buNone/>
            </a:pPr>
            <a:r>
              <a:rPr lang="fil-PH" sz="1600" b="1" dirty="0">
                <a:solidFill>
                  <a:schemeClr val="tx1"/>
                </a:solidFill>
              </a:rPr>
              <a:t>Room-sharing</a:t>
            </a:r>
            <a:endParaRPr lang="fil-PH" sz="1600" dirty="0"/>
          </a:p>
        </p:txBody>
      </p:sp>
      <p:sp>
        <p:nvSpPr>
          <p:cNvPr id="18" name="Room-sharing text"/>
          <p:cNvSpPr txBox="1"/>
          <p:nvPr/>
        </p:nvSpPr>
        <p:spPr>
          <a:xfrm>
            <a:off x="640080" y="3456432"/>
            <a:ext cx="3657600" cy="640080"/>
          </a:xfrm>
          <a:prstGeom prst="rect">
            <a:avLst/>
          </a:prstGeom>
          <a:noFill/>
          <a:ln/>
        </p:spPr>
        <p:txBody>
          <a:bodyPr wrap="square" lIns="0" tIns="0" rIns="0" bIns="0" rtlCol="0" anchor="t"/>
          <a:lstStyle/>
          <a:p>
            <a:pPr marL="0" indent="0">
              <a:buNone/>
            </a:pPr>
            <a:r>
              <a:rPr lang="fil-PH" sz="1400" dirty="0">
                <a:solidFill>
                  <a:schemeClr val="tx2"/>
                </a:solidFill>
              </a:rPr>
              <a:t>Natutulog ang sanggol sa kuwarto mo, sa sarili niyang tulugan, tulad ng kuna. Nakatutulong ito para maiwasan ang SUID.</a:t>
            </a:r>
            <a:endParaRPr lang="fil-PH" sz="1400" dirty="0"/>
          </a:p>
        </p:txBody>
      </p:sp>
      <p:sp>
        <p:nvSpPr>
          <p:cNvPr id="19" name="Card Breastfeeding in bed"/>
          <p:cNvSpPr/>
          <p:nvPr/>
        </p:nvSpPr>
        <p:spPr>
          <a:xfrm>
            <a:off x="4663440" y="2743200"/>
            <a:ext cx="4023360" cy="1463040"/>
          </a:xfrm>
          <a:prstGeom prst="roundRect">
            <a:avLst>
              <a:gd name="adj" fmla="val 75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Breastfeeding in bed circle"/>
          <p:cNvSpPr/>
          <p:nvPr/>
        </p:nvSpPr>
        <p:spPr>
          <a:xfrm>
            <a:off x="4846320" y="2907792"/>
            <a:ext cx="457200" cy="457200"/>
          </a:xfrm>
          <a:prstGeom prst="ellipse">
            <a:avLst/>
          </a:prstGeom>
          <a:solidFill>
            <a:schemeClr val="accent2"/>
          </a:solidFill>
          <a:ln w="12700">
            <a:solidFill>
              <a:schemeClr val="accent2"/>
            </a:solidFill>
            <a:prstDash val="solid"/>
          </a:ln>
        </p:spPr>
      </p:sp>
      <p:pic>
        <p:nvPicPr>
          <p:cNvPr id="21" name="Breastfeeding in bed glyph" descr="Breastfeeding in bed"/>
          <p:cNvPicPr>
            <a:picLocks noChangeAspect="1"/>
          </p:cNvPicPr>
          <p:nvPr/>
        </p:nvPicPr>
        <p:blipFill>
          <a:blip r:embed="rId7"/>
          <a:stretch>
            <a:fillRect/>
          </a:stretch>
        </p:blipFill>
        <p:spPr>
          <a:xfrm>
            <a:off x="4965192" y="3026664"/>
            <a:ext cx="219456" cy="219456"/>
          </a:xfrm>
          <a:prstGeom prst="rect">
            <a:avLst/>
          </a:prstGeom>
        </p:spPr>
      </p:pic>
      <p:sp>
        <p:nvSpPr>
          <p:cNvPr id="22" name="Breastfeeding in bed heading"/>
          <p:cNvSpPr txBox="1"/>
          <p:nvPr/>
        </p:nvSpPr>
        <p:spPr>
          <a:xfrm>
            <a:off x="5413248" y="2907792"/>
            <a:ext cx="3108960" cy="457200"/>
          </a:xfrm>
          <a:prstGeom prst="rect">
            <a:avLst/>
          </a:prstGeom>
          <a:noFill/>
          <a:ln/>
        </p:spPr>
        <p:txBody>
          <a:bodyPr wrap="square" lIns="0" tIns="0" rIns="0" bIns="0" rtlCol="0" anchor="ctr"/>
          <a:lstStyle/>
          <a:p>
            <a:pPr marL="0" indent="0">
              <a:buNone/>
            </a:pPr>
            <a:r>
              <a:rPr lang="fil-PH" sz="1600" b="1" dirty="0">
                <a:solidFill>
                  <a:schemeClr val="tx1"/>
                </a:solidFill>
              </a:rPr>
              <a:t>Pagpapasuso sa kama</a:t>
            </a:r>
            <a:endParaRPr lang="fil-PH" sz="1600" dirty="0"/>
          </a:p>
        </p:txBody>
      </p:sp>
      <p:sp>
        <p:nvSpPr>
          <p:cNvPr id="23" name="Breastfeeding in bed text"/>
          <p:cNvSpPr txBox="1"/>
          <p:nvPr/>
        </p:nvSpPr>
        <p:spPr>
          <a:xfrm>
            <a:off x="4846320" y="3456432"/>
            <a:ext cx="3657600" cy="640080"/>
          </a:xfrm>
          <a:prstGeom prst="rect">
            <a:avLst/>
          </a:prstGeom>
          <a:noFill/>
          <a:ln/>
        </p:spPr>
        <p:txBody>
          <a:bodyPr wrap="square" lIns="0" tIns="0" rIns="0" bIns="0" rtlCol="0" anchor="t"/>
          <a:lstStyle/>
          <a:p>
            <a:pPr marL="0" indent="0">
              <a:buNone/>
            </a:pPr>
            <a:r>
              <a:rPr lang="fil-PH" sz="1400" dirty="0">
                <a:solidFill>
                  <a:schemeClr val="tx2"/>
                </a:solidFill>
              </a:rPr>
              <a:t>Okay lang iyon. Kapag tapos nang dumede, ibalik ang sanggol sa kanyang tulugan, nakatihaya.</a:t>
            </a:r>
            <a:endParaRPr lang="fil-PH" sz="1400" dirty="0"/>
          </a:p>
        </p:txBody>
      </p:sp>
      <p:sp>
        <p:nvSpPr>
          <p:cNvPr id="24" name="SUID note"/>
          <p:cNvSpPr txBox="1"/>
          <p:nvPr/>
        </p:nvSpPr>
        <p:spPr>
          <a:xfrm>
            <a:off x="457200" y="4279392"/>
            <a:ext cx="5852160" cy="365760"/>
          </a:xfrm>
          <a:prstGeom prst="rect">
            <a:avLst/>
          </a:prstGeom>
          <a:noFill/>
          <a:ln/>
        </p:spPr>
        <p:txBody>
          <a:bodyPr wrap="square" lIns="0" tIns="0" rIns="0" bIns="0" rtlCol="0" anchor="ctr"/>
          <a:lstStyle/>
          <a:p>
            <a:pPr marL="0" indent="0">
              <a:buNone/>
            </a:pPr>
            <a:endParaRPr lang="fil-PH" sz="1000" dirty="0"/>
          </a:p>
        </p:txBody>
      </p:sp>
      <p:sp>
        <p:nvSpPr>
          <p:cNvPr id="25" name="Back button">
            <a:hlinkClick r:id="rId8"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6" name="Next button">
            <a:hlinkClick r:id="rId9"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Laging may hawak</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Hands label"/>
          <p:cNvSpPr txBox="1"/>
          <p:nvPr/>
        </p:nvSpPr>
        <p:spPr>
          <a:xfrm>
            <a:off x="457200" y="1097280"/>
            <a:ext cx="5166360" cy="320040"/>
          </a:xfrm>
          <a:prstGeom prst="rect">
            <a:avLst/>
          </a:prstGeom>
          <a:noFill/>
          <a:ln/>
        </p:spPr>
        <p:txBody>
          <a:bodyPr wrap="square" lIns="0" tIns="0" rIns="0" bIns="0" rtlCol="0" anchor="ctr"/>
          <a:lstStyle/>
          <a:p>
            <a:pPr marL="0" indent="0">
              <a:buNone/>
            </a:pPr>
            <a:r>
              <a:rPr lang="fil-PH" sz="1400" b="1" dirty="0">
                <a:solidFill>
                  <a:schemeClr val="tx1"/>
                </a:solidFill>
              </a:rPr>
              <a:t>Laging may isang kamay sa sanggol. Huwag iwan mag-isa:</a:t>
            </a:r>
            <a:endParaRPr lang="fil-PH" sz="1400" dirty="0"/>
          </a:p>
        </p:txBody>
      </p:sp>
      <p:sp>
        <p:nvSpPr>
          <p:cNvPr id="5" name="Never 1"/>
          <p:cNvSpPr/>
          <p:nvPr/>
        </p:nvSpPr>
        <p:spPr>
          <a:xfrm>
            <a:off x="457200" y="148132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6" name="Never 1 circle"/>
          <p:cNvSpPr/>
          <p:nvPr/>
        </p:nvSpPr>
        <p:spPr>
          <a:xfrm>
            <a:off x="548640" y="1536192"/>
            <a:ext cx="329184" cy="329184"/>
          </a:xfrm>
          <a:prstGeom prst="ellipse">
            <a:avLst/>
          </a:prstGeom>
          <a:solidFill>
            <a:schemeClr val="accent2"/>
          </a:solidFill>
          <a:ln w="12700">
            <a:solidFill>
              <a:schemeClr val="accent2"/>
            </a:solidFill>
            <a:prstDash val="solid"/>
          </a:ln>
        </p:spPr>
      </p:sp>
      <p:pic>
        <p:nvPicPr>
          <p:cNvPr id="7" name="Never 1 glyph" descr="Never 1"/>
          <p:cNvPicPr>
            <a:picLocks noChangeAspect="1"/>
          </p:cNvPicPr>
          <p:nvPr/>
        </p:nvPicPr>
        <p:blipFill>
          <a:blip r:embed="rId4"/>
          <a:stretch>
            <a:fillRect/>
          </a:stretch>
        </p:blipFill>
        <p:spPr>
          <a:xfrm>
            <a:off x="634228" y="1621780"/>
            <a:ext cx="158008" cy="158008"/>
          </a:xfrm>
          <a:prstGeom prst="rect">
            <a:avLst/>
          </a:prstGeom>
        </p:spPr>
      </p:pic>
      <p:sp>
        <p:nvSpPr>
          <p:cNvPr id="8" name="Never 1 text"/>
          <p:cNvSpPr txBox="1"/>
          <p:nvPr/>
        </p:nvSpPr>
        <p:spPr>
          <a:xfrm>
            <a:off x="1005840" y="1481328"/>
            <a:ext cx="4526280" cy="438912"/>
          </a:xfrm>
          <a:prstGeom prst="rect">
            <a:avLst/>
          </a:prstGeom>
          <a:noFill/>
          <a:ln/>
        </p:spPr>
        <p:txBody>
          <a:bodyPr wrap="square" lIns="0" tIns="0" rIns="0" bIns="0" rtlCol="0" anchor="ctr"/>
          <a:lstStyle/>
          <a:p>
            <a:pPr marL="0" indent="0">
              <a:buNone/>
            </a:pPr>
            <a:r>
              <a:rPr lang="fil-PH" sz="1400" dirty="0">
                <a:solidFill>
                  <a:schemeClr val="tx1"/>
                </a:solidFill>
              </a:rPr>
              <a:t>Sa sasakyan</a:t>
            </a:r>
            <a:endParaRPr lang="fil-PH" sz="1400" dirty="0"/>
          </a:p>
        </p:txBody>
      </p:sp>
      <p:sp>
        <p:nvSpPr>
          <p:cNvPr id="9" name="Never 2"/>
          <p:cNvSpPr/>
          <p:nvPr/>
        </p:nvSpPr>
        <p:spPr>
          <a:xfrm>
            <a:off x="457200" y="198424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Never 2 circle"/>
          <p:cNvSpPr/>
          <p:nvPr/>
        </p:nvSpPr>
        <p:spPr>
          <a:xfrm>
            <a:off x="548640" y="2039112"/>
            <a:ext cx="329184" cy="329184"/>
          </a:xfrm>
          <a:prstGeom prst="ellipse">
            <a:avLst/>
          </a:prstGeom>
          <a:solidFill>
            <a:schemeClr val="accent2"/>
          </a:solidFill>
          <a:ln w="12700">
            <a:solidFill>
              <a:schemeClr val="accent2"/>
            </a:solidFill>
            <a:prstDash val="solid"/>
          </a:ln>
        </p:spPr>
      </p:sp>
      <p:pic>
        <p:nvPicPr>
          <p:cNvPr id="11" name="Never 2 glyph" descr="Never 2"/>
          <p:cNvPicPr>
            <a:picLocks noChangeAspect="1"/>
          </p:cNvPicPr>
          <p:nvPr/>
        </p:nvPicPr>
        <p:blipFill>
          <a:blip r:embed="rId4"/>
          <a:stretch>
            <a:fillRect/>
          </a:stretch>
        </p:blipFill>
        <p:spPr>
          <a:xfrm>
            <a:off x="634228" y="2124700"/>
            <a:ext cx="158008" cy="158008"/>
          </a:xfrm>
          <a:prstGeom prst="rect">
            <a:avLst/>
          </a:prstGeom>
        </p:spPr>
      </p:pic>
      <p:sp>
        <p:nvSpPr>
          <p:cNvPr id="12" name="Never 2 text"/>
          <p:cNvSpPr txBox="1"/>
          <p:nvPr/>
        </p:nvSpPr>
        <p:spPr>
          <a:xfrm>
            <a:off x="1005840" y="1984248"/>
            <a:ext cx="4526280" cy="438912"/>
          </a:xfrm>
          <a:prstGeom prst="rect">
            <a:avLst/>
          </a:prstGeom>
          <a:noFill/>
          <a:ln/>
        </p:spPr>
        <p:txBody>
          <a:bodyPr wrap="square" lIns="0" tIns="0" rIns="0" bIns="0" rtlCol="0" anchor="ctr"/>
          <a:lstStyle/>
          <a:p>
            <a:pPr marL="0" indent="0">
              <a:buNone/>
            </a:pPr>
            <a:r>
              <a:rPr lang="fil-PH" sz="1400" dirty="0">
                <a:solidFill>
                  <a:schemeClr val="tx1"/>
                </a:solidFill>
              </a:rPr>
              <a:t>Habang naliligo</a:t>
            </a:r>
            <a:endParaRPr lang="fil-PH" sz="1400" dirty="0"/>
          </a:p>
        </p:txBody>
      </p:sp>
      <p:sp>
        <p:nvSpPr>
          <p:cNvPr id="13" name="Never 3"/>
          <p:cNvSpPr/>
          <p:nvPr/>
        </p:nvSpPr>
        <p:spPr>
          <a:xfrm>
            <a:off x="457200" y="248716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Never 3 circle"/>
          <p:cNvSpPr/>
          <p:nvPr/>
        </p:nvSpPr>
        <p:spPr>
          <a:xfrm>
            <a:off x="548640" y="2542032"/>
            <a:ext cx="329184" cy="329184"/>
          </a:xfrm>
          <a:prstGeom prst="ellipse">
            <a:avLst/>
          </a:prstGeom>
          <a:solidFill>
            <a:schemeClr val="accent2"/>
          </a:solidFill>
          <a:ln w="12700">
            <a:solidFill>
              <a:schemeClr val="accent2"/>
            </a:solidFill>
            <a:prstDash val="solid"/>
          </a:ln>
        </p:spPr>
      </p:sp>
      <p:pic>
        <p:nvPicPr>
          <p:cNvPr id="15" name="Never 3 glyph" descr="Never 3"/>
          <p:cNvPicPr>
            <a:picLocks noChangeAspect="1"/>
          </p:cNvPicPr>
          <p:nvPr/>
        </p:nvPicPr>
        <p:blipFill>
          <a:blip r:embed="rId4"/>
          <a:stretch>
            <a:fillRect/>
          </a:stretch>
        </p:blipFill>
        <p:spPr>
          <a:xfrm>
            <a:off x="634228" y="2627620"/>
            <a:ext cx="158008" cy="158008"/>
          </a:xfrm>
          <a:prstGeom prst="rect">
            <a:avLst/>
          </a:prstGeom>
        </p:spPr>
      </p:pic>
      <p:sp>
        <p:nvSpPr>
          <p:cNvPr id="16" name="Never 3 text"/>
          <p:cNvSpPr txBox="1"/>
          <p:nvPr/>
        </p:nvSpPr>
        <p:spPr>
          <a:xfrm>
            <a:off x="1005840" y="2487168"/>
            <a:ext cx="4526280" cy="438912"/>
          </a:xfrm>
          <a:prstGeom prst="rect">
            <a:avLst/>
          </a:prstGeom>
          <a:noFill/>
          <a:ln/>
        </p:spPr>
        <p:txBody>
          <a:bodyPr wrap="square" lIns="0" tIns="0" rIns="0" bIns="0" rtlCol="0" anchor="ctr"/>
          <a:lstStyle/>
          <a:p>
            <a:pPr marL="0" indent="0">
              <a:buNone/>
            </a:pPr>
            <a:r>
              <a:rPr lang="fil-PH" sz="1400" dirty="0">
                <a:solidFill>
                  <a:schemeClr val="tx1"/>
                </a:solidFill>
              </a:rPr>
              <a:t>Sa shopping cart</a:t>
            </a:r>
            <a:endParaRPr lang="fil-PH" sz="1400" dirty="0"/>
          </a:p>
        </p:txBody>
      </p:sp>
      <p:sp>
        <p:nvSpPr>
          <p:cNvPr id="17" name="Never 4"/>
          <p:cNvSpPr/>
          <p:nvPr/>
        </p:nvSpPr>
        <p:spPr>
          <a:xfrm>
            <a:off x="457200" y="299008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8" name="Never 4 circle"/>
          <p:cNvSpPr/>
          <p:nvPr/>
        </p:nvSpPr>
        <p:spPr>
          <a:xfrm>
            <a:off x="548640" y="3044952"/>
            <a:ext cx="329184" cy="329184"/>
          </a:xfrm>
          <a:prstGeom prst="ellipse">
            <a:avLst/>
          </a:prstGeom>
          <a:solidFill>
            <a:schemeClr val="accent2"/>
          </a:solidFill>
          <a:ln w="12700">
            <a:solidFill>
              <a:schemeClr val="accent2"/>
            </a:solidFill>
            <a:prstDash val="solid"/>
          </a:ln>
        </p:spPr>
      </p:sp>
      <p:pic>
        <p:nvPicPr>
          <p:cNvPr id="19" name="Never 4 glyph" descr="Never 4"/>
          <p:cNvPicPr>
            <a:picLocks noChangeAspect="1"/>
          </p:cNvPicPr>
          <p:nvPr/>
        </p:nvPicPr>
        <p:blipFill>
          <a:blip r:embed="rId4"/>
          <a:stretch>
            <a:fillRect/>
          </a:stretch>
        </p:blipFill>
        <p:spPr>
          <a:xfrm>
            <a:off x="634228" y="3130540"/>
            <a:ext cx="158008" cy="158008"/>
          </a:xfrm>
          <a:prstGeom prst="rect">
            <a:avLst/>
          </a:prstGeom>
        </p:spPr>
      </p:pic>
      <p:sp>
        <p:nvSpPr>
          <p:cNvPr id="20" name="Never 4 text"/>
          <p:cNvSpPr txBox="1"/>
          <p:nvPr/>
        </p:nvSpPr>
        <p:spPr>
          <a:xfrm>
            <a:off x="1005840" y="2990088"/>
            <a:ext cx="4526280" cy="438912"/>
          </a:xfrm>
          <a:prstGeom prst="rect">
            <a:avLst/>
          </a:prstGeom>
          <a:noFill/>
          <a:ln/>
        </p:spPr>
        <p:txBody>
          <a:bodyPr wrap="square" lIns="0" tIns="0" rIns="0" bIns="0" rtlCol="0" anchor="ctr"/>
          <a:lstStyle/>
          <a:p>
            <a:pPr marL="0" indent="0">
              <a:buNone/>
            </a:pPr>
            <a:r>
              <a:rPr lang="fil-PH" sz="1400" dirty="0">
                <a:solidFill>
                  <a:schemeClr val="tx1"/>
                </a:solidFill>
              </a:rPr>
              <a:t>Kasama ng alagang hayop</a:t>
            </a:r>
            <a:endParaRPr lang="fil-PH" sz="1400" dirty="0"/>
          </a:p>
        </p:txBody>
      </p:sp>
      <p:sp>
        <p:nvSpPr>
          <p:cNvPr id="21" name="Never 5"/>
          <p:cNvSpPr/>
          <p:nvPr/>
        </p:nvSpPr>
        <p:spPr>
          <a:xfrm>
            <a:off x="457200" y="3493008"/>
            <a:ext cx="5166360" cy="438912"/>
          </a:xfrm>
          <a:prstGeom prst="roundRect">
            <a:avLst>
              <a:gd name="adj" fmla="val 25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2" name="Never 5 circle"/>
          <p:cNvSpPr/>
          <p:nvPr/>
        </p:nvSpPr>
        <p:spPr>
          <a:xfrm>
            <a:off x="548640" y="3547872"/>
            <a:ext cx="329184" cy="329184"/>
          </a:xfrm>
          <a:prstGeom prst="ellipse">
            <a:avLst/>
          </a:prstGeom>
          <a:solidFill>
            <a:schemeClr val="accent2"/>
          </a:solidFill>
          <a:ln w="12700">
            <a:solidFill>
              <a:schemeClr val="accent2"/>
            </a:solidFill>
            <a:prstDash val="solid"/>
          </a:ln>
        </p:spPr>
      </p:sp>
      <p:pic>
        <p:nvPicPr>
          <p:cNvPr id="23" name="Never 5 glyph" descr="Never 5"/>
          <p:cNvPicPr>
            <a:picLocks noChangeAspect="1"/>
          </p:cNvPicPr>
          <p:nvPr/>
        </p:nvPicPr>
        <p:blipFill>
          <a:blip r:embed="rId4"/>
          <a:stretch>
            <a:fillRect/>
          </a:stretch>
        </p:blipFill>
        <p:spPr>
          <a:xfrm>
            <a:off x="634228" y="3633460"/>
            <a:ext cx="158008" cy="158008"/>
          </a:xfrm>
          <a:prstGeom prst="rect">
            <a:avLst/>
          </a:prstGeom>
        </p:spPr>
      </p:pic>
      <p:sp>
        <p:nvSpPr>
          <p:cNvPr id="24" name="Never 5 text"/>
          <p:cNvSpPr txBox="1"/>
          <p:nvPr/>
        </p:nvSpPr>
        <p:spPr>
          <a:xfrm>
            <a:off x="1005840" y="3493008"/>
            <a:ext cx="4526280" cy="438912"/>
          </a:xfrm>
          <a:prstGeom prst="rect">
            <a:avLst/>
          </a:prstGeom>
          <a:noFill/>
          <a:ln/>
        </p:spPr>
        <p:txBody>
          <a:bodyPr wrap="square" lIns="0" tIns="0" rIns="0" bIns="0" rtlCol="0" anchor="ctr"/>
          <a:lstStyle/>
          <a:p>
            <a:pPr marL="0" indent="0">
              <a:buNone/>
            </a:pPr>
            <a:r>
              <a:rPr lang="fil-PH" sz="1400" dirty="0">
                <a:solidFill>
                  <a:schemeClr val="tx1"/>
                </a:solidFill>
              </a:rPr>
              <a:t>Sa mataas na ibabaw: lamesang palitan, counter o upuan</a:t>
            </a:r>
            <a:endParaRPr lang="fil-PH" sz="1400" dirty="0"/>
          </a:p>
        </p:txBody>
      </p:sp>
      <p:sp>
        <p:nvSpPr>
          <p:cNvPr id="25" name="Shake banner"/>
          <p:cNvSpPr/>
          <p:nvPr/>
        </p:nvSpPr>
        <p:spPr>
          <a:xfrm>
            <a:off x="457200" y="4069080"/>
            <a:ext cx="5166360" cy="502920"/>
          </a:xfrm>
          <a:prstGeom prst="roundRect">
            <a:avLst>
              <a:gd name="adj" fmla="val 18182"/>
            </a:avLst>
          </a:prstGeom>
          <a:solidFill>
            <a:schemeClr val="tx1"/>
          </a:solidFill>
          <a:ln w="12700">
            <a:solidFill>
              <a:schemeClr val="tx1"/>
            </a:solidFill>
            <a:prstDash val="solid"/>
          </a:ln>
        </p:spPr>
      </p:sp>
      <p:sp>
        <p:nvSpPr>
          <p:cNvPr id="26" name="Shake text"/>
          <p:cNvSpPr txBox="1"/>
          <p:nvPr/>
        </p:nvSpPr>
        <p:spPr>
          <a:xfrm>
            <a:off x="594360" y="4069080"/>
            <a:ext cx="4937760" cy="502920"/>
          </a:xfrm>
          <a:prstGeom prst="rect">
            <a:avLst/>
          </a:prstGeom>
          <a:noFill/>
          <a:ln/>
        </p:spPr>
        <p:txBody>
          <a:bodyPr wrap="square" lIns="0" tIns="0" rIns="0" bIns="0" rtlCol="0" anchor="ctr"/>
          <a:lstStyle/>
          <a:p>
            <a:pPr marL="0" indent="0">
              <a:buNone/>
            </a:pPr>
            <a:r>
              <a:rPr lang="fil-PH" sz="1400" b="1" dirty="0">
                <a:solidFill>
                  <a:schemeClr val="accent3"/>
                </a:solidFill>
              </a:rPr>
              <a:t>Huwag kailanman paluin o alugin ang sanggol. </a:t>
            </a:r>
            <a:r>
              <a:rPr lang="fil-PH" sz="1400" dirty="0">
                <a:solidFill>
                  <a:schemeClr val="bg1"/>
                </a:solidFill>
              </a:rPr>
              <a:t>Nabibigatan? Magpahinga at ipabantay sa taong pinagkakatiwalaan.</a:t>
            </a:r>
            <a:endParaRPr lang="fil-PH" sz="1400" dirty="0"/>
          </a:p>
        </p:txBody>
      </p:sp>
      <p:pic>
        <p:nvPicPr>
          <p:cNvPr id="27" name="Family photo" descr="Two parents swinging a child between them across a field at sunset"/>
          <p:cNvPicPr>
            <a:picLocks noChangeAspect="1"/>
          </p:cNvPicPr>
          <p:nvPr/>
        </p:nvPicPr>
        <p:blipFill>
          <a:blip r:embed="rId5"/>
          <a:stretch>
            <a:fillRect/>
          </a:stretch>
        </p:blipFill>
        <p:spPr>
          <a:xfrm>
            <a:off x="5852160" y="1143000"/>
            <a:ext cx="2834640" cy="3429000"/>
          </a:xfrm>
          <a:prstGeom prst="rect">
            <a:avLst/>
          </a:prstGeom>
        </p:spPr>
      </p:pic>
      <p:sp>
        <p:nvSpPr>
          <p:cNvPr id="28"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9"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Gawing ligtas ang bahay sa bata</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Card Lock it up"/>
          <p:cNvSpPr/>
          <p:nvPr/>
        </p:nvSpPr>
        <p:spPr>
          <a:xfrm>
            <a:off x="45720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Lock it up circle"/>
          <p:cNvSpPr/>
          <p:nvPr/>
        </p:nvSpPr>
        <p:spPr>
          <a:xfrm>
            <a:off x="640080" y="1307592"/>
            <a:ext cx="457200" cy="457200"/>
          </a:xfrm>
          <a:prstGeom prst="ellipse">
            <a:avLst/>
          </a:prstGeom>
          <a:solidFill>
            <a:schemeClr val="accent1"/>
          </a:solidFill>
          <a:ln w="12700">
            <a:solidFill>
              <a:schemeClr val="accent1"/>
            </a:solidFill>
            <a:prstDash val="solid"/>
          </a:ln>
        </p:spPr>
      </p:sp>
      <p:pic>
        <p:nvPicPr>
          <p:cNvPr id="6" name="Lock it up glyph" descr="Lock it up"/>
          <p:cNvPicPr>
            <a:picLocks noChangeAspect="1"/>
          </p:cNvPicPr>
          <p:nvPr/>
        </p:nvPicPr>
        <p:blipFill>
          <a:blip r:embed="rId4"/>
          <a:stretch>
            <a:fillRect/>
          </a:stretch>
        </p:blipFill>
        <p:spPr>
          <a:xfrm>
            <a:off x="758952" y="1426464"/>
            <a:ext cx="219456" cy="219456"/>
          </a:xfrm>
          <a:prstGeom prst="rect">
            <a:avLst/>
          </a:prstGeom>
        </p:spPr>
      </p:pic>
      <p:sp>
        <p:nvSpPr>
          <p:cNvPr id="7" name="Lock it up heading"/>
          <p:cNvSpPr txBox="1"/>
          <p:nvPr/>
        </p:nvSpPr>
        <p:spPr>
          <a:xfrm>
            <a:off x="1207008" y="130759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Ikandado</a:t>
            </a:r>
            <a:endParaRPr lang="fil-PH" sz="1600" dirty="0"/>
          </a:p>
        </p:txBody>
      </p:sp>
      <p:sp>
        <p:nvSpPr>
          <p:cNvPr id="8" name="Lock it up text"/>
          <p:cNvSpPr txBox="1"/>
          <p:nvPr/>
        </p:nvSpPr>
        <p:spPr>
          <a:xfrm>
            <a:off x="640080" y="1856232"/>
            <a:ext cx="2286000" cy="822960"/>
          </a:xfrm>
          <a:prstGeom prst="rect">
            <a:avLst/>
          </a:prstGeom>
          <a:noFill/>
          <a:ln/>
        </p:spPr>
        <p:txBody>
          <a:bodyPr wrap="square" lIns="0" tIns="0" rIns="0" bIns="0" rtlCol="0" anchor="t"/>
          <a:lstStyle/>
          <a:p>
            <a:pPr marL="0" indent="0">
              <a:buNone/>
            </a:pPr>
            <a:r>
              <a:rPr lang="fil-PH" sz="1400" dirty="0">
                <a:solidFill>
                  <a:schemeClr val="tx2"/>
                </a:solidFill>
              </a:rPr>
              <a:t>Lagyan ng safety lock ang kabinet na may panlinis o gamot. Ilayo ang gamot, sigarilyo at lighter.</a:t>
            </a:r>
            <a:endParaRPr lang="fil-PH" sz="1400" dirty="0"/>
          </a:p>
        </p:txBody>
      </p:sp>
      <p:sp>
        <p:nvSpPr>
          <p:cNvPr id="9" name="Card Cover outlets"/>
          <p:cNvSpPr/>
          <p:nvPr/>
        </p:nvSpPr>
        <p:spPr>
          <a:xfrm>
            <a:off x="324612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over outlets circle"/>
          <p:cNvSpPr/>
          <p:nvPr/>
        </p:nvSpPr>
        <p:spPr>
          <a:xfrm>
            <a:off x="3429000" y="1307592"/>
            <a:ext cx="457200" cy="457200"/>
          </a:xfrm>
          <a:prstGeom prst="ellipse">
            <a:avLst/>
          </a:prstGeom>
          <a:solidFill>
            <a:schemeClr val="accent6"/>
          </a:solidFill>
          <a:ln w="12700">
            <a:solidFill>
              <a:schemeClr val="accent6"/>
            </a:solidFill>
            <a:prstDash val="solid"/>
          </a:ln>
        </p:spPr>
      </p:sp>
      <p:pic>
        <p:nvPicPr>
          <p:cNvPr id="11" name="Cover outlets glyph" descr="Cover outlets"/>
          <p:cNvPicPr>
            <a:picLocks noChangeAspect="1"/>
          </p:cNvPicPr>
          <p:nvPr/>
        </p:nvPicPr>
        <p:blipFill>
          <a:blip r:embed="rId5"/>
          <a:stretch>
            <a:fillRect/>
          </a:stretch>
        </p:blipFill>
        <p:spPr>
          <a:xfrm>
            <a:off x="3547872" y="1426464"/>
            <a:ext cx="219456" cy="219456"/>
          </a:xfrm>
          <a:prstGeom prst="rect">
            <a:avLst/>
          </a:prstGeom>
        </p:spPr>
      </p:pic>
      <p:sp>
        <p:nvSpPr>
          <p:cNvPr id="12" name="Cover outlets heading"/>
          <p:cNvSpPr txBox="1"/>
          <p:nvPr/>
        </p:nvSpPr>
        <p:spPr>
          <a:xfrm>
            <a:off x="3995928" y="130759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Takpan ang outlet</a:t>
            </a:r>
            <a:endParaRPr lang="fil-PH" sz="1600" dirty="0"/>
          </a:p>
        </p:txBody>
      </p:sp>
      <p:sp>
        <p:nvSpPr>
          <p:cNvPr id="13" name="Cover outlets text"/>
          <p:cNvSpPr txBox="1"/>
          <p:nvPr/>
        </p:nvSpPr>
        <p:spPr>
          <a:xfrm>
            <a:off x="3429000" y="1856232"/>
            <a:ext cx="2286000" cy="822960"/>
          </a:xfrm>
          <a:prstGeom prst="rect">
            <a:avLst/>
          </a:prstGeom>
          <a:noFill/>
          <a:ln/>
        </p:spPr>
        <p:txBody>
          <a:bodyPr wrap="square" lIns="0" tIns="0" rIns="0" bIns="0" rtlCol="0" anchor="t"/>
          <a:lstStyle/>
          <a:p>
            <a:pPr marL="0" indent="0">
              <a:buNone/>
            </a:pPr>
            <a:r>
              <a:rPr lang="fil-PH" sz="1400" dirty="0">
                <a:solidFill>
                  <a:schemeClr val="tx2"/>
                </a:solidFill>
              </a:rPr>
              <a:t>Lagyan ng takip ang mga outlet na hindi ginagamit.</a:t>
            </a:r>
            <a:endParaRPr lang="fil-PH" sz="1400" dirty="0"/>
          </a:p>
        </p:txBody>
      </p:sp>
      <p:sp>
        <p:nvSpPr>
          <p:cNvPr id="14" name="Card Gate the stairs"/>
          <p:cNvSpPr/>
          <p:nvPr/>
        </p:nvSpPr>
        <p:spPr>
          <a:xfrm>
            <a:off x="603504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Gate the stairs circle"/>
          <p:cNvSpPr/>
          <p:nvPr/>
        </p:nvSpPr>
        <p:spPr>
          <a:xfrm>
            <a:off x="6217920" y="1307592"/>
            <a:ext cx="457200" cy="457200"/>
          </a:xfrm>
          <a:prstGeom prst="ellipse">
            <a:avLst/>
          </a:prstGeom>
          <a:solidFill>
            <a:schemeClr val="accent4"/>
          </a:solidFill>
          <a:ln w="12700">
            <a:solidFill>
              <a:schemeClr val="accent4"/>
            </a:solidFill>
            <a:prstDash val="solid"/>
          </a:ln>
        </p:spPr>
      </p:sp>
      <p:pic>
        <p:nvPicPr>
          <p:cNvPr id="16" name="Gate the stairs glyph" descr="Gate the stairs"/>
          <p:cNvPicPr>
            <a:picLocks noChangeAspect="1"/>
          </p:cNvPicPr>
          <p:nvPr/>
        </p:nvPicPr>
        <p:blipFill>
          <a:blip r:embed="rId6"/>
          <a:stretch>
            <a:fillRect/>
          </a:stretch>
        </p:blipFill>
        <p:spPr>
          <a:xfrm>
            <a:off x="6336792" y="1426464"/>
            <a:ext cx="219456" cy="219456"/>
          </a:xfrm>
          <a:prstGeom prst="rect">
            <a:avLst/>
          </a:prstGeom>
        </p:spPr>
      </p:pic>
      <p:sp>
        <p:nvSpPr>
          <p:cNvPr id="17" name="Gate the stairs heading"/>
          <p:cNvSpPr txBox="1"/>
          <p:nvPr/>
        </p:nvSpPr>
        <p:spPr>
          <a:xfrm>
            <a:off x="6784848" y="130759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Harangan ang hagdan</a:t>
            </a:r>
            <a:endParaRPr lang="fil-PH" sz="1600" dirty="0"/>
          </a:p>
        </p:txBody>
      </p:sp>
      <p:sp>
        <p:nvSpPr>
          <p:cNvPr id="18" name="Gate the stairs text"/>
          <p:cNvSpPr txBox="1"/>
          <p:nvPr/>
        </p:nvSpPr>
        <p:spPr>
          <a:xfrm>
            <a:off x="6217920" y="1856232"/>
            <a:ext cx="2286000" cy="822960"/>
          </a:xfrm>
          <a:prstGeom prst="rect">
            <a:avLst/>
          </a:prstGeom>
          <a:noFill/>
          <a:ln/>
        </p:spPr>
        <p:txBody>
          <a:bodyPr wrap="square" lIns="0" tIns="0" rIns="0" bIns="0" rtlCol="0" anchor="t"/>
          <a:lstStyle/>
          <a:p>
            <a:pPr marL="0" indent="0">
              <a:buNone/>
            </a:pPr>
            <a:r>
              <a:rPr lang="fil-PH" sz="1400" dirty="0">
                <a:solidFill>
                  <a:schemeClr val="tx2"/>
                </a:solidFill>
              </a:rPr>
              <a:t>Maglagay ng baby gate sa itaas at ibaba ng anumang hagdan.</a:t>
            </a:r>
            <a:endParaRPr lang="fil-PH" sz="1400" dirty="0"/>
          </a:p>
        </p:txBody>
      </p:sp>
      <p:sp>
        <p:nvSpPr>
          <p:cNvPr id="19" name="Card Windows"/>
          <p:cNvSpPr/>
          <p:nvPr/>
        </p:nvSpPr>
        <p:spPr>
          <a:xfrm>
            <a:off x="45720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Windows circle"/>
          <p:cNvSpPr/>
          <p:nvPr/>
        </p:nvSpPr>
        <p:spPr>
          <a:xfrm>
            <a:off x="640080" y="3044952"/>
            <a:ext cx="457200" cy="457200"/>
          </a:xfrm>
          <a:prstGeom prst="ellipse">
            <a:avLst/>
          </a:prstGeom>
          <a:solidFill>
            <a:schemeClr val="accent5"/>
          </a:solidFill>
          <a:ln w="12700">
            <a:solidFill>
              <a:schemeClr val="accent5"/>
            </a:solidFill>
            <a:prstDash val="solid"/>
          </a:ln>
        </p:spPr>
      </p:sp>
      <p:pic>
        <p:nvPicPr>
          <p:cNvPr id="21" name="Windows glyph" descr="Windows"/>
          <p:cNvPicPr>
            <a:picLocks noChangeAspect="1"/>
          </p:cNvPicPr>
          <p:nvPr/>
        </p:nvPicPr>
        <p:blipFill>
          <a:blip r:embed="rId7"/>
          <a:stretch>
            <a:fillRect/>
          </a:stretch>
        </p:blipFill>
        <p:spPr>
          <a:xfrm>
            <a:off x="758952" y="3163824"/>
            <a:ext cx="219456" cy="219456"/>
          </a:xfrm>
          <a:prstGeom prst="rect">
            <a:avLst/>
          </a:prstGeom>
        </p:spPr>
      </p:pic>
      <p:sp>
        <p:nvSpPr>
          <p:cNvPr id="22" name="Windows heading"/>
          <p:cNvSpPr txBox="1"/>
          <p:nvPr/>
        </p:nvSpPr>
        <p:spPr>
          <a:xfrm>
            <a:off x="1207008" y="304495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Bintana</a:t>
            </a:r>
            <a:endParaRPr lang="fil-PH" sz="1600" dirty="0"/>
          </a:p>
        </p:txBody>
      </p:sp>
      <p:sp>
        <p:nvSpPr>
          <p:cNvPr id="23" name="Windows text"/>
          <p:cNvSpPr txBox="1"/>
          <p:nvPr/>
        </p:nvSpPr>
        <p:spPr>
          <a:xfrm>
            <a:off x="640080" y="3593592"/>
            <a:ext cx="2286000" cy="822960"/>
          </a:xfrm>
          <a:prstGeom prst="rect">
            <a:avLst/>
          </a:prstGeom>
          <a:noFill/>
          <a:ln/>
        </p:spPr>
        <p:txBody>
          <a:bodyPr wrap="square" lIns="0" tIns="0" rIns="0" bIns="0" rtlCol="0" anchor="t"/>
          <a:lstStyle/>
          <a:p>
            <a:pPr marL="0" indent="0">
              <a:buNone/>
            </a:pPr>
            <a:r>
              <a:rPr lang="fil-PH" sz="1400" dirty="0">
                <a:solidFill>
                  <a:schemeClr val="tx2"/>
                </a:solidFill>
              </a:rPr>
              <a:t>Hindi matibay ang screen. Ikandado ang bintana, buksan mula sa itaas, may guard, ilayo ang muwebles.</a:t>
            </a:r>
            <a:endParaRPr lang="fil-PH" sz="1400" dirty="0"/>
          </a:p>
        </p:txBody>
      </p:sp>
      <p:sp>
        <p:nvSpPr>
          <p:cNvPr id="24" name="Card Air and smoke"/>
          <p:cNvSpPr/>
          <p:nvPr/>
        </p:nvSpPr>
        <p:spPr>
          <a:xfrm>
            <a:off x="324612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5" name="Air and smoke circle"/>
          <p:cNvSpPr/>
          <p:nvPr/>
        </p:nvSpPr>
        <p:spPr>
          <a:xfrm>
            <a:off x="3429000" y="3044952"/>
            <a:ext cx="457200" cy="457200"/>
          </a:xfrm>
          <a:prstGeom prst="ellipse">
            <a:avLst/>
          </a:prstGeom>
          <a:solidFill>
            <a:schemeClr val="accent2"/>
          </a:solidFill>
          <a:ln w="12700">
            <a:solidFill>
              <a:schemeClr val="accent2"/>
            </a:solidFill>
            <a:prstDash val="solid"/>
          </a:ln>
        </p:spPr>
      </p:sp>
      <p:pic>
        <p:nvPicPr>
          <p:cNvPr id="26" name="Air and smoke glyph" descr="Air and smoke"/>
          <p:cNvPicPr>
            <a:picLocks noChangeAspect="1"/>
          </p:cNvPicPr>
          <p:nvPr/>
        </p:nvPicPr>
        <p:blipFill>
          <a:blip r:embed="rId8"/>
          <a:stretch>
            <a:fillRect/>
          </a:stretch>
        </p:blipFill>
        <p:spPr>
          <a:xfrm>
            <a:off x="3547872" y="3163824"/>
            <a:ext cx="219456" cy="219456"/>
          </a:xfrm>
          <a:prstGeom prst="rect">
            <a:avLst/>
          </a:prstGeom>
        </p:spPr>
      </p:pic>
      <p:sp>
        <p:nvSpPr>
          <p:cNvPr id="27" name="Air and smoke heading"/>
          <p:cNvSpPr txBox="1"/>
          <p:nvPr/>
        </p:nvSpPr>
        <p:spPr>
          <a:xfrm>
            <a:off x="3995928" y="304495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Hangin at usok</a:t>
            </a:r>
            <a:endParaRPr lang="fil-PH" sz="1600" dirty="0"/>
          </a:p>
        </p:txBody>
      </p:sp>
      <p:sp>
        <p:nvSpPr>
          <p:cNvPr id="28" name="Air and smoke text"/>
          <p:cNvSpPr txBox="1"/>
          <p:nvPr/>
        </p:nvSpPr>
        <p:spPr>
          <a:xfrm>
            <a:off x="3429000" y="3593592"/>
            <a:ext cx="2286000" cy="822960"/>
          </a:xfrm>
          <a:prstGeom prst="rect">
            <a:avLst/>
          </a:prstGeom>
          <a:noFill/>
          <a:ln/>
        </p:spPr>
        <p:txBody>
          <a:bodyPr wrap="square" lIns="0" tIns="0" rIns="0" bIns="0" rtlCol="0" anchor="t"/>
          <a:lstStyle/>
          <a:p>
            <a:pPr marL="0" indent="0">
              <a:buNone/>
            </a:pPr>
            <a:r>
              <a:rPr lang="fil-PH" sz="1400" dirty="0">
                <a:solidFill>
                  <a:schemeClr val="tx2"/>
                </a:solidFill>
              </a:rPr>
              <a:t>Huwag manigarilyo malapit sa sanggol. Suriin buwan-buwan ang smoke at carbon monoxide detector.</a:t>
            </a:r>
            <a:endParaRPr lang="fil-PH" sz="1400" dirty="0"/>
          </a:p>
        </p:txBody>
      </p:sp>
      <p:sp>
        <p:nvSpPr>
          <p:cNvPr id="29" name="Card Plants and poisons"/>
          <p:cNvSpPr/>
          <p:nvPr/>
        </p:nvSpPr>
        <p:spPr>
          <a:xfrm>
            <a:off x="603504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30" name="Plants and poisons circle"/>
          <p:cNvSpPr/>
          <p:nvPr/>
        </p:nvSpPr>
        <p:spPr>
          <a:xfrm>
            <a:off x="6217920" y="3044952"/>
            <a:ext cx="457200" cy="457200"/>
          </a:xfrm>
          <a:prstGeom prst="ellipse">
            <a:avLst/>
          </a:prstGeom>
          <a:solidFill>
            <a:schemeClr val="accent4"/>
          </a:solidFill>
          <a:ln w="12700">
            <a:solidFill>
              <a:schemeClr val="accent4"/>
            </a:solidFill>
            <a:prstDash val="solid"/>
          </a:ln>
        </p:spPr>
      </p:sp>
      <p:pic>
        <p:nvPicPr>
          <p:cNvPr id="31" name="Plants and poisons glyph" descr="Plants and poisons"/>
          <p:cNvPicPr>
            <a:picLocks noChangeAspect="1"/>
          </p:cNvPicPr>
          <p:nvPr/>
        </p:nvPicPr>
        <p:blipFill>
          <a:blip r:embed="rId9"/>
          <a:stretch>
            <a:fillRect/>
          </a:stretch>
        </p:blipFill>
        <p:spPr>
          <a:xfrm>
            <a:off x="6336792" y="3163824"/>
            <a:ext cx="219456" cy="219456"/>
          </a:xfrm>
          <a:prstGeom prst="rect">
            <a:avLst/>
          </a:prstGeom>
        </p:spPr>
      </p:pic>
      <p:sp>
        <p:nvSpPr>
          <p:cNvPr id="32" name="Plants and poisons heading"/>
          <p:cNvSpPr txBox="1"/>
          <p:nvPr/>
        </p:nvSpPr>
        <p:spPr>
          <a:xfrm>
            <a:off x="6784848" y="3044952"/>
            <a:ext cx="1737360" cy="457200"/>
          </a:xfrm>
          <a:prstGeom prst="rect">
            <a:avLst/>
          </a:prstGeom>
          <a:noFill/>
          <a:ln/>
        </p:spPr>
        <p:txBody>
          <a:bodyPr wrap="square" lIns="0" tIns="0" rIns="0" bIns="0" rtlCol="0" anchor="ctr"/>
          <a:lstStyle/>
          <a:p>
            <a:pPr marL="0" indent="0">
              <a:buNone/>
            </a:pPr>
            <a:r>
              <a:rPr lang="fil-PH" sz="1600" b="1" dirty="0">
                <a:solidFill>
                  <a:schemeClr val="tx1"/>
                </a:solidFill>
              </a:rPr>
              <a:t>Halaman at lason</a:t>
            </a:r>
            <a:endParaRPr lang="fil-PH" sz="1600" dirty="0"/>
          </a:p>
        </p:txBody>
      </p:sp>
      <p:sp>
        <p:nvSpPr>
          <p:cNvPr id="33" name="Plants and poisons text"/>
          <p:cNvSpPr txBox="1"/>
          <p:nvPr/>
        </p:nvSpPr>
        <p:spPr>
          <a:xfrm>
            <a:off x="6217920" y="3593592"/>
            <a:ext cx="2286000" cy="822960"/>
          </a:xfrm>
          <a:prstGeom prst="rect">
            <a:avLst/>
          </a:prstGeom>
          <a:noFill/>
          <a:ln/>
        </p:spPr>
        <p:txBody>
          <a:bodyPr wrap="square" lIns="0" tIns="0" rIns="0" bIns="0" rtlCol="0" anchor="t"/>
          <a:lstStyle/>
          <a:p>
            <a:pPr marL="0" indent="0">
              <a:buNone/>
            </a:pPr>
            <a:r>
              <a:rPr lang="fil-PH" sz="1400" dirty="0">
                <a:solidFill>
                  <a:schemeClr val="tx2"/>
                </a:solidFill>
              </a:rPr>
              <a:t>Suriin kung nakalalason ang mga halaman. Kung may nakain ang bata, tumawag sa lokal na poison center.</a:t>
            </a:r>
            <a:endParaRPr lang="fil-PH" sz="1400" dirty="0"/>
          </a:p>
        </p:txBody>
      </p:sp>
      <p:sp>
        <p:nvSpPr>
          <p:cNvPr id="34" name="Back button">
            <a:hlinkClick r:id="rId10"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35" name="Next button">
            <a:hlinkClick r:id="rId11"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Kaligtasan sa tubig at paliligo</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Stat 1–2 inches"/>
          <p:cNvSpPr/>
          <p:nvPr/>
        </p:nvSpPr>
        <p:spPr>
          <a:xfrm>
            <a:off x="457200" y="1143000"/>
            <a:ext cx="2514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1–2 inches stat"/>
          <p:cNvSpPr txBox="1"/>
          <p:nvPr/>
        </p:nvSpPr>
        <p:spPr>
          <a:xfrm>
            <a:off x="640080" y="1280160"/>
            <a:ext cx="2148840" cy="502920"/>
          </a:xfrm>
          <a:prstGeom prst="rect">
            <a:avLst/>
          </a:prstGeom>
          <a:noFill/>
          <a:ln/>
        </p:spPr>
        <p:txBody>
          <a:bodyPr wrap="square" lIns="0" tIns="0" rIns="0" bIns="0" rtlCol="0" anchor="ctr"/>
          <a:lstStyle/>
          <a:p>
            <a:pPr marL="0" indent="0">
              <a:buNone/>
            </a:pPr>
            <a:r>
              <a:rPr lang="fil-PH" sz="2400" b="1" dirty="0">
                <a:solidFill>
                  <a:schemeClr val="accent2"/>
                </a:solidFill>
                <a:latin typeface="+mj-lt" pitchFamily="34" charset="0"/>
                <a:ea typeface="+mj-lt" pitchFamily="34" charset="-122"/>
                <a:cs typeface="+mj-lt" pitchFamily="34" charset="-120"/>
              </a:rPr>
              <a:t>1–2 pulgada</a:t>
            </a:r>
            <a:endParaRPr lang="fil-PH" sz="2400" dirty="0"/>
          </a:p>
        </p:txBody>
      </p:sp>
      <p:sp>
        <p:nvSpPr>
          <p:cNvPr id="6" name="1–2 inches text"/>
          <p:cNvSpPr txBox="1"/>
          <p:nvPr/>
        </p:nvSpPr>
        <p:spPr>
          <a:xfrm>
            <a:off x="640080" y="1828800"/>
            <a:ext cx="2148840" cy="822960"/>
          </a:xfrm>
          <a:prstGeom prst="rect">
            <a:avLst/>
          </a:prstGeom>
          <a:noFill/>
          <a:ln/>
        </p:spPr>
        <p:txBody>
          <a:bodyPr wrap="square" lIns="0" tIns="0" rIns="0" bIns="0" rtlCol="0" anchor="t"/>
          <a:lstStyle/>
          <a:p>
            <a:pPr marL="0" indent="0">
              <a:buNone/>
            </a:pPr>
            <a:r>
              <a:rPr lang="fil-PH" sz="1400" dirty="0">
                <a:solidFill>
                  <a:schemeClr val="tx2"/>
                </a:solidFill>
              </a:rPr>
              <a:t>ng tubig ay sapat nang ikalunod ng sanggol.</a:t>
            </a:r>
            <a:endParaRPr lang="fil-PH" sz="1400" dirty="0"/>
          </a:p>
        </p:txBody>
      </p:sp>
      <p:sp>
        <p:nvSpPr>
          <p:cNvPr id="7" name="Stat Below 120°F"/>
          <p:cNvSpPr/>
          <p:nvPr/>
        </p:nvSpPr>
        <p:spPr>
          <a:xfrm>
            <a:off x="457200" y="2926080"/>
            <a:ext cx="2514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Below 120°F stat"/>
          <p:cNvSpPr txBox="1"/>
          <p:nvPr/>
        </p:nvSpPr>
        <p:spPr>
          <a:xfrm>
            <a:off x="640080" y="3063240"/>
            <a:ext cx="2148840" cy="502920"/>
          </a:xfrm>
          <a:prstGeom prst="rect">
            <a:avLst/>
          </a:prstGeom>
          <a:noFill/>
          <a:ln/>
        </p:spPr>
        <p:txBody>
          <a:bodyPr wrap="square" lIns="0" tIns="0" rIns="0" bIns="0" rtlCol="0" anchor="ctr"/>
          <a:lstStyle/>
          <a:p>
            <a:pPr marL="0" indent="0">
              <a:buNone/>
            </a:pPr>
            <a:r>
              <a:rPr lang="fil-PH" sz="2400" b="1" dirty="0">
                <a:solidFill>
                  <a:schemeClr val="accent1"/>
                </a:solidFill>
                <a:latin typeface="+mj-lt" pitchFamily="34" charset="0"/>
                <a:ea typeface="+mj-lt" pitchFamily="34" charset="-122"/>
                <a:cs typeface="+mj-lt" pitchFamily="34" charset="-120"/>
              </a:rPr>
              <a:t>&lt;120°F</a:t>
            </a:r>
            <a:endParaRPr lang="fil-PH" sz="2400" dirty="0"/>
          </a:p>
        </p:txBody>
      </p:sp>
      <p:sp>
        <p:nvSpPr>
          <p:cNvPr id="9" name="Below 120°F text"/>
          <p:cNvSpPr txBox="1"/>
          <p:nvPr/>
        </p:nvSpPr>
        <p:spPr>
          <a:xfrm>
            <a:off x="640080" y="3611880"/>
            <a:ext cx="2148840" cy="822960"/>
          </a:xfrm>
          <a:prstGeom prst="rect">
            <a:avLst/>
          </a:prstGeom>
          <a:noFill/>
          <a:ln/>
        </p:spPr>
        <p:txBody>
          <a:bodyPr wrap="square" lIns="0" tIns="0" rIns="0" bIns="0" rtlCol="0" anchor="t"/>
          <a:lstStyle/>
          <a:p>
            <a:pPr marL="0" indent="0">
              <a:buNone/>
            </a:pPr>
            <a:r>
              <a:rPr lang="fil-PH" sz="1400" dirty="0">
                <a:solidFill>
                  <a:schemeClr val="tx2"/>
                </a:solidFill>
              </a:rPr>
              <a:t>Setting ng water heater (48.9°C). Subukan ang tubig-paligo gamit ang siko.</a:t>
            </a:r>
            <a:endParaRPr lang="fil-PH" sz="1400" dirty="0"/>
          </a:p>
        </p:txBody>
      </p:sp>
      <p:sp>
        <p:nvSpPr>
          <p:cNvPr id="10" name="Bath card"/>
          <p:cNvSpPr/>
          <p:nvPr/>
        </p:nvSpPr>
        <p:spPr>
          <a:xfrm>
            <a:off x="3200400" y="1143000"/>
            <a:ext cx="5486400" cy="2148840"/>
          </a:xfrm>
          <a:prstGeom prst="roundRect">
            <a:avLst>
              <a:gd name="adj" fmla="val 5106"/>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Bath circle"/>
          <p:cNvSpPr/>
          <p:nvPr/>
        </p:nvSpPr>
        <p:spPr>
          <a:xfrm>
            <a:off x="3383280" y="1280160"/>
            <a:ext cx="411480" cy="411480"/>
          </a:xfrm>
          <a:prstGeom prst="ellipse">
            <a:avLst/>
          </a:prstGeom>
          <a:solidFill>
            <a:schemeClr val="accent6"/>
          </a:solidFill>
          <a:ln w="12700">
            <a:solidFill>
              <a:schemeClr val="accent6"/>
            </a:solidFill>
            <a:prstDash val="solid"/>
          </a:ln>
        </p:spPr>
      </p:sp>
      <p:pic>
        <p:nvPicPr>
          <p:cNvPr id="12" name="Bath glyph" descr="Bath"/>
          <p:cNvPicPr>
            <a:picLocks noChangeAspect="1"/>
          </p:cNvPicPr>
          <p:nvPr/>
        </p:nvPicPr>
        <p:blipFill>
          <a:blip r:embed="rId4"/>
          <a:stretch>
            <a:fillRect/>
          </a:stretch>
        </p:blipFill>
        <p:spPr>
          <a:xfrm>
            <a:off x="3490265" y="1387145"/>
            <a:ext cx="197510" cy="197510"/>
          </a:xfrm>
          <a:prstGeom prst="rect">
            <a:avLst/>
          </a:prstGeom>
        </p:spPr>
      </p:pic>
      <p:sp>
        <p:nvSpPr>
          <p:cNvPr id="13" name="Bath heading"/>
          <p:cNvSpPr txBox="1"/>
          <p:nvPr/>
        </p:nvSpPr>
        <p:spPr>
          <a:xfrm>
            <a:off x="3931920" y="1280160"/>
            <a:ext cx="3657600" cy="411480"/>
          </a:xfrm>
          <a:prstGeom prst="rect">
            <a:avLst/>
          </a:prstGeom>
          <a:noFill/>
          <a:ln/>
        </p:spPr>
        <p:txBody>
          <a:bodyPr wrap="square" lIns="0" tIns="0" rIns="0" bIns="0" rtlCol="0" anchor="ctr"/>
          <a:lstStyle/>
          <a:p>
            <a:pPr marL="0" indent="0">
              <a:buNone/>
            </a:pPr>
            <a:r>
              <a:rPr lang="fil-PH" sz="1600" b="1" dirty="0">
                <a:solidFill>
                  <a:schemeClr val="tx1"/>
                </a:solidFill>
              </a:rPr>
              <a:t>Sa oras ng paliligo</a:t>
            </a:r>
            <a:endParaRPr lang="fil-PH" sz="1600" dirty="0"/>
          </a:p>
        </p:txBody>
      </p:sp>
      <p:sp>
        <p:nvSpPr>
          <p:cNvPr id="14" name="Bath list"/>
          <p:cNvSpPr txBox="1"/>
          <p:nvPr/>
        </p:nvSpPr>
        <p:spPr>
          <a:xfrm>
            <a:off x="3383280" y="1783080"/>
            <a:ext cx="5120640" cy="1463040"/>
          </a:xfrm>
          <a:prstGeom prst="rect">
            <a:avLst/>
          </a:prstGeom>
          <a:noFill/>
          <a:ln/>
        </p:spPr>
        <p:txBody>
          <a:bodyPr wrap="square" lIns="0" tIns="0" rIns="0" bIns="0" rtlCol="0" anchor="t"/>
          <a:lstStyle/>
          <a:p>
            <a:pPr marL="177800" indent="-177800">
              <a:spcAft>
                <a:spcPts val="200"/>
              </a:spcAft>
              <a:buSzPct val="100000"/>
              <a:buChar char="•"/>
            </a:pPr>
            <a:r>
              <a:rPr lang="fil-PH" sz="1400" dirty="0">
                <a:solidFill>
                  <a:schemeClr val="tx2"/>
                </a:solidFill>
              </a:rPr>
              <a:t>Huwag iwan mag-isa sa bathtub, hot tub o pool</a:t>
            </a:r>
            <a:endParaRPr lang="fil-PH" sz="1400" dirty="0"/>
          </a:p>
          <a:p>
            <a:pPr marL="177800" indent="-177800">
              <a:spcAft>
                <a:spcPts val="200"/>
              </a:spcAft>
              <a:buSzPct val="100000"/>
              <a:buChar char="•"/>
            </a:pPr>
            <a:r>
              <a:rPr lang="fil-PH" sz="1400" dirty="0">
                <a:solidFill>
                  <a:schemeClr val="tx2"/>
                </a:solidFill>
              </a:rPr>
              <a:t>Gumamit ng lababo o baby tub na may non-skid mat</a:t>
            </a:r>
            <a:endParaRPr lang="fil-PH" sz="1400" dirty="0"/>
          </a:p>
          <a:p>
            <a:pPr marL="177800" indent="-177800">
              <a:spcAft>
                <a:spcPts val="200"/>
              </a:spcAft>
              <a:buSzPct val="100000"/>
              <a:buChar char="•"/>
            </a:pPr>
            <a:r>
              <a:rPr lang="fil-PH" sz="1400" dirty="0">
                <a:solidFill>
                  <a:schemeClr val="tx2"/>
                </a:solidFill>
              </a:rPr>
              <a:t>Nasa labas ng tubig ang halos buong katawan at buong mukha</a:t>
            </a:r>
            <a:endParaRPr lang="fil-PH" sz="1400" dirty="0"/>
          </a:p>
          <a:p>
            <a:pPr marL="177800" indent="-177800">
              <a:spcAft>
                <a:spcPts val="200"/>
              </a:spcAft>
              <a:buSzPct val="100000"/>
              <a:buChar char="•"/>
            </a:pPr>
            <a:r>
              <a:rPr lang="fil-PH" sz="1400" dirty="0">
                <a:solidFill>
                  <a:schemeClr val="tx2"/>
                </a:solidFill>
              </a:rPr>
              <a:t>Huwag gumamit ng bath seat: natutumba ito kapag kaya nang tumayo ang sanggol</a:t>
            </a:r>
            <a:endParaRPr lang="fil-PH" sz="1400" dirty="0"/>
          </a:p>
          <a:p>
            <a:pPr marL="177800" indent="-177800">
              <a:spcAft>
                <a:spcPts val="200"/>
              </a:spcAft>
              <a:buSzPct val="100000"/>
              <a:buChar char="•"/>
            </a:pPr>
            <a:r>
              <a:rPr lang="fil-PH" sz="1400" dirty="0">
                <a:solidFill>
                  <a:schemeClr val="tx2"/>
                </a:solidFill>
              </a:rPr>
              <a:t>Ilapit ang mga gamit para laging may isang kamay sa sanggol</a:t>
            </a:r>
            <a:endParaRPr lang="fil-PH" sz="1400" dirty="0"/>
          </a:p>
        </p:txBody>
      </p:sp>
      <p:sp>
        <p:nvSpPr>
          <p:cNvPr id="15" name="Outside water card"/>
          <p:cNvSpPr/>
          <p:nvPr/>
        </p:nvSpPr>
        <p:spPr>
          <a:xfrm>
            <a:off x="3200400" y="3429000"/>
            <a:ext cx="5486400" cy="1097280"/>
          </a:xfrm>
          <a:prstGeom prst="roundRect">
            <a:avLst>
              <a:gd name="adj" fmla="val 10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6" name="Outside water text"/>
          <p:cNvSpPr txBox="1"/>
          <p:nvPr/>
        </p:nvSpPr>
        <p:spPr>
          <a:xfrm>
            <a:off x="3383280" y="3429000"/>
            <a:ext cx="5120640" cy="1097280"/>
          </a:xfrm>
          <a:prstGeom prst="rect">
            <a:avLst/>
          </a:prstGeom>
          <a:noFill/>
          <a:ln/>
        </p:spPr>
        <p:txBody>
          <a:bodyPr wrap="square" lIns="0" tIns="0" rIns="0" bIns="0" rtlCol="0" anchor="ctr"/>
          <a:lstStyle/>
          <a:p>
            <a:pPr marL="0" indent="0">
              <a:buNone/>
            </a:pPr>
            <a:r>
              <a:rPr lang="fil-PH" sz="1400" b="1" dirty="0">
                <a:solidFill>
                  <a:schemeClr val="tx1"/>
                </a:solidFill>
              </a:rPr>
              <a:t>Alisin o takpan ang tubig sa labas: </a:t>
            </a:r>
            <a:r>
              <a:rPr lang="fil-PH" sz="1400" dirty="0">
                <a:solidFill>
                  <a:schemeClr val="tx2"/>
                </a:solidFill>
              </a:rPr>
              <a:t>balde, basurahan, inflatable pool, recycling bin, cooler na may natunaw na yelo at malalaking lalagyan ng tubig.</a:t>
            </a:r>
            <a:endParaRPr lang="fil-PH" sz="1400" dirty="0"/>
          </a:p>
        </p:txBody>
      </p:sp>
      <p:sp>
        <p:nvSpPr>
          <p:cNvPr id="17"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18"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Ligtas na kuna</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Stat Fixed sides"/>
          <p:cNvSpPr/>
          <p:nvPr/>
        </p:nvSpPr>
        <p:spPr>
          <a:xfrm>
            <a:off x="45720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Fixed sides stat"/>
          <p:cNvSpPr txBox="1"/>
          <p:nvPr/>
        </p:nvSpPr>
        <p:spPr>
          <a:xfrm>
            <a:off x="640080" y="1280160"/>
            <a:ext cx="2286000" cy="502920"/>
          </a:xfrm>
          <a:prstGeom prst="rect">
            <a:avLst/>
          </a:prstGeom>
          <a:noFill/>
          <a:ln/>
        </p:spPr>
        <p:txBody>
          <a:bodyPr wrap="square" lIns="0" tIns="0" rIns="0" bIns="0" rtlCol="0" anchor="ctr"/>
          <a:lstStyle/>
          <a:p>
            <a:pPr marL="0" indent="0">
              <a:buNone/>
            </a:pPr>
            <a:r>
              <a:rPr lang="fil-PH" sz="2400" b="1" dirty="0">
                <a:solidFill>
                  <a:schemeClr val="accent1"/>
                </a:solidFill>
                <a:latin typeface="+mj-lt" pitchFamily="34" charset="0"/>
                <a:ea typeface="+mj-lt" pitchFamily="34" charset="-122"/>
                <a:cs typeface="+mj-lt" pitchFamily="34" charset="-120"/>
              </a:rPr>
              <a:t>Matibay</a:t>
            </a:r>
            <a:endParaRPr lang="fil-PH" sz="2400" dirty="0"/>
          </a:p>
        </p:txBody>
      </p:sp>
      <p:sp>
        <p:nvSpPr>
          <p:cNvPr id="6" name="Fixed sides text"/>
          <p:cNvSpPr txBox="1"/>
          <p:nvPr/>
        </p:nvSpPr>
        <p:spPr>
          <a:xfrm>
            <a:off x="640080" y="1828800"/>
            <a:ext cx="2286000" cy="868680"/>
          </a:xfrm>
          <a:prstGeom prst="rect">
            <a:avLst/>
          </a:prstGeom>
          <a:noFill/>
          <a:ln/>
        </p:spPr>
        <p:txBody>
          <a:bodyPr wrap="square" lIns="0" tIns="0" rIns="0" bIns="0" rtlCol="0" anchor="t"/>
          <a:lstStyle/>
          <a:p>
            <a:pPr marL="0" indent="0">
              <a:buNone/>
            </a:pPr>
            <a:r>
              <a:rPr lang="fil-PH" sz="1400" dirty="0">
                <a:solidFill>
                  <a:schemeClr val="tx2"/>
                </a:solidFill>
              </a:rPr>
              <a:t>Huwag gumamit ng kunang may drop-side. Maaaring maipit ang sanggol at toddler.</a:t>
            </a:r>
            <a:endParaRPr lang="fil-PH" sz="1400" dirty="0"/>
          </a:p>
        </p:txBody>
      </p:sp>
      <p:sp>
        <p:nvSpPr>
          <p:cNvPr id="7" name="Stat Under 10°"/>
          <p:cNvSpPr/>
          <p:nvPr/>
        </p:nvSpPr>
        <p:spPr>
          <a:xfrm>
            <a:off x="324612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Under 10° stat"/>
          <p:cNvSpPr txBox="1"/>
          <p:nvPr/>
        </p:nvSpPr>
        <p:spPr>
          <a:xfrm>
            <a:off x="3429000" y="1280160"/>
            <a:ext cx="2286000" cy="502920"/>
          </a:xfrm>
          <a:prstGeom prst="rect">
            <a:avLst/>
          </a:prstGeom>
          <a:noFill/>
          <a:ln/>
        </p:spPr>
        <p:txBody>
          <a:bodyPr wrap="square" lIns="0" tIns="0" rIns="0" bIns="0" rtlCol="0" anchor="ctr"/>
          <a:lstStyle/>
          <a:p>
            <a:pPr marL="0" indent="0">
              <a:buNone/>
            </a:pPr>
            <a:r>
              <a:rPr lang="fil-PH" sz="2400" b="1" dirty="0">
                <a:solidFill>
                  <a:schemeClr val="accent2"/>
                </a:solidFill>
                <a:latin typeface="+mj-lt" pitchFamily="34" charset="0"/>
                <a:ea typeface="+mj-lt" pitchFamily="34" charset="-122"/>
                <a:cs typeface="+mj-lt" pitchFamily="34" charset="-120"/>
              </a:rPr>
              <a:t>Hanggang 10°</a:t>
            </a:r>
            <a:endParaRPr lang="fil-PH" sz="2400" dirty="0"/>
          </a:p>
        </p:txBody>
      </p:sp>
      <p:sp>
        <p:nvSpPr>
          <p:cNvPr id="9" name="Under 10° text"/>
          <p:cNvSpPr txBox="1"/>
          <p:nvPr/>
        </p:nvSpPr>
        <p:spPr>
          <a:xfrm>
            <a:off x="3429000" y="1828800"/>
            <a:ext cx="2286000" cy="868680"/>
          </a:xfrm>
          <a:prstGeom prst="rect">
            <a:avLst/>
          </a:prstGeom>
          <a:noFill/>
          <a:ln/>
        </p:spPr>
        <p:txBody>
          <a:bodyPr wrap="square" lIns="0" tIns="0" rIns="0" bIns="0" rtlCol="0" anchor="t"/>
          <a:lstStyle/>
          <a:p>
            <a:pPr marL="0" indent="0">
              <a:buNone/>
            </a:pPr>
            <a:r>
              <a:rPr lang="fil-PH" sz="1400" dirty="0">
                <a:solidFill>
                  <a:schemeClr val="tx2"/>
                </a:solidFill>
              </a:rPr>
              <a:t>Huwag ikiling ang kuna nang higit 10 degrees. Hindi ligtas ang nakatagilid na kutson.</a:t>
            </a:r>
            <a:endParaRPr lang="fil-PH" sz="1400" dirty="0"/>
          </a:p>
        </p:txBody>
      </p:sp>
      <p:sp>
        <p:nvSpPr>
          <p:cNvPr id="10" name="Stat Bare crib"/>
          <p:cNvSpPr/>
          <p:nvPr/>
        </p:nvSpPr>
        <p:spPr>
          <a:xfrm>
            <a:off x="6035040" y="114300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Bare crib stat"/>
          <p:cNvSpPr txBox="1"/>
          <p:nvPr/>
        </p:nvSpPr>
        <p:spPr>
          <a:xfrm>
            <a:off x="6217920" y="1280160"/>
            <a:ext cx="2286000" cy="502920"/>
          </a:xfrm>
          <a:prstGeom prst="rect">
            <a:avLst/>
          </a:prstGeom>
          <a:noFill/>
          <a:ln/>
        </p:spPr>
        <p:txBody>
          <a:bodyPr wrap="square" lIns="0" tIns="0" rIns="0" bIns="0" rtlCol="0" anchor="ctr"/>
          <a:lstStyle/>
          <a:p>
            <a:pPr marL="0" indent="0">
              <a:buNone/>
            </a:pPr>
            <a:r>
              <a:rPr lang="fil-PH" sz="2400" b="1" dirty="0">
                <a:solidFill>
                  <a:schemeClr val="accent4"/>
                </a:solidFill>
                <a:latin typeface="+mj-lt" pitchFamily="34" charset="0"/>
                <a:ea typeface="+mj-lt" pitchFamily="34" charset="-122"/>
                <a:cs typeface="+mj-lt" pitchFamily="34" charset="-120"/>
              </a:rPr>
              <a:t>Walang laman</a:t>
            </a:r>
            <a:endParaRPr lang="fil-PH" sz="2400" dirty="0"/>
          </a:p>
        </p:txBody>
      </p:sp>
      <p:sp>
        <p:nvSpPr>
          <p:cNvPr id="12" name="Bare crib text"/>
          <p:cNvSpPr txBox="1"/>
          <p:nvPr/>
        </p:nvSpPr>
        <p:spPr>
          <a:xfrm>
            <a:off x="6217920" y="1828800"/>
            <a:ext cx="2286000" cy="868680"/>
          </a:xfrm>
          <a:prstGeom prst="rect">
            <a:avLst/>
          </a:prstGeom>
          <a:noFill/>
          <a:ln/>
        </p:spPr>
        <p:txBody>
          <a:bodyPr wrap="square" lIns="0" tIns="0" rIns="0" bIns="0" rtlCol="0" anchor="t"/>
          <a:lstStyle/>
          <a:p>
            <a:pPr marL="0" indent="0">
              <a:buNone/>
            </a:pPr>
            <a:r>
              <a:rPr lang="fil-PH" sz="1400" dirty="0">
                <a:solidFill>
                  <a:schemeClr val="tx2"/>
                </a:solidFill>
              </a:rPr>
              <a:t>Walang malambot na gamit, comforter, maluwag na kumot, unan, balat ng tupa, laruan o bumper.</a:t>
            </a:r>
            <a:endParaRPr lang="fil-PH" sz="1400" dirty="0"/>
          </a:p>
        </p:txBody>
      </p:sp>
      <p:sp>
        <p:nvSpPr>
          <p:cNvPr id="13" name="Stat Snug sheet"/>
          <p:cNvSpPr/>
          <p:nvPr/>
        </p:nvSpPr>
        <p:spPr>
          <a:xfrm>
            <a:off x="45720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4" name="Snug sheet stat"/>
          <p:cNvSpPr txBox="1"/>
          <p:nvPr/>
        </p:nvSpPr>
        <p:spPr>
          <a:xfrm>
            <a:off x="640080" y="3017520"/>
            <a:ext cx="2286000" cy="502920"/>
          </a:xfrm>
          <a:prstGeom prst="rect">
            <a:avLst/>
          </a:prstGeom>
          <a:noFill/>
          <a:ln/>
        </p:spPr>
        <p:txBody>
          <a:bodyPr wrap="square" lIns="0" tIns="0" rIns="0" bIns="0" rtlCol="0" anchor="ctr"/>
          <a:lstStyle/>
          <a:p>
            <a:pPr marL="0" indent="0">
              <a:buNone/>
            </a:pPr>
            <a:r>
              <a:rPr lang="fil-PH" sz="2400" b="1" dirty="0">
                <a:solidFill>
                  <a:schemeClr val="accent5"/>
                </a:solidFill>
                <a:latin typeface="+mj-lt" pitchFamily="34" charset="0"/>
                <a:ea typeface="+mj-lt" pitchFamily="34" charset="-122"/>
                <a:cs typeface="+mj-lt" pitchFamily="34" charset="-120"/>
              </a:rPr>
              <a:t>Mahigpit</a:t>
            </a:r>
            <a:endParaRPr lang="fil-PH" sz="2400" dirty="0"/>
          </a:p>
        </p:txBody>
      </p:sp>
      <p:sp>
        <p:nvSpPr>
          <p:cNvPr id="15" name="Snug sheet text"/>
          <p:cNvSpPr txBox="1"/>
          <p:nvPr/>
        </p:nvSpPr>
        <p:spPr>
          <a:xfrm>
            <a:off x="640080" y="3566160"/>
            <a:ext cx="2286000" cy="868680"/>
          </a:xfrm>
          <a:prstGeom prst="rect">
            <a:avLst/>
          </a:prstGeom>
          <a:noFill/>
          <a:ln/>
        </p:spPr>
        <p:txBody>
          <a:bodyPr wrap="square" lIns="0" tIns="0" rIns="0" bIns="0" rtlCol="0" anchor="t"/>
          <a:lstStyle/>
          <a:p>
            <a:pPr marL="0" indent="0">
              <a:buNone/>
            </a:pPr>
            <a:r>
              <a:rPr lang="fil-PH" sz="1400" dirty="0">
                <a:solidFill>
                  <a:schemeClr val="tx2"/>
                </a:solidFill>
              </a:rPr>
              <a:t>Gumamit ng sapin na mahigpit ang kasya sa kutson.</a:t>
            </a:r>
            <a:endParaRPr lang="fil-PH" sz="1400" dirty="0"/>
          </a:p>
        </p:txBody>
      </p:sp>
      <p:sp>
        <p:nvSpPr>
          <p:cNvPr id="16" name="Stat No cords"/>
          <p:cNvSpPr/>
          <p:nvPr/>
        </p:nvSpPr>
        <p:spPr>
          <a:xfrm>
            <a:off x="324612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No cords stat"/>
          <p:cNvSpPr txBox="1"/>
          <p:nvPr/>
        </p:nvSpPr>
        <p:spPr>
          <a:xfrm>
            <a:off x="3429000" y="3017520"/>
            <a:ext cx="2286000" cy="502920"/>
          </a:xfrm>
          <a:prstGeom prst="rect">
            <a:avLst/>
          </a:prstGeom>
          <a:noFill/>
          <a:ln/>
        </p:spPr>
        <p:txBody>
          <a:bodyPr wrap="square" lIns="0" tIns="0" rIns="0" bIns="0" rtlCol="0" anchor="ctr"/>
          <a:lstStyle/>
          <a:p>
            <a:pPr marL="0" indent="0">
              <a:buNone/>
            </a:pPr>
            <a:r>
              <a:rPr lang="fil-PH" sz="2400" b="1" dirty="0">
                <a:solidFill>
                  <a:schemeClr val="accent6"/>
                </a:solidFill>
                <a:latin typeface="+mj-lt" pitchFamily="34" charset="0"/>
                <a:ea typeface="+mj-lt" pitchFamily="34" charset="-122"/>
                <a:cs typeface="+mj-lt" pitchFamily="34" charset="-120"/>
              </a:rPr>
              <a:t>Walang tali</a:t>
            </a:r>
            <a:endParaRPr lang="fil-PH" sz="2400" dirty="0"/>
          </a:p>
        </p:txBody>
      </p:sp>
      <p:sp>
        <p:nvSpPr>
          <p:cNvPr id="18" name="No cords text"/>
          <p:cNvSpPr txBox="1"/>
          <p:nvPr/>
        </p:nvSpPr>
        <p:spPr>
          <a:xfrm>
            <a:off x="3429000" y="3566160"/>
            <a:ext cx="2286000" cy="868680"/>
          </a:xfrm>
          <a:prstGeom prst="rect">
            <a:avLst/>
          </a:prstGeom>
          <a:noFill/>
          <a:ln/>
        </p:spPr>
        <p:txBody>
          <a:bodyPr wrap="square" lIns="0" tIns="0" rIns="0" bIns="0" rtlCol="0" anchor="t"/>
          <a:lstStyle/>
          <a:p>
            <a:pPr marL="0" indent="0">
              <a:buNone/>
            </a:pPr>
            <a:r>
              <a:rPr lang="fil-PH" sz="1400" dirty="0">
                <a:solidFill>
                  <a:schemeClr val="tx2"/>
                </a:solidFill>
              </a:rPr>
              <a:t>Ilayo sa kuna ang tali ng blinds, lampara o mobile.</a:t>
            </a:r>
            <a:endParaRPr lang="fil-PH" sz="1400" dirty="0"/>
          </a:p>
        </p:txBody>
      </p:sp>
      <p:sp>
        <p:nvSpPr>
          <p:cNvPr id="19" name="Stat 2⅜ inches"/>
          <p:cNvSpPr/>
          <p:nvPr/>
        </p:nvSpPr>
        <p:spPr>
          <a:xfrm>
            <a:off x="6035040" y="2880360"/>
            <a:ext cx="265176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0" name="2⅜ inches stat"/>
          <p:cNvSpPr txBox="1"/>
          <p:nvPr/>
        </p:nvSpPr>
        <p:spPr>
          <a:xfrm>
            <a:off x="6217920" y="3017520"/>
            <a:ext cx="2286000" cy="502920"/>
          </a:xfrm>
          <a:prstGeom prst="rect">
            <a:avLst/>
          </a:prstGeom>
          <a:noFill/>
          <a:ln/>
        </p:spPr>
        <p:txBody>
          <a:bodyPr wrap="square" lIns="0" tIns="0" rIns="0" bIns="0" rtlCol="0" anchor="ctr"/>
          <a:lstStyle/>
          <a:p>
            <a:pPr marL="0" indent="0">
              <a:buNone/>
            </a:pPr>
            <a:r>
              <a:rPr lang="fil-PH" sz="2400" b="1" dirty="0">
                <a:solidFill>
                  <a:schemeClr val="accent1"/>
                </a:solidFill>
                <a:latin typeface="+mj-lt" pitchFamily="34" charset="0"/>
                <a:ea typeface="+mj-lt" pitchFamily="34" charset="-122"/>
                <a:cs typeface="+mj-lt" pitchFamily="34" charset="-120"/>
              </a:rPr>
              <a:t>2⅜ pulgada</a:t>
            </a:r>
            <a:endParaRPr lang="fil-PH" sz="2400" dirty="0"/>
          </a:p>
        </p:txBody>
      </p:sp>
      <p:sp>
        <p:nvSpPr>
          <p:cNvPr id="21" name="2⅜ inches text"/>
          <p:cNvSpPr txBox="1"/>
          <p:nvPr/>
        </p:nvSpPr>
        <p:spPr>
          <a:xfrm>
            <a:off x="6217920" y="3566160"/>
            <a:ext cx="2286000" cy="868680"/>
          </a:xfrm>
          <a:prstGeom prst="rect">
            <a:avLst/>
          </a:prstGeom>
          <a:noFill/>
          <a:ln/>
        </p:spPr>
        <p:txBody>
          <a:bodyPr wrap="square" lIns="0" tIns="0" rIns="0" bIns="0" rtlCol="0" anchor="t"/>
          <a:lstStyle/>
          <a:p>
            <a:pPr marL="0" indent="0">
              <a:buNone/>
            </a:pPr>
            <a:r>
              <a:rPr lang="fil-PH" sz="1400" dirty="0">
                <a:solidFill>
                  <a:schemeClr val="tx2"/>
                </a:solidFill>
              </a:rPr>
              <a:t>Pinakamalaking pagitan ng mga barotes, kasinlapad ng lata ng soda.</a:t>
            </a:r>
            <a:endParaRPr lang="fil-PH" sz="1400" dirty="0"/>
          </a:p>
        </p:txBody>
      </p:sp>
      <p:sp>
        <p:nvSpPr>
          <p:cNvPr id="22" name="Back button">
            <a:hlinkClick r:id="rId4"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3"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Highchair at duyan ng sanggol</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Highchair card"/>
          <p:cNvSpPr/>
          <p:nvPr/>
        </p:nvSpPr>
        <p:spPr>
          <a:xfrm>
            <a:off x="457200" y="1143000"/>
            <a:ext cx="402336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Highchair circle"/>
          <p:cNvSpPr/>
          <p:nvPr/>
        </p:nvSpPr>
        <p:spPr>
          <a:xfrm>
            <a:off x="640080" y="1307592"/>
            <a:ext cx="502920" cy="502920"/>
          </a:xfrm>
          <a:prstGeom prst="ellipse">
            <a:avLst/>
          </a:prstGeom>
          <a:solidFill>
            <a:schemeClr val="accent1"/>
          </a:solidFill>
          <a:ln w="12700">
            <a:solidFill>
              <a:schemeClr val="accent1"/>
            </a:solidFill>
            <a:prstDash val="solid"/>
          </a:ln>
        </p:spPr>
      </p:sp>
      <p:pic>
        <p:nvPicPr>
          <p:cNvPr id="6" name="Highchair glyph" descr="Highchair"/>
          <p:cNvPicPr>
            <a:picLocks noChangeAspect="1"/>
          </p:cNvPicPr>
          <p:nvPr/>
        </p:nvPicPr>
        <p:blipFill>
          <a:blip r:embed="rId4"/>
          <a:stretch>
            <a:fillRect/>
          </a:stretch>
        </p:blipFill>
        <p:spPr>
          <a:xfrm>
            <a:off x="770839" y="1438351"/>
            <a:ext cx="241402" cy="241402"/>
          </a:xfrm>
          <a:prstGeom prst="rect">
            <a:avLst/>
          </a:prstGeom>
        </p:spPr>
      </p:pic>
      <p:sp>
        <p:nvSpPr>
          <p:cNvPr id="7" name="Highchair heading"/>
          <p:cNvSpPr txBox="1"/>
          <p:nvPr/>
        </p:nvSpPr>
        <p:spPr>
          <a:xfrm>
            <a:off x="1280160" y="1307592"/>
            <a:ext cx="3017520" cy="502920"/>
          </a:xfrm>
          <a:prstGeom prst="rect">
            <a:avLst/>
          </a:prstGeom>
          <a:noFill/>
          <a:ln/>
        </p:spPr>
        <p:txBody>
          <a:bodyPr wrap="square" lIns="0" tIns="0" rIns="0" bIns="0" rtlCol="0" anchor="ctr"/>
          <a:lstStyle/>
          <a:p>
            <a:pPr marL="0" indent="0">
              <a:buNone/>
            </a:pPr>
            <a:r>
              <a:rPr lang="fil-PH" sz="1800" b="1" dirty="0">
                <a:solidFill>
                  <a:schemeClr val="tx1"/>
                </a:solidFill>
              </a:rPr>
              <a:t>Highchair</a:t>
            </a:r>
            <a:endParaRPr lang="fil-PH" sz="1800" dirty="0"/>
          </a:p>
        </p:txBody>
      </p:sp>
      <p:sp>
        <p:nvSpPr>
          <p:cNvPr id="8" name="Highchair sub"/>
          <p:cNvSpPr txBox="1"/>
          <p:nvPr/>
        </p:nvSpPr>
        <p:spPr>
          <a:xfrm>
            <a:off x="640080" y="1920240"/>
            <a:ext cx="3657600" cy="548640"/>
          </a:xfrm>
          <a:prstGeom prst="rect">
            <a:avLst/>
          </a:prstGeom>
          <a:noFill/>
          <a:ln/>
        </p:spPr>
        <p:txBody>
          <a:bodyPr wrap="square" lIns="0" tIns="0" rIns="0" bIns="0" rtlCol="0" anchor="t"/>
          <a:lstStyle/>
          <a:p>
            <a:pPr marL="0" indent="0">
              <a:buNone/>
            </a:pPr>
            <a:r>
              <a:rPr lang="fil-PH" sz="1400" i="1" dirty="0">
                <a:solidFill>
                  <a:schemeClr val="tx2"/>
                </a:solidFill>
              </a:rPr>
              <a:t>Kapag nakauupo na ang sanggol nang walang suporta.</a:t>
            </a:r>
            <a:endParaRPr lang="fil-PH" sz="1400" dirty="0"/>
          </a:p>
        </p:txBody>
      </p:sp>
      <p:sp>
        <p:nvSpPr>
          <p:cNvPr id="9" name="Highchair list"/>
          <p:cNvSpPr txBox="1"/>
          <p:nvPr/>
        </p:nvSpPr>
        <p:spPr>
          <a:xfrm>
            <a:off x="640080" y="2514600"/>
            <a:ext cx="3657600" cy="1920240"/>
          </a:xfrm>
          <a:prstGeom prst="rect">
            <a:avLst/>
          </a:prstGeom>
          <a:noFill/>
          <a:ln/>
        </p:spPr>
        <p:txBody>
          <a:bodyPr wrap="square" lIns="0" tIns="0" rIns="0" bIns="0" rtlCol="0" anchor="t"/>
          <a:lstStyle/>
          <a:p>
            <a:pPr marL="177800" indent="-177800">
              <a:spcAft>
                <a:spcPts val="600"/>
              </a:spcAft>
              <a:buSzPct val="100000"/>
              <a:buChar char="•"/>
            </a:pPr>
            <a:r>
              <a:rPr lang="fil-PH" sz="1400" dirty="0">
                <a:solidFill>
                  <a:schemeClr val="tx1"/>
                </a:solidFill>
              </a:rPr>
              <a:t>Ilayo sa mesa at counter: baka sumipa ang sanggol at mabuwal ang upuan</a:t>
            </a:r>
            <a:endParaRPr lang="fil-PH" sz="1400" dirty="0"/>
          </a:p>
          <a:p>
            <a:pPr marL="177800" indent="-177800">
              <a:spcAft>
                <a:spcPts val="600"/>
              </a:spcAft>
              <a:buSzPct val="100000"/>
              <a:buChar char="•"/>
            </a:pPr>
            <a:r>
              <a:rPr lang="fil-PH" sz="1400" dirty="0">
                <a:solidFill>
                  <a:schemeClr val="tx1"/>
                </a:solidFill>
              </a:rPr>
              <a:t>Siguraduhing nakakabit nang maayos ang tray</a:t>
            </a:r>
            <a:endParaRPr lang="fil-PH" sz="1400" dirty="0"/>
          </a:p>
          <a:p>
            <a:pPr marL="177800" indent="-177800">
              <a:spcAft>
                <a:spcPts val="600"/>
              </a:spcAft>
              <a:buSzPct val="100000"/>
              <a:buChar char="•"/>
            </a:pPr>
            <a:r>
              <a:rPr lang="fil-PH" sz="1400" dirty="0">
                <a:solidFill>
                  <a:schemeClr val="tx1"/>
                </a:solidFill>
              </a:rPr>
              <a:t>Laging gamitin ang 5-point harness, at huwag iwan mag-isa ang sanggol</a:t>
            </a:r>
            <a:endParaRPr lang="fil-PH" sz="1400" dirty="0"/>
          </a:p>
        </p:txBody>
      </p:sp>
      <p:sp>
        <p:nvSpPr>
          <p:cNvPr id="10" name="Infant swing card"/>
          <p:cNvSpPr/>
          <p:nvPr/>
        </p:nvSpPr>
        <p:spPr>
          <a:xfrm>
            <a:off x="4663440" y="1143000"/>
            <a:ext cx="402336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Infant swing circle"/>
          <p:cNvSpPr/>
          <p:nvPr/>
        </p:nvSpPr>
        <p:spPr>
          <a:xfrm>
            <a:off x="4846320" y="1307592"/>
            <a:ext cx="502920" cy="502920"/>
          </a:xfrm>
          <a:prstGeom prst="ellipse">
            <a:avLst/>
          </a:prstGeom>
          <a:solidFill>
            <a:schemeClr val="accent5"/>
          </a:solidFill>
          <a:ln w="12700">
            <a:solidFill>
              <a:schemeClr val="accent5"/>
            </a:solidFill>
            <a:prstDash val="solid"/>
          </a:ln>
        </p:spPr>
      </p:sp>
      <p:pic>
        <p:nvPicPr>
          <p:cNvPr id="12" name="Infant swing glyph" descr="Infant swing"/>
          <p:cNvPicPr>
            <a:picLocks noChangeAspect="1"/>
          </p:cNvPicPr>
          <p:nvPr/>
        </p:nvPicPr>
        <p:blipFill>
          <a:blip r:embed="rId5"/>
          <a:stretch>
            <a:fillRect/>
          </a:stretch>
        </p:blipFill>
        <p:spPr>
          <a:xfrm>
            <a:off x="4977079" y="1438351"/>
            <a:ext cx="241402" cy="241402"/>
          </a:xfrm>
          <a:prstGeom prst="rect">
            <a:avLst/>
          </a:prstGeom>
        </p:spPr>
      </p:pic>
      <p:sp>
        <p:nvSpPr>
          <p:cNvPr id="13" name="Infant swing heading"/>
          <p:cNvSpPr txBox="1"/>
          <p:nvPr/>
        </p:nvSpPr>
        <p:spPr>
          <a:xfrm>
            <a:off x="5486400" y="1307592"/>
            <a:ext cx="3017520" cy="502920"/>
          </a:xfrm>
          <a:prstGeom prst="rect">
            <a:avLst/>
          </a:prstGeom>
          <a:noFill/>
          <a:ln/>
        </p:spPr>
        <p:txBody>
          <a:bodyPr wrap="square" lIns="0" tIns="0" rIns="0" bIns="0" rtlCol="0" anchor="ctr"/>
          <a:lstStyle/>
          <a:p>
            <a:pPr marL="0" indent="0">
              <a:buNone/>
            </a:pPr>
            <a:r>
              <a:rPr lang="fil-PH" sz="1800" b="1" dirty="0">
                <a:solidFill>
                  <a:schemeClr val="tx1"/>
                </a:solidFill>
              </a:rPr>
              <a:t>Duyan ng sanggol</a:t>
            </a:r>
            <a:endParaRPr lang="fil-PH" sz="1800" dirty="0"/>
          </a:p>
        </p:txBody>
      </p:sp>
      <p:sp>
        <p:nvSpPr>
          <p:cNvPr id="14" name="Infant swing sub"/>
          <p:cNvSpPr txBox="1"/>
          <p:nvPr/>
        </p:nvSpPr>
        <p:spPr>
          <a:xfrm>
            <a:off x="4846320" y="1920240"/>
            <a:ext cx="3657600" cy="548640"/>
          </a:xfrm>
          <a:prstGeom prst="rect">
            <a:avLst/>
          </a:prstGeom>
          <a:noFill/>
          <a:ln/>
        </p:spPr>
        <p:txBody>
          <a:bodyPr wrap="square" lIns="0" tIns="0" rIns="0" bIns="0" rtlCol="0" anchor="t"/>
          <a:lstStyle/>
          <a:p>
            <a:pPr marL="0" indent="0">
              <a:buNone/>
            </a:pPr>
            <a:r>
              <a:rPr lang="fil-PH" sz="1400" i="1" dirty="0">
                <a:solidFill>
                  <a:schemeClr val="tx2"/>
                </a:solidFill>
              </a:rPr>
              <a:t>Madalas napapakalma ng indayog ang sanggol na iyakin.</a:t>
            </a:r>
            <a:endParaRPr lang="fil-PH" sz="1400" dirty="0"/>
          </a:p>
        </p:txBody>
      </p:sp>
      <p:sp>
        <p:nvSpPr>
          <p:cNvPr id="15" name="Infant swing list"/>
          <p:cNvSpPr txBox="1"/>
          <p:nvPr/>
        </p:nvSpPr>
        <p:spPr>
          <a:xfrm>
            <a:off x="4846320" y="2514600"/>
            <a:ext cx="3657600" cy="1920240"/>
          </a:xfrm>
          <a:prstGeom prst="rect">
            <a:avLst/>
          </a:prstGeom>
          <a:noFill/>
          <a:ln/>
        </p:spPr>
        <p:txBody>
          <a:bodyPr wrap="square" lIns="0" tIns="0" rIns="0" bIns="0" rtlCol="0" anchor="t"/>
          <a:lstStyle/>
          <a:p>
            <a:pPr marL="177800" indent="-177800">
              <a:spcAft>
                <a:spcPts val="600"/>
              </a:spcAft>
              <a:buSzPct val="100000"/>
              <a:buChar char="•"/>
            </a:pPr>
            <a:r>
              <a:rPr lang="fil-PH" sz="1400" dirty="0">
                <a:solidFill>
                  <a:schemeClr val="tx1"/>
                </a:solidFill>
              </a:rPr>
              <a:t>Laging gamitin ang 5-point harness</a:t>
            </a:r>
            <a:endParaRPr lang="fil-PH" sz="1400" dirty="0"/>
          </a:p>
          <a:p>
            <a:pPr marL="177800" indent="-177800">
              <a:spcAft>
                <a:spcPts val="600"/>
              </a:spcAft>
              <a:buSzPct val="100000"/>
              <a:buChar char="•"/>
            </a:pPr>
            <a:r>
              <a:rPr lang="fil-PH" sz="1400" dirty="0">
                <a:solidFill>
                  <a:schemeClr val="tx1"/>
                </a:solidFill>
              </a:rPr>
              <a:t>Kung makatulog ang sanggol, dahan-dahang ilipat sa kuna, nakatihaya</a:t>
            </a:r>
            <a:endParaRPr lang="fil-PH" sz="1400" dirty="0"/>
          </a:p>
        </p:txBody>
      </p:sp>
      <p:sp>
        <p:nvSpPr>
          <p:cNvPr id="16"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17"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Car seat at gamit ng sanggol</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Car seat card"/>
          <p:cNvSpPr/>
          <p:nvPr/>
        </p:nvSpPr>
        <p:spPr>
          <a:xfrm>
            <a:off x="457200" y="1143000"/>
            <a:ext cx="338328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Car seat circle"/>
          <p:cNvSpPr/>
          <p:nvPr/>
        </p:nvSpPr>
        <p:spPr>
          <a:xfrm>
            <a:off x="640080" y="1307592"/>
            <a:ext cx="502920" cy="502920"/>
          </a:xfrm>
          <a:prstGeom prst="ellipse">
            <a:avLst/>
          </a:prstGeom>
          <a:solidFill>
            <a:schemeClr val="accent6"/>
          </a:solidFill>
          <a:ln w="12700">
            <a:solidFill>
              <a:schemeClr val="accent6"/>
            </a:solidFill>
            <a:prstDash val="solid"/>
          </a:ln>
        </p:spPr>
      </p:sp>
      <p:pic>
        <p:nvPicPr>
          <p:cNvPr id="6" name="Car seat glyph" descr="Car seat"/>
          <p:cNvPicPr>
            <a:picLocks noChangeAspect="1"/>
          </p:cNvPicPr>
          <p:nvPr/>
        </p:nvPicPr>
        <p:blipFill>
          <a:blip r:embed="rId4"/>
          <a:stretch>
            <a:fillRect/>
          </a:stretch>
        </p:blipFill>
        <p:spPr>
          <a:xfrm>
            <a:off x="770839" y="1438351"/>
            <a:ext cx="241402" cy="241402"/>
          </a:xfrm>
          <a:prstGeom prst="rect">
            <a:avLst/>
          </a:prstGeom>
        </p:spPr>
      </p:pic>
      <p:sp>
        <p:nvSpPr>
          <p:cNvPr id="7" name="Car seat heading"/>
          <p:cNvSpPr txBox="1"/>
          <p:nvPr/>
        </p:nvSpPr>
        <p:spPr>
          <a:xfrm>
            <a:off x="1280160" y="1307592"/>
            <a:ext cx="2377440" cy="502920"/>
          </a:xfrm>
          <a:prstGeom prst="rect">
            <a:avLst/>
          </a:prstGeom>
          <a:noFill/>
          <a:ln/>
        </p:spPr>
        <p:txBody>
          <a:bodyPr wrap="square" lIns="0" tIns="0" rIns="0" bIns="0" rtlCol="0" anchor="ctr"/>
          <a:lstStyle/>
          <a:p>
            <a:pPr marL="0" indent="0">
              <a:buNone/>
            </a:pPr>
            <a:r>
              <a:rPr lang="fil-PH" sz="1800" b="1" dirty="0">
                <a:solidFill>
                  <a:schemeClr val="tx1"/>
                </a:solidFill>
              </a:rPr>
              <a:t>Car seat</a:t>
            </a:r>
            <a:endParaRPr lang="fil-PH" sz="1800" dirty="0"/>
          </a:p>
        </p:txBody>
      </p:sp>
      <p:sp>
        <p:nvSpPr>
          <p:cNvPr id="8" name="Car seat stat"/>
          <p:cNvSpPr txBox="1"/>
          <p:nvPr/>
        </p:nvSpPr>
        <p:spPr>
          <a:xfrm>
            <a:off x="640080" y="1920240"/>
            <a:ext cx="3017520" cy="502920"/>
          </a:xfrm>
          <a:prstGeom prst="rect">
            <a:avLst/>
          </a:prstGeom>
          <a:noFill/>
          <a:ln/>
        </p:spPr>
        <p:txBody>
          <a:bodyPr wrap="square" lIns="0" tIns="0" rIns="0" bIns="0" rtlCol="0" anchor="ctr"/>
          <a:lstStyle/>
          <a:p>
            <a:pPr marL="0" indent="0">
              <a:buNone/>
            </a:pPr>
            <a:r>
              <a:rPr lang="fil-PH" sz="2400" b="1" dirty="0">
                <a:solidFill>
                  <a:schemeClr val="accent6"/>
                </a:solidFill>
                <a:latin typeface="+mj-lt" pitchFamily="34" charset="0"/>
                <a:ea typeface="+mj-lt" pitchFamily="34" charset="-122"/>
                <a:cs typeface="+mj-lt" pitchFamily="34" charset="-120"/>
              </a:rPr>
              <a:t>Paatras</a:t>
            </a:r>
            <a:endParaRPr lang="fil-PH" sz="2400" dirty="0"/>
          </a:p>
        </p:txBody>
      </p:sp>
      <p:sp>
        <p:nvSpPr>
          <p:cNvPr id="9" name="Car seat list"/>
          <p:cNvSpPr txBox="1"/>
          <p:nvPr/>
        </p:nvSpPr>
        <p:spPr>
          <a:xfrm>
            <a:off x="640080" y="2514600"/>
            <a:ext cx="3017520" cy="1920240"/>
          </a:xfrm>
          <a:prstGeom prst="rect">
            <a:avLst/>
          </a:prstGeom>
          <a:noFill/>
          <a:ln/>
        </p:spPr>
        <p:txBody>
          <a:bodyPr wrap="square" lIns="0" tIns="0" rIns="0" bIns="0" rtlCol="0" anchor="t"/>
          <a:lstStyle/>
          <a:p>
            <a:pPr marL="177800" indent="-177800">
              <a:spcAft>
                <a:spcPts val="500"/>
              </a:spcAft>
              <a:buSzPct val="100000"/>
              <a:buChar char="•"/>
            </a:pPr>
            <a:r>
              <a:rPr lang="fil-PH" sz="1400" dirty="0">
                <a:solidFill>
                  <a:schemeClr val="tx2"/>
                </a:solidFill>
              </a:rPr>
              <a:t>Sa likurang upuan, hanggang hindi bababa sa 2 taong gulang o limitasyon ng taas o timbang ng seat</a:t>
            </a:r>
            <a:endParaRPr lang="fil-PH" sz="1400" dirty="0"/>
          </a:p>
          <a:p>
            <a:pPr marL="177800" indent="-177800">
              <a:spcAft>
                <a:spcPts val="500"/>
              </a:spcAft>
              <a:buSzPct val="100000"/>
              <a:buChar char="•"/>
            </a:pPr>
            <a:r>
              <a:rPr lang="fil-PH" sz="1400" dirty="0">
                <a:solidFill>
                  <a:schemeClr val="tx2"/>
                </a:solidFill>
              </a:rPr>
              <a:t>Huwag patulugin dito kapag hindi bumibiyahe</a:t>
            </a:r>
            <a:endParaRPr lang="fil-PH" sz="1400" dirty="0"/>
          </a:p>
          <a:p>
            <a:pPr marL="177800" indent="-177800">
              <a:spcAft>
                <a:spcPts val="500"/>
              </a:spcAft>
              <a:buSzPct val="100000"/>
              <a:buChar char="•"/>
            </a:pPr>
            <a:r>
              <a:rPr lang="fil-PH" sz="1400" dirty="0">
                <a:solidFill>
                  <a:schemeClr val="tx2"/>
                </a:solidFill>
              </a:rPr>
              <a:t>Kung ginagamit na carrier, ilagay sa matigas at patag na sahig</a:t>
            </a:r>
            <a:endParaRPr lang="fil-PH" sz="1400" dirty="0"/>
          </a:p>
        </p:txBody>
      </p:sp>
      <p:sp>
        <p:nvSpPr>
          <p:cNvPr id="10" name="Card Playpen"/>
          <p:cNvSpPr/>
          <p:nvPr/>
        </p:nvSpPr>
        <p:spPr>
          <a:xfrm>
            <a:off x="4069080" y="1143000"/>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Playpen circle"/>
          <p:cNvSpPr/>
          <p:nvPr/>
        </p:nvSpPr>
        <p:spPr>
          <a:xfrm>
            <a:off x="4233672" y="1417320"/>
            <a:ext cx="502920" cy="502920"/>
          </a:xfrm>
          <a:prstGeom prst="ellipse">
            <a:avLst/>
          </a:prstGeom>
          <a:solidFill>
            <a:schemeClr val="accent4"/>
          </a:solidFill>
          <a:ln w="12700">
            <a:solidFill>
              <a:schemeClr val="accent4"/>
            </a:solidFill>
            <a:prstDash val="solid"/>
          </a:ln>
        </p:spPr>
      </p:sp>
      <p:pic>
        <p:nvPicPr>
          <p:cNvPr id="12" name="Playpen glyph" descr="Playpen"/>
          <p:cNvPicPr>
            <a:picLocks noChangeAspect="1"/>
          </p:cNvPicPr>
          <p:nvPr/>
        </p:nvPicPr>
        <p:blipFill>
          <a:blip r:embed="rId5"/>
          <a:stretch>
            <a:fillRect/>
          </a:stretch>
        </p:blipFill>
        <p:spPr>
          <a:xfrm>
            <a:off x="4364431" y="1548079"/>
            <a:ext cx="241402" cy="241402"/>
          </a:xfrm>
          <a:prstGeom prst="rect">
            <a:avLst/>
          </a:prstGeom>
        </p:spPr>
      </p:pic>
      <p:sp>
        <p:nvSpPr>
          <p:cNvPr id="13" name="Playpen heading"/>
          <p:cNvSpPr txBox="1"/>
          <p:nvPr/>
        </p:nvSpPr>
        <p:spPr>
          <a:xfrm>
            <a:off x="4892040" y="1234440"/>
            <a:ext cx="3657600" cy="320040"/>
          </a:xfrm>
          <a:prstGeom prst="rect">
            <a:avLst/>
          </a:prstGeom>
          <a:noFill/>
          <a:ln/>
        </p:spPr>
        <p:txBody>
          <a:bodyPr wrap="square" lIns="0" tIns="0" rIns="0" bIns="0" rtlCol="0" anchor="ctr"/>
          <a:lstStyle/>
          <a:p>
            <a:pPr marL="0" indent="0">
              <a:buNone/>
            </a:pPr>
            <a:r>
              <a:rPr lang="fil-PH" sz="1600" b="1" dirty="0">
                <a:solidFill>
                  <a:schemeClr val="tx1"/>
                </a:solidFill>
              </a:rPr>
              <a:t>Playpen</a:t>
            </a:r>
            <a:endParaRPr lang="fil-PH" sz="1600" dirty="0"/>
          </a:p>
        </p:txBody>
      </p:sp>
      <p:sp>
        <p:nvSpPr>
          <p:cNvPr id="14" name="Playpen text"/>
          <p:cNvSpPr txBox="1"/>
          <p:nvPr/>
        </p:nvSpPr>
        <p:spPr>
          <a:xfrm>
            <a:off x="4892040" y="1572768"/>
            <a:ext cx="3657600" cy="548640"/>
          </a:xfrm>
          <a:prstGeom prst="rect">
            <a:avLst/>
          </a:prstGeom>
          <a:noFill/>
          <a:ln/>
        </p:spPr>
        <p:txBody>
          <a:bodyPr wrap="square" lIns="0" tIns="0" rIns="0" bIns="0" rtlCol="0" anchor="t"/>
          <a:lstStyle/>
          <a:p>
            <a:pPr marL="0" indent="0">
              <a:buNone/>
            </a:pPr>
            <a:r>
              <a:rPr lang="fil-PH" sz="1400" dirty="0">
                <a:solidFill>
                  <a:schemeClr val="tx2"/>
                </a:solidFill>
              </a:rPr>
              <a:t>Naka-lock ang mga gilid. Walang unan, comforter, kumot, bumper o stuffed toy.</a:t>
            </a:r>
            <a:endParaRPr lang="fil-PH" sz="1400" dirty="0"/>
          </a:p>
        </p:txBody>
      </p:sp>
      <p:sp>
        <p:nvSpPr>
          <p:cNvPr id="15" name="Card Baby walkers: do not use"/>
          <p:cNvSpPr/>
          <p:nvPr/>
        </p:nvSpPr>
        <p:spPr>
          <a:xfrm>
            <a:off x="4069080" y="2313432"/>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6" name="Baby walkers: do not use circle"/>
          <p:cNvSpPr/>
          <p:nvPr/>
        </p:nvSpPr>
        <p:spPr>
          <a:xfrm>
            <a:off x="4233672" y="2587752"/>
            <a:ext cx="502920" cy="502920"/>
          </a:xfrm>
          <a:prstGeom prst="ellipse">
            <a:avLst/>
          </a:prstGeom>
          <a:solidFill>
            <a:schemeClr val="accent2"/>
          </a:solidFill>
          <a:ln w="12700">
            <a:solidFill>
              <a:schemeClr val="accent2"/>
            </a:solidFill>
            <a:prstDash val="solid"/>
          </a:ln>
        </p:spPr>
      </p:sp>
      <p:pic>
        <p:nvPicPr>
          <p:cNvPr id="17" name="Baby walkers: do not use glyph" descr="Baby walkers: do not use"/>
          <p:cNvPicPr>
            <a:picLocks noChangeAspect="1"/>
          </p:cNvPicPr>
          <p:nvPr/>
        </p:nvPicPr>
        <p:blipFill>
          <a:blip r:embed="rId6"/>
          <a:stretch>
            <a:fillRect/>
          </a:stretch>
        </p:blipFill>
        <p:spPr>
          <a:xfrm>
            <a:off x="4364431" y="2718511"/>
            <a:ext cx="241402" cy="241402"/>
          </a:xfrm>
          <a:prstGeom prst="rect">
            <a:avLst/>
          </a:prstGeom>
        </p:spPr>
      </p:pic>
      <p:sp>
        <p:nvSpPr>
          <p:cNvPr id="18" name="Baby walkers: do not use heading"/>
          <p:cNvSpPr txBox="1"/>
          <p:nvPr/>
        </p:nvSpPr>
        <p:spPr>
          <a:xfrm>
            <a:off x="4892040" y="2404872"/>
            <a:ext cx="3657600" cy="320040"/>
          </a:xfrm>
          <a:prstGeom prst="rect">
            <a:avLst/>
          </a:prstGeom>
          <a:noFill/>
          <a:ln/>
        </p:spPr>
        <p:txBody>
          <a:bodyPr wrap="square" lIns="0" tIns="0" rIns="0" bIns="0" rtlCol="0" anchor="ctr"/>
          <a:lstStyle/>
          <a:p>
            <a:pPr marL="0" indent="0">
              <a:buNone/>
            </a:pPr>
            <a:r>
              <a:rPr lang="fil-PH" sz="1600" b="1" dirty="0">
                <a:solidFill>
                  <a:schemeClr val="tx1"/>
                </a:solidFill>
              </a:rPr>
              <a:t>Baby walker: huwag gamitin</a:t>
            </a:r>
            <a:endParaRPr lang="fil-PH" sz="1600" dirty="0"/>
          </a:p>
        </p:txBody>
      </p:sp>
      <p:sp>
        <p:nvSpPr>
          <p:cNvPr id="19" name="Baby walkers: do not use text"/>
          <p:cNvSpPr txBox="1"/>
          <p:nvPr/>
        </p:nvSpPr>
        <p:spPr>
          <a:xfrm>
            <a:off x="4892040" y="2743200"/>
            <a:ext cx="3657600" cy="548640"/>
          </a:xfrm>
          <a:prstGeom prst="rect">
            <a:avLst/>
          </a:prstGeom>
          <a:noFill/>
          <a:ln/>
        </p:spPr>
        <p:txBody>
          <a:bodyPr wrap="square" lIns="0" tIns="0" rIns="0" bIns="0" rtlCol="0" anchor="t"/>
          <a:lstStyle/>
          <a:p>
            <a:pPr marL="0" indent="0">
              <a:buNone/>
            </a:pPr>
            <a:r>
              <a:rPr lang="fil-PH" sz="1400" dirty="0">
                <a:solidFill>
                  <a:schemeClr val="tx2"/>
                </a:solidFill>
              </a:rPr>
              <a:t>Hindi ito kailangan para matutong maglakad; maraming sanggol ang nasasaktan.</a:t>
            </a:r>
            <a:endParaRPr lang="fil-PH" sz="1400" dirty="0"/>
          </a:p>
        </p:txBody>
      </p:sp>
      <p:sp>
        <p:nvSpPr>
          <p:cNvPr id="20" name="Card Baby gates"/>
          <p:cNvSpPr/>
          <p:nvPr/>
        </p:nvSpPr>
        <p:spPr>
          <a:xfrm>
            <a:off x="4069080" y="3483864"/>
            <a:ext cx="461772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1" name="Baby gates circle"/>
          <p:cNvSpPr/>
          <p:nvPr/>
        </p:nvSpPr>
        <p:spPr>
          <a:xfrm>
            <a:off x="4233672" y="3758184"/>
            <a:ext cx="502920" cy="502920"/>
          </a:xfrm>
          <a:prstGeom prst="ellipse">
            <a:avLst/>
          </a:prstGeom>
          <a:solidFill>
            <a:schemeClr val="accent1"/>
          </a:solidFill>
          <a:ln w="12700">
            <a:solidFill>
              <a:schemeClr val="accent1"/>
            </a:solidFill>
            <a:prstDash val="solid"/>
          </a:ln>
        </p:spPr>
      </p:sp>
      <p:pic>
        <p:nvPicPr>
          <p:cNvPr id="22" name="Baby gates glyph" descr="Baby gates"/>
          <p:cNvPicPr>
            <a:picLocks noChangeAspect="1"/>
          </p:cNvPicPr>
          <p:nvPr/>
        </p:nvPicPr>
        <p:blipFill>
          <a:blip r:embed="rId7"/>
          <a:stretch>
            <a:fillRect/>
          </a:stretch>
        </p:blipFill>
        <p:spPr>
          <a:xfrm>
            <a:off x="4364431" y="3888943"/>
            <a:ext cx="241402" cy="241402"/>
          </a:xfrm>
          <a:prstGeom prst="rect">
            <a:avLst/>
          </a:prstGeom>
        </p:spPr>
      </p:pic>
      <p:sp>
        <p:nvSpPr>
          <p:cNvPr id="23" name="Baby gates heading"/>
          <p:cNvSpPr txBox="1"/>
          <p:nvPr/>
        </p:nvSpPr>
        <p:spPr>
          <a:xfrm>
            <a:off x="4892040" y="3575304"/>
            <a:ext cx="3657600" cy="320040"/>
          </a:xfrm>
          <a:prstGeom prst="rect">
            <a:avLst/>
          </a:prstGeom>
          <a:noFill/>
          <a:ln/>
        </p:spPr>
        <p:txBody>
          <a:bodyPr wrap="square" lIns="0" tIns="0" rIns="0" bIns="0" rtlCol="0" anchor="ctr"/>
          <a:lstStyle/>
          <a:p>
            <a:pPr marL="0" indent="0">
              <a:buNone/>
            </a:pPr>
            <a:r>
              <a:rPr lang="fil-PH" sz="1600" b="1" dirty="0">
                <a:solidFill>
                  <a:schemeClr val="tx1"/>
                </a:solidFill>
              </a:rPr>
              <a:t>Baby gate</a:t>
            </a:r>
            <a:endParaRPr lang="fil-PH" sz="1600" dirty="0"/>
          </a:p>
        </p:txBody>
      </p:sp>
      <p:sp>
        <p:nvSpPr>
          <p:cNvPr id="24" name="Baby gates text"/>
          <p:cNvSpPr txBox="1"/>
          <p:nvPr/>
        </p:nvSpPr>
        <p:spPr>
          <a:xfrm>
            <a:off x="4892040" y="3913632"/>
            <a:ext cx="3657600" cy="548640"/>
          </a:xfrm>
          <a:prstGeom prst="rect">
            <a:avLst/>
          </a:prstGeom>
          <a:noFill/>
          <a:ln/>
        </p:spPr>
        <p:txBody>
          <a:bodyPr wrap="square" lIns="0" tIns="0" rIns="0" bIns="0" rtlCol="0" anchor="t"/>
          <a:lstStyle/>
          <a:p>
            <a:pPr marL="0" indent="0">
              <a:buNone/>
            </a:pPr>
            <a:r>
              <a:rPr lang="fil-PH" sz="1400" dirty="0">
                <a:solidFill>
                  <a:schemeClr val="tx2"/>
                </a:solidFill>
              </a:rPr>
              <a:t>Harangan ang mapanganib na lugar. Ilagay sa itaas at ibaba ng hagdan.</a:t>
            </a:r>
            <a:endParaRPr lang="fil-PH" sz="1400" dirty="0"/>
          </a:p>
        </p:txBody>
      </p:sp>
      <p:sp>
        <p:nvSpPr>
          <p:cNvPr id="25" name="Back button">
            <a:hlinkClick r:id="rId8"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6" name="Next button">
            <a:hlinkClick r:id="rId9"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Damit at pacifier</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Clothes 1"/>
          <p:cNvSpPr/>
          <p:nvPr/>
        </p:nvSpPr>
        <p:spPr>
          <a:xfrm>
            <a:off x="457200" y="1143000"/>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Cut the strings circle"/>
          <p:cNvSpPr/>
          <p:nvPr/>
        </p:nvSpPr>
        <p:spPr>
          <a:xfrm>
            <a:off x="685800" y="1417320"/>
            <a:ext cx="502920" cy="502920"/>
          </a:xfrm>
          <a:prstGeom prst="ellipse">
            <a:avLst/>
          </a:prstGeom>
          <a:solidFill>
            <a:schemeClr val="accent1"/>
          </a:solidFill>
          <a:ln w="12700">
            <a:solidFill>
              <a:schemeClr val="accent1"/>
            </a:solidFill>
            <a:prstDash val="solid"/>
          </a:ln>
        </p:spPr>
      </p:sp>
      <p:pic>
        <p:nvPicPr>
          <p:cNvPr id="6" name="Cut the strings glyph" descr="Cut the strings"/>
          <p:cNvPicPr>
            <a:picLocks noChangeAspect="1"/>
          </p:cNvPicPr>
          <p:nvPr/>
        </p:nvPicPr>
        <p:blipFill>
          <a:blip r:embed="rId4"/>
          <a:stretch>
            <a:fillRect/>
          </a:stretch>
        </p:blipFill>
        <p:spPr>
          <a:xfrm>
            <a:off x="816559" y="1548079"/>
            <a:ext cx="241402" cy="241402"/>
          </a:xfrm>
          <a:prstGeom prst="rect">
            <a:avLst/>
          </a:prstGeom>
        </p:spPr>
      </p:pic>
      <p:sp>
        <p:nvSpPr>
          <p:cNvPr id="7" name="Cut the strings heading"/>
          <p:cNvSpPr txBox="1"/>
          <p:nvPr/>
        </p:nvSpPr>
        <p:spPr>
          <a:xfrm>
            <a:off x="1463040" y="1234440"/>
            <a:ext cx="7040880" cy="365760"/>
          </a:xfrm>
          <a:prstGeom prst="rect">
            <a:avLst/>
          </a:prstGeom>
          <a:noFill/>
          <a:ln/>
        </p:spPr>
        <p:txBody>
          <a:bodyPr wrap="square" lIns="0" tIns="0" rIns="0" bIns="0" rtlCol="0" anchor="ctr"/>
          <a:lstStyle/>
          <a:p>
            <a:pPr marL="0" indent="0">
              <a:buNone/>
            </a:pPr>
            <a:r>
              <a:rPr lang="fil-PH" sz="1800" b="1" dirty="0">
                <a:solidFill>
                  <a:schemeClr val="tx1"/>
                </a:solidFill>
              </a:rPr>
              <a:t>Putulin ang mga tali</a:t>
            </a:r>
            <a:endParaRPr lang="fil-PH" sz="1800" dirty="0"/>
          </a:p>
        </p:txBody>
      </p:sp>
      <p:sp>
        <p:nvSpPr>
          <p:cNvPr id="8" name="Cut the strings text"/>
          <p:cNvSpPr txBox="1"/>
          <p:nvPr/>
        </p:nvSpPr>
        <p:spPr>
          <a:xfrm>
            <a:off x="1463040" y="1600200"/>
            <a:ext cx="7040880" cy="502920"/>
          </a:xfrm>
          <a:prstGeom prst="rect">
            <a:avLst/>
          </a:prstGeom>
          <a:noFill/>
          <a:ln/>
        </p:spPr>
        <p:txBody>
          <a:bodyPr wrap="square" lIns="0" tIns="0" rIns="0" bIns="0" rtlCol="0" anchor="t"/>
          <a:lstStyle/>
          <a:p>
            <a:pPr marL="0" indent="0">
              <a:buNone/>
            </a:pPr>
            <a:r>
              <a:rPr lang="fil-PH" sz="1400" dirty="0">
                <a:solidFill>
                  <a:schemeClr val="tx2"/>
                </a:solidFill>
              </a:rPr>
              <a:t>Tanggalin ang tali sa pantulog para hindi mabalot sa leeg o daliri ng paa.</a:t>
            </a:r>
            <a:endParaRPr lang="fil-PH" sz="1400" dirty="0"/>
          </a:p>
        </p:txBody>
      </p:sp>
      <p:sp>
        <p:nvSpPr>
          <p:cNvPr id="9" name="Clothes 2"/>
          <p:cNvSpPr/>
          <p:nvPr/>
        </p:nvSpPr>
        <p:spPr>
          <a:xfrm>
            <a:off x="457200" y="2313432"/>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0" name="Check every outfit circle"/>
          <p:cNvSpPr/>
          <p:nvPr/>
        </p:nvSpPr>
        <p:spPr>
          <a:xfrm>
            <a:off x="685800" y="2587752"/>
            <a:ext cx="502920" cy="502920"/>
          </a:xfrm>
          <a:prstGeom prst="ellipse">
            <a:avLst/>
          </a:prstGeom>
          <a:solidFill>
            <a:schemeClr val="accent4"/>
          </a:solidFill>
          <a:ln w="12700">
            <a:solidFill>
              <a:schemeClr val="accent4"/>
            </a:solidFill>
            <a:prstDash val="solid"/>
          </a:ln>
        </p:spPr>
      </p:sp>
      <p:pic>
        <p:nvPicPr>
          <p:cNvPr id="11" name="Check every outfit glyph" descr="Check every outfit"/>
          <p:cNvPicPr>
            <a:picLocks noChangeAspect="1"/>
          </p:cNvPicPr>
          <p:nvPr/>
        </p:nvPicPr>
        <p:blipFill>
          <a:blip r:embed="rId5"/>
          <a:stretch>
            <a:fillRect/>
          </a:stretch>
        </p:blipFill>
        <p:spPr>
          <a:xfrm>
            <a:off x="816559" y="2718511"/>
            <a:ext cx="241402" cy="241402"/>
          </a:xfrm>
          <a:prstGeom prst="rect">
            <a:avLst/>
          </a:prstGeom>
        </p:spPr>
      </p:pic>
      <p:sp>
        <p:nvSpPr>
          <p:cNvPr id="12" name="Check every outfit heading"/>
          <p:cNvSpPr txBox="1"/>
          <p:nvPr/>
        </p:nvSpPr>
        <p:spPr>
          <a:xfrm>
            <a:off x="1463040" y="2404872"/>
            <a:ext cx="7040880" cy="365760"/>
          </a:xfrm>
          <a:prstGeom prst="rect">
            <a:avLst/>
          </a:prstGeom>
          <a:noFill/>
          <a:ln/>
        </p:spPr>
        <p:txBody>
          <a:bodyPr wrap="square" lIns="0" tIns="0" rIns="0" bIns="0" rtlCol="0" anchor="ctr"/>
          <a:lstStyle/>
          <a:p>
            <a:pPr marL="0" indent="0">
              <a:buNone/>
            </a:pPr>
            <a:r>
              <a:rPr lang="fil-PH" sz="1800" b="1" dirty="0">
                <a:solidFill>
                  <a:schemeClr val="tx1"/>
                </a:solidFill>
              </a:rPr>
              <a:t>Suriin ang bawat damit</a:t>
            </a:r>
            <a:endParaRPr lang="fil-PH" sz="1800" dirty="0"/>
          </a:p>
        </p:txBody>
      </p:sp>
      <p:sp>
        <p:nvSpPr>
          <p:cNvPr id="13" name="Check every outfit text"/>
          <p:cNvSpPr txBox="1"/>
          <p:nvPr/>
        </p:nvSpPr>
        <p:spPr>
          <a:xfrm>
            <a:off x="1463040" y="2770632"/>
            <a:ext cx="7040880" cy="502920"/>
          </a:xfrm>
          <a:prstGeom prst="rect">
            <a:avLst/>
          </a:prstGeom>
          <a:noFill/>
          <a:ln/>
        </p:spPr>
        <p:txBody>
          <a:bodyPr wrap="square" lIns="0" tIns="0" rIns="0" bIns="0" rtlCol="0" anchor="t"/>
          <a:lstStyle/>
          <a:p>
            <a:pPr marL="0" indent="0">
              <a:buNone/>
            </a:pPr>
            <a:r>
              <a:rPr lang="fil-PH" sz="1400" dirty="0">
                <a:solidFill>
                  <a:schemeClr val="tx2"/>
                </a:solidFill>
              </a:rPr>
              <a:t>Hanapin ang maluwag na butones na malulunok at mga tali na maaaring mabalot sa leeg, daliri o paa.</a:t>
            </a:r>
            <a:endParaRPr lang="fil-PH" sz="1400" dirty="0"/>
          </a:p>
        </p:txBody>
      </p:sp>
      <p:sp>
        <p:nvSpPr>
          <p:cNvPr id="14" name="Clothes 3"/>
          <p:cNvSpPr/>
          <p:nvPr/>
        </p:nvSpPr>
        <p:spPr>
          <a:xfrm>
            <a:off x="457200" y="3483864"/>
            <a:ext cx="8229600" cy="1051560"/>
          </a:xfrm>
          <a:prstGeom prst="roundRect">
            <a:avLst>
              <a:gd name="adj" fmla="val 10435"/>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5" name="Free pacifier circle"/>
          <p:cNvSpPr/>
          <p:nvPr/>
        </p:nvSpPr>
        <p:spPr>
          <a:xfrm>
            <a:off x="685800" y="3758184"/>
            <a:ext cx="502920" cy="502920"/>
          </a:xfrm>
          <a:prstGeom prst="ellipse">
            <a:avLst/>
          </a:prstGeom>
          <a:solidFill>
            <a:schemeClr val="accent2"/>
          </a:solidFill>
          <a:ln w="12700">
            <a:solidFill>
              <a:schemeClr val="accent2"/>
            </a:solidFill>
            <a:prstDash val="solid"/>
          </a:ln>
        </p:spPr>
      </p:sp>
      <p:pic>
        <p:nvPicPr>
          <p:cNvPr id="16" name="Free pacifier glyph" descr="Free pacifier"/>
          <p:cNvPicPr>
            <a:picLocks noChangeAspect="1"/>
          </p:cNvPicPr>
          <p:nvPr/>
        </p:nvPicPr>
        <p:blipFill>
          <a:blip r:embed="rId6"/>
          <a:stretch>
            <a:fillRect/>
          </a:stretch>
        </p:blipFill>
        <p:spPr>
          <a:xfrm>
            <a:off x="816559" y="3888943"/>
            <a:ext cx="241402" cy="241402"/>
          </a:xfrm>
          <a:prstGeom prst="rect">
            <a:avLst/>
          </a:prstGeom>
        </p:spPr>
      </p:pic>
      <p:sp>
        <p:nvSpPr>
          <p:cNvPr id="17" name="Free pacifier heading"/>
          <p:cNvSpPr txBox="1"/>
          <p:nvPr/>
        </p:nvSpPr>
        <p:spPr>
          <a:xfrm>
            <a:off x="1463040" y="3575304"/>
            <a:ext cx="7040880" cy="365760"/>
          </a:xfrm>
          <a:prstGeom prst="rect">
            <a:avLst/>
          </a:prstGeom>
          <a:noFill/>
          <a:ln/>
        </p:spPr>
        <p:txBody>
          <a:bodyPr wrap="square" lIns="0" tIns="0" rIns="0" bIns="0" rtlCol="0" anchor="ctr"/>
          <a:lstStyle/>
          <a:p>
            <a:pPr marL="0" indent="0">
              <a:buNone/>
            </a:pPr>
            <a:r>
              <a:rPr lang="fil-PH" sz="1800" b="1" dirty="0">
                <a:solidFill>
                  <a:schemeClr val="tx1"/>
                </a:solidFill>
              </a:rPr>
              <a:t>Pacifier na walang tali</a:t>
            </a:r>
            <a:endParaRPr lang="fil-PH" sz="1800" dirty="0"/>
          </a:p>
        </p:txBody>
      </p:sp>
      <p:sp>
        <p:nvSpPr>
          <p:cNvPr id="18" name="Free pacifier text"/>
          <p:cNvSpPr txBox="1"/>
          <p:nvPr/>
        </p:nvSpPr>
        <p:spPr>
          <a:xfrm>
            <a:off x="1463040" y="3941064"/>
            <a:ext cx="7040880" cy="502920"/>
          </a:xfrm>
          <a:prstGeom prst="rect">
            <a:avLst/>
          </a:prstGeom>
          <a:noFill/>
          <a:ln/>
        </p:spPr>
        <p:txBody>
          <a:bodyPr wrap="square" lIns="0" tIns="0" rIns="0" bIns="0" rtlCol="0" anchor="t"/>
          <a:lstStyle/>
          <a:p>
            <a:pPr marL="0" indent="0">
              <a:buNone/>
            </a:pPr>
            <a:r>
              <a:rPr lang="fil-PH" sz="1400" dirty="0">
                <a:solidFill>
                  <a:schemeClr val="tx2"/>
                </a:solidFill>
              </a:rPr>
              <a:t>Huwag itali ang pacifier sa damit o sa leeg.</a:t>
            </a:r>
            <a:endParaRPr lang="fil-PH" sz="1400" dirty="0"/>
          </a:p>
        </p:txBody>
      </p:sp>
      <p:sp>
        <p:nvSpPr>
          <p:cNvPr id="19" name="Back button">
            <a:hlinkClick r:id="rId7"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20" name="Next button">
            <a:hlinkClick r:id="rId8"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Aktibo at protektado</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pic>
        <p:nvPicPr>
          <p:cNvPr id="4" name="Helmet photo" descr="A mother fastening a yellow bicycle helmet on her young son"/>
          <p:cNvPicPr>
            <a:picLocks noChangeAspect="1"/>
          </p:cNvPicPr>
          <p:nvPr/>
        </p:nvPicPr>
        <p:blipFill>
          <a:blip r:embed="rId4"/>
          <a:stretch>
            <a:fillRect/>
          </a:stretch>
        </p:blipFill>
        <p:spPr>
          <a:xfrm>
            <a:off x="457200" y="1143000"/>
            <a:ext cx="3200400" cy="2130552"/>
          </a:xfrm>
          <a:prstGeom prst="rect">
            <a:avLst/>
          </a:prstGeom>
        </p:spPr>
      </p:pic>
      <p:sp>
        <p:nvSpPr>
          <p:cNvPr id="5" name="Gear card"/>
          <p:cNvSpPr/>
          <p:nvPr/>
        </p:nvSpPr>
        <p:spPr>
          <a:xfrm>
            <a:off x="457200" y="3429000"/>
            <a:ext cx="3200400" cy="1097280"/>
          </a:xfrm>
          <a:prstGeom prst="roundRect">
            <a:avLst>
              <a:gd name="adj" fmla="val 10000"/>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6" name="Gear text"/>
          <p:cNvSpPr txBox="1"/>
          <p:nvPr/>
        </p:nvSpPr>
        <p:spPr>
          <a:xfrm>
            <a:off x="621792" y="3429000"/>
            <a:ext cx="2880360" cy="1097280"/>
          </a:xfrm>
          <a:prstGeom prst="rect">
            <a:avLst/>
          </a:prstGeom>
          <a:noFill/>
          <a:ln/>
        </p:spPr>
        <p:txBody>
          <a:bodyPr wrap="square" lIns="0" tIns="0" rIns="0" bIns="0" rtlCol="0" anchor="ctr"/>
          <a:lstStyle/>
          <a:p>
            <a:pPr marL="0" indent="0">
              <a:buNone/>
            </a:pPr>
            <a:r>
              <a:rPr lang="fil-PH" sz="1400" dirty="0">
                <a:solidFill>
                  <a:schemeClr val="tx2"/>
                </a:solidFill>
              </a:rPr>
              <a:t>Pag-iwas sa pinsala: gumamit ng protective gear sa sports, tulad ng helmet.</a:t>
            </a:r>
            <a:endParaRPr lang="fil-PH" sz="1400" dirty="0"/>
          </a:p>
        </p:txBody>
      </p:sp>
      <p:sp>
        <p:nvSpPr>
          <p:cNvPr id="7" name="Stat 60 minutes"/>
          <p:cNvSpPr/>
          <p:nvPr/>
        </p:nvSpPr>
        <p:spPr>
          <a:xfrm>
            <a:off x="3886200" y="1143000"/>
            <a:ext cx="4800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8" name="60 minutes stat"/>
          <p:cNvSpPr txBox="1"/>
          <p:nvPr/>
        </p:nvSpPr>
        <p:spPr>
          <a:xfrm>
            <a:off x="4069080" y="1280160"/>
            <a:ext cx="4434840" cy="502920"/>
          </a:xfrm>
          <a:prstGeom prst="rect">
            <a:avLst/>
          </a:prstGeom>
          <a:noFill/>
          <a:ln/>
        </p:spPr>
        <p:txBody>
          <a:bodyPr wrap="square" lIns="0" tIns="0" rIns="0" bIns="0" rtlCol="0" anchor="ctr"/>
          <a:lstStyle/>
          <a:p>
            <a:pPr marL="0" indent="0">
              <a:buNone/>
            </a:pPr>
            <a:r>
              <a:rPr lang="fil-PH" sz="2400" b="1" dirty="0">
                <a:solidFill>
                  <a:schemeClr val="accent4"/>
                </a:solidFill>
                <a:latin typeface="+mj-lt" pitchFamily="34" charset="0"/>
                <a:ea typeface="+mj-lt" pitchFamily="34" charset="-122"/>
                <a:cs typeface="+mj-lt" pitchFamily="34" charset="-120"/>
              </a:rPr>
              <a:t>60 minuto</a:t>
            </a:r>
            <a:endParaRPr lang="fil-PH" sz="2400" dirty="0"/>
          </a:p>
        </p:txBody>
      </p:sp>
      <p:sp>
        <p:nvSpPr>
          <p:cNvPr id="9" name="60 minutes text"/>
          <p:cNvSpPr txBox="1"/>
          <p:nvPr/>
        </p:nvSpPr>
        <p:spPr>
          <a:xfrm>
            <a:off x="4069080" y="1828800"/>
            <a:ext cx="4434840" cy="822960"/>
          </a:xfrm>
          <a:prstGeom prst="rect">
            <a:avLst/>
          </a:prstGeom>
          <a:noFill/>
          <a:ln/>
        </p:spPr>
        <p:txBody>
          <a:bodyPr wrap="square" lIns="0" tIns="0" rIns="0" bIns="0" rtlCol="0" anchor="t"/>
          <a:lstStyle/>
          <a:p>
            <a:pPr marL="0" indent="0">
              <a:buNone/>
            </a:pPr>
            <a:r>
              <a:rPr lang="fil-PH" sz="1400" dirty="0">
                <a:solidFill>
                  <a:schemeClr val="tx2"/>
                </a:solidFill>
              </a:rPr>
              <a:t>ng pisikal na aktibidad na angkop sa edad araw-araw, o sa halos lahat ng araw ng linggo.</a:t>
            </a:r>
            <a:endParaRPr lang="fil-PH" sz="1400" dirty="0"/>
          </a:p>
        </p:txBody>
      </p:sp>
      <p:sp>
        <p:nvSpPr>
          <p:cNvPr id="10" name="Card Lead poisoning"/>
          <p:cNvSpPr/>
          <p:nvPr/>
        </p:nvSpPr>
        <p:spPr>
          <a:xfrm>
            <a:off x="3886200" y="2926080"/>
            <a:ext cx="4800600" cy="1600200"/>
          </a:xfrm>
          <a:prstGeom prst="roundRect">
            <a:avLst>
              <a:gd name="adj" fmla="val 6857"/>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1" name="Lead poisoning circle"/>
          <p:cNvSpPr/>
          <p:nvPr/>
        </p:nvSpPr>
        <p:spPr>
          <a:xfrm>
            <a:off x="4069080" y="3090672"/>
            <a:ext cx="457200" cy="457200"/>
          </a:xfrm>
          <a:prstGeom prst="ellipse">
            <a:avLst/>
          </a:prstGeom>
          <a:solidFill>
            <a:schemeClr val="accent1"/>
          </a:solidFill>
          <a:ln w="12700">
            <a:solidFill>
              <a:schemeClr val="accent1"/>
            </a:solidFill>
            <a:prstDash val="solid"/>
          </a:ln>
        </p:spPr>
      </p:sp>
      <p:pic>
        <p:nvPicPr>
          <p:cNvPr id="12" name="Lead poisoning glyph" descr="Lead poisoning"/>
          <p:cNvPicPr>
            <a:picLocks noChangeAspect="1"/>
          </p:cNvPicPr>
          <p:nvPr/>
        </p:nvPicPr>
        <p:blipFill>
          <a:blip r:embed="rId5"/>
          <a:stretch>
            <a:fillRect/>
          </a:stretch>
        </p:blipFill>
        <p:spPr>
          <a:xfrm>
            <a:off x="4187952" y="3209544"/>
            <a:ext cx="219456" cy="219456"/>
          </a:xfrm>
          <a:prstGeom prst="rect">
            <a:avLst/>
          </a:prstGeom>
        </p:spPr>
      </p:pic>
      <p:sp>
        <p:nvSpPr>
          <p:cNvPr id="13" name="Lead poisoning heading"/>
          <p:cNvSpPr txBox="1"/>
          <p:nvPr/>
        </p:nvSpPr>
        <p:spPr>
          <a:xfrm>
            <a:off x="4636008" y="3090672"/>
            <a:ext cx="3886200" cy="457200"/>
          </a:xfrm>
          <a:prstGeom prst="rect">
            <a:avLst/>
          </a:prstGeom>
          <a:noFill/>
          <a:ln/>
        </p:spPr>
        <p:txBody>
          <a:bodyPr wrap="square" lIns="0" tIns="0" rIns="0" bIns="0" rtlCol="0" anchor="ctr"/>
          <a:lstStyle/>
          <a:p>
            <a:pPr marL="0" indent="0">
              <a:buNone/>
            </a:pPr>
            <a:r>
              <a:rPr lang="fil-PH" sz="1600" b="1" dirty="0">
                <a:solidFill>
                  <a:schemeClr val="tx1"/>
                </a:solidFill>
              </a:rPr>
              <a:t>Pagkalason sa lead</a:t>
            </a:r>
            <a:endParaRPr lang="fil-PH" sz="1600" dirty="0"/>
          </a:p>
        </p:txBody>
      </p:sp>
      <p:sp>
        <p:nvSpPr>
          <p:cNvPr id="14" name="Lead poisoning text"/>
          <p:cNvSpPr txBox="1"/>
          <p:nvPr/>
        </p:nvSpPr>
        <p:spPr>
          <a:xfrm>
            <a:off x="4069080" y="3639312"/>
            <a:ext cx="4434840" cy="777240"/>
          </a:xfrm>
          <a:prstGeom prst="rect">
            <a:avLst/>
          </a:prstGeom>
          <a:noFill/>
          <a:ln/>
        </p:spPr>
        <p:txBody>
          <a:bodyPr wrap="square" lIns="0" tIns="0" rIns="0" bIns="0" rtlCol="0" anchor="t"/>
          <a:lstStyle/>
          <a:p>
            <a:pPr marL="0" indent="0">
              <a:buNone/>
            </a:pPr>
            <a:r>
              <a:rPr lang="fil-PH" sz="1400" dirty="0">
                <a:solidFill>
                  <a:schemeClr val="tx2"/>
                </a:solidFill>
              </a:rPr>
              <a:t>Ang lead ay karaniwang toxicant sa kapaligiran na puwedeng makapinsala sa maraming organ. Sa mga bata, ang pinakapinag-aralang epekto nito ay cognitive impairment.</a:t>
            </a:r>
            <a:endParaRPr lang="fil-PH" sz="1400" dirty="0"/>
          </a:p>
        </p:txBody>
      </p:sp>
      <p:sp>
        <p:nvSpPr>
          <p:cNvPr id="15"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16"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a:t>
            </a:r>
            <a:endParaRPr lang="fil-PH"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Proteksyon ng bata: estratehiya</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Strategy 1"/>
          <p:cNvSpPr/>
          <p:nvPr/>
        </p:nvSpPr>
        <p:spPr>
          <a:xfrm>
            <a:off x="45720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5" name="Strategy 1 circle"/>
          <p:cNvSpPr/>
          <p:nvPr/>
        </p:nvSpPr>
        <p:spPr>
          <a:xfrm>
            <a:off x="566928" y="1417320"/>
            <a:ext cx="411480" cy="411480"/>
          </a:xfrm>
          <a:prstGeom prst="ellipse">
            <a:avLst/>
          </a:prstGeom>
          <a:solidFill>
            <a:schemeClr val="accent1"/>
          </a:solidFill>
          <a:ln w="12700">
            <a:solidFill>
              <a:schemeClr val="accent1"/>
            </a:solidFill>
            <a:prstDash val="solid"/>
          </a:ln>
        </p:spPr>
      </p:sp>
      <p:pic>
        <p:nvPicPr>
          <p:cNvPr id="6" name="Strategy 1 glyph" descr="Strategy 1"/>
          <p:cNvPicPr>
            <a:picLocks noChangeAspect="1"/>
          </p:cNvPicPr>
          <p:nvPr/>
        </p:nvPicPr>
        <p:blipFill>
          <a:blip r:embed="rId4"/>
          <a:stretch>
            <a:fillRect/>
          </a:stretch>
        </p:blipFill>
        <p:spPr>
          <a:xfrm>
            <a:off x="673913" y="1524305"/>
            <a:ext cx="197510" cy="197510"/>
          </a:xfrm>
          <a:prstGeom prst="rect">
            <a:avLst/>
          </a:prstGeom>
        </p:spPr>
      </p:pic>
      <p:sp>
        <p:nvSpPr>
          <p:cNvPr id="7" name="Strategy 1 text"/>
          <p:cNvSpPr txBox="1"/>
          <p:nvPr/>
        </p:nvSpPr>
        <p:spPr>
          <a:xfrm>
            <a:off x="1078992" y="1143000"/>
            <a:ext cx="1234440" cy="960120"/>
          </a:xfrm>
          <a:prstGeom prst="rect">
            <a:avLst/>
          </a:prstGeom>
          <a:noFill/>
          <a:ln/>
        </p:spPr>
        <p:txBody>
          <a:bodyPr wrap="square" lIns="0" tIns="0" rIns="0" bIns="0" rtlCol="0" anchor="ctr"/>
          <a:lstStyle/>
          <a:p>
            <a:pPr marL="0" indent="0">
              <a:buNone/>
            </a:pPr>
            <a:r>
              <a:rPr lang="fil-PH" sz="1400" dirty="0">
                <a:solidFill>
                  <a:schemeClr val="tx1"/>
                </a:solidFill>
              </a:rPr>
              <a:t>Mga batas na ipinatutupad</a:t>
            </a:r>
            <a:endParaRPr lang="fil-PH" sz="1400" dirty="0"/>
          </a:p>
        </p:txBody>
      </p:sp>
      <p:sp>
        <p:nvSpPr>
          <p:cNvPr id="8" name="Strategy 2"/>
          <p:cNvSpPr/>
          <p:nvPr/>
        </p:nvSpPr>
        <p:spPr>
          <a:xfrm>
            <a:off x="256032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9" name="Strategy 2 circle"/>
          <p:cNvSpPr/>
          <p:nvPr/>
        </p:nvSpPr>
        <p:spPr>
          <a:xfrm>
            <a:off x="2670048" y="1417320"/>
            <a:ext cx="411480" cy="411480"/>
          </a:xfrm>
          <a:prstGeom prst="ellipse">
            <a:avLst/>
          </a:prstGeom>
          <a:solidFill>
            <a:schemeClr val="accent2"/>
          </a:solidFill>
          <a:ln w="12700">
            <a:solidFill>
              <a:schemeClr val="accent2"/>
            </a:solidFill>
            <a:prstDash val="solid"/>
          </a:ln>
        </p:spPr>
      </p:sp>
      <p:pic>
        <p:nvPicPr>
          <p:cNvPr id="10" name="Strategy 2 glyph" descr="Strategy 2"/>
          <p:cNvPicPr>
            <a:picLocks noChangeAspect="1"/>
          </p:cNvPicPr>
          <p:nvPr/>
        </p:nvPicPr>
        <p:blipFill>
          <a:blip r:embed="rId5"/>
          <a:stretch>
            <a:fillRect/>
          </a:stretch>
        </p:blipFill>
        <p:spPr>
          <a:xfrm>
            <a:off x="2777033" y="1524305"/>
            <a:ext cx="197510" cy="197510"/>
          </a:xfrm>
          <a:prstGeom prst="rect">
            <a:avLst/>
          </a:prstGeom>
        </p:spPr>
      </p:pic>
      <p:sp>
        <p:nvSpPr>
          <p:cNvPr id="11" name="Strategy 2 text"/>
          <p:cNvSpPr txBox="1"/>
          <p:nvPr/>
        </p:nvSpPr>
        <p:spPr>
          <a:xfrm>
            <a:off x="3182112" y="1143000"/>
            <a:ext cx="1234440" cy="960120"/>
          </a:xfrm>
          <a:prstGeom prst="rect">
            <a:avLst/>
          </a:prstGeom>
          <a:noFill/>
          <a:ln/>
        </p:spPr>
        <p:txBody>
          <a:bodyPr wrap="square" lIns="0" tIns="0" rIns="0" bIns="0" rtlCol="0" anchor="ctr"/>
          <a:lstStyle/>
          <a:p>
            <a:pPr marL="0" indent="0">
              <a:buNone/>
            </a:pPr>
            <a:r>
              <a:rPr lang="fil-PH" sz="1400" dirty="0">
                <a:solidFill>
                  <a:schemeClr val="tx1"/>
                </a:solidFill>
              </a:rPr>
              <a:t>Mga pamantayan at pagpapahalaga</a:t>
            </a:r>
            <a:endParaRPr lang="fil-PH" sz="1400" dirty="0"/>
          </a:p>
        </p:txBody>
      </p:sp>
      <p:sp>
        <p:nvSpPr>
          <p:cNvPr id="12" name="Strategy 3"/>
          <p:cNvSpPr/>
          <p:nvPr/>
        </p:nvSpPr>
        <p:spPr>
          <a:xfrm>
            <a:off x="466344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3" name="Strategy 3 circle"/>
          <p:cNvSpPr/>
          <p:nvPr/>
        </p:nvSpPr>
        <p:spPr>
          <a:xfrm>
            <a:off x="4773168" y="1417320"/>
            <a:ext cx="411480" cy="411480"/>
          </a:xfrm>
          <a:prstGeom prst="ellipse">
            <a:avLst/>
          </a:prstGeom>
          <a:solidFill>
            <a:schemeClr val="accent4"/>
          </a:solidFill>
          <a:ln w="12700">
            <a:solidFill>
              <a:schemeClr val="accent4"/>
            </a:solidFill>
            <a:prstDash val="solid"/>
          </a:ln>
        </p:spPr>
      </p:sp>
      <p:pic>
        <p:nvPicPr>
          <p:cNvPr id="14" name="Strategy 3 glyph" descr="Strategy 3"/>
          <p:cNvPicPr>
            <a:picLocks noChangeAspect="1"/>
          </p:cNvPicPr>
          <p:nvPr/>
        </p:nvPicPr>
        <p:blipFill>
          <a:blip r:embed="rId6"/>
          <a:stretch>
            <a:fillRect/>
          </a:stretch>
        </p:blipFill>
        <p:spPr>
          <a:xfrm>
            <a:off x="4880153" y="1524305"/>
            <a:ext cx="197510" cy="197510"/>
          </a:xfrm>
          <a:prstGeom prst="rect">
            <a:avLst/>
          </a:prstGeom>
        </p:spPr>
      </p:pic>
      <p:sp>
        <p:nvSpPr>
          <p:cNvPr id="15" name="Strategy 3 text"/>
          <p:cNvSpPr txBox="1"/>
          <p:nvPr/>
        </p:nvSpPr>
        <p:spPr>
          <a:xfrm>
            <a:off x="5285232" y="1143000"/>
            <a:ext cx="1234440" cy="960120"/>
          </a:xfrm>
          <a:prstGeom prst="rect">
            <a:avLst/>
          </a:prstGeom>
          <a:noFill/>
          <a:ln/>
        </p:spPr>
        <p:txBody>
          <a:bodyPr wrap="square" lIns="0" tIns="0" rIns="0" bIns="0" rtlCol="0" anchor="ctr"/>
          <a:lstStyle/>
          <a:p>
            <a:pPr marL="0" indent="0">
              <a:buNone/>
            </a:pPr>
            <a:r>
              <a:rPr lang="fil-PH" sz="1400" dirty="0">
                <a:solidFill>
                  <a:schemeClr val="tx1"/>
                </a:solidFill>
              </a:rPr>
              <a:t>Ligtas na kapaligiran</a:t>
            </a:r>
            <a:endParaRPr lang="fil-PH" sz="1400" dirty="0"/>
          </a:p>
        </p:txBody>
      </p:sp>
      <p:sp>
        <p:nvSpPr>
          <p:cNvPr id="16" name="Strategy 4"/>
          <p:cNvSpPr/>
          <p:nvPr/>
        </p:nvSpPr>
        <p:spPr>
          <a:xfrm>
            <a:off x="6766560" y="114300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17" name="Strategy 4 circle"/>
          <p:cNvSpPr/>
          <p:nvPr/>
        </p:nvSpPr>
        <p:spPr>
          <a:xfrm>
            <a:off x="6876288" y="1417320"/>
            <a:ext cx="411480" cy="411480"/>
          </a:xfrm>
          <a:prstGeom prst="ellipse">
            <a:avLst/>
          </a:prstGeom>
          <a:solidFill>
            <a:schemeClr val="accent5"/>
          </a:solidFill>
          <a:ln w="12700">
            <a:solidFill>
              <a:schemeClr val="accent5"/>
            </a:solidFill>
            <a:prstDash val="solid"/>
          </a:ln>
        </p:spPr>
      </p:sp>
      <p:pic>
        <p:nvPicPr>
          <p:cNvPr id="18" name="Strategy 4 glyph" descr="Strategy 4"/>
          <p:cNvPicPr>
            <a:picLocks noChangeAspect="1"/>
          </p:cNvPicPr>
          <p:nvPr/>
        </p:nvPicPr>
        <p:blipFill>
          <a:blip r:embed="rId7"/>
          <a:stretch>
            <a:fillRect/>
          </a:stretch>
        </p:blipFill>
        <p:spPr>
          <a:xfrm>
            <a:off x="6983273" y="1524305"/>
            <a:ext cx="197510" cy="197510"/>
          </a:xfrm>
          <a:prstGeom prst="rect">
            <a:avLst/>
          </a:prstGeom>
        </p:spPr>
      </p:pic>
      <p:sp>
        <p:nvSpPr>
          <p:cNvPr id="19" name="Strategy 4 text"/>
          <p:cNvSpPr txBox="1"/>
          <p:nvPr/>
        </p:nvSpPr>
        <p:spPr>
          <a:xfrm>
            <a:off x="7388352" y="1143000"/>
            <a:ext cx="1234440" cy="960120"/>
          </a:xfrm>
          <a:prstGeom prst="rect">
            <a:avLst/>
          </a:prstGeom>
          <a:noFill/>
          <a:ln/>
        </p:spPr>
        <p:txBody>
          <a:bodyPr wrap="square" lIns="0" tIns="0" rIns="0" bIns="0" rtlCol="0" anchor="ctr"/>
          <a:lstStyle/>
          <a:p>
            <a:pPr marL="0" indent="0">
              <a:buNone/>
            </a:pPr>
            <a:r>
              <a:rPr lang="fil-PH" sz="1400" dirty="0">
                <a:solidFill>
                  <a:schemeClr val="tx1"/>
                </a:solidFill>
              </a:rPr>
              <a:t>Suporta sa magulang at tagapag-alaga</a:t>
            </a:r>
            <a:endParaRPr lang="fil-PH" sz="1400" dirty="0"/>
          </a:p>
        </p:txBody>
      </p:sp>
      <p:sp>
        <p:nvSpPr>
          <p:cNvPr id="20" name="Strategy 5"/>
          <p:cNvSpPr/>
          <p:nvPr/>
        </p:nvSpPr>
        <p:spPr>
          <a:xfrm>
            <a:off x="45720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1" name="Strategy 5 circle"/>
          <p:cNvSpPr/>
          <p:nvPr/>
        </p:nvSpPr>
        <p:spPr>
          <a:xfrm>
            <a:off x="566928" y="2468880"/>
            <a:ext cx="411480" cy="411480"/>
          </a:xfrm>
          <a:prstGeom prst="ellipse">
            <a:avLst/>
          </a:prstGeom>
          <a:solidFill>
            <a:schemeClr val="accent6"/>
          </a:solidFill>
          <a:ln w="12700">
            <a:solidFill>
              <a:schemeClr val="accent6"/>
            </a:solidFill>
            <a:prstDash val="solid"/>
          </a:ln>
        </p:spPr>
      </p:sp>
      <p:pic>
        <p:nvPicPr>
          <p:cNvPr id="22" name="Strategy 5 glyph" descr="Strategy 5"/>
          <p:cNvPicPr>
            <a:picLocks noChangeAspect="1"/>
          </p:cNvPicPr>
          <p:nvPr/>
        </p:nvPicPr>
        <p:blipFill>
          <a:blip r:embed="rId8"/>
          <a:stretch>
            <a:fillRect/>
          </a:stretch>
        </p:blipFill>
        <p:spPr>
          <a:xfrm>
            <a:off x="673913" y="2575865"/>
            <a:ext cx="197510" cy="197510"/>
          </a:xfrm>
          <a:prstGeom prst="rect">
            <a:avLst/>
          </a:prstGeom>
        </p:spPr>
      </p:pic>
      <p:sp>
        <p:nvSpPr>
          <p:cNvPr id="23" name="Strategy 5 text"/>
          <p:cNvSpPr txBox="1"/>
          <p:nvPr/>
        </p:nvSpPr>
        <p:spPr>
          <a:xfrm>
            <a:off x="1078992" y="2194560"/>
            <a:ext cx="1234440" cy="960120"/>
          </a:xfrm>
          <a:prstGeom prst="rect">
            <a:avLst/>
          </a:prstGeom>
          <a:noFill/>
          <a:ln/>
        </p:spPr>
        <p:txBody>
          <a:bodyPr wrap="square" lIns="0" tIns="0" rIns="0" bIns="0" rtlCol="0" anchor="ctr"/>
          <a:lstStyle/>
          <a:p>
            <a:pPr marL="0" indent="0">
              <a:buNone/>
            </a:pPr>
            <a:r>
              <a:rPr lang="fil-PH" sz="1400" dirty="0">
                <a:solidFill>
                  <a:schemeClr val="tx1"/>
                </a:solidFill>
              </a:rPr>
              <a:t>Pagpapalakas ng kita at ekonomiya</a:t>
            </a:r>
            <a:endParaRPr lang="fil-PH" sz="1400" dirty="0"/>
          </a:p>
        </p:txBody>
      </p:sp>
      <p:sp>
        <p:nvSpPr>
          <p:cNvPr id="24" name="Strategy 6"/>
          <p:cNvSpPr/>
          <p:nvPr/>
        </p:nvSpPr>
        <p:spPr>
          <a:xfrm>
            <a:off x="256032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5" name="Strategy 6 circle"/>
          <p:cNvSpPr/>
          <p:nvPr/>
        </p:nvSpPr>
        <p:spPr>
          <a:xfrm>
            <a:off x="2670048" y="2468880"/>
            <a:ext cx="411480" cy="411480"/>
          </a:xfrm>
          <a:prstGeom prst="ellipse">
            <a:avLst/>
          </a:prstGeom>
          <a:solidFill>
            <a:schemeClr val="accent1"/>
          </a:solidFill>
          <a:ln w="12700">
            <a:solidFill>
              <a:schemeClr val="accent1"/>
            </a:solidFill>
            <a:prstDash val="solid"/>
          </a:ln>
        </p:spPr>
      </p:sp>
      <p:pic>
        <p:nvPicPr>
          <p:cNvPr id="26" name="Strategy 6 glyph" descr="Strategy 6"/>
          <p:cNvPicPr>
            <a:picLocks noChangeAspect="1"/>
          </p:cNvPicPr>
          <p:nvPr/>
        </p:nvPicPr>
        <p:blipFill>
          <a:blip r:embed="rId9"/>
          <a:stretch>
            <a:fillRect/>
          </a:stretch>
        </p:blipFill>
        <p:spPr>
          <a:xfrm>
            <a:off x="2777033" y="2575865"/>
            <a:ext cx="197510" cy="197510"/>
          </a:xfrm>
          <a:prstGeom prst="rect">
            <a:avLst/>
          </a:prstGeom>
        </p:spPr>
      </p:pic>
      <p:sp>
        <p:nvSpPr>
          <p:cNvPr id="27" name="Strategy 6 text"/>
          <p:cNvSpPr txBox="1"/>
          <p:nvPr/>
        </p:nvSpPr>
        <p:spPr>
          <a:xfrm>
            <a:off x="3182112" y="2194560"/>
            <a:ext cx="1234440" cy="960120"/>
          </a:xfrm>
          <a:prstGeom prst="rect">
            <a:avLst/>
          </a:prstGeom>
          <a:noFill/>
          <a:ln/>
        </p:spPr>
        <p:txBody>
          <a:bodyPr wrap="square" lIns="0" tIns="0" rIns="0" bIns="0" rtlCol="0" anchor="ctr"/>
          <a:lstStyle/>
          <a:p>
            <a:pPr marL="0" indent="0">
              <a:buNone/>
            </a:pPr>
            <a:r>
              <a:rPr lang="fil-PH" sz="1400" dirty="0">
                <a:solidFill>
                  <a:schemeClr val="tx1"/>
                </a:solidFill>
              </a:rPr>
              <a:t>Mga serbisyong tugon at suporta</a:t>
            </a:r>
            <a:endParaRPr lang="fil-PH" sz="1400" dirty="0"/>
          </a:p>
        </p:txBody>
      </p:sp>
      <p:sp>
        <p:nvSpPr>
          <p:cNvPr id="28" name="Strategy 7"/>
          <p:cNvSpPr/>
          <p:nvPr/>
        </p:nvSpPr>
        <p:spPr>
          <a:xfrm>
            <a:off x="4663440" y="2194560"/>
            <a:ext cx="1920240" cy="960120"/>
          </a:xfrm>
          <a:prstGeom prst="roundRect">
            <a:avLst>
              <a:gd name="adj" fmla="val 9524"/>
            </a:avLst>
          </a:prstGeom>
          <a:solidFill>
            <a:schemeClr val="bg1"/>
          </a:solidFill>
          <a:ln w="12700">
            <a:solidFill>
              <a:schemeClr val="bg1"/>
            </a:solidFill>
            <a:prstDash val="solid"/>
          </a:ln>
          <a:effectLst>
            <a:outerShdw blurRad="101600" dist="25400" dir="5400000" algn="bl" rotWithShape="0">
              <a:srgbClr val="17304F">
                <a:alpha val="14000"/>
              </a:srgbClr>
            </a:outerShdw>
          </a:effectLst>
        </p:spPr>
      </p:sp>
      <p:sp>
        <p:nvSpPr>
          <p:cNvPr id="29" name="Strategy 7 circle"/>
          <p:cNvSpPr/>
          <p:nvPr/>
        </p:nvSpPr>
        <p:spPr>
          <a:xfrm>
            <a:off x="4773168" y="2468880"/>
            <a:ext cx="411480" cy="411480"/>
          </a:xfrm>
          <a:prstGeom prst="ellipse">
            <a:avLst/>
          </a:prstGeom>
          <a:solidFill>
            <a:schemeClr val="accent4"/>
          </a:solidFill>
          <a:ln w="12700">
            <a:solidFill>
              <a:schemeClr val="accent4"/>
            </a:solidFill>
            <a:prstDash val="solid"/>
          </a:ln>
        </p:spPr>
      </p:sp>
      <p:pic>
        <p:nvPicPr>
          <p:cNvPr id="30" name="Strategy 7 glyph" descr="Strategy 7"/>
          <p:cNvPicPr>
            <a:picLocks noChangeAspect="1"/>
          </p:cNvPicPr>
          <p:nvPr/>
        </p:nvPicPr>
        <p:blipFill>
          <a:blip r:embed="rId10"/>
          <a:stretch>
            <a:fillRect/>
          </a:stretch>
        </p:blipFill>
        <p:spPr>
          <a:xfrm>
            <a:off x="4880153" y="2575865"/>
            <a:ext cx="197510" cy="197510"/>
          </a:xfrm>
          <a:prstGeom prst="rect">
            <a:avLst/>
          </a:prstGeom>
        </p:spPr>
      </p:pic>
      <p:sp>
        <p:nvSpPr>
          <p:cNvPr id="31" name="Strategy 7 text"/>
          <p:cNvSpPr txBox="1"/>
          <p:nvPr/>
        </p:nvSpPr>
        <p:spPr>
          <a:xfrm>
            <a:off x="5285232" y="2194560"/>
            <a:ext cx="1234440" cy="960120"/>
          </a:xfrm>
          <a:prstGeom prst="rect">
            <a:avLst/>
          </a:prstGeom>
          <a:noFill/>
          <a:ln/>
        </p:spPr>
        <p:txBody>
          <a:bodyPr wrap="square" lIns="0" tIns="0" rIns="0" bIns="0" rtlCol="0" anchor="ctr"/>
          <a:lstStyle/>
          <a:p>
            <a:pPr marL="0" indent="0">
              <a:buNone/>
            </a:pPr>
            <a:r>
              <a:rPr lang="fil-PH" sz="1400" dirty="0">
                <a:solidFill>
                  <a:schemeClr val="tx1"/>
                </a:solidFill>
              </a:rPr>
              <a:t>Edukasyon at life skills</a:t>
            </a:r>
            <a:endParaRPr lang="fil-PH" sz="1400" dirty="0"/>
          </a:p>
        </p:txBody>
      </p:sp>
      <p:sp>
        <p:nvSpPr>
          <p:cNvPr id="32" name="Strategy 8"/>
          <p:cNvSpPr/>
          <p:nvPr/>
        </p:nvSpPr>
        <p:spPr>
          <a:xfrm>
            <a:off x="6766560" y="2194560"/>
            <a:ext cx="1920240" cy="960120"/>
          </a:xfrm>
          <a:prstGeom prst="roundRect">
            <a:avLst>
              <a:gd name="adj" fmla="val 9524"/>
            </a:avLst>
          </a:prstGeom>
          <a:solidFill>
            <a:schemeClr val="accent3"/>
          </a:solidFill>
          <a:ln w="12700">
            <a:solidFill>
              <a:schemeClr val="accent3"/>
            </a:solidFill>
            <a:prstDash val="solid"/>
          </a:ln>
          <a:effectLst>
            <a:outerShdw blurRad="101600" dist="25400" dir="5400000" algn="bl" rotWithShape="0">
              <a:srgbClr val="17304F">
                <a:alpha val="14000"/>
              </a:srgbClr>
            </a:outerShdw>
          </a:effectLst>
        </p:spPr>
      </p:sp>
      <p:sp>
        <p:nvSpPr>
          <p:cNvPr id="33" name="Strategy 8 circle"/>
          <p:cNvSpPr/>
          <p:nvPr/>
        </p:nvSpPr>
        <p:spPr>
          <a:xfrm>
            <a:off x="6876288" y="2468880"/>
            <a:ext cx="411480" cy="411480"/>
          </a:xfrm>
          <a:prstGeom prst="ellipse">
            <a:avLst/>
          </a:prstGeom>
          <a:solidFill>
            <a:schemeClr val="tx1"/>
          </a:solidFill>
          <a:ln w="12700">
            <a:solidFill>
              <a:schemeClr val="tx1"/>
            </a:solidFill>
            <a:prstDash val="solid"/>
          </a:ln>
        </p:spPr>
      </p:sp>
      <p:pic>
        <p:nvPicPr>
          <p:cNvPr id="34" name="Strategy 8 glyph" descr="Strategy 8"/>
          <p:cNvPicPr>
            <a:picLocks noChangeAspect="1"/>
          </p:cNvPicPr>
          <p:nvPr/>
        </p:nvPicPr>
        <p:blipFill>
          <a:blip r:embed="rId11"/>
          <a:stretch>
            <a:fillRect/>
          </a:stretch>
        </p:blipFill>
        <p:spPr>
          <a:xfrm>
            <a:off x="6983273" y="2575865"/>
            <a:ext cx="197510" cy="197510"/>
          </a:xfrm>
          <a:prstGeom prst="rect">
            <a:avLst/>
          </a:prstGeom>
        </p:spPr>
      </p:pic>
      <p:sp>
        <p:nvSpPr>
          <p:cNvPr id="35" name="Strategy 8 text"/>
          <p:cNvSpPr txBox="1"/>
          <p:nvPr/>
        </p:nvSpPr>
        <p:spPr>
          <a:xfrm>
            <a:off x="7388352" y="2194560"/>
            <a:ext cx="1234440" cy="960120"/>
          </a:xfrm>
          <a:prstGeom prst="rect">
            <a:avLst/>
          </a:prstGeom>
          <a:noFill/>
          <a:ln/>
        </p:spPr>
        <p:txBody>
          <a:bodyPr wrap="square" lIns="0" tIns="0" rIns="0" bIns="0" rtlCol="0" anchor="ctr"/>
          <a:lstStyle/>
          <a:p>
            <a:pPr marL="0" indent="0">
              <a:buNone/>
            </a:pPr>
            <a:r>
              <a:rPr lang="fil-PH" sz="1400" b="1" dirty="0">
                <a:solidFill>
                  <a:schemeClr val="tx1"/>
                </a:solidFill>
              </a:rPr>
              <a:t>Walang iisang risk factor</a:t>
            </a:r>
            <a:endParaRPr lang="fil-PH" sz="1400" dirty="0"/>
          </a:p>
        </p:txBody>
      </p:sp>
      <p:sp>
        <p:nvSpPr>
          <p:cNvPr id="36" name="Reporting banner"/>
          <p:cNvSpPr/>
          <p:nvPr/>
        </p:nvSpPr>
        <p:spPr>
          <a:xfrm>
            <a:off x="457200" y="3383280"/>
            <a:ext cx="8229600" cy="1188720"/>
          </a:xfrm>
          <a:prstGeom prst="roundRect">
            <a:avLst>
              <a:gd name="adj" fmla="val 9231"/>
            </a:avLst>
          </a:prstGeom>
          <a:solidFill>
            <a:schemeClr val="tx1"/>
          </a:solidFill>
          <a:ln w="12700">
            <a:solidFill>
              <a:schemeClr val="tx1"/>
            </a:solidFill>
            <a:prstDash val="solid"/>
          </a:ln>
        </p:spPr>
      </p:sp>
      <p:sp>
        <p:nvSpPr>
          <p:cNvPr id="37" name="Reporting text"/>
          <p:cNvSpPr txBox="1"/>
          <p:nvPr/>
        </p:nvSpPr>
        <p:spPr>
          <a:xfrm>
            <a:off x="640080" y="3383280"/>
            <a:ext cx="7863840" cy="1188720"/>
          </a:xfrm>
          <a:prstGeom prst="rect">
            <a:avLst/>
          </a:prstGeom>
          <a:noFill/>
          <a:ln/>
        </p:spPr>
        <p:txBody>
          <a:bodyPr wrap="square" lIns="0" tIns="0" rIns="0" bIns="0" rtlCol="0" anchor="ctr"/>
          <a:lstStyle/>
          <a:p>
            <a:pPr marL="0" indent="0">
              <a:buNone/>
            </a:pPr>
            <a:r>
              <a:rPr lang="fil-PH" sz="1400" b="1" dirty="0">
                <a:solidFill>
                  <a:schemeClr val="accent3"/>
                </a:solidFill>
              </a:rPr>
              <a:t>Pag-uulat: </a:t>
            </a:r>
            <a:r>
              <a:rPr lang="fil-PH" sz="1400" dirty="0">
                <a:solidFill>
                  <a:schemeClr val="bg1"/>
                </a:solidFill>
              </a:rPr>
              <a:t>iniuulat ng mga doktor at nars ang batang tila inabuso sa DSWD sa loob ng 48 oras, pasalita o nakasulat. Iniuulat din ang mga pinaghihinalaang kaso sa Local Barangay Council for the Protection of Children (BCPC) at sa Local Government Unit.</a:t>
            </a:r>
            <a:endParaRPr lang="fil-PH" sz="1400" dirty="0"/>
          </a:p>
        </p:txBody>
      </p:sp>
      <p:sp>
        <p:nvSpPr>
          <p:cNvPr id="38" name="Back button">
            <a:hlinkClick r:id="rId12"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 Bumalik</a:t>
            </a:r>
            <a:endParaRPr lang="fil-PH" sz="1400" dirty="0"/>
          </a:p>
        </p:txBody>
      </p:sp>
      <p:sp>
        <p:nvSpPr>
          <p:cNvPr id="39" name="Next button">
            <a:hlinkClick r:id="rId13"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Quiz ›</a:t>
            </a:r>
            <a:endParaRPr lang="fil-PH"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Bike family photo" descr="A father and mother helping their daughter learn to ride a bike"/>
          <p:cNvPicPr>
            <a:picLocks noChangeAspect="1"/>
          </p:cNvPicPr>
          <p:nvPr/>
        </p:nvPicPr>
        <p:blipFill>
          <a:blip r:embed="rId3"/>
          <a:stretch>
            <a:fillRect/>
          </a:stretch>
        </p:blipFill>
        <p:spPr>
          <a:xfrm>
            <a:off x="4754880" y="0"/>
            <a:ext cx="4389120" cy="5143500"/>
          </a:xfrm>
          <a:prstGeom prst="rect">
            <a:avLst/>
          </a:prstGeom>
        </p:spPr>
      </p:pic>
      <p:sp>
        <p:nvSpPr>
          <p:cNvPr id="3" name="Eyebrow"/>
          <p:cNvSpPr txBox="1"/>
          <p:nvPr/>
        </p:nvSpPr>
        <p:spPr>
          <a:xfrm>
            <a:off x="548640" y="1097280"/>
            <a:ext cx="393192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MABILIS NA QUIZ</a:t>
            </a:r>
            <a:endParaRPr lang="fil-PH" sz="1400" dirty="0"/>
          </a:p>
        </p:txBody>
      </p:sp>
      <p:sp>
        <p:nvSpPr>
          <p:cNvPr id="4" name="Quiz title"/>
          <p:cNvSpPr txBox="1"/>
          <p:nvPr/>
        </p:nvSpPr>
        <p:spPr>
          <a:xfrm>
            <a:off x="548640" y="1508760"/>
            <a:ext cx="3931920" cy="1280160"/>
          </a:xfrm>
          <a:prstGeom prst="rect">
            <a:avLst/>
          </a:prstGeom>
          <a:noFill/>
          <a:ln/>
        </p:spPr>
        <p:txBody>
          <a:bodyPr wrap="square" lIns="0" tIns="0" rIns="0" bIns="0" rtlCol="0" anchor="t"/>
          <a:lstStyle/>
          <a:p>
            <a:pPr marL="0" indent="0">
              <a:buNone/>
            </a:pPr>
            <a:r>
              <a:rPr lang="fil-PH" sz="3600" b="1" dirty="0">
                <a:solidFill>
                  <a:schemeClr val="bg1"/>
                </a:solidFill>
                <a:latin typeface="+mj-lt" pitchFamily="34" charset="0"/>
                <a:ea typeface="+mj-lt" pitchFamily="34" charset="-122"/>
                <a:cs typeface="+mj-lt" pitchFamily="34" charset="-120"/>
              </a:rPr>
              <a:t>Subukan ang natutunan mo</a:t>
            </a:r>
            <a:endParaRPr lang="fil-PH" sz="3600" dirty="0"/>
          </a:p>
        </p:txBody>
      </p:sp>
      <p:sp>
        <p:nvSpPr>
          <p:cNvPr id="5" name="Quiz instructions"/>
          <p:cNvSpPr txBox="1"/>
          <p:nvPr/>
        </p:nvSpPr>
        <p:spPr>
          <a:xfrm>
            <a:off x="548640" y="2926080"/>
            <a:ext cx="3840480" cy="822960"/>
          </a:xfrm>
          <a:prstGeom prst="rect">
            <a:avLst/>
          </a:prstGeom>
          <a:noFill/>
          <a:ln/>
        </p:spPr>
        <p:txBody>
          <a:bodyPr wrap="square" lIns="0" tIns="0" rIns="0" bIns="0" rtlCol="0" anchor="t"/>
          <a:lstStyle/>
          <a:p>
            <a:pPr marL="0" indent="0">
              <a:buNone/>
            </a:pPr>
            <a:r>
              <a:rPr lang="fil-PH" sz="1600" dirty="0">
                <a:solidFill>
                  <a:schemeClr val="bg1"/>
                </a:solidFill>
              </a:rPr>
              <a:t>4 na tanong. Pindutin ang sagot para malaman kung tama ka. Mali? Puwede kang sumubok muli.</a:t>
            </a:r>
            <a:endParaRPr lang="fil-PH" sz="1600" dirty="0"/>
          </a:p>
        </p:txBody>
      </p:sp>
      <p:sp>
        <p:nvSpPr>
          <p:cNvPr id="6" name="Start quiz">
            <a:hlinkClick r:id="rId4" action="ppaction://hlinksldjump" tooltip="Go to question 1"/>
          </p:cNvPr>
          <p:cNvSpPr/>
          <p:nvPr/>
        </p:nvSpPr>
        <p:spPr>
          <a:xfrm>
            <a:off x="548640" y="3977640"/>
            <a:ext cx="164592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Simulan ang quiz</a:t>
            </a:r>
            <a:endParaRPr lang="fil-PH" sz="1400" dirty="0"/>
          </a:p>
        </p:txBody>
      </p:sp>
      <p:sp>
        <p:nvSpPr>
          <p:cNvPr id="7" name="Menu button">
            <a:hlinkClick r:id="rId5" action="ppaction://hlinksldjump" tooltip="Back to the topic menu"/>
          </p:cNvPr>
          <p:cNvSpPr/>
          <p:nvPr/>
        </p:nvSpPr>
        <p:spPr>
          <a:xfrm>
            <a:off x="2377440" y="3977640"/>
            <a:ext cx="128016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1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LIGTAS NA TULOG</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Paano dapat patulugin ang sanggol?</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Nakatagilid</a:t>
            </a:r>
            <a:endParaRPr lang="fil-PH"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Nakatihaya</a:t>
            </a:r>
            <a:endParaRPr lang="fil-PH"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Nakadapa</a:t>
            </a:r>
            <a:endParaRPr lang="fil-PH"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Nakatihaya</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Laging ihiga ang sanggol nang nakatihaya. Ang pagtulog nang nakatagilid o nakadapa ay maaaring magdulot ng pagkasakal o pagkabulunan.</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Isipin ang posisyong nagpapanatiling bukas ang daluyan ng hangin.</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2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KALIGTASAN SA TUBIG</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Gaano karaming tubig ang puwedeng ikalunod ng sanggol?</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Hindi bababa sa isang talampakan</a:t>
            </a:r>
            <a:endParaRPr lang="fil-PH"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Puno lang na bathtub</a:t>
            </a:r>
            <a:endParaRPr lang="fil-PH"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Isa hanggang dalawang pulgada lang</a:t>
            </a:r>
            <a:endParaRPr lang="fil-PH"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Isa hanggang dalawang pulgada lang</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Maaaring malunod ang sanggol at maliliit na bata sa 1 hanggang 2 pulgada lang ng tubig, kaya huwag silang iwan mag-isa malapit sa tubig.</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Mas kaunti ito kaysa sa inaakala mo.</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3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CAR SEAT</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Gaano katagal dapat nakasakay ang sanggol sa car seat na paatras ang harap?</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Hanggang hindi bababa sa 2 taong gulang, o limitasyon ng seat</a:t>
            </a:r>
            <a:endParaRPr lang="fil-PH"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Hanggang 6 buwan</a:t>
            </a:r>
            <a:endParaRPr lang="fil-PH"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Hanggang makalakad</a:t>
            </a:r>
            <a:endParaRPr lang="fil-PH"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Hanggang hindi bababa sa 2 taong gulang, o limitasyon ng seat</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Nakasakay ang sanggol nang paatras sa likurang upuan hanggang hindi bababa sa 2 taong gulang, o sa limitasyon ng taas o timbang ng seat.</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Susunod na tanong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Sinusukat ito sa taon, hindi sa buwan.</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Tanong 4 ng 4</a:t>
            </a:r>
            <a:endParaRPr lang="fil-PH"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Menu</a:t>
            </a:r>
            <a:endParaRPr lang="fil-PH"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fil-PH" sz="1200" b="1" kern="0" spc="200" dirty="0">
                <a:solidFill>
                  <a:schemeClr val="accent1"/>
                </a:solidFill>
              </a:rPr>
              <a:t>GAMIT NG SANGGOL</a:t>
            </a:r>
            <a:endParaRPr lang="fil-PH"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Alin sa mga ito ang hindi dapat gamitin sa sanggol?</a:t>
            </a:r>
            <a:endParaRPr lang="fil-PH"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A    </a:t>
            </a:r>
            <a:r>
              <a:rPr lang="fil-PH" sz="1600" dirty="0">
                <a:solidFill>
                  <a:schemeClr val="tx1"/>
                </a:solidFill>
              </a:rPr>
              <a:t>Car seat na paatras ang harap</a:t>
            </a:r>
            <a:endParaRPr lang="fil-PH"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B    </a:t>
            </a:r>
            <a:r>
              <a:rPr lang="fil-PH" sz="1600" dirty="0">
                <a:solidFill>
                  <a:schemeClr val="tx1"/>
                </a:solidFill>
              </a:rPr>
              <a:t>Playpen na naka-lock ang gilid</a:t>
            </a:r>
            <a:endParaRPr lang="fil-PH"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7304F">
                <a:alpha val="14000"/>
              </a:srgbClr>
            </a:outerShdw>
          </a:effectLst>
        </p:spPr>
        <p:txBody>
          <a:bodyPr wrap="square" lIns="228600" tIns="0" rIns="152400" bIns="0" rtlCol="0" anchor="ctr"/>
          <a:lstStyle/>
          <a:p>
            <a:pPr marL="0" indent="0" algn="l">
              <a:buNone/>
            </a:pPr>
            <a:r>
              <a:rPr lang="fil-PH" sz="2000" b="1" dirty="0">
                <a:solidFill>
                  <a:schemeClr val="accent1"/>
                </a:solidFill>
              </a:rPr>
              <a:t>C    </a:t>
            </a:r>
            <a:r>
              <a:rPr lang="fil-PH" sz="1600" dirty="0">
                <a:solidFill>
                  <a:schemeClr val="tx1"/>
                </a:solidFill>
              </a:rPr>
              <a:t>Baby walker</a:t>
            </a:r>
            <a:endParaRPr lang="fil-PH"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Tama!</a:t>
            </a:r>
            <a:endParaRPr lang="fil-PH"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Baby walker</a:t>
            </a:r>
            <a:endParaRPr lang="fil-PH"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fil-PH" sz="1800" dirty="0">
                <a:solidFill>
                  <a:schemeClr val="tx2"/>
                </a:solidFill>
              </a:rPr>
              <a:t>Napakadelikado ng baby walker. Hindi ito kailangan ng bata para matutong maglakad, at maraming sanggol ang nasasaktan sa pagkahulog.</a:t>
            </a:r>
            <a:endParaRPr lang="fil-PH"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Tapusin ›</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fil-PH" sz="3000" b="1" dirty="0">
                <a:solidFill>
                  <a:schemeClr val="tx1"/>
                </a:solidFill>
              </a:rPr>
              <a:t>Hindi pa tama</a:t>
            </a:r>
            <a:endParaRPr lang="fil-PH"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fil-PH" sz="1400" b="1" dirty="0">
                <a:solidFill>
                  <a:schemeClr val="accent2"/>
                </a:solidFill>
              </a:rPr>
              <a:t>Hint</a:t>
            </a:r>
            <a:endParaRPr lang="fil-PH"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fil-PH" sz="2200" b="1" dirty="0">
                <a:solidFill>
                  <a:schemeClr val="tx1"/>
                </a:solidFill>
                <a:latin typeface="+mj-lt" pitchFamily="34" charset="0"/>
                <a:ea typeface="+mj-lt" pitchFamily="34" charset="-122"/>
                <a:cs typeface="+mj-lt" pitchFamily="34" charset="-120"/>
              </a:rPr>
              <a:t>Ang isa sa mga ito ay nauugnay sa maraming pinsala mula sa pagkahulog kada taon.</a:t>
            </a:r>
            <a:endParaRPr lang="fil-PH"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fil-PH" sz="1400" b="1" dirty="0">
                <a:solidFill>
                  <a:schemeClr val="bg1"/>
                </a:solidFill>
              </a:rPr>
              <a:t>Subukan muli</a:t>
            </a:r>
            <a:endParaRPr lang="fil-PH"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fil-PH" sz="1400" b="1" dirty="0">
                <a:solidFill>
                  <a:schemeClr val="tx1"/>
                </a:solidFill>
              </a:rPr>
              <a:t>Menu</a:t>
            </a:r>
            <a:endParaRPr lang="fil-PH"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Family photo" descr="Two parents swinging a child between them in a field at sunset"/>
          <p:cNvPicPr>
            <a:picLocks noChangeAspect="1"/>
          </p:cNvPicPr>
          <p:nvPr/>
        </p:nvPicPr>
        <p:blipFill>
          <a:blip r:embed="rId3"/>
          <a:stretch>
            <a:fillRect/>
          </a:stretch>
        </p:blipFill>
        <p:spPr>
          <a:xfrm>
            <a:off x="4937760" y="0"/>
            <a:ext cx="4206240" cy="5143500"/>
          </a:xfrm>
          <a:prstGeom prst="rect">
            <a:avLst/>
          </a:prstGeom>
        </p:spPr>
      </p:pic>
      <p:sp>
        <p:nvSpPr>
          <p:cNvPr id="3" name="Eyebrow"/>
          <p:cNvSpPr txBox="1"/>
          <p:nvPr/>
        </p:nvSpPr>
        <p:spPr>
          <a:xfrm>
            <a:off x="548640" y="640080"/>
            <a:ext cx="4023360" cy="320040"/>
          </a:xfrm>
          <a:prstGeom prst="rect">
            <a:avLst/>
          </a:prstGeom>
          <a:noFill/>
          <a:ln/>
        </p:spPr>
        <p:txBody>
          <a:bodyPr wrap="square" lIns="0" tIns="0" rIns="0" bIns="0" rtlCol="0" anchor="ctr"/>
          <a:lstStyle/>
          <a:p>
            <a:pPr marL="0" indent="0">
              <a:buNone/>
            </a:pPr>
            <a:r>
              <a:rPr lang="fil-PH" sz="1400" b="1" kern="0" spc="400" dirty="0">
                <a:solidFill>
                  <a:schemeClr val="accent3"/>
                </a:solidFill>
              </a:rPr>
              <a:t>MAHUSAY!</a:t>
            </a:r>
            <a:endParaRPr lang="fil-PH" sz="1400" dirty="0"/>
          </a:p>
        </p:txBody>
      </p:sp>
      <p:sp>
        <p:nvSpPr>
          <p:cNvPr id="4" name="Closing title"/>
          <p:cNvSpPr txBox="1"/>
          <p:nvPr/>
        </p:nvSpPr>
        <p:spPr>
          <a:xfrm>
            <a:off x="548640" y="1005840"/>
            <a:ext cx="4114800" cy="1280160"/>
          </a:xfrm>
          <a:prstGeom prst="rect">
            <a:avLst/>
          </a:prstGeom>
          <a:noFill/>
          <a:ln/>
        </p:spPr>
        <p:txBody>
          <a:bodyPr wrap="square" lIns="0" tIns="0" rIns="0" bIns="0" rtlCol="0" anchor="t"/>
          <a:lstStyle/>
          <a:p>
            <a:pPr marL="0" indent="0">
              <a:buNone/>
            </a:pPr>
            <a:r>
              <a:rPr lang="fil-PH" sz="3000" b="1" dirty="0">
                <a:solidFill>
                  <a:schemeClr val="bg1"/>
                </a:solidFill>
                <a:latin typeface="+mj-lt" pitchFamily="34" charset="0"/>
                <a:ea typeface="+mj-lt" pitchFamily="34" charset="-122"/>
                <a:cs typeface="+mj-lt" pitchFamily="34" charset="-120"/>
              </a:rPr>
              <a:t>Ligtas na tahanan, mausisang bata</a:t>
            </a:r>
            <a:endParaRPr lang="fil-PH" sz="3000" dirty="0"/>
          </a:p>
        </p:txBody>
      </p:sp>
      <p:sp>
        <p:nvSpPr>
          <p:cNvPr id="5" name="Takeaways"/>
          <p:cNvSpPr txBox="1"/>
          <p:nvPr/>
        </p:nvSpPr>
        <p:spPr>
          <a:xfrm>
            <a:off x="548640" y="2423160"/>
            <a:ext cx="4114800" cy="1554480"/>
          </a:xfrm>
          <a:prstGeom prst="rect">
            <a:avLst/>
          </a:prstGeom>
          <a:noFill/>
          <a:ln/>
        </p:spPr>
        <p:txBody>
          <a:bodyPr wrap="square" lIns="0" tIns="0" rIns="0" bIns="0" rtlCol="0" anchor="t"/>
          <a:lstStyle/>
          <a:p>
            <a:pPr marL="177800" indent="-177800">
              <a:spcAft>
                <a:spcPts val="800"/>
              </a:spcAft>
              <a:buSzPct val="100000"/>
              <a:buChar char="•"/>
            </a:pPr>
            <a:r>
              <a:rPr lang="fil-PH" sz="1600" dirty="0">
                <a:solidFill>
                  <a:schemeClr val="bg1"/>
                </a:solidFill>
              </a:rPr>
              <a:t>Nakatihaya sa kuna o bassinet</a:t>
            </a:r>
            <a:endParaRPr lang="fil-PH" sz="1600" dirty="0"/>
          </a:p>
          <a:p>
            <a:pPr marL="177800" indent="-177800">
              <a:spcAft>
                <a:spcPts val="800"/>
              </a:spcAft>
              <a:buSzPct val="100000"/>
              <a:buChar char="•"/>
            </a:pPr>
            <a:r>
              <a:rPr lang="fil-PH" sz="1600" dirty="0">
                <a:solidFill>
                  <a:schemeClr val="bg1"/>
                </a:solidFill>
              </a:rPr>
              <a:t>May hawak sa sanggol, lalo na malapit sa tubig at mataas na lugar</a:t>
            </a:r>
            <a:endParaRPr lang="fil-PH" sz="1600" dirty="0"/>
          </a:p>
          <a:p>
            <a:pPr marL="177800" indent="-177800">
              <a:spcAft>
                <a:spcPts val="800"/>
              </a:spcAft>
              <a:buSzPct val="100000"/>
              <a:buChar char="•"/>
            </a:pPr>
            <a:r>
              <a:rPr lang="fil-PH" sz="1600" dirty="0">
                <a:solidFill>
                  <a:schemeClr val="bg1"/>
                </a:solidFill>
              </a:rPr>
              <a:t>Ilayo ang maliliit na bagay, tali at lason</a:t>
            </a:r>
            <a:endParaRPr lang="fil-PH" sz="1600" dirty="0"/>
          </a:p>
          <a:p>
            <a:pPr marL="177800" indent="-177800">
              <a:spcAft>
                <a:spcPts val="800"/>
              </a:spcAft>
              <a:buSzPct val="100000"/>
              <a:buChar char="•"/>
            </a:pPr>
            <a:r>
              <a:rPr lang="fil-PH" sz="1600" dirty="0">
                <a:solidFill>
                  <a:schemeClr val="bg1"/>
                </a:solidFill>
              </a:rPr>
              <a:t>Car seat na paatras, at walang baby walker</a:t>
            </a:r>
            <a:endParaRPr lang="fil-PH" sz="1600" dirty="0"/>
          </a:p>
        </p:txBody>
      </p:sp>
      <p:sp>
        <p:nvSpPr>
          <p:cNvPr id="6" name="Menu button">
            <a:hlinkClick r:id="rId4" action="ppaction://hlinksldjump" tooltip="Open the topic menu"/>
          </p:cNvPr>
          <p:cNvSpPr/>
          <p:nvPr/>
        </p:nvSpPr>
        <p:spPr>
          <a:xfrm>
            <a:off x="548640" y="416052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fil-PH" sz="1400" b="1" dirty="0">
                <a:solidFill>
                  <a:schemeClr val="tx1"/>
                </a:solidFill>
              </a:rPr>
              <a:t>Bumalik sa menu</a:t>
            </a:r>
            <a:endParaRPr lang="fil-PH" sz="1400" dirty="0"/>
          </a:p>
        </p:txBody>
      </p:sp>
      <p:sp>
        <p:nvSpPr>
          <p:cNvPr id="7" name="Retake button">
            <a:hlinkClick r:id="rId5" action="ppaction://hlinksldjump" tooltip="Restart the quiz"/>
          </p:cNvPr>
          <p:cNvSpPr/>
          <p:nvPr/>
        </p:nvSpPr>
        <p:spPr>
          <a:xfrm>
            <a:off x="2560320" y="416052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fil-PH" sz="1400" b="1" dirty="0">
                <a:solidFill>
                  <a:schemeClr val="bg1"/>
                </a:solidFill>
              </a:rPr>
              <a:t>Ulitin ang quiz</a:t>
            </a:r>
            <a:endParaRPr lang="fil-PH" sz="1400" dirty="0"/>
          </a:p>
        </p:txBody>
      </p:sp>
    </p:spTree>
  </p:cSld>
  <p:clrMapOvr>
    <a:masterClrMapping/>
  </p:clrMapOvr>
</p:sld>
</file>

<file path=ppt/theme/theme1.xml><?xml version="1.0" encoding="utf-8"?>
<a:theme xmlns:a="http://schemas.openxmlformats.org/drawingml/2006/main" name="Safe Harbor">
  <a:themeElements>
    <a:clrScheme name="Safe Harbor">
      <a:dk1>
        <a:srgbClr val="17304F"/>
      </a:dk1>
      <a:lt1>
        <a:srgbClr val="FFFFFF"/>
      </a:lt1>
      <a:dk2>
        <a:srgbClr val="2F4B6E"/>
      </a:dk2>
      <a:lt2>
        <a:srgbClr val="F1F5F9"/>
      </a:lt2>
      <a:accent1>
        <a:srgbClr val="D9661B"/>
      </a:accent1>
      <a:accent2>
        <a:srgbClr val="C93A3A"/>
      </a:accent2>
      <a:accent3>
        <a:srgbClr val="F6B93B"/>
      </a:accent3>
      <a:accent4>
        <a:srgbClr val="237F73"/>
      </a:accent4>
      <a:accent5>
        <a:srgbClr val="6556B8"/>
      </a:accent5>
      <a:accent6>
        <a:srgbClr val="3B78C4"/>
      </a:accent6>
      <a:hlink>
        <a:srgbClr val="3B78C4"/>
      </a:hlink>
      <a:folHlink>
        <a:srgbClr val="6556B8"/>
      </a:folHlink>
    </a:clrScheme>
    <a:fontScheme name="Safe Harb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1743</Words>
  <Application>Microsoft Office PowerPoint</Application>
  <PresentationFormat>On-screen Show (16:9)</PresentationFormat>
  <Paragraphs>285</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Safe Harbor</vt:lpstr>
      <vt:lpstr>PowerPoint Presentation</vt:lpstr>
      <vt:lpstr>Pick a topic to explore</vt:lpstr>
      <vt:lpstr>Keep small objects out of reach</vt:lpstr>
      <vt:lpstr>Safe sleep for every nap</vt:lpstr>
      <vt:lpstr>Hands on, always</vt:lpstr>
      <vt:lpstr>Childproof the home</vt:lpstr>
      <vt:lpstr>Water safety and bath time</vt:lpstr>
      <vt:lpstr>A safe crib</vt:lpstr>
      <vt:lpstr>Highchair and infant swing</vt:lpstr>
      <vt:lpstr>Car seat and baby gear</vt:lpstr>
      <vt:lpstr>Clothes and pacifiers</vt:lpstr>
      <vt:lpstr>Active and protected</vt:lpstr>
      <vt:lpstr>Child protection strategies</vt:lpstr>
      <vt:lpstr>PowerPoint Presentation</vt:lpstr>
      <vt:lpstr>Question 1 of 4</vt:lpstr>
      <vt:lpstr>Correct!</vt:lpstr>
      <vt:lpstr>Not quite</vt:lpstr>
      <vt:lpstr>Question 2 of 4</vt:lpstr>
      <vt:lpstr>Correct!</vt:lpstr>
      <vt:lpstr>Not quite</vt:lpstr>
      <vt:lpstr>Question 3 of 4</vt:lpstr>
      <vt:lpstr>Correct!</vt:lpstr>
      <vt:lpstr>Not quite</vt:lpstr>
      <vt:lpstr>Question 4 of 4</vt:lpstr>
      <vt:lpstr>Correct!</vt:lpstr>
      <vt:lpstr>Not quite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Gabay sa Kaligtasan</dc:title>
  <dc:subject>Interactive safety guide based on REdbook notes</dc:subject>
  <dc:creator>Justine Miguel F. Aguilos</dc:creator>
  <cp:lastModifiedBy>Jm Aguilos</cp:lastModifiedBy>
  <cp:revision>2</cp:revision>
  <dcterms:created xsi:type="dcterms:W3CDTF">2026-10-10T14:13:06Z</dcterms:created>
  <dcterms:modified xsi:type="dcterms:W3CDTF">2026-10-22T10:53:48Z</dcterms:modified>
</cp:coreProperties>
</file>