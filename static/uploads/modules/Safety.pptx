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51741179-2A61-C378-86C3-8816DF5F8BBC}">
          <p14:sldIdLst>
            <p14:sldId id="256"/>
            <p14:sldId id="257"/>
          </p14:sldIdLst>
        </p14:section>
        <p14:section name="Topics" id="{88C4186C-37ED-6E40-7804-73C97BC2FBAE}">
          <p14:sldIdLst>
            <p14:sldId id="258"/>
            <p14:sldId id="259"/>
            <p14:sldId id="260"/>
            <p14:sldId id="261"/>
            <p14:sldId id="262"/>
            <p14:sldId id="263"/>
            <p14:sldId id="264"/>
            <p14:sldId id="265"/>
            <p14:sldId id="266"/>
            <p14:sldId id="267"/>
            <p14:sldId id="268"/>
          </p14:sldIdLst>
        </p14:section>
        <p14:section name="Quiz" id="{C2574D11-0609-AB21-9EBF-0C1F2D70E720}">
          <p14:sldIdLst>
            <p14:sldId id="269"/>
            <p14:sldId id="270"/>
            <p14:sldId id="271"/>
            <p14:sldId id="272"/>
            <p14:sldId id="273"/>
            <p14:sldId id="274"/>
            <p14:sldId id="275"/>
            <p14:sldId id="276"/>
            <p14:sldId id="277"/>
            <p14:sldId id="278"/>
            <p14:sldId id="279"/>
            <p14:sldId id="280"/>
            <p14:sldId id="281"/>
          </p14:sldIdLst>
        </p14:section>
        <p14:section name="Wrap-up" id="{F5106F84-9BE9-F73F-EBCD-BE96228A6AA9}">
          <p14:sldIdLst>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4392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deck in Slide Show mode so the cards, buttons and quiz answers are clickable. Based on the Safety text you pasted plus the Safety section of the REdbook notes.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text: if a window is open, do not put low tables, couches, chairs or baby gates in front of it, because a child could climb up and fall. Install window guards on windows that open from the bottom. The pasted text lists a US poison hotline; use your local poison center number.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B. Always place baby on their back. Side or stomach sleeping can cause suffocating or choking.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C. Babies and young children can drown in just 1 to 2 inches of water, so never leave them alone near water.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A. Babies ride rear-facing in the back seat until at least 2 years old, or the height or weight limit of the seat.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C. Baby walkers are very dangerous. Children do not need them to learn to walk, and many babies are hurt in falls.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Source: Safety text provided, plus the Safety section of the REdbook notes.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3" name="Text 0"/>
          <p:cNvSpPr/>
          <p:nvPr/>
        </p:nvSpPr>
        <p:spPr>
          <a:xfrm>
            <a:off x="457200" y="4663440"/>
            <a:ext cx="1737360" cy="329184"/>
          </a:xfrm>
          <a:prstGeom prst="rect">
            <a:avLst/>
          </a:prstGeom>
          <a:noFill/>
          <a:ln/>
        </p:spPr>
        <p:txBody>
          <a:bodyPr wrap="square" lIns="0" tIns="0" rIns="0" bIns="0" rtlCol="0" anchor="ctr"/>
          <a:lstStyle/>
          <a:p>
            <a:pPr marL="0" indent="0">
              <a:buNone/>
            </a:pPr>
            <a:r>
              <a:rPr lang="en-US" sz="1000" dirty="0">
                <a:solidFill>
                  <a:schemeClr val="tx2"/>
                </a:solidFill>
              </a:rPr>
              <a:t>Safety Guide</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slide" Target="slide14.xml"/><Relationship Id="rId4" Type="http://schemas.openxmlformats.org/officeDocument/2006/relationships/slide" Target="slide2.xml"/></Relationships>
</file>

<file path=ppt/slides/_rels/slide2.xml.rels><?xml version="1.0" encoding="UTF-8" standalone="yes"?>
<Relationships xmlns="http://schemas.openxmlformats.org/package/2006/relationships"><Relationship Id="rId8" Type="http://schemas.openxmlformats.org/officeDocument/2006/relationships/slide" Target="slide5.xml"/><Relationship Id="rId13" Type="http://schemas.openxmlformats.org/officeDocument/2006/relationships/image" Target="../media/image6.png"/><Relationship Id="rId3" Type="http://schemas.openxmlformats.org/officeDocument/2006/relationships/slide" Target="slide14.xml"/><Relationship Id="rId7" Type="http://schemas.openxmlformats.org/officeDocument/2006/relationships/image" Target="../media/image3.png"/><Relationship Id="rId12" Type="http://schemas.openxmlformats.org/officeDocument/2006/relationships/slide" Target="slide8.xm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slide" Target="slide4.xml"/><Relationship Id="rId11" Type="http://schemas.openxmlformats.org/officeDocument/2006/relationships/image" Target="../media/image5.png"/><Relationship Id="rId5" Type="http://schemas.openxmlformats.org/officeDocument/2006/relationships/image" Target="../media/image2.png"/><Relationship Id="rId15" Type="http://schemas.openxmlformats.org/officeDocument/2006/relationships/image" Target="../media/image7.png"/><Relationship Id="rId10" Type="http://schemas.openxmlformats.org/officeDocument/2006/relationships/slide" Target="slide7.xml"/><Relationship Id="rId4" Type="http://schemas.openxmlformats.org/officeDocument/2006/relationships/slide" Target="slide3.xml"/><Relationship Id="rId9" Type="http://schemas.openxmlformats.org/officeDocument/2006/relationships/image" Target="../media/image4.png"/><Relationship Id="rId14" Type="http://schemas.openxmlformats.org/officeDocument/2006/relationships/slide" Target="slide12.xml"/></Relationships>
</file>

<file path=ppt/slides/_rels/slide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slide" Target="slide4.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slide" Target="slide3.xml"/><Relationship Id="rId3" Type="http://schemas.openxmlformats.org/officeDocument/2006/relationships/slide" Target="slide2.xml"/><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slide" Target="slide5.xml"/></Relationships>
</file>

<file path=ppt/slides/_rels/slide5.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6.xm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slide" Target="slide4.xml"/><Relationship Id="rId5" Type="http://schemas.openxmlformats.org/officeDocument/2006/relationships/image" Target="../media/image10.jp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slide" Target="slide2.xml"/><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slide" Target="slide7.xml"/><Relationship Id="rId5" Type="http://schemas.openxmlformats.org/officeDocument/2006/relationships/image" Target="../media/image12.png"/><Relationship Id="rId10" Type="http://schemas.openxmlformats.org/officeDocument/2006/relationships/slide" Target="slide5.xml"/><Relationship Id="rId4" Type="http://schemas.openxmlformats.org/officeDocument/2006/relationships/image" Target="../media/image11.png"/><Relationship Id="rId9"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slide" Target="slide8.xml"/><Relationship Id="rId5" Type="http://schemas.openxmlformats.org/officeDocument/2006/relationships/slide" Target="slide6.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slide" Target="slide9.xml"/><Relationship Id="rId4" Type="http://schemas.openxmlformats.org/officeDocument/2006/relationships/slide" Target="slide7.xml"/></Relationships>
</file>

<file path=ppt/slides/_rels/slide9.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10.xml"/><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slide" Target="slide8.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slide" Target="slide2.xml"/><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slide" Target="slide11.xml"/></Relationships>
</file>

<file path=ppt/slides/_rels/slide11.xml.rels><?xml version="1.0" encoding="UTF-8" standalone="yes"?>
<Relationships xmlns="http://schemas.openxmlformats.org/package/2006/relationships"><Relationship Id="rId8" Type="http://schemas.openxmlformats.org/officeDocument/2006/relationships/slide" Target="slide12.xml"/><Relationship Id="rId3" Type="http://schemas.openxmlformats.org/officeDocument/2006/relationships/slide" Target="slide2.xml"/><Relationship Id="rId7" Type="http://schemas.openxmlformats.org/officeDocument/2006/relationships/slide" Target="slide10.xml"/><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13.xml"/><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slide" Target="slide11.xml"/><Relationship Id="rId5" Type="http://schemas.openxmlformats.org/officeDocument/2006/relationships/image" Target="../media/image24.png"/><Relationship Id="rId4" Type="http://schemas.openxmlformats.org/officeDocument/2006/relationships/image" Target="../media/image23.jpg"/></Relationships>
</file>

<file path=ppt/slides/_rels/slide13.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slide" Target="slide14.xml"/><Relationship Id="rId3" Type="http://schemas.openxmlformats.org/officeDocument/2006/relationships/slide" Target="slide2.xml"/><Relationship Id="rId7" Type="http://schemas.openxmlformats.org/officeDocument/2006/relationships/image" Target="../media/image8.png"/><Relationship Id="rId12" Type="http://schemas.openxmlformats.org/officeDocument/2006/relationships/slide" Target="slide12.xml"/><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4.png"/><Relationship Id="rId11" Type="http://schemas.openxmlformats.org/officeDocument/2006/relationships/image" Target="../media/image24.png"/><Relationship Id="rId5" Type="http://schemas.openxmlformats.org/officeDocument/2006/relationships/image" Target="../media/image26.png"/><Relationship Id="rId10" Type="http://schemas.openxmlformats.org/officeDocument/2006/relationships/image" Target="../media/image28.png"/><Relationship Id="rId4" Type="http://schemas.openxmlformats.org/officeDocument/2006/relationships/image" Target="../media/image25.png"/><Relationship Id="rId9"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slide" Target="slide2.xml"/><Relationship Id="rId4" Type="http://schemas.openxmlformats.org/officeDocument/2006/relationships/slide" Target="slide15.xml"/></Relationships>
</file>

<file path=ppt/slides/_rels/slide1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slide" Target="slide16.xml"/><Relationship Id="rId4" Type="http://schemas.openxmlformats.org/officeDocument/2006/relationships/slide" Target="slide17.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slide" Target="slide2.xml"/><Relationship Id="rId4" Type="http://schemas.openxmlformats.org/officeDocument/2006/relationships/slide" Target="slide18.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slide" Target="slide2.xml"/><Relationship Id="rId4" Type="http://schemas.openxmlformats.org/officeDocument/2006/relationships/slide" Target="slide15.xml"/></Relationships>
</file>

<file path=ppt/slides/_rels/slide1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slide" Target="slide19.xml"/><Relationship Id="rId4" Type="http://schemas.openxmlformats.org/officeDocument/2006/relationships/slide" Target="slide20.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slide" Target="slide2.xml"/><Relationship Id="rId4" Type="http://schemas.openxmlformats.org/officeDocument/2006/relationships/slide" Target="slide21.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openxmlformats.org/officeDocument/2006/relationships/slide" Target="slide2.xml"/><Relationship Id="rId4" Type="http://schemas.openxmlformats.org/officeDocument/2006/relationships/slide" Target="slide18.xml"/></Relationships>
</file>

<file path=ppt/slides/_rels/slide2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1.xml"/><Relationship Id="rId1" Type="http://schemas.openxmlformats.org/officeDocument/2006/relationships/slideLayout" Target="../slideLayouts/slideLayout3.xml"/><Relationship Id="rId5" Type="http://schemas.openxmlformats.org/officeDocument/2006/relationships/slide" Target="slide23.xml"/><Relationship Id="rId4" Type="http://schemas.openxmlformats.org/officeDocument/2006/relationships/slide" Target="slide22.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slide" Target="slide2.xml"/><Relationship Id="rId4" Type="http://schemas.openxmlformats.org/officeDocument/2006/relationships/slide" Target="slide24.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3.xml"/><Relationship Id="rId5" Type="http://schemas.openxmlformats.org/officeDocument/2006/relationships/slide" Target="slide2.xml"/><Relationship Id="rId4" Type="http://schemas.openxmlformats.org/officeDocument/2006/relationships/slide" Target="slide21.xml"/></Relationships>
</file>

<file path=ppt/slides/_rels/slide2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4.xml"/><Relationship Id="rId1" Type="http://schemas.openxmlformats.org/officeDocument/2006/relationships/slideLayout" Target="../slideLayouts/slideLayout3.xml"/><Relationship Id="rId5" Type="http://schemas.openxmlformats.org/officeDocument/2006/relationships/slide" Target="slide25.xml"/><Relationship Id="rId4" Type="http://schemas.openxmlformats.org/officeDocument/2006/relationships/slide" Target="slide26.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3.xml"/><Relationship Id="rId5" Type="http://schemas.openxmlformats.org/officeDocument/2006/relationships/slide" Target="slide2.xml"/><Relationship Id="rId4" Type="http://schemas.openxmlformats.org/officeDocument/2006/relationships/slide" Target="slide27.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3.xml"/><Relationship Id="rId5" Type="http://schemas.openxmlformats.org/officeDocument/2006/relationships/slide" Target="slide2.xml"/><Relationship Id="rId4" Type="http://schemas.openxmlformats.org/officeDocument/2006/relationships/slide" Target="slide24.xml"/></Relationships>
</file>

<file path=ppt/slides/_rels/slide27.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slide" Target="slide15.xml"/><Relationship Id="rId4" Type="http://schemas.openxmlformats.org/officeDocument/2006/relationships/slide" Target="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itle photo" descr="A smiling boy holding up wooden blocks that spell SAFE"/>
          <p:cNvPicPr>
            <a:picLocks noChangeAspect="1"/>
          </p:cNvPicPr>
          <p:nvPr/>
        </p:nvPicPr>
        <p:blipFill>
          <a:blip r:embed="rId3"/>
          <a:stretch>
            <a:fillRect/>
          </a:stretch>
        </p:blipFill>
        <p:spPr>
          <a:xfrm>
            <a:off x="4023360" y="0"/>
            <a:ext cx="5120640" cy="5143500"/>
          </a:xfrm>
          <a:prstGeom prst="rect">
            <a:avLst/>
          </a:prstGeom>
        </p:spPr>
      </p:pic>
      <p:sp>
        <p:nvSpPr>
          <p:cNvPr id="3" name="Eyebrow"/>
          <p:cNvSpPr txBox="1"/>
          <p:nvPr/>
        </p:nvSpPr>
        <p:spPr>
          <a:xfrm>
            <a:off x="548640" y="822960"/>
            <a:ext cx="3291840" cy="320040"/>
          </a:xfrm>
          <a:prstGeom prst="rect">
            <a:avLst/>
          </a:prstGeom>
          <a:noFill/>
          <a:ln/>
        </p:spPr>
        <p:txBody>
          <a:bodyPr wrap="square" lIns="0" tIns="0" rIns="0" bIns="0" rtlCol="0" anchor="ctr"/>
          <a:lstStyle/>
          <a:p>
            <a:pPr marL="0" indent="0">
              <a:buNone/>
            </a:pPr>
            <a:r>
              <a:rPr lang="en-US" sz="1400" b="1" kern="0" spc="400" dirty="0">
                <a:solidFill>
                  <a:schemeClr val="accent3"/>
                </a:solidFill>
              </a:rPr>
              <a:t>SAFETY GUIDE</a:t>
            </a:r>
            <a:endParaRPr lang="en-US" sz="1400" dirty="0"/>
          </a:p>
        </p:txBody>
      </p:sp>
      <p:sp>
        <p:nvSpPr>
          <p:cNvPr id="4" name="Deck title"/>
          <p:cNvSpPr txBox="1"/>
          <p:nvPr/>
        </p:nvSpPr>
        <p:spPr>
          <a:xfrm>
            <a:off x="548640" y="1234440"/>
            <a:ext cx="3291840" cy="2103120"/>
          </a:xfrm>
          <a:prstGeom prst="rect">
            <a:avLst/>
          </a:prstGeom>
          <a:noFill/>
          <a:ln/>
        </p:spPr>
        <p:txBody>
          <a:bodyPr wrap="square" lIns="0" tIns="0" rIns="0" bIns="0" rtlCol="0" anchor="t"/>
          <a:lstStyle/>
          <a:p>
            <a:pPr marL="0" indent="0">
              <a:buNone/>
            </a:pPr>
            <a:r>
              <a:rPr lang="en-US" sz="3000" b="1" dirty="0">
                <a:solidFill>
                  <a:schemeClr val="bg1"/>
                </a:solidFill>
                <a:latin typeface="+mj-lt" pitchFamily="34" charset="0"/>
                <a:ea typeface="+mj-lt" pitchFamily="34" charset="-122"/>
                <a:cs typeface="+mj-lt" pitchFamily="34" charset="-120"/>
              </a:rPr>
              <a:t>Keeping babies and children safe at home</a:t>
            </a:r>
            <a:endParaRPr lang="en-US" sz="3000" dirty="0"/>
          </a:p>
        </p:txBody>
      </p:sp>
      <p:sp>
        <p:nvSpPr>
          <p:cNvPr id="5" name="Subtitle"/>
          <p:cNvSpPr txBox="1"/>
          <p:nvPr/>
        </p:nvSpPr>
        <p:spPr>
          <a:xfrm>
            <a:off x="548640" y="3429000"/>
            <a:ext cx="3200400" cy="640080"/>
          </a:xfrm>
          <a:prstGeom prst="rect">
            <a:avLst/>
          </a:prstGeom>
          <a:noFill/>
          <a:ln/>
        </p:spPr>
        <p:txBody>
          <a:bodyPr wrap="square" lIns="0" tIns="0" rIns="0" bIns="0" rtlCol="0" anchor="t"/>
          <a:lstStyle/>
          <a:p>
            <a:pPr marL="0" indent="0">
              <a:buNone/>
            </a:pPr>
            <a:r>
              <a:rPr lang="en-US" sz="1600">
                <a:solidFill>
                  <a:schemeClr val="bg1"/>
                </a:solidFill>
              </a:rPr>
              <a:t>A guide</a:t>
            </a:r>
            <a:r>
              <a:rPr lang="en-US" sz="1600" dirty="0">
                <a:solidFill>
                  <a:schemeClr val="bg1"/>
                </a:solidFill>
              </a:rPr>
              <a:t>. Tap a card to explore, then take the quiz.</a:t>
            </a:r>
            <a:endParaRPr lang="en-US" sz="1600" dirty="0"/>
          </a:p>
        </p:txBody>
      </p:sp>
      <p:sp>
        <p:nvSpPr>
          <p:cNvPr id="6" name="Start button">
            <a:hlinkClick r:id="rId4" action="ppaction://hlinksldjump" tooltip="Open the topic menu"/>
          </p:cNvPr>
          <p:cNvSpPr/>
          <p:nvPr/>
        </p:nvSpPr>
        <p:spPr>
          <a:xfrm>
            <a:off x="548640" y="4206240"/>
            <a:ext cx="1600200" cy="420624"/>
          </a:xfrm>
          <a:prstGeom prst="roundRect">
            <a:avLst>
              <a:gd name="adj" fmla="val 50000"/>
            </a:avLst>
          </a:prstGeom>
          <a:solidFill>
            <a:schemeClr val="accent3"/>
          </a:solidFill>
          <a:ln/>
        </p:spPr>
        <p:txBody>
          <a:bodyPr wrap="square" lIns="0" tIns="0" rIns="0" bIns="0" rtlCol="0" anchor="ctr"/>
          <a:lstStyle/>
          <a:p>
            <a:pPr marL="0" indent="0" algn="ctr">
              <a:buNone/>
            </a:pPr>
            <a:r>
              <a:rPr lang="en-US" sz="1400" b="1" dirty="0">
                <a:solidFill>
                  <a:schemeClr val="tx1"/>
                </a:solidFill>
              </a:rPr>
              <a:t>Start exploring</a:t>
            </a:r>
            <a:endParaRPr lang="en-US" sz="1400" dirty="0"/>
          </a:p>
        </p:txBody>
      </p:sp>
      <p:sp>
        <p:nvSpPr>
          <p:cNvPr id="7" name="Quiz button">
            <a:hlinkClick r:id="rId5" action="ppaction://hlinksldjump" tooltip="Jump to the quiz"/>
          </p:cNvPr>
          <p:cNvSpPr/>
          <p:nvPr/>
        </p:nvSpPr>
        <p:spPr>
          <a:xfrm>
            <a:off x="2286000" y="4206240"/>
            <a:ext cx="1508760" cy="420624"/>
          </a:xfrm>
          <a:prstGeom prst="roundRect">
            <a:avLst>
              <a:gd name="adj" fmla="val 50000"/>
            </a:avLst>
          </a:prstGeom>
          <a:solidFill>
            <a:schemeClr val="tx2"/>
          </a:solidFill>
          <a:ln/>
        </p:spPr>
        <p:txBody>
          <a:bodyPr wrap="square" lIns="0" tIns="0" rIns="0" bIns="0" rtlCol="0" anchor="ctr"/>
          <a:lstStyle/>
          <a:p>
            <a:pPr marL="0" indent="0" algn="ctr">
              <a:buNone/>
            </a:pPr>
            <a:r>
              <a:rPr lang="en-US" sz="1400" b="1" dirty="0">
                <a:solidFill>
                  <a:schemeClr val="bg1"/>
                </a:solidFill>
              </a:rPr>
              <a:t>Take the quiz</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Pick a topic to explore</a:t>
            </a:r>
            <a:endParaRPr lang="en-US" sz="3000" dirty="0"/>
          </a:p>
        </p:txBody>
      </p:sp>
      <p:sp>
        <p:nvSpPr>
          <p:cNvPr id="3" name="Quiz shortcut">
            <a:hlinkClick r:id="rId3" action="ppaction://hlinksldjump" tooltip="Jump to the quiz"/>
          </p:cNvPr>
          <p:cNvSpPr/>
          <p:nvPr/>
        </p:nvSpPr>
        <p:spPr>
          <a:xfrm>
            <a:off x="6812280" y="365760"/>
            <a:ext cx="1874520" cy="36576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Take the quiz ›</a:t>
            </a:r>
            <a:endParaRPr lang="en-US" sz="1400" dirty="0"/>
          </a:p>
        </p:txBody>
      </p:sp>
      <p:sp>
        <p:nvSpPr>
          <p:cNvPr id="4" name="Menu card Choking">
            <a:hlinkClick r:id="rId4" action="ppaction://hlinksldjump" tooltip="Open Choking"/>
          </p:cNvPr>
          <p:cNvSpPr/>
          <p:nvPr/>
        </p:nvSpPr>
        <p:spPr>
          <a:xfrm>
            <a:off x="457200" y="1188720"/>
            <a:ext cx="2560320" cy="1600200"/>
          </a:xfrm>
          <a:prstGeom prst="roundRect">
            <a:avLst>
              <a:gd name="adj" fmla="val 6857"/>
            </a:avLst>
          </a:prstGeom>
          <a:solidFill>
            <a:schemeClr val="bg1"/>
          </a:solidFill>
          <a:ln/>
          <a:effectLst>
            <a:outerShdw blurRad="101600" dist="25400" dir="5400000" algn="bl" rotWithShape="0">
              <a:srgbClr val="17304F">
                <a:alpha val="14000"/>
              </a:srgbClr>
            </a:outerShdw>
          </a:effectLst>
        </p:spPr>
        <p:txBody>
          <a:bodyPr wrap="square" lIns="177800" tIns="0" rIns="152400" bIns="177800" rtlCol="0" anchor="b"/>
          <a:lstStyle/>
          <a:p>
            <a:pPr marL="0" indent="0" algn="l">
              <a:buNone/>
            </a:pPr>
            <a:r>
              <a:rPr lang="en-US" sz="1800" b="1" dirty="0">
                <a:solidFill>
                  <a:schemeClr val="tx1"/>
                </a:solidFill>
              </a:rPr>
              <a:t>Choking</a:t>
            </a:r>
            <a:endParaRPr lang="en-US" sz="1800" dirty="0"/>
          </a:p>
          <a:p>
            <a:pPr marL="0" indent="0" algn="l">
              <a:buNone/>
            </a:pPr>
            <a:r>
              <a:rPr lang="en-US" sz="1400" dirty="0">
                <a:solidFill>
                  <a:schemeClr val="tx2"/>
                </a:solidFill>
              </a:rPr>
              <a:t>Mealtimes and small objects</a:t>
            </a:r>
            <a:endParaRPr lang="en-US" sz="1800" dirty="0"/>
          </a:p>
        </p:txBody>
      </p:sp>
      <p:sp>
        <p:nvSpPr>
          <p:cNvPr id="5" name="Choking circle">
            <a:hlinkClick r:id="rId4" action="ppaction://hlinksldjump" tooltip="Open Choking"/>
          </p:cNvPr>
          <p:cNvSpPr/>
          <p:nvPr/>
        </p:nvSpPr>
        <p:spPr>
          <a:xfrm>
            <a:off x="640080" y="1371600"/>
            <a:ext cx="594360" cy="594360"/>
          </a:xfrm>
          <a:prstGeom prst="ellipse">
            <a:avLst/>
          </a:prstGeom>
          <a:solidFill>
            <a:schemeClr val="accent1"/>
          </a:solidFill>
          <a:ln w="12700">
            <a:solidFill>
              <a:schemeClr val="accent1"/>
            </a:solidFill>
            <a:prstDash val="solid"/>
          </a:ln>
        </p:spPr>
      </p:sp>
      <p:pic>
        <p:nvPicPr>
          <p:cNvPr id="6" name="Choking glyph" descr="Choking">
            <a:hlinkClick r:id="rId4" action="ppaction://hlinksldjump" tooltip="Open Choking"/>
          </p:cNvPr>
          <p:cNvPicPr>
            <a:picLocks noChangeAspect="1"/>
          </p:cNvPicPr>
          <p:nvPr/>
        </p:nvPicPr>
        <p:blipFill>
          <a:blip r:embed="rId5"/>
          <a:stretch>
            <a:fillRect/>
          </a:stretch>
        </p:blipFill>
        <p:spPr>
          <a:xfrm>
            <a:off x="794614" y="1526134"/>
            <a:ext cx="285293" cy="285293"/>
          </a:xfrm>
          <a:prstGeom prst="rect">
            <a:avLst/>
          </a:prstGeom>
        </p:spPr>
      </p:pic>
      <p:sp>
        <p:nvSpPr>
          <p:cNvPr id="7" name="Menu card Safe sleep">
            <a:hlinkClick r:id="rId6" action="ppaction://hlinksldjump" tooltip="Open Safe sleep"/>
          </p:cNvPr>
          <p:cNvSpPr/>
          <p:nvPr/>
        </p:nvSpPr>
        <p:spPr>
          <a:xfrm>
            <a:off x="3291840" y="1188720"/>
            <a:ext cx="2560320" cy="1600200"/>
          </a:xfrm>
          <a:prstGeom prst="roundRect">
            <a:avLst>
              <a:gd name="adj" fmla="val 6857"/>
            </a:avLst>
          </a:prstGeom>
          <a:solidFill>
            <a:schemeClr val="bg1"/>
          </a:solidFill>
          <a:ln/>
          <a:effectLst>
            <a:outerShdw blurRad="101600" dist="25400" dir="5400000" algn="bl" rotWithShape="0">
              <a:srgbClr val="17304F">
                <a:alpha val="14000"/>
              </a:srgbClr>
            </a:outerShdw>
          </a:effectLst>
        </p:spPr>
        <p:txBody>
          <a:bodyPr wrap="square" lIns="177800" tIns="0" rIns="152400" bIns="177800" rtlCol="0" anchor="b"/>
          <a:lstStyle/>
          <a:p>
            <a:pPr marL="0" indent="0" algn="l">
              <a:buNone/>
            </a:pPr>
            <a:r>
              <a:rPr lang="en-US" sz="1800" b="1" dirty="0">
                <a:solidFill>
                  <a:schemeClr val="tx1"/>
                </a:solidFill>
              </a:rPr>
              <a:t>Safe sleep</a:t>
            </a:r>
            <a:endParaRPr lang="en-US" sz="1800" dirty="0"/>
          </a:p>
          <a:p>
            <a:pPr marL="0" indent="0" algn="l">
              <a:buNone/>
            </a:pPr>
            <a:r>
              <a:rPr lang="en-US" sz="1400" dirty="0">
                <a:solidFill>
                  <a:schemeClr val="tx2"/>
                </a:solidFill>
              </a:rPr>
              <a:t>Back to sleep, every time</a:t>
            </a:r>
            <a:endParaRPr lang="en-US" sz="1800" dirty="0"/>
          </a:p>
        </p:txBody>
      </p:sp>
      <p:sp>
        <p:nvSpPr>
          <p:cNvPr id="8" name="Safe sleep circle">
            <a:hlinkClick r:id="rId6" action="ppaction://hlinksldjump" tooltip="Open Safe sleep"/>
          </p:cNvPr>
          <p:cNvSpPr/>
          <p:nvPr/>
        </p:nvSpPr>
        <p:spPr>
          <a:xfrm>
            <a:off x="3474720" y="1371600"/>
            <a:ext cx="594360" cy="594360"/>
          </a:xfrm>
          <a:prstGeom prst="ellipse">
            <a:avLst/>
          </a:prstGeom>
          <a:solidFill>
            <a:schemeClr val="accent6"/>
          </a:solidFill>
          <a:ln w="12700">
            <a:solidFill>
              <a:schemeClr val="accent6"/>
            </a:solidFill>
            <a:prstDash val="solid"/>
          </a:ln>
        </p:spPr>
      </p:sp>
      <p:pic>
        <p:nvPicPr>
          <p:cNvPr id="9" name="Safe sleep glyph" descr="Safe sleep">
            <a:hlinkClick r:id="rId6" action="ppaction://hlinksldjump" tooltip="Open Safe sleep"/>
          </p:cNvPr>
          <p:cNvPicPr>
            <a:picLocks noChangeAspect="1"/>
          </p:cNvPicPr>
          <p:nvPr/>
        </p:nvPicPr>
        <p:blipFill>
          <a:blip r:embed="rId7"/>
          <a:stretch>
            <a:fillRect/>
          </a:stretch>
        </p:blipFill>
        <p:spPr>
          <a:xfrm>
            <a:off x="3629254" y="1526134"/>
            <a:ext cx="285293" cy="285293"/>
          </a:xfrm>
          <a:prstGeom prst="rect">
            <a:avLst/>
          </a:prstGeom>
        </p:spPr>
      </p:pic>
      <p:sp>
        <p:nvSpPr>
          <p:cNvPr id="10" name="Menu card Around the home">
            <a:hlinkClick r:id="rId8" action="ppaction://hlinksldjump" tooltip="Open Around the home"/>
          </p:cNvPr>
          <p:cNvSpPr/>
          <p:nvPr/>
        </p:nvSpPr>
        <p:spPr>
          <a:xfrm>
            <a:off x="6126480" y="1188720"/>
            <a:ext cx="2560320" cy="1600200"/>
          </a:xfrm>
          <a:prstGeom prst="roundRect">
            <a:avLst>
              <a:gd name="adj" fmla="val 6857"/>
            </a:avLst>
          </a:prstGeom>
          <a:solidFill>
            <a:schemeClr val="bg1"/>
          </a:solidFill>
          <a:ln/>
          <a:effectLst>
            <a:outerShdw blurRad="101600" dist="25400" dir="5400000" algn="bl" rotWithShape="0">
              <a:srgbClr val="17304F">
                <a:alpha val="14000"/>
              </a:srgbClr>
            </a:outerShdw>
          </a:effectLst>
        </p:spPr>
        <p:txBody>
          <a:bodyPr wrap="square" lIns="177800" tIns="0" rIns="152400" bIns="177800" rtlCol="0" anchor="b"/>
          <a:lstStyle/>
          <a:p>
            <a:pPr marL="0" indent="0" algn="l">
              <a:buNone/>
            </a:pPr>
            <a:r>
              <a:rPr lang="en-US" sz="1800" b="1" dirty="0">
                <a:solidFill>
                  <a:schemeClr val="tx1"/>
                </a:solidFill>
              </a:rPr>
              <a:t>Around the home</a:t>
            </a:r>
            <a:endParaRPr lang="en-US" sz="1800" dirty="0"/>
          </a:p>
          <a:p>
            <a:pPr marL="0" indent="0" algn="l">
              <a:buNone/>
            </a:pPr>
            <a:r>
              <a:rPr lang="en-US" sz="1400" dirty="0">
                <a:solidFill>
                  <a:schemeClr val="tx2"/>
                </a:solidFill>
              </a:rPr>
              <a:t>Hands on, locks, gates, windows</a:t>
            </a:r>
            <a:endParaRPr lang="en-US" sz="1800" dirty="0"/>
          </a:p>
        </p:txBody>
      </p:sp>
      <p:sp>
        <p:nvSpPr>
          <p:cNvPr id="11" name="Around the home circle">
            <a:hlinkClick r:id="rId8" action="ppaction://hlinksldjump" tooltip="Open Around the home"/>
          </p:cNvPr>
          <p:cNvSpPr/>
          <p:nvPr/>
        </p:nvSpPr>
        <p:spPr>
          <a:xfrm>
            <a:off x="6309360" y="1371600"/>
            <a:ext cx="594360" cy="594360"/>
          </a:xfrm>
          <a:prstGeom prst="ellipse">
            <a:avLst/>
          </a:prstGeom>
          <a:solidFill>
            <a:schemeClr val="accent4"/>
          </a:solidFill>
          <a:ln w="12700">
            <a:solidFill>
              <a:schemeClr val="accent4"/>
            </a:solidFill>
            <a:prstDash val="solid"/>
          </a:ln>
        </p:spPr>
      </p:sp>
      <p:pic>
        <p:nvPicPr>
          <p:cNvPr id="12" name="Around the home glyph" descr="Around the home">
            <a:hlinkClick r:id="rId8" action="ppaction://hlinksldjump" tooltip="Open Around the home"/>
          </p:cNvPr>
          <p:cNvPicPr>
            <a:picLocks noChangeAspect="1"/>
          </p:cNvPicPr>
          <p:nvPr/>
        </p:nvPicPr>
        <p:blipFill>
          <a:blip r:embed="rId9"/>
          <a:stretch>
            <a:fillRect/>
          </a:stretch>
        </p:blipFill>
        <p:spPr>
          <a:xfrm>
            <a:off x="6463894" y="1526134"/>
            <a:ext cx="285293" cy="285293"/>
          </a:xfrm>
          <a:prstGeom prst="rect">
            <a:avLst/>
          </a:prstGeom>
        </p:spPr>
      </p:pic>
      <p:sp>
        <p:nvSpPr>
          <p:cNvPr id="13" name="Menu card Water and baths">
            <a:hlinkClick r:id="rId10" action="ppaction://hlinksldjump" tooltip="Open Water and baths"/>
          </p:cNvPr>
          <p:cNvSpPr/>
          <p:nvPr/>
        </p:nvSpPr>
        <p:spPr>
          <a:xfrm>
            <a:off x="457200" y="2926080"/>
            <a:ext cx="2560320" cy="1600200"/>
          </a:xfrm>
          <a:prstGeom prst="roundRect">
            <a:avLst>
              <a:gd name="adj" fmla="val 6857"/>
            </a:avLst>
          </a:prstGeom>
          <a:solidFill>
            <a:schemeClr val="bg1"/>
          </a:solidFill>
          <a:ln/>
          <a:effectLst>
            <a:outerShdw blurRad="101600" dist="25400" dir="5400000" algn="bl" rotWithShape="0">
              <a:srgbClr val="17304F">
                <a:alpha val="14000"/>
              </a:srgbClr>
            </a:outerShdw>
          </a:effectLst>
        </p:spPr>
        <p:txBody>
          <a:bodyPr wrap="square" lIns="177800" tIns="0" rIns="152400" bIns="177800" rtlCol="0" anchor="b"/>
          <a:lstStyle/>
          <a:p>
            <a:pPr marL="0" indent="0" algn="l">
              <a:buNone/>
            </a:pPr>
            <a:r>
              <a:rPr lang="en-US" sz="1800" b="1" dirty="0">
                <a:solidFill>
                  <a:schemeClr val="tx1"/>
                </a:solidFill>
              </a:rPr>
              <a:t>Water and baths</a:t>
            </a:r>
            <a:endParaRPr lang="en-US" sz="1800" dirty="0"/>
          </a:p>
          <a:p>
            <a:pPr marL="0" indent="0" algn="l">
              <a:buNone/>
            </a:pPr>
            <a:r>
              <a:rPr lang="en-US" sz="1400" dirty="0">
                <a:solidFill>
                  <a:schemeClr val="tx2"/>
                </a:solidFill>
              </a:rPr>
              <a:t>Drowning and burn risks</a:t>
            </a:r>
            <a:endParaRPr lang="en-US" sz="1800" dirty="0"/>
          </a:p>
        </p:txBody>
      </p:sp>
      <p:sp>
        <p:nvSpPr>
          <p:cNvPr id="14" name="Water and baths circle">
            <a:hlinkClick r:id="rId10" action="ppaction://hlinksldjump" tooltip="Open Water and baths"/>
          </p:cNvPr>
          <p:cNvSpPr/>
          <p:nvPr/>
        </p:nvSpPr>
        <p:spPr>
          <a:xfrm>
            <a:off x="640080" y="3108960"/>
            <a:ext cx="594360" cy="594360"/>
          </a:xfrm>
          <a:prstGeom prst="ellipse">
            <a:avLst/>
          </a:prstGeom>
          <a:solidFill>
            <a:schemeClr val="accent5"/>
          </a:solidFill>
          <a:ln w="12700">
            <a:solidFill>
              <a:schemeClr val="accent5"/>
            </a:solidFill>
            <a:prstDash val="solid"/>
          </a:ln>
        </p:spPr>
      </p:sp>
      <p:pic>
        <p:nvPicPr>
          <p:cNvPr id="15" name="Water and baths glyph" descr="Water and baths">
            <a:hlinkClick r:id="rId10" action="ppaction://hlinksldjump" tooltip="Open Water and baths"/>
          </p:cNvPr>
          <p:cNvPicPr>
            <a:picLocks noChangeAspect="1"/>
          </p:cNvPicPr>
          <p:nvPr/>
        </p:nvPicPr>
        <p:blipFill>
          <a:blip r:embed="rId11"/>
          <a:stretch>
            <a:fillRect/>
          </a:stretch>
        </p:blipFill>
        <p:spPr>
          <a:xfrm>
            <a:off x="794614" y="3263494"/>
            <a:ext cx="285293" cy="285293"/>
          </a:xfrm>
          <a:prstGeom prst="rect">
            <a:avLst/>
          </a:prstGeom>
        </p:spPr>
      </p:pic>
      <p:sp>
        <p:nvSpPr>
          <p:cNvPr id="16" name="Menu card Baby gear">
            <a:hlinkClick r:id="rId12" action="ppaction://hlinksldjump" tooltip="Open Baby gear"/>
          </p:cNvPr>
          <p:cNvSpPr/>
          <p:nvPr/>
        </p:nvSpPr>
        <p:spPr>
          <a:xfrm>
            <a:off x="3291840" y="2926080"/>
            <a:ext cx="2560320" cy="1600200"/>
          </a:xfrm>
          <a:prstGeom prst="roundRect">
            <a:avLst>
              <a:gd name="adj" fmla="val 6857"/>
            </a:avLst>
          </a:prstGeom>
          <a:solidFill>
            <a:schemeClr val="bg1"/>
          </a:solidFill>
          <a:ln/>
          <a:effectLst>
            <a:outerShdw blurRad="101600" dist="25400" dir="5400000" algn="bl" rotWithShape="0">
              <a:srgbClr val="17304F">
                <a:alpha val="14000"/>
              </a:srgbClr>
            </a:outerShdw>
          </a:effectLst>
        </p:spPr>
        <p:txBody>
          <a:bodyPr wrap="square" lIns="177800" tIns="0" rIns="152400" bIns="177800" rtlCol="0" anchor="b"/>
          <a:lstStyle/>
          <a:p>
            <a:pPr marL="0" indent="0" algn="l">
              <a:buNone/>
            </a:pPr>
            <a:r>
              <a:rPr lang="en-US" sz="1800" b="1" dirty="0">
                <a:solidFill>
                  <a:schemeClr val="tx1"/>
                </a:solidFill>
              </a:rPr>
              <a:t>Baby gear</a:t>
            </a:r>
            <a:endParaRPr lang="en-US" sz="1800" dirty="0"/>
          </a:p>
          <a:p>
            <a:pPr marL="0" indent="0" algn="l">
              <a:buNone/>
            </a:pPr>
            <a:r>
              <a:rPr lang="en-US" sz="1400" dirty="0">
                <a:solidFill>
                  <a:schemeClr val="tx2"/>
                </a:solidFill>
              </a:rPr>
              <a:t>Crib, highchair, car seat</a:t>
            </a:r>
            <a:endParaRPr lang="en-US" sz="1800" dirty="0"/>
          </a:p>
        </p:txBody>
      </p:sp>
      <p:sp>
        <p:nvSpPr>
          <p:cNvPr id="17" name="Baby gear circle">
            <a:hlinkClick r:id="rId12" action="ppaction://hlinksldjump" tooltip="Open Baby gear"/>
          </p:cNvPr>
          <p:cNvSpPr/>
          <p:nvPr/>
        </p:nvSpPr>
        <p:spPr>
          <a:xfrm>
            <a:off x="3474720" y="3108960"/>
            <a:ext cx="594360" cy="594360"/>
          </a:xfrm>
          <a:prstGeom prst="ellipse">
            <a:avLst/>
          </a:prstGeom>
          <a:solidFill>
            <a:schemeClr val="accent2"/>
          </a:solidFill>
          <a:ln w="12700">
            <a:solidFill>
              <a:schemeClr val="accent2"/>
            </a:solidFill>
            <a:prstDash val="solid"/>
          </a:ln>
        </p:spPr>
      </p:sp>
      <p:pic>
        <p:nvPicPr>
          <p:cNvPr id="18" name="Baby gear glyph" descr="Baby gear">
            <a:hlinkClick r:id="rId12" action="ppaction://hlinksldjump" tooltip="Open Baby gear"/>
          </p:cNvPr>
          <p:cNvPicPr>
            <a:picLocks noChangeAspect="1"/>
          </p:cNvPicPr>
          <p:nvPr/>
        </p:nvPicPr>
        <p:blipFill>
          <a:blip r:embed="rId13"/>
          <a:stretch>
            <a:fillRect/>
          </a:stretch>
        </p:blipFill>
        <p:spPr>
          <a:xfrm>
            <a:off x="3629254" y="3263494"/>
            <a:ext cx="285293" cy="285293"/>
          </a:xfrm>
          <a:prstGeom prst="rect">
            <a:avLst/>
          </a:prstGeom>
        </p:spPr>
      </p:pic>
      <p:sp>
        <p:nvSpPr>
          <p:cNvPr id="19" name="Menu card Active and protected">
            <a:hlinkClick r:id="rId14" action="ppaction://hlinksldjump" tooltip="Open Active and protected"/>
          </p:cNvPr>
          <p:cNvSpPr/>
          <p:nvPr/>
        </p:nvSpPr>
        <p:spPr>
          <a:xfrm>
            <a:off x="6126480" y="2926080"/>
            <a:ext cx="2560320" cy="1600200"/>
          </a:xfrm>
          <a:prstGeom prst="roundRect">
            <a:avLst>
              <a:gd name="adj" fmla="val 6857"/>
            </a:avLst>
          </a:prstGeom>
          <a:solidFill>
            <a:schemeClr val="bg1"/>
          </a:solidFill>
          <a:ln/>
          <a:effectLst>
            <a:outerShdw blurRad="101600" dist="25400" dir="5400000" algn="bl" rotWithShape="0">
              <a:srgbClr val="17304F">
                <a:alpha val="14000"/>
              </a:srgbClr>
            </a:outerShdw>
          </a:effectLst>
        </p:spPr>
        <p:txBody>
          <a:bodyPr wrap="square" lIns="177800" tIns="0" rIns="152400" bIns="177800" rtlCol="0" anchor="b"/>
          <a:lstStyle/>
          <a:p>
            <a:pPr marL="0" indent="0" algn="l">
              <a:buNone/>
            </a:pPr>
            <a:r>
              <a:rPr lang="en-US" sz="1800" b="1" dirty="0">
                <a:solidFill>
                  <a:schemeClr val="tx1"/>
                </a:solidFill>
              </a:rPr>
              <a:t>Active and protected</a:t>
            </a:r>
            <a:endParaRPr lang="en-US" sz="1800" dirty="0"/>
          </a:p>
          <a:p>
            <a:pPr marL="0" indent="0" algn="l">
              <a:buNone/>
            </a:pPr>
            <a:r>
              <a:rPr lang="en-US" sz="1400" dirty="0">
                <a:solidFill>
                  <a:schemeClr val="tx2"/>
                </a:solidFill>
              </a:rPr>
              <a:t>Lead, injuries, child protection</a:t>
            </a:r>
            <a:endParaRPr lang="en-US" sz="1800" dirty="0"/>
          </a:p>
        </p:txBody>
      </p:sp>
      <p:sp>
        <p:nvSpPr>
          <p:cNvPr id="20" name="Active and protected circle">
            <a:hlinkClick r:id="rId14" action="ppaction://hlinksldjump" tooltip="Open Active and protected"/>
          </p:cNvPr>
          <p:cNvSpPr/>
          <p:nvPr/>
        </p:nvSpPr>
        <p:spPr>
          <a:xfrm>
            <a:off x="6309360" y="3108960"/>
            <a:ext cx="594360" cy="594360"/>
          </a:xfrm>
          <a:prstGeom prst="ellipse">
            <a:avLst/>
          </a:prstGeom>
          <a:solidFill>
            <a:schemeClr val="accent3"/>
          </a:solidFill>
          <a:ln w="12700">
            <a:solidFill>
              <a:schemeClr val="accent3"/>
            </a:solidFill>
            <a:prstDash val="solid"/>
          </a:ln>
        </p:spPr>
      </p:sp>
      <p:pic>
        <p:nvPicPr>
          <p:cNvPr id="21" name="Active and protected glyph" descr="Active and protected">
            <a:hlinkClick r:id="rId14" action="ppaction://hlinksldjump" tooltip="Open Active and protected"/>
          </p:cNvPr>
          <p:cNvPicPr>
            <a:picLocks noChangeAspect="1"/>
          </p:cNvPicPr>
          <p:nvPr/>
        </p:nvPicPr>
        <p:blipFill>
          <a:blip r:embed="rId15"/>
          <a:stretch>
            <a:fillRect/>
          </a:stretch>
        </p:blipFill>
        <p:spPr>
          <a:xfrm>
            <a:off x="6463894" y="3263494"/>
            <a:ext cx="285293" cy="285293"/>
          </a:xfrm>
          <a:prstGeom prst="rect">
            <a:avLst/>
          </a:prstGeom>
        </p:spPr>
      </p:pic>
      <p:sp>
        <p:nvSpPr>
          <p:cNvPr id="22" name="Tip"/>
          <p:cNvSpPr txBox="1"/>
          <p:nvPr/>
        </p:nvSpPr>
        <p:spPr>
          <a:xfrm>
            <a:off x="2286000" y="4663440"/>
            <a:ext cx="4023360" cy="329184"/>
          </a:xfrm>
          <a:prstGeom prst="rect">
            <a:avLst/>
          </a:prstGeom>
          <a:noFill/>
          <a:ln/>
        </p:spPr>
        <p:txBody>
          <a:bodyPr wrap="square" lIns="0" tIns="0" rIns="0" bIns="0" rtlCol="0" anchor="ctr"/>
          <a:lstStyle/>
          <a:p>
            <a:pPr marL="0" indent="0">
              <a:buNone/>
            </a:pP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Keep small objects out of reach</a:t>
            </a:r>
            <a:endParaRPr lang="en-US"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Menu</a:t>
            </a:r>
            <a:endParaRPr lang="en-US" sz="1400" dirty="0"/>
          </a:p>
        </p:txBody>
      </p:sp>
      <p:sp>
        <p:nvSpPr>
          <p:cNvPr id="4" name="Mealtime card"/>
          <p:cNvSpPr/>
          <p:nvPr/>
        </p:nvSpPr>
        <p:spPr>
          <a:xfrm>
            <a:off x="457200" y="1143000"/>
            <a:ext cx="3291840" cy="3383280"/>
          </a:xfrm>
          <a:prstGeom prst="roundRect">
            <a:avLst>
              <a:gd name="adj" fmla="val 3333"/>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5" name="Mealtime circle"/>
          <p:cNvSpPr/>
          <p:nvPr/>
        </p:nvSpPr>
        <p:spPr>
          <a:xfrm>
            <a:off x="640080" y="1307592"/>
            <a:ext cx="457200" cy="457200"/>
          </a:xfrm>
          <a:prstGeom prst="ellipse">
            <a:avLst/>
          </a:prstGeom>
          <a:solidFill>
            <a:schemeClr val="accent1"/>
          </a:solidFill>
          <a:ln w="12700">
            <a:solidFill>
              <a:schemeClr val="accent1"/>
            </a:solidFill>
            <a:prstDash val="solid"/>
          </a:ln>
        </p:spPr>
      </p:sp>
      <p:pic>
        <p:nvPicPr>
          <p:cNvPr id="6" name="Mealtime glyph" descr="Mealtime"/>
          <p:cNvPicPr>
            <a:picLocks noChangeAspect="1"/>
          </p:cNvPicPr>
          <p:nvPr/>
        </p:nvPicPr>
        <p:blipFill>
          <a:blip r:embed="rId4"/>
          <a:stretch>
            <a:fillRect/>
          </a:stretch>
        </p:blipFill>
        <p:spPr>
          <a:xfrm>
            <a:off x="758952" y="1426464"/>
            <a:ext cx="219456" cy="219456"/>
          </a:xfrm>
          <a:prstGeom prst="rect">
            <a:avLst/>
          </a:prstGeom>
        </p:spPr>
      </p:pic>
      <p:sp>
        <p:nvSpPr>
          <p:cNvPr id="7" name="Mealtime heading"/>
          <p:cNvSpPr txBox="1"/>
          <p:nvPr/>
        </p:nvSpPr>
        <p:spPr>
          <a:xfrm>
            <a:off x="1207008" y="1307592"/>
            <a:ext cx="2377440" cy="457200"/>
          </a:xfrm>
          <a:prstGeom prst="rect">
            <a:avLst/>
          </a:prstGeom>
          <a:noFill/>
          <a:ln/>
        </p:spPr>
        <p:txBody>
          <a:bodyPr wrap="square" lIns="0" tIns="0" rIns="0" bIns="0" rtlCol="0" anchor="ctr"/>
          <a:lstStyle/>
          <a:p>
            <a:pPr marL="0" indent="0">
              <a:buNone/>
            </a:pPr>
            <a:r>
              <a:rPr lang="en-US" sz="1800" b="1" dirty="0">
                <a:solidFill>
                  <a:schemeClr val="tx1"/>
                </a:solidFill>
              </a:rPr>
              <a:t>At mealtimes</a:t>
            </a:r>
            <a:endParaRPr lang="en-US" sz="1800" dirty="0"/>
          </a:p>
        </p:txBody>
      </p:sp>
      <p:sp>
        <p:nvSpPr>
          <p:cNvPr id="8" name="Mealtime list"/>
          <p:cNvSpPr txBox="1"/>
          <p:nvPr/>
        </p:nvSpPr>
        <p:spPr>
          <a:xfrm>
            <a:off x="640080" y="1920240"/>
            <a:ext cx="2926080" cy="25146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2"/>
                </a:solidFill>
              </a:rPr>
              <a:t>Hold your baby when you feed them</a:t>
            </a:r>
            <a:endParaRPr lang="en-US" sz="1400" dirty="0"/>
          </a:p>
          <a:p>
            <a:pPr marL="177800" indent="-177800">
              <a:spcAft>
                <a:spcPts val="600"/>
              </a:spcAft>
              <a:buSzPct val="100000"/>
              <a:buChar char="•"/>
            </a:pPr>
            <a:r>
              <a:rPr lang="en-US" sz="1400" dirty="0">
                <a:solidFill>
                  <a:schemeClr val="tx2"/>
                </a:solidFill>
              </a:rPr>
              <a:t>Do not prop them up or give strained food in a bottle</a:t>
            </a:r>
            <a:endParaRPr lang="en-US" sz="1400" dirty="0"/>
          </a:p>
          <a:p>
            <a:pPr marL="177800" indent="-177800">
              <a:spcAft>
                <a:spcPts val="600"/>
              </a:spcAft>
              <a:buSzPct val="100000"/>
              <a:buChar char="•"/>
            </a:pPr>
            <a:r>
              <a:rPr lang="en-US" sz="1400" dirty="0">
                <a:solidFill>
                  <a:schemeClr val="tx2"/>
                </a:solidFill>
              </a:rPr>
              <a:t>Never leave a small child alone during meals</a:t>
            </a:r>
            <a:endParaRPr lang="en-US" sz="1400" dirty="0"/>
          </a:p>
          <a:p>
            <a:pPr marL="177800" indent="-177800">
              <a:spcAft>
                <a:spcPts val="600"/>
              </a:spcAft>
              <a:buSzPct val="100000"/>
              <a:buChar char="•"/>
            </a:pPr>
            <a:r>
              <a:rPr lang="en-US" sz="1400" dirty="0">
                <a:solidFill>
                  <a:schemeClr val="tx2"/>
                </a:solidFill>
              </a:rPr>
              <a:t>Crawling or walking? No spoons, lollipops or Popsicle sticks in the mouth</a:t>
            </a:r>
            <a:endParaRPr lang="en-US" sz="1400" dirty="0"/>
          </a:p>
        </p:txBody>
      </p:sp>
      <p:sp>
        <p:nvSpPr>
          <p:cNvPr id="9" name="Objects label"/>
          <p:cNvSpPr txBox="1"/>
          <p:nvPr/>
        </p:nvSpPr>
        <p:spPr>
          <a:xfrm>
            <a:off x="3977640" y="1097280"/>
            <a:ext cx="4709160" cy="320040"/>
          </a:xfrm>
          <a:prstGeom prst="rect">
            <a:avLst/>
          </a:prstGeom>
          <a:noFill/>
          <a:ln/>
        </p:spPr>
        <p:txBody>
          <a:bodyPr wrap="square" lIns="0" tIns="0" rIns="0" bIns="0" rtlCol="0" anchor="ctr"/>
          <a:lstStyle/>
          <a:p>
            <a:pPr marL="0" indent="0">
              <a:buNone/>
            </a:pPr>
            <a:r>
              <a:rPr lang="en-US" sz="1400" b="1" dirty="0">
                <a:solidFill>
                  <a:schemeClr val="tx1"/>
                </a:solidFill>
              </a:rPr>
              <a:t>Babies learn by putting things in their mouth. Keep these away:</a:t>
            </a:r>
            <a:endParaRPr lang="en-US" sz="1400" dirty="0"/>
          </a:p>
        </p:txBody>
      </p:sp>
      <p:sp>
        <p:nvSpPr>
          <p:cNvPr id="10" name="Object Marbles"/>
          <p:cNvSpPr/>
          <p:nvPr/>
        </p:nvSpPr>
        <p:spPr>
          <a:xfrm>
            <a:off x="3977640" y="1508760"/>
            <a:ext cx="1508760" cy="658368"/>
          </a:xfrm>
          <a:prstGeom prst="roundRect">
            <a:avLst>
              <a:gd name="adj" fmla="val 1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1" name="Dot Marbles"/>
          <p:cNvSpPr/>
          <p:nvPr/>
        </p:nvSpPr>
        <p:spPr>
          <a:xfrm>
            <a:off x="4114800" y="1746504"/>
            <a:ext cx="182880" cy="182880"/>
          </a:xfrm>
          <a:prstGeom prst="ellipse">
            <a:avLst/>
          </a:prstGeom>
          <a:solidFill>
            <a:schemeClr val="accent2"/>
          </a:solidFill>
          <a:ln w="12700">
            <a:solidFill>
              <a:schemeClr val="accent2"/>
            </a:solidFill>
            <a:prstDash val="solid"/>
          </a:ln>
        </p:spPr>
      </p:sp>
      <p:sp>
        <p:nvSpPr>
          <p:cNvPr id="12" name="Object Marbles text"/>
          <p:cNvSpPr txBox="1"/>
          <p:nvPr/>
        </p:nvSpPr>
        <p:spPr>
          <a:xfrm>
            <a:off x="4389120" y="1508760"/>
            <a:ext cx="1051560" cy="658368"/>
          </a:xfrm>
          <a:prstGeom prst="rect">
            <a:avLst/>
          </a:prstGeom>
          <a:noFill/>
          <a:ln/>
        </p:spPr>
        <p:txBody>
          <a:bodyPr wrap="square" lIns="0" tIns="0" rIns="0" bIns="0" rtlCol="0" anchor="ctr"/>
          <a:lstStyle/>
          <a:p>
            <a:pPr marL="0" indent="0">
              <a:buNone/>
            </a:pPr>
            <a:r>
              <a:rPr lang="en-US" sz="1400" b="1" dirty="0">
                <a:solidFill>
                  <a:schemeClr val="tx1"/>
                </a:solidFill>
              </a:rPr>
              <a:t>Marbles</a:t>
            </a:r>
            <a:endParaRPr lang="en-US" sz="1400" dirty="0"/>
          </a:p>
        </p:txBody>
      </p:sp>
      <p:sp>
        <p:nvSpPr>
          <p:cNvPr id="13" name="Object Batteries"/>
          <p:cNvSpPr/>
          <p:nvPr/>
        </p:nvSpPr>
        <p:spPr>
          <a:xfrm>
            <a:off x="5577840" y="1508760"/>
            <a:ext cx="1508760" cy="658368"/>
          </a:xfrm>
          <a:prstGeom prst="roundRect">
            <a:avLst>
              <a:gd name="adj" fmla="val 1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4" name="Dot Batteries"/>
          <p:cNvSpPr/>
          <p:nvPr/>
        </p:nvSpPr>
        <p:spPr>
          <a:xfrm>
            <a:off x="5715000" y="1746504"/>
            <a:ext cx="182880" cy="182880"/>
          </a:xfrm>
          <a:prstGeom prst="ellipse">
            <a:avLst/>
          </a:prstGeom>
          <a:solidFill>
            <a:schemeClr val="accent1"/>
          </a:solidFill>
          <a:ln w="12700">
            <a:solidFill>
              <a:schemeClr val="accent1"/>
            </a:solidFill>
            <a:prstDash val="solid"/>
          </a:ln>
        </p:spPr>
      </p:sp>
      <p:sp>
        <p:nvSpPr>
          <p:cNvPr id="15" name="Object Batteries text"/>
          <p:cNvSpPr txBox="1"/>
          <p:nvPr/>
        </p:nvSpPr>
        <p:spPr>
          <a:xfrm>
            <a:off x="5989320" y="1508760"/>
            <a:ext cx="1051560" cy="658368"/>
          </a:xfrm>
          <a:prstGeom prst="rect">
            <a:avLst/>
          </a:prstGeom>
          <a:noFill/>
          <a:ln/>
        </p:spPr>
        <p:txBody>
          <a:bodyPr wrap="square" lIns="0" tIns="0" rIns="0" bIns="0" rtlCol="0" anchor="ctr"/>
          <a:lstStyle/>
          <a:p>
            <a:pPr marL="0" indent="0">
              <a:buNone/>
            </a:pPr>
            <a:r>
              <a:rPr lang="en-US" sz="1400" b="1" dirty="0">
                <a:solidFill>
                  <a:schemeClr val="tx1"/>
                </a:solidFill>
              </a:rPr>
              <a:t>Batteries</a:t>
            </a:r>
            <a:endParaRPr lang="en-US" sz="1400" dirty="0"/>
          </a:p>
        </p:txBody>
      </p:sp>
      <p:sp>
        <p:nvSpPr>
          <p:cNvPr id="16" name="Object Jewelry"/>
          <p:cNvSpPr/>
          <p:nvPr/>
        </p:nvSpPr>
        <p:spPr>
          <a:xfrm>
            <a:off x="7178040" y="1508760"/>
            <a:ext cx="1508760" cy="658368"/>
          </a:xfrm>
          <a:prstGeom prst="roundRect">
            <a:avLst>
              <a:gd name="adj" fmla="val 1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7" name="Dot Jewelry"/>
          <p:cNvSpPr/>
          <p:nvPr/>
        </p:nvSpPr>
        <p:spPr>
          <a:xfrm>
            <a:off x="7315200" y="1746504"/>
            <a:ext cx="182880" cy="182880"/>
          </a:xfrm>
          <a:prstGeom prst="ellipse">
            <a:avLst/>
          </a:prstGeom>
          <a:solidFill>
            <a:schemeClr val="accent5"/>
          </a:solidFill>
          <a:ln w="12700">
            <a:solidFill>
              <a:schemeClr val="accent5"/>
            </a:solidFill>
            <a:prstDash val="solid"/>
          </a:ln>
        </p:spPr>
      </p:sp>
      <p:sp>
        <p:nvSpPr>
          <p:cNvPr id="18" name="Object Jewelry text"/>
          <p:cNvSpPr txBox="1"/>
          <p:nvPr/>
        </p:nvSpPr>
        <p:spPr>
          <a:xfrm>
            <a:off x="7589520" y="1508760"/>
            <a:ext cx="1051560" cy="658368"/>
          </a:xfrm>
          <a:prstGeom prst="rect">
            <a:avLst/>
          </a:prstGeom>
          <a:noFill/>
          <a:ln/>
        </p:spPr>
        <p:txBody>
          <a:bodyPr wrap="square" lIns="0" tIns="0" rIns="0" bIns="0" rtlCol="0" anchor="ctr"/>
          <a:lstStyle/>
          <a:p>
            <a:pPr marL="0" indent="0">
              <a:buNone/>
            </a:pPr>
            <a:r>
              <a:rPr lang="en-US" sz="1400" b="1" dirty="0">
                <a:solidFill>
                  <a:schemeClr val="tx1"/>
                </a:solidFill>
              </a:rPr>
              <a:t>Jewelry</a:t>
            </a:r>
            <a:endParaRPr lang="en-US" sz="1400" dirty="0"/>
          </a:p>
        </p:txBody>
      </p:sp>
      <p:sp>
        <p:nvSpPr>
          <p:cNvPr id="19" name="Object Magnets"/>
          <p:cNvSpPr/>
          <p:nvPr/>
        </p:nvSpPr>
        <p:spPr>
          <a:xfrm>
            <a:off x="3977640" y="2258568"/>
            <a:ext cx="1508760" cy="658368"/>
          </a:xfrm>
          <a:prstGeom prst="roundRect">
            <a:avLst>
              <a:gd name="adj" fmla="val 1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20" name="Dot Magnets"/>
          <p:cNvSpPr/>
          <p:nvPr/>
        </p:nvSpPr>
        <p:spPr>
          <a:xfrm>
            <a:off x="4114800" y="2496312"/>
            <a:ext cx="182880" cy="182880"/>
          </a:xfrm>
          <a:prstGeom prst="ellipse">
            <a:avLst/>
          </a:prstGeom>
          <a:solidFill>
            <a:schemeClr val="accent6"/>
          </a:solidFill>
          <a:ln w="12700">
            <a:solidFill>
              <a:schemeClr val="accent6"/>
            </a:solidFill>
            <a:prstDash val="solid"/>
          </a:ln>
        </p:spPr>
      </p:sp>
      <p:sp>
        <p:nvSpPr>
          <p:cNvPr id="21" name="Object Magnets text"/>
          <p:cNvSpPr txBox="1"/>
          <p:nvPr/>
        </p:nvSpPr>
        <p:spPr>
          <a:xfrm>
            <a:off x="4389120" y="2258568"/>
            <a:ext cx="1051560" cy="658368"/>
          </a:xfrm>
          <a:prstGeom prst="rect">
            <a:avLst/>
          </a:prstGeom>
          <a:noFill/>
          <a:ln/>
        </p:spPr>
        <p:txBody>
          <a:bodyPr wrap="square" lIns="0" tIns="0" rIns="0" bIns="0" rtlCol="0" anchor="ctr"/>
          <a:lstStyle/>
          <a:p>
            <a:pPr marL="0" indent="0">
              <a:buNone/>
            </a:pPr>
            <a:r>
              <a:rPr lang="en-US" sz="1400" b="1" dirty="0">
                <a:solidFill>
                  <a:schemeClr val="tx1"/>
                </a:solidFill>
              </a:rPr>
              <a:t>Magnets</a:t>
            </a:r>
            <a:endParaRPr lang="en-US" sz="1400" dirty="0"/>
          </a:p>
        </p:txBody>
      </p:sp>
      <p:sp>
        <p:nvSpPr>
          <p:cNvPr id="22" name="Object Nuts and seeds"/>
          <p:cNvSpPr/>
          <p:nvPr/>
        </p:nvSpPr>
        <p:spPr>
          <a:xfrm>
            <a:off x="5577840" y="2258568"/>
            <a:ext cx="1508760" cy="658368"/>
          </a:xfrm>
          <a:prstGeom prst="roundRect">
            <a:avLst>
              <a:gd name="adj" fmla="val 1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23" name="Dot Nuts and seeds"/>
          <p:cNvSpPr/>
          <p:nvPr/>
        </p:nvSpPr>
        <p:spPr>
          <a:xfrm>
            <a:off x="5715000" y="2496312"/>
            <a:ext cx="182880" cy="182880"/>
          </a:xfrm>
          <a:prstGeom prst="ellipse">
            <a:avLst/>
          </a:prstGeom>
          <a:solidFill>
            <a:schemeClr val="accent4"/>
          </a:solidFill>
          <a:ln w="12700">
            <a:solidFill>
              <a:schemeClr val="accent4"/>
            </a:solidFill>
            <a:prstDash val="solid"/>
          </a:ln>
        </p:spPr>
      </p:sp>
      <p:sp>
        <p:nvSpPr>
          <p:cNvPr id="24" name="Object Nuts and seeds text"/>
          <p:cNvSpPr txBox="1"/>
          <p:nvPr/>
        </p:nvSpPr>
        <p:spPr>
          <a:xfrm>
            <a:off x="5989320" y="2258568"/>
            <a:ext cx="1051560" cy="658368"/>
          </a:xfrm>
          <a:prstGeom prst="rect">
            <a:avLst/>
          </a:prstGeom>
          <a:noFill/>
          <a:ln/>
        </p:spPr>
        <p:txBody>
          <a:bodyPr wrap="square" lIns="0" tIns="0" rIns="0" bIns="0" rtlCol="0" anchor="ctr"/>
          <a:lstStyle/>
          <a:p>
            <a:pPr marL="0" indent="0">
              <a:buNone/>
            </a:pPr>
            <a:r>
              <a:rPr lang="en-US" sz="1400" b="1" dirty="0">
                <a:solidFill>
                  <a:schemeClr val="tx1"/>
                </a:solidFill>
              </a:rPr>
              <a:t>Nuts and seeds</a:t>
            </a:r>
            <a:endParaRPr lang="en-US" sz="1400" dirty="0"/>
          </a:p>
        </p:txBody>
      </p:sp>
      <p:sp>
        <p:nvSpPr>
          <p:cNvPr id="25" name="Object Grapes"/>
          <p:cNvSpPr/>
          <p:nvPr/>
        </p:nvSpPr>
        <p:spPr>
          <a:xfrm>
            <a:off x="7178040" y="2258568"/>
            <a:ext cx="1508760" cy="658368"/>
          </a:xfrm>
          <a:prstGeom prst="roundRect">
            <a:avLst>
              <a:gd name="adj" fmla="val 1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26" name="Dot Grapes"/>
          <p:cNvSpPr/>
          <p:nvPr/>
        </p:nvSpPr>
        <p:spPr>
          <a:xfrm>
            <a:off x="7315200" y="2496312"/>
            <a:ext cx="182880" cy="182880"/>
          </a:xfrm>
          <a:prstGeom prst="ellipse">
            <a:avLst/>
          </a:prstGeom>
          <a:solidFill>
            <a:schemeClr val="accent2"/>
          </a:solidFill>
          <a:ln w="12700">
            <a:solidFill>
              <a:schemeClr val="accent2"/>
            </a:solidFill>
            <a:prstDash val="solid"/>
          </a:ln>
        </p:spPr>
      </p:sp>
      <p:sp>
        <p:nvSpPr>
          <p:cNvPr id="27" name="Object Grapes text"/>
          <p:cNvSpPr txBox="1"/>
          <p:nvPr/>
        </p:nvSpPr>
        <p:spPr>
          <a:xfrm>
            <a:off x="7589520" y="2258568"/>
            <a:ext cx="1051560" cy="658368"/>
          </a:xfrm>
          <a:prstGeom prst="rect">
            <a:avLst/>
          </a:prstGeom>
          <a:noFill/>
          <a:ln/>
        </p:spPr>
        <p:txBody>
          <a:bodyPr wrap="square" lIns="0" tIns="0" rIns="0" bIns="0" rtlCol="0" anchor="ctr"/>
          <a:lstStyle/>
          <a:p>
            <a:pPr marL="0" indent="0">
              <a:buNone/>
            </a:pPr>
            <a:r>
              <a:rPr lang="en-US" sz="1400" b="1" dirty="0">
                <a:solidFill>
                  <a:schemeClr val="tx1"/>
                </a:solidFill>
              </a:rPr>
              <a:t>Grapes</a:t>
            </a:r>
            <a:endParaRPr lang="en-US" sz="1400" dirty="0"/>
          </a:p>
        </p:txBody>
      </p:sp>
      <p:sp>
        <p:nvSpPr>
          <p:cNvPr id="28" name="Object Candy"/>
          <p:cNvSpPr/>
          <p:nvPr/>
        </p:nvSpPr>
        <p:spPr>
          <a:xfrm>
            <a:off x="3977640" y="3008376"/>
            <a:ext cx="1508760" cy="658368"/>
          </a:xfrm>
          <a:prstGeom prst="roundRect">
            <a:avLst>
              <a:gd name="adj" fmla="val 1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29" name="Dot Candy"/>
          <p:cNvSpPr/>
          <p:nvPr/>
        </p:nvSpPr>
        <p:spPr>
          <a:xfrm>
            <a:off x="4114800" y="3246120"/>
            <a:ext cx="182880" cy="182880"/>
          </a:xfrm>
          <a:prstGeom prst="ellipse">
            <a:avLst/>
          </a:prstGeom>
          <a:solidFill>
            <a:schemeClr val="accent1"/>
          </a:solidFill>
          <a:ln w="12700">
            <a:solidFill>
              <a:schemeClr val="accent1"/>
            </a:solidFill>
            <a:prstDash val="solid"/>
          </a:ln>
        </p:spPr>
      </p:sp>
      <p:sp>
        <p:nvSpPr>
          <p:cNvPr id="30" name="Object Candy text"/>
          <p:cNvSpPr txBox="1"/>
          <p:nvPr/>
        </p:nvSpPr>
        <p:spPr>
          <a:xfrm>
            <a:off x="4389120" y="3008376"/>
            <a:ext cx="1051560" cy="658368"/>
          </a:xfrm>
          <a:prstGeom prst="rect">
            <a:avLst/>
          </a:prstGeom>
          <a:noFill/>
          <a:ln/>
        </p:spPr>
        <p:txBody>
          <a:bodyPr wrap="square" lIns="0" tIns="0" rIns="0" bIns="0" rtlCol="0" anchor="ctr"/>
          <a:lstStyle/>
          <a:p>
            <a:pPr marL="0" indent="0">
              <a:buNone/>
            </a:pPr>
            <a:r>
              <a:rPr lang="en-US" sz="1400" b="1" dirty="0">
                <a:solidFill>
                  <a:schemeClr val="tx1"/>
                </a:solidFill>
              </a:rPr>
              <a:t>Candy</a:t>
            </a:r>
            <a:endParaRPr lang="en-US" sz="1400" dirty="0"/>
          </a:p>
        </p:txBody>
      </p:sp>
      <p:sp>
        <p:nvSpPr>
          <p:cNvPr id="31" name="Object Ear buds"/>
          <p:cNvSpPr/>
          <p:nvPr/>
        </p:nvSpPr>
        <p:spPr>
          <a:xfrm>
            <a:off x="5577840" y="3008376"/>
            <a:ext cx="1508760" cy="658368"/>
          </a:xfrm>
          <a:prstGeom prst="roundRect">
            <a:avLst>
              <a:gd name="adj" fmla="val 1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32" name="Dot Ear buds"/>
          <p:cNvSpPr/>
          <p:nvPr/>
        </p:nvSpPr>
        <p:spPr>
          <a:xfrm>
            <a:off x="5715000" y="3246120"/>
            <a:ext cx="182880" cy="182880"/>
          </a:xfrm>
          <a:prstGeom prst="ellipse">
            <a:avLst/>
          </a:prstGeom>
          <a:solidFill>
            <a:schemeClr val="accent5"/>
          </a:solidFill>
          <a:ln w="12700">
            <a:solidFill>
              <a:schemeClr val="accent5"/>
            </a:solidFill>
            <a:prstDash val="solid"/>
          </a:ln>
        </p:spPr>
      </p:sp>
      <p:sp>
        <p:nvSpPr>
          <p:cNvPr id="33" name="Object Ear buds text"/>
          <p:cNvSpPr txBox="1"/>
          <p:nvPr/>
        </p:nvSpPr>
        <p:spPr>
          <a:xfrm>
            <a:off x="5989320" y="3008376"/>
            <a:ext cx="1051560" cy="658368"/>
          </a:xfrm>
          <a:prstGeom prst="rect">
            <a:avLst/>
          </a:prstGeom>
          <a:noFill/>
          <a:ln/>
        </p:spPr>
        <p:txBody>
          <a:bodyPr wrap="square" lIns="0" tIns="0" rIns="0" bIns="0" rtlCol="0" anchor="ctr"/>
          <a:lstStyle/>
          <a:p>
            <a:pPr marL="0" indent="0">
              <a:buNone/>
            </a:pPr>
            <a:r>
              <a:rPr lang="en-US" sz="1400" b="1" dirty="0">
                <a:solidFill>
                  <a:schemeClr val="tx1"/>
                </a:solidFill>
              </a:rPr>
              <a:t>Ear buds</a:t>
            </a:r>
            <a:endParaRPr lang="en-US" sz="1400" dirty="0"/>
          </a:p>
        </p:txBody>
      </p:sp>
      <p:sp>
        <p:nvSpPr>
          <p:cNvPr id="34" name="Object Balloons"/>
          <p:cNvSpPr/>
          <p:nvPr/>
        </p:nvSpPr>
        <p:spPr>
          <a:xfrm>
            <a:off x="7178040" y="3008376"/>
            <a:ext cx="1508760" cy="658368"/>
          </a:xfrm>
          <a:prstGeom prst="roundRect">
            <a:avLst>
              <a:gd name="adj" fmla="val 1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35" name="Dot Balloons"/>
          <p:cNvSpPr/>
          <p:nvPr/>
        </p:nvSpPr>
        <p:spPr>
          <a:xfrm>
            <a:off x="7315200" y="3246120"/>
            <a:ext cx="182880" cy="182880"/>
          </a:xfrm>
          <a:prstGeom prst="ellipse">
            <a:avLst/>
          </a:prstGeom>
          <a:solidFill>
            <a:schemeClr val="accent6"/>
          </a:solidFill>
          <a:ln w="12700">
            <a:solidFill>
              <a:schemeClr val="accent6"/>
            </a:solidFill>
            <a:prstDash val="solid"/>
          </a:ln>
        </p:spPr>
      </p:sp>
      <p:sp>
        <p:nvSpPr>
          <p:cNvPr id="36" name="Object Balloons text"/>
          <p:cNvSpPr txBox="1"/>
          <p:nvPr/>
        </p:nvSpPr>
        <p:spPr>
          <a:xfrm>
            <a:off x="7589520" y="3008376"/>
            <a:ext cx="1051560" cy="658368"/>
          </a:xfrm>
          <a:prstGeom prst="rect">
            <a:avLst/>
          </a:prstGeom>
          <a:noFill/>
          <a:ln/>
        </p:spPr>
        <p:txBody>
          <a:bodyPr wrap="square" lIns="0" tIns="0" rIns="0" bIns="0" rtlCol="0" anchor="ctr"/>
          <a:lstStyle/>
          <a:p>
            <a:pPr marL="0" indent="0">
              <a:buNone/>
            </a:pPr>
            <a:r>
              <a:rPr lang="en-US" sz="1400" b="1" dirty="0">
                <a:solidFill>
                  <a:schemeClr val="tx1"/>
                </a:solidFill>
              </a:rPr>
              <a:t>Balloons</a:t>
            </a:r>
            <a:endParaRPr lang="en-US" sz="1400" dirty="0"/>
          </a:p>
        </p:txBody>
      </p:sp>
      <p:sp>
        <p:nvSpPr>
          <p:cNvPr id="37" name="Object Plastic bags"/>
          <p:cNvSpPr/>
          <p:nvPr/>
        </p:nvSpPr>
        <p:spPr>
          <a:xfrm>
            <a:off x="3977640" y="3758184"/>
            <a:ext cx="1508760" cy="658368"/>
          </a:xfrm>
          <a:prstGeom prst="roundRect">
            <a:avLst>
              <a:gd name="adj" fmla="val 1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38" name="Dot Plastic bags"/>
          <p:cNvSpPr/>
          <p:nvPr/>
        </p:nvSpPr>
        <p:spPr>
          <a:xfrm>
            <a:off x="4114800" y="3995928"/>
            <a:ext cx="182880" cy="182880"/>
          </a:xfrm>
          <a:prstGeom prst="ellipse">
            <a:avLst/>
          </a:prstGeom>
          <a:solidFill>
            <a:schemeClr val="accent4"/>
          </a:solidFill>
          <a:ln w="12700">
            <a:solidFill>
              <a:schemeClr val="accent4"/>
            </a:solidFill>
            <a:prstDash val="solid"/>
          </a:ln>
        </p:spPr>
      </p:sp>
      <p:sp>
        <p:nvSpPr>
          <p:cNvPr id="39" name="Object Plastic bags text"/>
          <p:cNvSpPr txBox="1"/>
          <p:nvPr/>
        </p:nvSpPr>
        <p:spPr>
          <a:xfrm>
            <a:off x="4389120" y="3758184"/>
            <a:ext cx="1051560" cy="658368"/>
          </a:xfrm>
          <a:prstGeom prst="rect">
            <a:avLst/>
          </a:prstGeom>
          <a:noFill/>
          <a:ln/>
        </p:spPr>
        <p:txBody>
          <a:bodyPr wrap="square" lIns="0" tIns="0" rIns="0" bIns="0" rtlCol="0" anchor="ctr"/>
          <a:lstStyle/>
          <a:p>
            <a:pPr marL="0" indent="0">
              <a:buNone/>
            </a:pPr>
            <a:r>
              <a:rPr lang="en-US" sz="1400" b="1" dirty="0">
                <a:solidFill>
                  <a:schemeClr val="tx1"/>
                </a:solidFill>
              </a:rPr>
              <a:t>Plastic bags</a:t>
            </a:r>
            <a:endParaRPr lang="en-US" sz="1400" dirty="0"/>
          </a:p>
        </p:txBody>
      </p:sp>
      <p:sp>
        <p:nvSpPr>
          <p:cNvPr id="40" name="Object Coins"/>
          <p:cNvSpPr/>
          <p:nvPr/>
        </p:nvSpPr>
        <p:spPr>
          <a:xfrm>
            <a:off x="5577840" y="3758184"/>
            <a:ext cx="1508760" cy="658368"/>
          </a:xfrm>
          <a:prstGeom prst="roundRect">
            <a:avLst>
              <a:gd name="adj" fmla="val 1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41" name="Dot Coins"/>
          <p:cNvSpPr/>
          <p:nvPr/>
        </p:nvSpPr>
        <p:spPr>
          <a:xfrm>
            <a:off x="5715000" y="3995928"/>
            <a:ext cx="182880" cy="182880"/>
          </a:xfrm>
          <a:prstGeom prst="ellipse">
            <a:avLst/>
          </a:prstGeom>
          <a:solidFill>
            <a:schemeClr val="accent2"/>
          </a:solidFill>
          <a:ln w="12700">
            <a:solidFill>
              <a:schemeClr val="accent2"/>
            </a:solidFill>
            <a:prstDash val="solid"/>
          </a:ln>
        </p:spPr>
      </p:sp>
      <p:sp>
        <p:nvSpPr>
          <p:cNvPr id="42" name="Object Coins text"/>
          <p:cNvSpPr txBox="1"/>
          <p:nvPr/>
        </p:nvSpPr>
        <p:spPr>
          <a:xfrm>
            <a:off x="5989320" y="3758184"/>
            <a:ext cx="1051560" cy="658368"/>
          </a:xfrm>
          <a:prstGeom prst="rect">
            <a:avLst/>
          </a:prstGeom>
          <a:noFill/>
          <a:ln/>
        </p:spPr>
        <p:txBody>
          <a:bodyPr wrap="square" lIns="0" tIns="0" rIns="0" bIns="0" rtlCol="0" anchor="ctr"/>
          <a:lstStyle/>
          <a:p>
            <a:pPr marL="0" indent="0">
              <a:buNone/>
            </a:pPr>
            <a:r>
              <a:rPr lang="en-US" sz="1400" b="1" dirty="0">
                <a:solidFill>
                  <a:schemeClr val="tx1"/>
                </a:solidFill>
              </a:rPr>
              <a:t>Coins</a:t>
            </a:r>
            <a:endParaRPr lang="en-US" sz="1400" dirty="0"/>
          </a:p>
        </p:txBody>
      </p:sp>
      <p:sp>
        <p:nvSpPr>
          <p:cNvPr id="43" name="Back button">
            <a:hlinkClick r:id="rId3" action="ppaction://hlinksldjump" tooltip="Previous slide"/>
          </p:cNvPr>
          <p:cNvSpPr/>
          <p:nvPr/>
        </p:nvSpPr>
        <p:spPr>
          <a:xfrm>
            <a:off x="6446520" y="4636008"/>
            <a:ext cx="1051560" cy="347472"/>
          </a:xfrm>
          <a:prstGeom prst="roundRect">
            <a:avLst>
              <a:gd name="adj" fmla="val 50000"/>
            </a:avLst>
          </a:prstGeom>
          <a:solidFill>
            <a:schemeClr val="bg1"/>
          </a:solidFill>
          <a:ln/>
        </p:spPr>
        <p:txBody>
          <a:bodyPr wrap="square" lIns="0" tIns="0" rIns="0" bIns="0" rtlCol="0" anchor="ctr"/>
          <a:lstStyle/>
          <a:p>
            <a:pPr marL="0" indent="0" algn="ctr">
              <a:buNone/>
            </a:pPr>
            <a:r>
              <a:rPr lang="en-US" sz="1400" b="1" dirty="0">
                <a:solidFill>
                  <a:schemeClr val="tx1"/>
                </a:solidFill>
              </a:rPr>
              <a:t>‹ Back</a:t>
            </a:r>
            <a:endParaRPr lang="en-US" sz="1400" dirty="0"/>
          </a:p>
        </p:txBody>
      </p:sp>
      <p:sp>
        <p:nvSpPr>
          <p:cNvPr id="44" name="Next button">
            <a:hlinkClick r:id="rId5" action="ppaction://hlinksldjump" tooltip="Next slide"/>
          </p:cNvPr>
          <p:cNvSpPr/>
          <p:nvPr/>
        </p:nvSpPr>
        <p:spPr>
          <a:xfrm>
            <a:off x="7589520" y="4636008"/>
            <a:ext cx="1097280" cy="347472"/>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Next ›</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Safe sleep for every nap</a:t>
            </a:r>
            <a:endParaRPr lang="en-US"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Menu</a:t>
            </a:r>
            <a:endParaRPr lang="en-US" sz="1400" dirty="0"/>
          </a:p>
        </p:txBody>
      </p:sp>
      <p:sp>
        <p:nvSpPr>
          <p:cNvPr id="4" name="Card Back to sleep"/>
          <p:cNvSpPr/>
          <p:nvPr/>
        </p:nvSpPr>
        <p:spPr>
          <a:xfrm>
            <a:off x="457200" y="1143000"/>
            <a:ext cx="4023360" cy="1463040"/>
          </a:xfrm>
          <a:prstGeom prst="roundRect">
            <a:avLst>
              <a:gd name="adj" fmla="val 7500"/>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5" name="Back to sleep circle"/>
          <p:cNvSpPr/>
          <p:nvPr/>
        </p:nvSpPr>
        <p:spPr>
          <a:xfrm>
            <a:off x="640080" y="1307592"/>
            <a:ext cx="457200" cy="457200"/>
          </a:xfrm>
          <a:prstGeom prst="ellipse">
            <a:avLst/>
          </a:prstGeom>
          <a:solidFill>
            <a:schemeClr val="accent6"/>
          </a:solidFill>
          <a:ln w="12700">
            <a:solidFill>
              <a:schemeClr val="accent6"/>
            </a:solidFill>
            <a:prstDash val="solid"/>
          </a:ln>
        </p:spPr>
      </p:sp>
      <p:pic>
        <p:nvPicPr>
          <p:cNvPr id="6" name="Back to sleep glyph" descr="Back to sleep"/>
          <p:cNvPicPr>
            <a:picLocks noChangeAspect="1"/>
          </p:cNvPicPr>
          <p:nvPr/>
        </p:nvPicPr>
        <p:blipFill>
          <a:blip r:embed="rId4"/>
          <a:stretch>
            <a:fillRect/>
          </a:stretch>
        </p:blipFill>
        <p:spPr>
          <a:xfrm>
            <a:off x="758952" y="1426464"/>
            <a:ext cx="219456" cy="219456"/>
          </a:xfrm>
          <a:prstGeom prst="rect">
            <a:avLst/>
          </a:prstGeom>
        </p:spPr>
      </p:pic>
      <p:sp>
        <p:nvSpPr>
          <p:cNvPr id="7" name="Back to sleep heading"/>
          <p:cNvSpPr txBox="1"/>
          <p:nvPr/>
        </p:nvSpPr>
        <p:spPr>
          <a:xfrm>
            <a:off x="1207008" y="1307592"/>
            <a:ext cx="3108960" cy="457200"/>
          </a:xfrm>
          <a:prstGeom prst="rect">
            <a:avLst/>
          </a:prstGeom>
          <a:noFill/>
          <a:ln/>
        </p:spPr>
        <p:txBody>
          <a:bodyPr wrap="square" lIns="0" tIns="0" rIns="0" bIns="0" rtlCol="0" anchor="ctr"/>
          <a:lstStyle/>
          <a:p>
            <a:pPr marL="0" indent="0">
              <a:buNone/>
            </a:pPr>
            <a:r>
              <a:rPr lang="en-US" sz="1600" b="1" dirty="0">
                <a:solidFill>
                  <a:schemeClr val="tx1"/>
                </a:solidFill>
              </a:rPr>
              <a:t>Back to sleep</a:t>
            </a:r>
            <a:endParaRPr lang="en-US" sz="1600" dirty="0"/>
          </a:p>
        </p:txBody>
      </p:sp>
      <p:sp>
        <p:nvSpPr>
          <p:cNvPr id="8" name="Back to sleep text"/>
          <p:cNvSpPr txBox="1"/>
          <p:nvPr/>
        </p:nvSpPr>
        <p:spPr>
          <a:xfrm>
            <a:off x="640080" y="1856232"/>
            <a:ext cx="3657600" cy="640080"/>
          </a:xfrm>
          <a:prstGeom prst="rect">
            <a:avLst/>
          </a:prstGeom>
          <a:noFill/>
          <a:ln/>
        </p:spPr>
        <p:txBody>
          <a:bodyPr wrap="square" lIns="0" tIns="0" rIns="0" bIns="0" rtlCol="0" anchor="t"/>
          <a:lstStyle/>
          <a:p>
            <a:pPr marL="0" indent="0">
              <a:buNone/>
            </a:pPr>
            <a:r>
              <a:rPr lang="en-US" sz="1400" dirty="0">
                <a:solidFill>
                  <a:schemeClr val="tx2"/>
                </a:solidFill>
              </a:rPr>
              <a:t>Always place your baby on their back. Never on their side or stomach, which can cause suffocating or choking.</a:t>
            </a:r>
            <a:endParaRPr lang="en-US" sz="1400" dirty="0"/>
          </a:p>
        </p:txBody>
      </p:sp>
      <p:sp>
        <p:nvSpPr>
          <p:cNvPr id="9" name="Card Crib or bassinet"/>
          <p:cNvSpPr/>
          <p:nvPr/>
        </p:nvSpPr>
        <p:spPr>
          <a:xfrm>
            <a:off x="4663440" y="1143000"/>
            <a:ext cx="4023360" cy="1463040"/>
          </a:xfrm>
          <a:prstGeom prst="roundRect">
            <a:avLst>
              <a:gd name="adj" fmla="val 7500"/>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0" name="Crib or bassinet circle"/>
          <p:cNvSpPr/>
          <p:nvPr/>
        </p:nvSpPr>
        <p:spPr>
          <a:xfrm>
            <a:off x="4846320" y="1307592"/>
            <a:ext cx="457200" cy="457200"/>
          </a:xfrm>
          <a:prstGeom prst="ellipse">
            <a:avLst/>
          </a:prstGeom>
          <a:solidFill>
            <a:schemeClr val="accent4"/>
          </a:solidFill>
          <a:ln w="12700">
            <a:solidFill>
              <a:schemeClr val="accent4"/>
            </a:solidFill>
            <a:prstDash val="solid"/>
          </a:ln>
        </p:spPr>
      </p:sp>
      <p:pic>
        <p:nvPicPr>
          <p:cNvPr id="11" name="Crib or bassinet glyph" descr="Crib or bassinet"/>
          <p:cNvPicPr>
            <a:picLocks noChangeAspect="1"/>
          </p:cNvPicPr>
          <p:nvPr/>
        </p:nvPicPr>
        <p:blipFill>
          <a:blip r:embed="rId5"/>
          <a:stretch>
            <a:fillRect/>
          </a:stretch>
        </p:blipFill>
        <p:spPr>
          <a:xfrm>
            <a:off x="4965192" y="1426464"/>
            <a:ext cx="219456" cy="219456"/>
          </a:xfrm>
          <a:prstGeom prst="rect">
            <a:avLst/>
          </a:prstGeom>
        </p:spPr>
      </p:pic>
      <p:sp>
        <p:nvSpPr>
          <p:cNvPr id="12" name="Crib or bassinet heading"/>
          <p:cNvSpPr txBox="1"/>
          <p:nvPr/>
        </p:nvSpPr>
        <p:spPr>
          <a:xfrm>
            <a:off x="5413248" y="1307592"/>
            <a:ext cx="3108960" cy="457200"/>
          </a:xfrm>
          <a:prstGeom prst="rect">
            <a:avLst/>
          </a:prstGeom>
          <a:noFill/>
          <a:ln/>
        </p:spPr>
        <p:txBody>
          <a:bodyPr wrap="square" lIns="0" tIns="0" rIns="0" bIns="0" rtlCol="0" anchor="ctr"/>
          <a:lstStyle/>
          <a:p>
            <a:pPr marL="0" indent="0">
              <a:buNone/>
            </a:pPr>
            <a:r>
              <a:rPr lang="en-US" sz="1600" b="1" dirty="0">
                <a:solidFill>
                  <a:schemeClr val="tx1"/>
                </a:solidFill>
              </a:rPr>
              <a:t>Crib or bassinet</a:t>
            </a:r>
            <a:endParaRPr lang="en-US" sz="1600" dirty="0"/>
          </a:p>
        </p:txBody>
      </p:sp>
      <p:sp>
        <p:nvSpPr>
          <p:cNvPr id="13" name="Crib or bassinet text"/>
          <p:cNvSpPr txBox="1"/>
          <p:nvPr/>
        </p:nvSpPr>
        <p:spPr>
          <a:xfrm>
            <a:off x="4846320" y="1856232"/>
            <a:ext cx="3657600" cy="640080"/>
          </a:xfrm>
          <a:prstGeom prst="rect">
            <a:avLst/>
          </a:prstGeom>
          <a:noFill/>
          <a:ln/>
        </p:spPr>
        <p:txBody>
          <a:bodyPr wrap="square" lIns="0" tIns="0" rIns="0" bIns="0" rtlCol="0" anchor="t"/>
          <a:lstStyle/>
          <a:p>
            <a:pPr marL="0" indent="0">
              <a:buNone/>
            </a:pPr>
            <a:r>
              <a:rPr lang="en-US" sz="1400" dirty="0">
                <a:solidFill>
                  <a:schemeClr val="tx2"/>
                </a:solidFill>
              </a:rPr>
              <a:t>The safest place to sleep. Bed-sharing raises the chance of SUID.</a:t>
            </a:r>
            <a:endParaRPr lang="en-US" sz="1400" dirty="0"/>
          </a:p>
        </p:txBody>
      </p:sp>
      <p:sp>
        <p:nvSpPr>
          <p:cNvPr id="14" name="Card Room-sharing"/>
          <p:cNvSpPr/>
          <p:nvPr/>
        </p:nvSpPr>
        <p:spPr>
          <a:xfrm>
            <a:off x="457200" y="2743200"/>
            <a:ext cx="4023360" cy="1463040"/>
          </a:xfrm>
          <a:prstGeom prst="roundRect">
            <a:avLst>
              <a:gd name="adj" fmla="val 7500"/>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5" name="Room-sharing circle"/>
          <p:cNvSpPr/>
          <p:nvPr/>
        </p:nvSpPr>
        <p:spPr>
          <a:xfrm>
            <a:off x="640080" y="2907792"/>
            <a:ext cx="457200" cy="457200"/>
          </a:xfrm>
          <a:prstGeom prst="ellipse">
            <a:avLst/>
          </a:prstGeom>
          <a:solidFill>
            <a:schemeClr val="accent5"/>
          </a:solidFill>
          <a:ln w="12700">
            <a:solidFill>
              <a:schemeClr val="accent5"/>
            </a:solidFill>
            <a:prstDash val="solid"/>
          </a:ln>
        </p:spPr>
      </p:sp>
      <p:pic>
        <p:nvPicPr>
          <p:cNvPr id="16" name="Room-sharing glyph" descr="Room-sharing"/>
          <p:cNvPicPr>
            <a:picLocks noChangeAspect="1"/>
          </p:cNvPicPr>
          <p:nvPr/>
        </p:nvPicPr>
        <p:blipFill>
          <a:blip r:embed="rId6"/>
          <a:stretch>
            <a:fillRect/>
          </a:stretch>
        </p:blipFill>
        <p:spPr>
          <a:xfrm>
            <a:off x="758952" y="3026664"/>
            <a:ext cx="219456" cy="219456"/>
          </a:xfrm>
          <a:prstGeom prst="rect">
            <a:avLst/>
          </a:prstGeom>
        </p:spPr>
      </p:pic>
      <p:sp>
        <p:nvSpPr>
          <p:cNvPr id="17" name="Room-sharing heading"/>
          <p:cNvSpPr txBox="1"/>
          <p:nvPr/>
        </p:nvSpPr>
        <p:spPr>
          <a:xfrm>
            <a:off x="1207008" y="2907792"/>
            <a:ext cx="3108960" cy="457200"/>
          </a:xfrm>
          <a:prstGeom prst="rect">
            <a:avLst/>
          </a:prstGeom>
          <a:noFill/>
          <a:ln/>
        </p:spPr>
        <p:txBody>
          <a:bodyPr wrap="square" lIns="0" tIns="0" rIns="0" bIns="0" rtlCol="0" anchor="ctr"/>
          <a:lstStyle/>
          <a:p>
            <a:pPr marL="0" indent="0">
              <a:buNone/>
            </a:pPr>
            <a:r>
              <a:rPr lang="en-US" sz="1600" b="1" dirty="0">
                <a:solidFill>
                  <a:schemeClr val="tx1"/>
                </a:solidFill>
              </a:rPr>
              <a:t>Room-sharing</a:t>
            </a:r>
            <a:endParaRPr lang="en-US" sz="1600" dirty="0"/>
          </a:p>
        </p:txBody>
      </p:sp>
      <p:sp>
        <p:nvSpPr>
          <p:cNvPr id="18" name="Room-sharing text"/>
          <p:cNvSpPr txBox="1"/>
          <p:nvPr/>
        </p:nvSpPr>
        <p:spPr>
          <a:xfrm>
            <a:off x="640080" y="3456432"/>
            <a:ext cx="3657600" cy="640080"/>
          </a:xfrm>
          <a:prstGeom prst="rect">
            <a:avLst/>
          </a:prstGeom>
          <a:noFill/>
          <a:ln/>
        </p:spPr>
        <p:txBody>
          <a:bodyPr wrap="square" lIns="0" tIns="0" rIns="0" bIns="0" rtlCol="0" anchor="t"/>
          <a:lstStyle/>
          <a:p>
            <a:pPr marL="0" indent="0">
              <a:buNone/>
            </a:pPr>
            <a:r>
              <a:rPr lang="en-US" sz="1400" dirty="0">
                <a:solidFill>
                  <a:schemeClr val="tx2"/>
                </a:solidFill>
              </a:rPr>
              <a:t>Baby sleeps in your room in their own sleep space, like a crib. This helps prevent SUID.</a:t>
            </a:r>
            <a:endParaRPr lang="en-US" sz="1400" dirty="0"/>
          </a:p>
        </p:txBody>
      </p:sp>
      <p:sp>
        <p:nvSpPr>
          <p:cNvPr id="19" name="Card Breastfeeding in bed"/>
          <p:cNvSpPr/>
          <p:nvPr/>
        </p:nvSpPr>
        <p:spPr>
          <a:xfrm>
            <a:off x="4663440" y="2743200"/>
            <a:ext cx="4023360" cy="1463040"/>
          </a:xfrm>
          <a:prstGeom prst="roundRect">
            <a:avLst>
              <a:gd name="adj" fmla="val 7500"/>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20" name="Breastfeeding in bed circle"/>
          <p:cNvSpPr/>
          <p:nvPr/>
        </p:nvSpPr>
        <p:spPr>
          <a:xfrm>
            <a:off x="4846320" y="2907792"/>
            <a:ext cx="457200" cy="457200"/>
          </a:xfrm>
          <a:prstGeom prst="ellipse">
            <a:avLst/>
          </a:prstGeom>
          <a:solidFill>
            <a:schemeClr val="accent2"/>
          </a:solidFill>
          <a:ln w="12700">
            <a:solidFill>
              <a:schemeClr val="accent2"/>
            </a:solidFill>
            <a:prstDash val="solid"/>
          </a:ln>
        </p:spPr>
      </p:sp>
      <p:pic>
        <p:nvPicPr>
          <p:cNvPr id="21" name="Breastfeeding in bed glyph" descr="Breastfeeding in bed"/>
          <p:cNvPicPr>
            <a:picLocks noChangeAspect="1"/>
          </p:cNvPicPr>
          <p:nvPr/>
        </p:nvPicPr>
        <p:blipFill>
          <a:blip r:embed="rId7"/>
          <a:stretch>
            <a:fillRect/>
          </a:stretch>
        </p:blipFill>
        <p:spPr>
          <a:xfrm>
            <a:off x="4965192" y="3026664"/>
            <a:ext cx="219456" cy="219456"/>
          </a:xfrm>
          <a:prstGeom prst="rect">
            <a:avLst/>
          </a:prstGeom>
        </p:spPr>
      </p:pic>
      <p:sp>
        <p:nvSpPr>
          <p:cNvPr id="22" name="Breastfeeding in bed heading"/>
          <p:cNvSpPr txBox="1"/>
          <p:nvPr/>
        </p:nvSpPr>
        <p:spPr>
          <a:xfrm>
            <a:off x="5413248" y="2907792"/>
            <a:ext cx="3108960" cy="457200"/>
          </a:xfrm>
          <a:prstGeom prst="rect">
            <a:avLst/>
          </a:prstGeom>
          <a:noFill/>
          <a:ln/>
        </p:spPr>
        <p:txBody>
          <a:bodyPr wrap="square" lIns="0" tIns="0" rIns="0" bIns="0" rtlCol="0" anchor="ctr"/>
          <a:lstStyle/>
          <a:p>
            <a:pPr marL="0" indent="0">
              <a:buNone/>
            </a:pPr>
            <a:r>
              <a:rPr lang="en-US" sz="1600" b="1" dirty="0">
                <a:solidFill>
                  <a:schemeClr val="tx1"/>
                </a:solidFill>
              </a:rPr>
              <a:t>Breastfeeding in bed</a:t>
            </a:r>
            <a:endParaRPr lang="en-US" sz="1600" dirty="0"/>
          </a:p>
        </p:txBody>
      </p:sp>
      <p:sp>
        <p:nvSpPr>
          <p:cNvPr id="23" name="Breastfeeding in bed text"/>
          <p:cNvSpPr txBox="1"/>
          <p:nvPr/>
        </p:nvSpPr>
        <p:spPr>
          <a:xfrm>
            <a:off x="4846320" y="3456432"/>
            <a:ext cx="3657600" cy="640080"/>
          </a:xfrm>
          <a:prstGeom prst="rect">
            <a:avLst/>
          </a:prstGeom>
          <a:noFill/>
          <a:ln/>
        </p:spPr>
        <p:txBody>
          <a:bodyPr wrap="square" lIns="0" tIns="0" rIns="0" bIns="0" rtlCol="0" anchor="t"/>
          <a:lstStyle/>
          <a:p>
            <a:pPr marL="0" indent="0">
              <a:buNone/>
            </a:pPr>
            <a:r>
              <a:rPr lang="en-US" sz="1400" dirty="0">
                <a:solidFill>
                  <a:schemeClr val="tx2"/>
                </a:solidFill>
              </a:rPr>
              <a:t>That is fine. When baby stops nursing, put them back in their sleep space, on their back.</a:t>
            </a:r>
            <a:endParaRPr lang="en-US" sz="1400" dirty="0"/>
          </a:p>
        </p:txBody>
      </p:sp>
      <p:sp>
        <p:nvSpPr>
          <p:cNvPr id="24" name="SUID note"/>
          <p:cNvSpPr txBox="1"/>
          <p:nvPr/>
        </p:nvSpPr>
        <p:spPr>
          <a:xfrm>
            <a:off x="457200" y="4279392"/>
            <a:ext cx="5852160" cy="365760"/>
          </a:xfrm>
          <a:prstGeom prst="rect">
            <a:avLst/>
          </a:prstGeom>
          <a:noFill/>
          <a:ln/>
        </p:spPr>
        <p:txBody>
          <a:bodyPr wrap="square" lIns="0" tIns="0" rIns="0" bIns="0" rtlCol="0" anchor="ctr"/>
          <a:lstStyle/>
          <a:p>
            <a:pPr marL="0" indent="0">
              <a:buNone/>
            </a:pPr>
            <a:endParaRPr lang="en-US" sz="1000" dirty="0"/>
          </a:p>
        </p:txBody>
      </p:sp>
      <p:sp>
        <p:nvSpPr>
          <p:cNvPr id="25" name="Back button">
            <a:hlinkClick r:id="rId8" action="ppaction://hlinksldjump" tooltip="Previous slide"/>
          </p:cNvPr>
          <p:cNvSpPr/>
          <p:nvPr/>
        </p:nvSpPr>
        <p:spPr>
          <a:xfrm>
            <a:off x="6446520" y="4636008"/>
            <a:ext cx="1051560" cy="347472"/>
          </a:xfrm>
          <a:prstGeom prst="roundRect">
            <a:avLst>
              <a:gd name="adj" fmla="val 50000"/>
            </a:avLst>
          </a:prstGeom>
          <a:solidFill>
            <a:schemeClr val="bg1"/>
          </a:solidFill>
          <a:ln/>
        </p:spPr>
        <p:txBody>
          <a:bodyPr wrap="square" lIns="0" tIns="0" rIns="0" bIns="0" rtlCol="0" anchor="ctr"/>
          <a:lstStyle/>
          <a:p>
            <a:pPr marL="0" indent="0" algn="ctr">
              <a:buNone/>
            </a:pPr>
            <a:r>
              <a:rPr lang="en-US" sz="1400" b="1" dirty="0">
                <a:solidFill>
                  <a:schemeClr val="tx1"/>
                </a:solidFill>
              </a:rPr>
              <a:t>‹ Back</a:t>
            </a:r>
            <a:endParaRPr lang="en-US" sz="1400" dirty="0"/>
          </a:p>
        </p:txBody>
      </p:sp>
      <p:sp>
        <p:nvSpPr>
          <p:cNvPr id="26" name="Next button">
            <a:hlinkClick r:id="rId9" action="ppaction://hlinksldjump" tooltip="Next slide"/>
          </p:cNvPr>
          <p:cNvSpPr/>
          <p:nvPr/>
        </p:nvSpPr>
        <p:spPr>
          <a:xfrm>
            <a:off x="7589520" y="4636008"/>
            <a:ext cx="1097280" cy="347472"/>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Next ›</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Hands on, always</a:t>
            </a:r>
            <a:endParaRPr lang="en-US"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Menu</a:t>
            </a:r>
            <a:endParaRPr lang="en-US" sz="1400" dirty="0"/>
          </a:p>
        </p:txBody>
      </p:sp>
      <p:sp>
        <p:nvSpPr>
          <p:cNvPr id="4" name="Hands label"/>
          <p:cNvSpPr txBox="1"/>
          <p:nvPr/>
        </p:nvSpPr>
        <p:spPr>
          <a:xfrm>
            <a:off x="457200" y="1097280"/>
            <a:ext cx="5166360" cy="320040"/>
          </a:xfrm>
          <a:prstGeom prst="rect">
            <a:avLst/>
          </a:prstGeom>
          <a:noFill/>
          <a:ln/>
        </p:spPr>
        <p:txBody>
          <a:bodyPr wrap="square" lIns="0" tIns="0" rIns="0" bIns="0" rtlCol="0" anchor="ctr"/>
          <a:lstStyle/>
          <a:p>
            <a:pPr marL="0" indent="0">
              <a:buNone/>
            </a:pPr>
            <a:r>
              <a:rPr lang="en-US" sz="1400" b="1" dirty="0">
                <a:solidFill>
                  <a:schemeClr val="tx1"/>
                </a:solidFill>
              </a:rPr>
              <a:t>Always keep 1 hand on your baby. Never leave them alone:</a:t>
            </a:r>
            <a:endParaRPr lang="en-US" sz="1400" dirty="0"/>
          </a:p>
        </p:txBody>
      </p:sp>
      <p:sp>
        <p:nvSpPr>
          <p:cNvPr id="5" name="Never 1"/>
          <p:cNvSpPr/>
          <p:nvPr/>
        </p:nvSpPr>
        <p:spPr>
          <a:xfrm>
            <a:off x="457200" y="1481328"/>
            <a:ext cx="5166360" cy="438912"/>
          </a:xfrm>
          <a:prstGeom prst="roundRect">
            <a:avLst>
              <a:gd name="adj" fmla="val 25000"/>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6" name="Never 1 circle"/>
          <p:cNvSpPr/>
          <p:nvPr/>
        </p:nvSpPr>
        <p:spPr>
          <a:xfrm>
            <a:off x="548640" y="1536192"/>
            <a:ext cx="329184" cy="329184"/>
          </a:xfrm>
          <a:prstGeom prst="ellipse">
            <a:avLst/>
          </a:prstGeom>
          <a:solidFill>
            <a:schemeClr val="accent2"/>
          </a:solidFill>
          <a:ln w="12700">
            <a:solidFill>
              <a:schemeClr val="accent2"/>
            </a:solidFill>
            <a:prstDash val="solid"/>
          </a:ln>
        </p:spPr>
      </p:sp>
      <p:pic>
        <p:nvPicPr>
          <p:cNvPr id="7" name="Never 1 glyph" descr="Never 1"/>
          <p:cNvPicPr>
            <a:picLocks noChangeAspect="1"/>
          </p:cNvPicPr>
          <p:nvPr/>
        </p:nvPicPr>
        <p:blipFill>
          <a:blip r:embed="rId4"/>
          <a:stretch>
            <a:fillRect/>
          </a:stretch>
        </p:blipFill>
        <p:spPr>
          <a:xfrm>
            <a:off x="634228" y="1621780"/>
            <a:ext cx="158008" cy="158008"/>
          </a:xfrm>
          <a:prstGeom prst="rect">
            <a:avLst/>
          </a:prstGeom>
        </p:spPr>
      </p:pic>
      <p:sp>
        <p:nvSpPr>
          <p:cNvPr id="8" name="Never 1 text"/>
          <p:cNvSpPr txBox="1"/>
          <p:nvPr/>
        </p:nvSpPr>
        <p:spPr>
          <a:xfrm>
            <a:off x="1005840" y="1481328"/>
            <a:ext cx="4526280" cy="438912"/>
          </a:xfrm>
          <a:prstGeom prst="rect">
            <a:avLst/>
          </a:prstGeom>
          <a:noFill/>
          <a:ln/>
        </p:spPr>
        <p:txBody>
          <a:bodyPr wrap="square" lIns="0" tIns="0" rIns="0" bIns="0" rtlCol="0" anchor="ctr"/>
          <a:lstStyle/>
          <a:p>
            <a:pPr marL="0" indent="0">
              <a:buNone/>
            </a:pPr>
            <a:r>
              <a:rPr lang="en-US" sz="1400" dirty="0">
                <a:solidFill>
                  <a:schemeClr val="tx1"/>
                </a:solidFill>
              </a:rPr>
              <a:t>In a vehicle</a:t>
            </a:r>
            <a:endParaRPr lang="en-US" sz="1400" dirty="0"/>
          </a:p>
        </p:txBody>
      </p:sp>
      <p:sp>
        <p:nvSpPr>
          <p:cNvPr id="9" name="Never 2"/>
          <p:cNvSpPr/>
          <p:nvPr/>
        </p:nvSpPr>
        <p:spPr>
          <a:xfrm>
            <a:off x="457200" y="1984248"/>
            <a:ext cx="5166360" cy="438912"/>
          </a:xfrm>
          <a:prstGeom prst="roundRect">
            <a:avLst>
              <a:gd name="adj" fmla="val 25000"/>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0" name="Never 2 circle"/>
          <p:cNvSpPr/>
          <p:nvPr/>
        </p:nvSpPr>
        <p:spPr>
          <a:xfrm>
            <a:off x="548640" y="2039112"/>
            <a:ext cx="329184" cy="329184"/>
          </a:xfrm>
          <a:prstGeom prst="ellipse">
            <a:avLst/>
          </a:prstGeom>
          <a:solidFill>
            <a:schemeClr val="accent2"/>
          </a:solidFill>
          <a:ln w="12700">
            <a:solidFill>
              <a:schemeClr val="accent2"/>
            </a:solidFill>
            <a:prstDash val="solid"/>
          </a:ln>
        </p:spPr>
      </p:sp>
      <p:pic>
        <p:nvPicPr>
          <p:cNvPr id="11" name="Never 2 glyph" descr="Never 2"/>
          <p:cNvPicPr>
            <a:picLocks noChangeAspect="1"/>
          </p:cNvPicPr>
          <p:nvPr/>
        </p:nvPicPr>
        <p:blipFill>
          <a:blip r:embed="rId4"/>
          <a:stretch>
            <a:fillRect/>
          </a:stretch>
        </p:blipFill>
        <p:spPr>
          <a:xfrm>
            <a:off x="634228" y="2124700"/>
            <a:ext cx="158008" cy="158008"/>
          </a:xfrm>
          <a:prstGeom prst="rect">
            <a:avLst/>
          </a:prstGeom>
        </p:spPr>
      </p:pic>
      <p:sp>
        <p:nvSpPr>
          <p:cNvPr id="12" name="Never 2 text"/>
          <p:cNvSpPr txBox="1"/>
          <p:nvPr/>
        </p:nvSpPr>
        <p:spPr>
          <a:xfrm>
            <a:off x="1005840" y="1984248"/>
            <a:ext cx="4526280" cy="438912"/>
          </a:xfrm>
          <a:prstGeom prst="rect">
            <a:avLst/>
          </a:prstGeom>
          <a:noFill/>
          <a:ln/>
        </p:spPr>
        <p:txBody>
          <a:bodyPr wrap="square" lIns="0" tIns="0" rIns="0" bIns="0" rtlCol="0" anchor="ctr"/>
          <a:lstStyle/>
          <a:p>
            <a:pPr marL="0" indent="0">
              <a:buNone/>
            </a:pPr>
            <a:r>
              <a:rPr lang="en-US" sz="1400" dirty="0">
                <a:solidFill>
                  <a:schemeClr val="tx1"/>
                </a:solidFill>
              </a:rPr>
              <a:t>During a bath</a:t>
            </a:r>
            <a:endParaRPr lang="en-US" sz="1400" dirty="0"/>
          </a:p>
        </p:txBody>
      </p:sp>
      <p:sp>
        <p:nvSpPr>
          <p:cNvPr id="13" name="Never 3"/>
          <p:cNvSpPr/>
          <p:nvPr/>
        </p:nvSpPr>
        <p:spPr>
          <a:xfrm>
            <a:off x="457200" y="2487168"/>
            <a:ext cx="5166360" cy="438912"/>
          </a:xfrm>
          <a:prstGeom prst="roundRect">
            <a:avLst>
              <a:gd name="adj" fmla="val 25000"/>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4" name="Never 3 circle"/>
          <p:cNvSpPr/>
          <p:nvPr/>
        </p:nvSpPr>
        <p:spPr>
          <a:xfrm>
            <a:off x="548640" y="2542032"/>
            <a:ext cx="329184" cy="329184"/>
          </a:xfrm>
          <a:prstGeom prst="ellipse">
            <a:avLst/>
          </a:prstGeom>
          <a:solidFill>
            <a:schemeClr val="accent2"/>
          </a:solidFill>
          <a:ln w="12700">
            <a:solidFill>
              <a:schemeClr val="accent2"/>
            </a:solidFill>
            <a:prstDash val="solid"/>
          </a:ln>
        </p:spPr>
      </p:sp>
      <p:pic>
        <p:nvPicPr>
          <p:cNvPr id="15" name="Never 3 glyph" descr="Never 3"/>
          <p:cNvPicPr>
            <a:picLocks noChangeAspect="1"/>
          </p:cNvPicPr>
          <p:nvPr/>
        </p:nvPicPr>
        <p:blipFill>
          <a:blip r:embed="rId4"/>
          <a:stretch>
            <a:fillRect/>
          </a:stretch>
        </p:blipFill>
        <p:spPr>
          <a:xfrm>
            <a:off x="634228" y="2627620"/>
            <a:ext cx="158008" cy="158008"/>
          </a:xfrm>
          <a:prstGeom prst="rect">
            <a:avLst/>
          </a:prstGeom>
        </p:spPr>
      </p:pic>
      <p:sp>
        <p:nvSpPr>
          <p:cNvPr id="16" name="Never 3 text"/>
          <p:cNvSpPr txBox="1"/>
          <p:nvPr/>
        </p:nvSpPr>
        <p:spPr>
          <a:xfrm>
            <a:off x="1005840" y="2487168"/>
            <a:ext cx="4526280" cy="438912"/>
          </a:xfrm>
          <a:prstGeom prst="rect">
            <a:avLst/>
          </a:prstGeom>
          <a:noFill/>
          <a:ln/>
        </p:spPr>
        <p:txBody>
          <a:bodyPr wrap="square" lIns="0" tIns="0" rIns="0" bIns="0" rtlCol="0" anchor="ctr"/>
          <a:lstStyle/>
          <a:p>
            <a:pPr marL="0" indent="0">
              <a:buNone/>
            </a:pPr>
            <a:r>
              <a:rPr lang="en-US" sz="1400" dirty="0">
                <a:solidFill>
                  <a:schemeClr val="tx1"/>
                </a:solidFill>
              </a:rPr>
              <a:t>In a shopping cart</a:t>
            </a:r>
            <a:endParaRPr lang="en-US" sz="1400" dirty="0"/>
          </a:p>
        </p:txBody>
      </p:sp>
      <p:sp>
        <p:nvSpPr>
          <p:cNvPr id="17" name="Never 4"/>
          <p:cNvSpPr/>
          <p:nvPr/>
        </p:nvSpPr>
        <p:spPr>
          <a:xfrm>
            <a:off x="457200" y="2990088"/>
            <a:ext cx="5166360" cy="438912"/>
          </a:xfrm>
          <a:prstGeom prst="roundRect">
            <a:avLst>
              <a:gd name="adj" fmla="val 25000"/>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8" name="Never 4 circle"/>
          <p:cNvSpPr/>
          <p:nvPr/>
        </p:nvSpPr>
        <p:spPr>
          <a:xfrm>
            <a:off x="548640" y="3044952"/>
            <a:ext cx="329184" cy="329184"/>
          </a:xfrm>
          <a:prstGeom prst="ellipse">
            <a:avLst/>
          </a:prstGeom>
          <a:solidFill>
            <a:schemeClr val="accent2"/>
          </a:solidFill>
          <a:ln w="12700">
            <a:solidFill>
              <a:schemeClr val="accent2"/>
            </a:solidFill>
            <a:prstDash val="solid"/>
          </a:ln>
        </p:spPr>
      </p:sp>
      <p:pic>
        <p:nvPicPr>
          <p:cNvPr id="19" name="Never 4 glyph" descr="Never 4"/>
          <p:cNvPicPr>
            <a:picLocks noChangeAspect="1"/>
          </p:cNvPicPr>
          <p:nvPr/>
        </p:nvPicPr>
        <p:blipFill>
          <a:blip r:embed="rId4"/>
          <a:stretch>
            <a:fillRect/>
          </a:stretch>
        </p:blipFill>
        <p:spPr>
          <a:xfrm>
            <a:off x="634228" y="3130540"/>
            <a:ext cx="158008" cy="158008"/>
          </a:xfrm>
          <a:prstGeom prst="rect">
            <a:avLst/>
          </a:prstGeom>
        </p:spPr>
      </p:pic>
      <p:sp>
        <p:nvSpPr>
          <p:cNvPr id="20" name="Never 4 text"/>
          <p:cNvSpPr txBox="1"/>
          <p:nvPr/>
        </p:nvSpPr>
        <p:spPr>
          <a:xfrm>
            <a:off x="1005840" y="2990088"/>
            <a:ext cx="4526280" cy="438912"/>
          </a:xfrm>
          <a:prstGeom prst="rect">
            <a:avLst/>
          </a:prstGeom>
          <a:noFill/>
          <a:ln/>
        </p:spPr>
        <p:txBody>
          <a:bodyPr wrap="square" lIns="0" tIns="0" rIns="0" bIns="0" rtlCol="0" anchor="ctr"/>
          <a:lstStyle/>
          <a:p>
            <a:pPr marL="0" indent="0">
              <a:buNone/>
            </a:pPr>
            <a:r>
              <a:rPr lang="en-US" sz="1400" dirty="0">
                <a:solidFill>
                  <a:schemeClr val="tx1"/>
                </a:solidFill>
              </a:rPr>
              <a:t>With pets or other animals</a:t>
            </a:r>
            <a:endParaRPr lang="en-US" sz="1400" dirty="0"/>
          </a:p>
        </p:txBody>
      </p:sp>
      <p:sp>
        <p:nvSpPr>
          <p:cNvPr id="21" name="Never 5"/>
          <p:cNvSpPr/>
          <p:nvPr/>
        </p:nvSpPr>
        <p:spPr>
          <a:xfrm>
            <a:off x="457200" y="3493008"/>
            <a:ext cx="5166360" cy="438912"/>
          </a:xfrm>
          <a:prstGeom prst="roundRect">
            <a:avLst>
              <a:gd name="adj" fmla="val 25000"/>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22" name="Never 5 circle"/>
          <p:cNvSpPr/>
          <p:nvPr/>
        </p:nvSpPr>
        <p:spPr>
          <a:xfrm>
            <a:off x="548640" y="3547872"/>
            <a:ext cx="329184" cy="329184"/>
          </a:xfrm>
          <a:prstGeom prst="ellipse">
            <a:avLst/>
          </a:prstGeom>
          <a:solidFill>
            <a:schemeClr val="accent2"/>
          </a:solidFill>
          <a:ln w="12700">
            <a:solidFill>
              <a:schemeClr val="accent2"/>
            </a:solidFill>
            <a:prstDash val="solid"/>
          </a:ln>
        </p:spPr>
      </p:sp>
      <p:pic>
        <p:nvPicPr>
          <p:cNvPr id="23" name="Never 5 glyph" descr="Never 5"/>
          <p:cNvPicPr>
            <a:picLocks noChangeAspect="1"/>
          </p:cNvPicPr>
          <p:nvPr/>
        </p:nvPicPr>
        <p:blipFill>
          <a:blip r:embed="rId4"/>
          <a:stretch>
            <a:fillRect/>
          </a:stretch>
        </p:blipFill>
        <p:spPr>
          <a:xfrm>
            <a:off x="634228" y="3633460"/>
            <a:ext cx="158008" cy="158008"/>
          </a:xfrm>
          <a:prstGeom prst="rect">
            <a:avLst/>
          </a:prstGeom>
        </p:spPr>
      </p:pic>
      <p:sp>
        <p:nvSpPr>
          <p:cNvPr id="24" name="Never 5 text"/>
          <p:cNvSpPr txBox="1"/>
          <p:nvPr/>
        </p:nvSpPr>
        <p:spPr>
          <a:xfrm>
            <a:off x="1005840" y="3493008"/>
            <a:ext cx="4526280" cy="438912"/>
          </a:xfrm>
          <a:prstGeom prst="rect">
            <a:avLst/>
          </a:prstGeom>
          <a:noFill/>
          <a:ln/>
        </p:spPr>
        <p:txBody>
          <a:bodyPr wrap="square" lIns="0" tIns="0" rIns="0" bIns="0" rtlCol="0" anchor="ctr"/>
          <a:lstStyle/>
          <a:p>
            <a:pPr marL="0" indent="0">
              <a:buNone/>
            </a:pPr>
            <a:r>
              <a:rPr lang="en-US" sz="1400" dirty="0">
                <a:solidFill>
                  <a:schemeClr val="tx1"/>
                </a:solidFill>
              </a:rPr>
              <a:t>On a raised surface: changing table, counter or chair</a:t>
            </a:r>
            <a:endParaRPr lang="en-US" sz="1400" dirty="0"/>
          </a:p>
        </p:txBody>
      </p:sp>
      <p:sp>
        <p:nvSpPr>
          <p:cNvPr id="25" name="Shake banner"/>
          <p:cNvSpPr/>
          <p:nvPr/>
        </p:nvSpPr>
        <p:spPr>
          <a:xfrm>
            <a:off x="457200" y="4069080"/>
            <a:ext cx="5166360" cy="502920"/>
          </a:xfrm>
          <a:prstGeom prst="roundRect">
            <a:avLst>
              <a:gd name="adj" fmla="val 18182"/>
            </a:avLst>
          </a:prstGeom>
          <a:solidFill>
            <a:schemeClr val="tx1"/>
          </a:solidFill>
          <a:ln w="12700">
            <a:solidFill>
              <a:schemeClr val="tx1"/>
            </a:solidFill>
            <a:prstDash val="solid"/>
          </a:ln>
        </p:spPr>
      </p:sp>
      <p:sp>
        <p:nvSpPr>
          <p:cNvPr id="26" name="Shake text"/>
          <p:cNvSpPr txBox="1"/>
          <p:nvPr/>
        </p:nvSpPr>
        <p:spPr>
          <a:xfrm>
            <a:off x="594360" y="4069080"/>
            <a:ext cx="4937760" cy="502920"/>
          </a:xfrm>
          <a:prstGeom prst="rect">
            <a:avLst/>
          </a:prstGeom>
          <a:noFill/>
          <a:ln/>
        </p:spPr>
        <p:txBody>
          <a:bodyPr wrap="square" lIns="0" tIns="0" rIns="0" bIns="0" rtlCol="0" anchor="ctr"/>
          <a:lstStyle/>
          <a:p>
            <a:pPr marL="0" indent="0">
              <a:buNone/>
            </a:pPr>
            <a:r>
              <a:rPr lang="en-US" sz="1400" b="1" dirty="0">
                <a:solidFill>
                  <a:schemeClr val="accent3"/>
                </a:solidFill>
              </a:rPr>
              <a:t>Never hit or shake your baby. </a:t>
            </a:r>
            <a:r>
              <a:rPr lang="en-US" sz="1400" dirty="0">
                <a:solidFill>
                  <a:schemeClr val="bg1"/>
                </a:solidFill>
              </a:rPr>
              <a:t>Overwhelmed? Take a break with someone you trust.</a:t>
            </a:r>
            <a:endParaRPr lang="en-US" sz="1400" dirty="0"/>
          </a:p>
        </p:txBody>
      </p:sp>
      <p:pic>
        <p:nvPicPr>
          <p:cNvPr id="27" name="Family photo" descr="Two parents swinging a child between them across a field at sunset"/>
          <p:cNvPicPr>
            <a:picLocks noChangeAspect="1"/>
          </p:cNvPicPr>
          <p:nvPr/>
        </p:nvPicPr>
        <p:blipFill>
          <a:blip r:embed="rId5"/>
          <a:stretch>
            <a:fillRect/>
          </a:stretch>
        </p:blipFill>
        <p:spPr>
          <a:xfrm>
            <a:off x="5852160" y="1143000"/>
            <a:ext cx="2834640" cy="3429000"/>
          </a:xfrm>
          <a:prstGeom prst="rect">
            <a:avLst/>
          </a:prstGeom>
        </p:spPr>
      </p:pic>
      <p:sp>
        <p:nvSpPr>
          <p:cNvPr id="28" name="Back button">
            <a:hlinkClick r:id="rId6" action="ppaction://hlinksldjump" tooltip="Previous slide"/>
          </p:cNvPr>
          <p:cNvSpPr/>
          <p:nvPr/>
        </p:nvSpPr>
        <p:spPr>
          <a:xfrm>
            <a:off x="6446520" y="4636008"/>
            <a:ext cx="1051560" cy="347472"/>
          </a:xfrm>
          <a:prstGeom prst="roundRect">
            <a:avLst>
              <a:gd name="adj" fmla="val 50000"/>
            </a:avLst>
          </a:prstGeom>
          <a:solidFill>
            <a:schemeClr val="bg1"/>
          </a:solidFill>
          <a:ln/>
        </p:spPr>
        <p:txBody>
          <a:bodyPr wrap="square" lIns="0" tIns="0" rIns="0" bIns="0" rtlCol="0" anchor="ctr"/>
          <a:lstStyle/>
          <a:p>
            <a:pPr marL="0" indent="0" algn="ctr">
              <a:buNone/>
            </a:pPr>
            <a:r>
              <a:rPr lang="en-US" sz="1400" b="1" dirty="0">
                <a:solidFill>
                  <a:schemeClr val="tx1"/>
                </a:solidFill>
              </a:rPr>
              <a:t>‹ Back</a:t>
            </a:r>
            <a:endParaRPr lang="en-US" sz="1400" dirty="0"/>
          </a:p>
        </p:txBody>
      </p:sp>
      <p:sp>
        <p:nvSpPr>
          <p:cNvPr id="29" name="Next button">
            <a:hlinkClick r:id="rId7" action="ppaction://hlinksldjump" tooltip="Next slide"/>
          </p:cNvPr>
          <p:cNvSpPr/>
          <p:nvPr/>
        </p:nvSpPr>
        <p:spPr>
          <a:xfrm>
            <a:off x="7589520" y="4636008"/>
            <a:ext cx="1097280" cy="347472"/>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Next ›</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Childproof the home</a:t>
            </a:r>
            <a:endParaRPr lang="en-US"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Menu</a:t>
            </a:r>
            <a:endParaRPr lang="en-US" sz="1400" dirty="0"/>
          </a:p>
        </p:txBody>
      </p:sp>
      <p:sp>
        <p:nvSpPr>
          <p:cNvPr id="4" name="Card Lock it up"/>
          <p:cNvSpPr/>
          <p:nvPr/>
        </p:nvSpPr>
        <p:spPr>
          <a:xfrm>
            <a:off x="457200" y="1143000"/>
            <a:ext cx="2651760" cy="1645920"/>
          </a:xfrm>
          <a:prstGeom prst="roundRect">
            <a:avLst>
              <a:gd name="adj" fmla="val 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5" name="Lock it up circle"/>
          <p:cNvSpPr/>
          <p:nvPr/>
        </p:nvSpPr>
        <p:spPr>
          <a:xfrm>
            <a:off x="640080" y="1307592"/>
            <a:ext cx="457200" cy="457200"/>
          </a:xfrm>
          <a:prstGeom prst="ellipse">
            <a:avLst/>
          </a:prstGeom>
          <a:solidFill>
            <a:schemeClr val="accent1"/>
          </a:solidFill>
          <a:ln w="12700">
            <a:solidFill>
              <a:schemeClr val="accent1"/>
            </a:solidFill>
            <a:prstDash val="solid"/>
          </a:ln>
        </p:spPr>
      </p:sp>
      <p:pic>
        <p:nvPicPr>
          <p:cNvPr id="6" name="Lock it up glyph" descr="Lock it up"/>
          <p:cNvPicPr>
            <a:picLocks noChangeAspect="1"/>
          </p:cNvPicPr>
          <p:nvPr/>
        </p:nvPicPr>
        <p:blipFill>
          <a:blip r:embed="rId4"/>
          <a:stretch>
            <a:fillRect/>
          </a:stretch>
        </p:blipFill>
        <p:spPr>
          <a:xfrm>
            <a:off x="758952" y="1426464"/>
            <a:ext cx="219456" cy="219456"/>
          </a:xfrm>
          <a:prstGeom prst="rect">
            <a:avLst/>
          </a:prstGeom>
        </p:spPr>
      </p:pic>
      <p:sp>
        <p:nvSpPr>
          <p:cNvPr id="7" name="Lock it up heading"/>
          <p:cNvSpPr txBox="1"/>
          <p:nvPr/>
        </p:nvSpPr>
        <p:spPr>
          <a:xfrm>
            <a:off x="1207008" y="1307592"/>
            <a:ext cx="1737360" cy="457200"/>
          </a:xfrm>
          <a:prstGeom prst="rect">
            <a:avLst/>
          </a:prstGeom>
          <a:noFill/>
          <a:ln/>
        </p:spPr>
        <p:txBody>
          <a:bodyPr wrap="square" lIns="0" tIns="0" rIns="0" bIns="0" rtlCol="0" anchor="ctr"/>
          <a:lstStyle/>
          <a:p>
            <a:pPr marL="0" indent="0">
              <a:buNone/>
            </a:pPr>
            <a:r>
              <a:rPr lang="en-US" sz="1600" b="1" dirty="0">
                <a:solidFill>
                  <a:schemeClr val="tx1"/>
                </a:solidFill>
              </a:rPr>
              <a:t>Lock it up</a:t>
            </a:r>
            <a:endParaRPr lang="en-US" sz="1600" dirty="0"/>
          </a:p>
        </p:txBody>
      </p:sp>
      <p:sp>
        <p:nvSpPr>
          <p:cNvPr id="8" name="Lock it up text"/>
          <p:cNvSpPr txBox="1"/>
          <p:nvPr/>
        </p:nvSpPr>
        <p:spPr>
          <a:xfrm>
            <a:off x="640080" y="1856232"/>
            <a:ext cx="2286000" cy="822960"/>
          </a:xfrm>
          <a:prstGeom prst="rect">
            <a:avLst/>
          </a:prstGeom>
          <a:noFill/>
          <a:ln/>
        </p:spPr>
        <p:txBody>
          <a:bodyPr wrap="square" lIns="0" tIns="0" rIns="0" bIns="0" rtlCol="0" anchor="t"/>
          <a:lstStyle/>
          <a:p>
            <a:pPr marL="0" indent="0">
              <a:buNone/>
            </a:pPr>
            <a:r>
              <a:rPr lang="en-US" sz="1400" dirty="0">
                <a:solidFill>
                  <a:schemeClr val="tx2"/>
                </a:solidFill>
              </a:rPr>
              <a:t>Safety locks on cabinets with cleaning products or medicine. Keep medicine, cigarettes and lighters out of reach.</a:t>
            </a:r>
            <a:endParaRPr lang="en-US" sz="1400" dirty="0"/>
          </a:p>
        </p:txBody>
      </p:sp>
      <p:sp>
        <p:nvSpPr>
          <p:cNvPr id="9" name="Card Cover outlets"/>
          <p:cNvSpPr/>
          <p:nvPr/>
        </p:nvSpPr>
        <p:spPr>
          <a:xfrm>
            <a:off x="3246120" y="1143000"/>
            <a:ext cx="2651760" cy="1645920"/>
          </a:xfrm>
          <a:prstGeom prst="roundRect">
            <a:avLst>
              <a:gd name="adj" fmla="val 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0" name="Cover outlets circle"/>
          <p:cNvSpPr/>
          <p:nvPr/>
        </p:nvSpPr>
        <p:spPr>
          <a:xfrm>
            <a:off x="3429000" y="1307592"/>
            <a:ext cx="457200" cy="457200"/>
          </a:xfrm>
          <a:prstGeom prst="ellipse">
            <a:avLst/>
          </a:prstGeom>
          <a:solidFill>
            <a:schemeClr val="accent6"/>
          </a:solidFill>
          <a:ln w="12700">
            <a:solidFill>
              <a:schemeClr val="accent6"/>
            </a:solidFill>
            <a:prstDash val="solid"/>
          </a:ln>
        </p:spPr>
      </p:sp>
      <p:pic>
        <p:nvPicPr>
          <p:cNvPr id="11" name="Cover outlets glyph" descr="Cover outlets"/>
          <p:cNvPicPr>
            <a:picLocks noChangeAspect="1"/>
          </p:cNvPicPr>
          <p:nvPr/>
        </p:nvPicPr>
        <p:blipFill>
          <a:blip r:embed="rId5"/>
          <a:stretch>
            <a:fillRect/>
          </a:stretch>
        </p:blipFill>
        <p:spPr>
          <a:xfrm>
            <a:off x="3547872" y="1426464"/>
            <a:ext cx="219456" cy="219456"/>
          </a:xfrm>
          <a:prstGeom prst="rect">
            <a:avLst/>
          </a:prstGeom>
        </p:spPr>
      </p:pic>
      <p:sp>
        <p:nvSpPr>
          <p:cNvPr id="12" name="Cover outlets heading"/>
          <p:cNvSpPr txBox="1"/>
          <p:nvPr/>
        </p:nvSpPr>
        <p:spPr>
          <a:xfrm>
            <a:off x="3995928" y="1307592"/>
            <a:ext cx="1737360" cy="457200"/>
          </a:xfrm>
          <a:prstGeom prst="rect">
            <a:avLst/>
          </a:prstGeom>
          <a:noFill/>
          <a:ln/>
        </p:spPr>
        <p:txBody>
          <a:bodyPr wrap="square" lIns="0" tIns="0" rIns="0" bIns="0" rtlCol="0" anchor="ctr"/>
          <a:lstStyle/>
          <a:p>
            <a:pPr marL="0" indent="0">
              <a:buNone/>
            </a:pPr>
            <a:r>
              <a:rPr lang="en-US" sz="1600" b="1" dirty="0">
                <a:solidFill>
                  <a:schemeClr val="tx1"/>
                </a:solidFill>
              </a:rPr>
              <a:t>Cover outlets</a:t>
            </a:r>
            <a:endParaRPr lang="en-US" sz="1600" dirty="0"/>
          </a:p>
        </p:txBody>
      </p:sp>
      <p:sp>
        <p:nvSpPr>
          <p:cNvPr id="13" name="Cover outlets text"/>
          <p:cNvSpPr txBox="1"/>
          <p:nvPr/>
        </p:nvSpPr>
        <p:spPr>
          <a:xfrm>
            <a:off x="3429000" y="1856232"/>
            <a:ext cx="2286000" cy="822960"/>
          </a:xfrm>
          <a:prstGeom prst="rect">
            <a:avLst/>
          </a:prstGeom>
          <a:noFill/>
          <a:ln/>
        </p:spPr>
        <p:txBody>
          <a:bodyPr wrap="square" lIns="0" tIns="0" rIns="0" bIns="0" rtlCol="0" anchor="t"/>
          <a:lstStyle/>
          <a:p>
            <a:pPr marL="0" indent="0">
              <a:buNone/>
            </a:pPr>
            <a:r>
              <a:rPr lang="en-US" sz="1400" dirty="0">
                <a:solidFill>
                  <a:schemeClr val="tx2"/>
                </a:solidFill>
              </a:rPr>
              <a:t>Safety covers on electric outlets that are not in use.</a:t>
            </a:r>
            <a:endParaRPr lang="en-US" sz="1400" dirty="0"/>
          </a:p>
        </p:txBody>
      </p:sp>
      <p:sp>
        <p:nvSpPr>
          <p:cNvPr id="14" name="Card Gate the stairs"/>
          <p:cNvSpPr/>
          <p:nvPr/>
        </p:nvSpPr>
        <p:spPr>
          <a:xfrm>
            <a:off x="6035040" y="1143000"/>
            <a:ext cx="2651760" cy="1645920"/>
          </a:xfrm>
          <a:prstGeom prst="roundRect">
            <a:avLst>
              <a:gd name="adj" fmla="val 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5" name="Gate the stairs circle"/>
          <p:cNvSpPr/>
          <p:nvPr/>
        </p:nvSpPr>
        <p:spPr>
          <a:xfrm>
            <a:off x="6217920" y="1307592"/>
            <a:ext cx="457200" cy="457200"/>
          </a:xfrm>
          <a:prstGeom prst="ellipse">
            <a:avLst/>
          </a:prstGeom>
          <a:solidFill>
            <a:schemeClr val="accent4"/>
          </a:solidFill>
          <a:ln w="12700">
            <a:solidFill>
              <a:schemeClr val="accent4"/>
            </a:solidFill>
            <a:prstDash val="solid"/>
          </a:ln>
        </p:spPr>
      </p:sp>
      <p:pic>
        <p:nvPicPr>
          <p:cNvPr id="16" name="Gate the stairs glyph" descr="Gate the stairs"/>
          <p:cNvPicPr>
            <a:picLocks noChangeAspect="1"/>
          </p:cNvPicPr>
          <p:nvPr/>
        </p:nvPicPr>
        <p:blipFill>
          <a:blip r:embed="rId6"/>
          <a:stretch>
            <a:fillRect/>
          </a:stretch>
        </p:blipFill>
        <p:spPr>
          <a:xfrm>
            <a:off x="6336792" y="1426464"/>
            <a:ext cx="219456" cy="219456"/>
          </a:xfrm>
          <a:prstGeom prst="rect">
            <a:avLst/>
          </a:prstGeom>
        </p:spPr>
      </p:pic>
      <p:sp>
        <p:nvSpPr>
          <p:cNvPr id="17" name="Gate the stairs heading"/>
          <p:cNvSpPr txBox="1"/>
          <p:nvPr/>
        </p:nvSpPr>
        <p:spPr>
          <a:xfrm>
            <a:off x="6784848" y="1307592"/>
            <a:ext cx="1737360" cy="457200"/>
          </a:xfrm>
          <a:prstGeom prst="rect">
            <a:avLst/>
          </a:prstGeom>
          <a:noFill/>
          <a:ln/>
        </p:spPr>
        <p:txBody>
          <a:bodyPr wrap="square" lIns="0" tIns="0" rIns="0" bIns="0" rtlCol="0" anchor="ctr"/>
          <a:lstStyle/>
          <a:p>
            <a:pPr marL="0" indent="0">
              <a:buNone/>
            </a:pPr>
            <a:r>
              <a:rPr lang="en-US" sz="1600" b="1" dirty="0">
                <a:solidFill>
                  <a:schemeClr val="tx1"/>
                </a:solidFill>
              </a:rPr>
              <a:t>Gate the stairs</a:t>
            </a:r>
            <a:endParaRPr lang="en-US" sz="1600" dirty="0"/>
          </a:p>
        </p:txBody>
      </p:sp>
      <p:sp>
        <p:nvSpPr>
          <p:cNvPr id="18" name="Gate the stairs text"/>
          <p:cNvSpPr txBox="1"/>
          <p:nvPr/>
        </p:nvSpPr>
        <p:spPr>
          <a:xfrm>
            <a:off x="6217920" y="1856232"/>
            <a:ext cx="2286000" cy="822960"/>
          </a:xfrm>
          <a:prstGeom prst="rect">
            <a:avLst/>
          </a:prstGeom>
          <a:noFill/>
          <a:ln/>
        </p:spPr>
        <p:txBody>
          <a:bodyPr wrap="square" lIns="0" tIns="0" rIns="0" bIns="0" rtlCol="0" anchor="t"/>
          <a:lstStyle/>
          <a:p>
            <a:pPr marL="0" indent="0">
              <a:buNone/>
            </a:pPr>
            <a:r>
              <a:rPr lang="en-US" sz="1400" dirty="0">
                <a:solidFill>
                  <a:schemeClr val="tx2"/>
                </a:solidFill>
              </a:rPr>
              <a:t>Baby gates at the top and bottom of any stairs.</a:t>
            </a:r>
            <a:endParaRPr lang="en-US" sz="1400" dirty="0"/>
          </a:p>
        </p:txBody>
      </p:sp>
      <p:sp>
        <p:nvSpPr>
          <p:cNvPr id="19" name="Card Windows"/>
          <p:cNvSpPr/>
          <p:nvPr/>
        </p:nvSpPr>
        <p:spPr>
          <a:xfrm>
            <a:off x="457200" y="2880360"/>
            <a:ext cx="2651760" cy="1645920"/>
          </a:xfrm>
          <a:prstGeom prst="roundRect">
            <a:avLst>
              <a:gd name="adj" fmla="val 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20" name="Windows circle"/>
          <p:cNvSpPr/>
          <p:nvPr/>
        </p:nvSpPr>
        <p:spPr>
          <a:xfrm>
            <a:off x="640080" y="3044952"/>
            <a:ext cx="457200" cy="457200"/>
          </a:xfrm>
          <a:prstGeom prst="ellipse">
            <a:avLst/>
          </a:prstGeom>
          <a:solidFill>
            <a:schemeClr val="accent5"/>
          </a:solidFill>
          <a:ln w="12700">
            <a:solidFill>
              <a:schemeClr val="accent5"/>
            </a:solidFill>
            <a:prstDash val="solid"/>
          </a:ln>
        </p:spPr>
      </p:sp>
      <p:pic>
        <p:nvPicPr>
          <p:cNvPr id="21" name="Windows glyph" descr="Windows"/>
          <p:cNvPicPr>
            <a:picLocks noChangeAspect="1"/>
          </p:cNvPicPr>
          <p:nvPr/>
        </p:nvPicPr>
        <p:blipFill>
          <a:blip r:embed="rId7"/>
          <a:stretch>
            <a:fillRect/>
          </a:stretch>
        </p:blipFill>
        <p:spPr>
          <a:xfrm>
            <a:off x="758952" y="3163824"/>
            <a:ext cx="219456" cy="219456"/>
          </a:xfrm>
          <a:prstGeom prst="rect">
            <a:avLst/>
          </a:prstGeom>
        </p:spPr>
      </p:pic>
      <p:sp>
        <p:nvSpPr>
          <p:cNvPr id="22" name="Windows heading"/>
          <p:cNvSpPr txBox="1"/>
          <p:nvPr/>
        </p:nvSpPr>
        <p:spPr>
          <a:xfrm>
            <a:off x="1207008" y="3044952"/>
            <a:ext cx="1737360" cy="457200"/>
          </a:xfrm>
          <a:prstGeom prst="rect">
            <a:avLst/>
          </a:prstGeom>
          <a:noFill/>
          <a:ln/>
        </p:spPr>
        <p:txBody>
          <a:bodyPr wrap="square" lIns="0" tIns="0" rIns="0" bIns="0" rtlCol="0" anchor="ctr"/>
          <a:lstStyle/>
          <a:p>
            <a:pPr marL="0" indent="0">
              <a:buNone/>
            </a:pPr>
            <a:r>
              <a:rPr lang="en-US" sz="1600" b="1" dirty="0">
                <a:solidFill>
                  <a:schemeClr val="tx1"/>
                </a:solidFill>
              </a:rPr>
              <a:t>Windows</a:t>
            </a:r>
            <a:endParaRPr lang="en-US" sz="1600" dirty="0"/>
          </a:p>
        </p:txBody>
      </p:sp>
      <p:sp>
        <p:nvSpPr>
          <p:cNvPr id="23" name="Windows text"/>
          <p:cNvSpPr txBox="1"/>
          <p:nvPr/>
        </p:nvSpPr>
        <p:spPr>
          <a:xfrm>
            <a:off x="640080" y="3593592"/>
            <a:ext cx="2286000" cy="822960"/>
          </a:xfrm>
          <a:prstGeom prst="rect">
            <a:avLst/>
          </a:prstGeom>
          <a:noFill/>
          <a:ln/>
        </p:spPr>
        <p:txBody>
          <a:bodyPr wrap="square" lIns="0" tIns="0" rIns="0" bIns="0" rtlCol="0" anchor="t"/>
          <a:lstStyle/>
          <a:p>
            <a:pPr marL="0" indent="0">
              <a:buNone/>
            </a:pPr>
            <a:r>
              <a:rPr lang="en-US" sz="1400" dirty="0">
                <a:solidFill>
                  <a:schemeClr val="tx2"/>
                </a:solidFill>
              </a:rPr>
              <a:t>Screens are not strong enough. Lock windows, open from the top, use guards, and keep furniture away.</a:t>
            </a:r>
            <a:endParaRPr lang="en-US" sz="1400" dirty="0"/>
          </a:p>
        </p:txBody>
      </p:sp>
      <p:sp>
        <p:nvSpPr>
          <p:cNvPr id="24" name="Card Air and smoke"/>
          <p:cNvSpPr/>
          <p:nvPr/>
        </p:nvSpPr>
        <p:spPr>
          <a:xfrm>
            <a:off x="3246120" y="2880360"/>
            <a:ext cx="2651760" cy="1645920"/>
          </a:xfrm>
          <a:prstGeom prst="roundRect">
            <a:avLst>
              <a:gd name="adj" fmla="val 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25" name="Air and smoke circle"/>
          <p:cNvSpPr/>
          <p:nvPr/>
        </p:nvSpPr>
        <p:spPr>
          <a:xfrm>
            <a:off x="3429000" y="3044952"/>
            <a:ext cx="457200" cy="457200"/>
          </a:xfrm>
          <a:prstGeom prst="ellipse">
            <a:avLst/>
          </a:prstGeom>
          <a:solidFill>
            <a:schemeClr val="accent2"/>
          </a:solidFill>
          <a:ln w="12700">
            <a:solidFill>
              <a:schemeClr val="accent2"/>
            </a:solidFill>
            <a:prstDash val="solid"/>
          </a:ln>
        </p:spPr>
      </p:sp>
      <p:pic>
        <p:nvPicPr>
          <p:cNvPr id="26" name="Air and smoke glyph" descr="Air and smoke"/>
          <p:cNvPicPr>
            <a:picLocks noChangeAspect="1"/>
          </p:cNvPicPr>
          <p:nvPr/>
        </p:nvPicPr>
        <p:blipFill>
          <a:blip r:embed="rId8"/>
          <a:stretch>
            <a:fillRect/>
          </a:stretch>
        </p:blipFill>
        <p:spPr>
          <a:xfrm>
            <a:off x="3547872" y="3163824"/>
            <a:ext cx="219456" cy="219456"/>
          </a:xfrm>
          <a:prstGeom prst="rect">
            <a:avLst/>
          </a:prstGeom>
        </p:spPr>
      </p:pic>
      <p:sp>
        <p:nvSpPr>
          <p:cNvPr id="27" name="Air and smoke heading"/>
          <p:cNvSpPr txBox="1"/>
          <p:nvPr/>
        </p:nvSpPr>
        <p:spPr>
          <a:xfrm>
            <a:off x="3995928" y="3044952"/>
            <a:ext cx="1737360" cy="457200"/>
          </a:xfrm>
          <a:prstGeom prst="rect">
            <a:avLst/>
          </a:prstGeom>
          <a:noFill/>
          <a:ln/>
        </p:spPr>
        <p:txBody>
          <a:bodyPr wrap="square" lIns="0" tIns="0" rIns="0" bIns="0" rtlCol="0" anchor="ctr"/>
          <a:lstStyle/>
          <a:p>
            <a:pPr marL="0" indent="0">
              <a:buNone/>
            </a:pPr>
            <a:r>
              <a:rPr lang="en-US" sz="1600" b="1" dirty="0">
                <a:solidFill>
                  <a:schemeClr val="tx1"/>
                </a:solidFill>
              </a:rPr>
              <a:t>Air and smoke</a:t>
            </a:r>
            <a:endParaRPr lang="en-US" sz="1600" dirty="0"/>
          </a:p>
        </p:txBody>
      </p:sp>
      <p:sp>
        <p:nvSpPr>
          <p:cNvPr id="28" name="Air and smoke text"/>
          <p:cNvSpPr txBox="1"/>
          <p:nvPr/>
        </p:nvSpPr>
        <p:spPr>
          <a:xfrm>
            <a:off x="3429000" y="3593592"/>
            <a:ext cx="2286000" cy="822960"/>
          </a:xfrm>
          <a:prstGeom prst="rect">
            <a:avLst/>
          </a:prstGeom>
          <a:noFill/>
          <a:ln/>
        </p:spPr>
        <p:txBody>
          <a:bodyPr wrap="square" lIns="0" tIns="0" rIns="0" bIns="0" rtlCol="0" anchor="t"/>
          <a:lstStyle/>
          <a:p>
            <a:pPr marL="0" indent="0">
              <a:buNone/>
            </a:pPr>
            <a:r>
              <a:rPr lang="en-US" sz="1400" dirty="0">
                <a:solidFill>
                  <a:schemeClr val="tx2"/>
                </a:solidFill>
              </a:rPr>
              <a:t>Never smoke around baby. Check smoke and carbon monoxide detectors every month.</a:t>
            </a:r>
            <a:endParaRPr lang="en-US" sz="1400" dirty="0"/>
          </a:p>
        </p:txBody>
      </p:sp>
      <p:sp>
        <p:nvSpPr>
          <p:cNvPr id="29" name="Card Plants and poisons"/>
          <p:cNvSpPr/>
          <p:nvPr/>
        </p:nvSpPr>
        <p:spPr>
          <a:xfrm>
            <a:off x="6035040" y="2880360"/>
            <a:ext cx="2651760" cy="1645920"/>
          </a:xfrm>
          <a:prstGeom prst="roundRect">
            <a:avLst>
              <a:gd name="adj" fmla="val 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30" name="Plants and poisons circle"/>
          <p:cNvSpPr/>
          <p:nvPr/>
        </p:nvSpPr>
        <p:spPr>
          <a:xfrm>
            <a:off x="6217920" y="3044952"/>
            <a:ext cx="457200" cy="457200"/>
          </a:xfrm>
          <a:prstGeom prst="ellipse">
            <a:avLst/>
          </a:prstGeom>
          <a:solidFill>
            <a:schemeClr val="accent4"/>
          </a:solidFill>
          <a:ln w="12700">
            <a:solidFill>
              <a:schemeClr val="accent4"/>
            </a:solidFill>
            <a:prstDash val="solid"/>
          </a:ln>
        </p:spPr>
      </p:sp>
      <p:pic>
        <p:nvPicPr>
          <p:cNvPr id="31" name="Plants and poisons glyph" descr="Plants and poisons"/>
          <p:cNvPicPr>
            <a:picLocks noChangeAspect="1"/>
          </p:cNvPicPr>
          <p:nvPr/>
        </p:nvPicPr>
        <p:blipFill>
          <a:blip r:embed="rId9"/>
          <a:stretch>
            <a:fillRect/>
          </a:stretch>
        </p:blipFill>
        <p:spPr>
          <a:xfrm>
            <a:off x="6336792" y="3163824"/>
            <a:ext cx="219456" cy="219456"/>
          </a:xfrm>
          <a:prstGeom prst="rect">
            <a:avLst/>
          </a:prstGeom>
        </p:spPr>
      </p:pic>
      <p:sp>
        <p:nvSpPr>
          <p:cNvPr id="32" name="Plants and poisons heading"/>
          <p:cNvSpPr txBox="1"/>
          <p:nvPr/>
        </p:nvSpPr>
        <p:spPr>
          <a:xfrm>
            <a:off x="6784848" y="3044952"/>
            <a:ext cx="1737360" cy="457200"/>
          </a:xfrm>
          <a:prstGeom prst="rect">
            <a:avLst/>
          </a:prstGeom>
          <a:noFill/>
          <a:ln/>
        </p:spPr>
        <p:txBody>
          <a:bodyPr wrap="square" lIns="0" tIns="0" rIns="0" bIns="0" rtlCol="0" anchor="ctr"/>
          <a:lstStyle/>
          <a:p>
            <a:pPr marL="0" indent="0">
              <a:buNone/>
            </a:pPr>
            <a:r>
              <a:rPr lang="en-US" sz="1600" b="1" dirty="0">
                <a:solidFill>
                  <a:schemeClr val="tx1"/>
                </a:solidFill>
              </a:rPr>
              <a:t>Plants and poisons</a:t>
            </a:r>
            <a:endParaRPr lang="en-US" sz="1600" dirty="0"/>
          </a:p>
        </p:txBody>
      </p:sp>
      <p:sp>
        <p:nvSpPr>
          <p:cNvPr id="33" name="Plants and poisons text"/>
          <p:cNvSpPr txBox="1"/>
          <p:nvPr/>
        </p:nvSpPr>
        <p:spPr>
          <a:xfrm>
            <a:off x="6217920" y="3593592"/>
            <a:ext cx="2286000" cy="822960"/>
          </a:xfrm>
          <a:prstGeom prst="rect">
            <a:avLst/>
          </a:prstGeom>
          <a:noFill/>
          <a:ln/>
        </p:spPr>
        <p:txBody>
          <a:bodyPr wrap="square" lIns="0" tIns="0" rIns="0" bIns="0" rtlCol="0" anchor="t"/>
          <a:lstStyle/>
          <a:p>
            <a:pPr marL="0" indent="0">
              <a:buNone/>
            </a:pPr>
            <a:r>
              <a:rPr lang="en-US" sz="1400" dirty="0">
                <a:solidFill>
                  <a:schemeClr val="tx2"/>
                </a:solidFill>
              </a:rPr>
              <a:t>Check houseplants for poison. If a child eats one, call your local poison center.</a:t>
            </a:r>
            <a:endParaRPr lang="en-US" sz="1400" dirty="0"/>
          </a:p>
        </p:txBody>
      </p:sp>
      <p:sp>
        <p:nvSpPr>
          <p:cNvPr id="34" name="Back button">
            <a:hlinkClick r:id="rId10" action="ppaction://hlinksldjump" tooltip="Previous slide"/>
          </p:cNvPr>
          <p:cNvSpPr/>
          <p:nvPr/>
        </p:nvSpPr>
        <p:spPr>
          <a:xfrm>
            <a:off x="6446520" y="4636008"/>
            <a:ext cx="1051560" cy="347472"/>
          </a:xfrm>
          <a:prstGeom prst="roundRect">
            <a:avLst>
              <a:gd name="adj" fmla="val 50000"/>
            </a:avLst>
          </a:prstGeom>
          <a:solidFill>
            <a:schemeClr val="bg1"/>
          </a:solidFill>
          <a:ln/>
        </p:spPr>
        <p:txBody>
          <a:bodyPr wrap="square" lIns="0" tIns="0" rIns="0" bIns="0" rtlCol="0" anchor="ctr"/>
          <a:lstStyle/>
          <a:p>
            <a:pPr marL="0" indent="0" algn="ctr">
              <a:buNone/>
            </a:pPr>
            <a:r>
              <a:rPr lang="en-US" sz="1400" b="1" dirty="0">
                <a:solidFill>
                  <a:schemeClr val="tx1"/>
                </a:solidFill>
              </a:rPr>
              <a:t>‹ Back</a:t>
            </a:r>
            <a:endParaRPr lang="en-US" sz="1400" dirty="0"/>
          </a:p>
        </p:txBody>
      </p:sp>
      <p:sp>
        <p:nvSpPr>
          <p:cNvPr id="35" name="Next button">
            <a:hlinkClick r:id="rId11" action="ppaction://hlinksldjump" tooltip="Next slide"/>
          </p:cNvPr>
          <p:cNvSpPr/>
          <p:nvPr/>
        </p:nvSpPr>
        <p:spPr>
          <a:xfrm>
            <a:off x="7589520" y="4636008"/>
            <a:ext cx="1097280" cy="347472"/>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Next ›</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Water safety and bath time</a:t>
            </a:r>
            <a:endParaRPr lang="en-US"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Menu</a:t>
            </a:r>
            <a:endParaRPr lang="en-US" sz="1400" dirty="0"/>
          </a:p>
        </p:txBody>
      </p:sp>
      <p:sp>
        <p:nvSpPr>
          <p:cNvPr id="4" name="Stat 1–2 inches"/>
          <p:cNvSpPr/>
          <p:nvPr/>
        </p:nvSpPr>
        <p:spPr>
          <a:xfrm>
            <a:off x="457200" y="1143000"/>
            <a:ext cx="2514600" cy="1600200"/>
          </a:xfrm>
          <a:prstGeom prst="roundRect">
            <a:avLst>
              <a:gd name="adj" fmla="val 685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5" name="1–2 inches stat"/>
          <p:cNvSpPr txBox="1"/>
          <p:nvPr/>
        </p:nvSpPr>
        <p:spPr>
          <a:xfrm>
            <a:off x="640080" y="1280160"/>
            <a:ext cx="2148840" cy="502920"/>
          </a:xfrm>
          <a:prstGeom prst="rect">
            <a:avLst/>
          </a:prstGeom>
          <a:noFill/>
          <a:ln/>
        </p:spPr>
        <p:txBody>
          <a:bodyPr wrap="square" lIns="0" tIns="0" rIns="0" bIns="0" rtlCol="0" anchor="ctr"/>
          <a:lstStyle/>
          <a:p>
            <a:pPr marL="0" indent="0">
              <a:buNone/>
            </a:pPr>
            <a:r>
              <a:rPr lang="en-US" sz="2400" b="1" dirty="0">
                <a:solidFill>
                  <a:schemeClr val="accent2"/>
                </a:solidFill>
                <a:latin typeface="+mj-lt" pitchFamily="34" charset="0"/>
                <a:ea typeface="+mj-lt" pitchFamily="34" charset="-122"/>
                <a:cs typeface="+mj-lt" pitchFamily="34" charset="-120"/>
              </a:rPr>
              <a:t>1–2 inches</a:t>
            </a:r>
            <a:endParaRPr lang="en-US" sz="2400" dirty="0"/>
          </a:p>
        </p:txBody>
      </p:sp>
      <p:sp>
        <p:nvSpPr>
          <p:cNvPr id="6" name="1–2 inches text"/>
          <p:cNvSpPr txBox="1"/>
          <p:nvPr/>
        </p:nvSpPr>
        <p:spPr>
          <a:xfrm>
            <a:off x="640080" y="1828800"/>
            <a:ext cx="2148840" cy="822960"/>
          </a:xfrm>
          <a:prstGeom prst="rect">
            <a:avLst/>
          </a:prstGeom>
          <a:noFill/>
          <a:ln/>
        </p:spPr>
        <p:txBody>
          <a:bodyPr wrap="square" lIns="0" tIns="0" rIns="0" bIns="0" rtlCol="0" anchor="t"/>
          <a:lstStyle/>
          <a:p>
            <a:pPr marL="0" indent="0">
              <a:buNone/>
            </a:pPr>
            <a:r>
              <a:rPr lang="en-US" sz="1400" dirty="0">
                <a:solidFill>
                  <a:schemeClr val="tx2"/>
                </a:solidFill>
              </a:rPr>
              <a:t>of water is enough for a baby to drown.</a:t>
            </a:r>
            <a:endParaRPr lang="en-US" sz="1400" dirty="0"/>
          </a:p>
        </p:txBody>
      </p:sp>
      <p:sp>
        <p:nvSpPr>
          <p:cNvPr id="7" name="Stat Below 120°F"/>
          <p:cNvSpPr/>
          <p:nvPr/>
        </p:nvSpPr>
        <p:spPr>
          <a:xfrm>
            <a:off x="457200" y="2926080"/>
            <a:ext cx="2514600" cy="1600200"/>
          </a:xfrm>
          <a:prstGeom prst="roundRect">
            <a:avLst>
              <a:gd name="adj" fmla="val 685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8" name="Below 120°F stat"/>
          <p:cNvSpPr txBox="1"/>
          <p:nvPr/>
        </p:nvSpPr>
        <p:spPr>
          <a:xfrm>
            <a:off x="640080" y="3063240"/>
            <a:ext cx="2148840" cy="502920"/>
          </a:xfrm>
          <a:prstGeom prst="rect">
            <a:avLst/>
          </a:prstGeom>
          <a:noFill/>
          <a:ln/>
        </p:spPr>
        <p:txBody>
          <a:bodyPr wrap="square" lIns="0" tIns="0" rIns="0" bIns="0" rtlCol="0" anchor="ctr"/>
          <a:lstStyle/>
          <a:p>
            <a:pPr marL="0" indent="0">
              <a:buNone/>
            </a:pPr>
            <a:r>
              <a:rPr lang="en-US" sz="2400" b="1" dirty="0">
                <a:solidFill>
                  <a:schemeClr val="accent1"/>
                </a:solidFill>
                <a:latin typeface="+mj-lt" pitchFamily="34" charset="0"/>
                <a:ea typeface="+mj-lt" pitchFamily="34" charset="-122"/>
                <a:cs typeface="+mj-lt" pitchFamily="34" charset="-120"/>
              </a:rPr>
              <a:t>Below 120°F</a:t>
            </a:r>
            <a:endParaRPr lang="en-US" sz="2400" dirty="0"/>
          </a:p>
        </p:txBody>
      </p:sp>
      <p:sp>
        <p:nvSpPr>
          <p:cNvPr id="9" name="Below 120°F text"/>
          <p:cNvSpPr txBox="1"/>
          <p:nvPr/>
        </p:nvSpPr>
        <p:spPr>
          <a:xfrm>
            <a:off x="640080" y="3611880"/>
            <a:ext cx="2148840" cy="822960"/>
          </a:xfrm>
          <a:prstGeom prst="rect">
            <a:avLst/>
          </a:prstGeom>
          <a:noFill/>
          <a:ln/>
        </p:spPr>
        <p:txBody>
          <a:bodyPr wrap="square" lIns="0" tIns="0" rIns="0" bIns="0" rtlCol="0" anchor="t"/>
          <a:lstStyle/>
          <a:p>
            <a:pPr marL="0" indent="0">
              <a:buNone/>
            </a:pPr>
            <a:r>
              <a:rPr lang="en-US" sz="1400" dirty="0">
                <a:solidFill>
                  <a:schemeClr val="tx2"/>
                </a:solidFill>
              </a:rPr>
              <a:t>Water heater setting (48.9°C). Test bath water with your elbow.</a:t>
            </a:r>
            <a:endParaRPr lang="en-US" sz="1400" dirty="0"/>
          </a:p>
        </p:txBody>
      </p:sp>
      <p:sp>
        <p:nvSpPr>
          <p:cNvPr id="10" name="Bath card"/>
          <p:cNvSpPr/>
          <p:nvPr/>
        </p:nvSpPr>
        <p:spPr>
          <a:xfrm>
            <a:off x="3200400" y="1143000"/>
            <a:ext cx="5486400" cy="2148840"/>
          </a:xfrm>
          <a:prstGeom prst="roundRect">
            <a:avLst>
              <a:gd name="adj" fmla="val 5106"/>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1" name="Bath circle"/>
          <p:cNvSpPr/>
          <p:nvPr/>
        </p:nvSpPr>
        <p:spPr>
          <a:xfrm>
            <a:off x="3383280" y="1280160"/>
            <a:ext cx="411480" cy="411480"/>
          </a:xfrm>
          <a:prstGeom prst="ellipse">
            <a:avLst/>
          </a:prstGeom>
          <a:solidFill>
            <a:schemeClr val="accent6"/>
          </a:solidFill>
          <a:ln w="12700">
            <a:solidFill>
              <a:schemeClr val="accent6"/>
            </a:solidFill>
            <a:prstDash val="solid"/>
          </a:ln>
        </p:spPr>
      </p:sp>
      <p:pic>
        <p:nvPicPr>
          <p:cNvPr id="12" name="Bath glyph" descr="Bath"/>
          <p:cNvPicPr>
            <a:picLocks noChangeAspect="1"/>
          </p:cNvPicPr>
          <p:nvPr/>
        </p:nvPicPr>
        <p:blipFill>
          <a:blip r:embed="rId4"/>
          <a:stretch>
            <a:fillRect/>
          </a:stretch>
        </p:blipFill>
        <p:spPr>
          <a:xfrm>
            <a:off x="3490265" y="1387145"/>
            <a:ext cx="197510" cy="197510"/>
          </a:xfrm>
          <a:prstGeom prst="rect">
            <a:avLst/>
          </a:prstGeom>
        </p:spPr>
      </p:pic>
      <p:sp>
        <p:nvSpPr>
          <p:cNvPr id="13" name="Bath heading"/>
          <p:cNvSpPr txBox="1"/>
          <p:nvPr/>
        </p:nvSpPr>
        <p:spPr>
          <a:xfrm>
            <a:off x="3931920" y="1280160"/>
            <a:ext cx="3657600" cy="411480"/>
          </a:xfrm>
          <a:prstGeom prst="rect">
            <a:avLst/>
          </a:prstGeom>
          <a:noFill/>
          <a:ln/>
        </p:spPr>
        <p:txBody>
          <a:bodyPr wrap="square" lIns="0" tIns="0" rIns="0" bIns="0" rtlCol="0" anchor="ctr"/>
          <a:lstStyle/>
          <a:p>
            <a:pPr marL="0" indent="0">
              <a:buNone/>
            </a:pPr>
            <a:r>
              <a:rPr lang="en-US" sz="1600" b="1" dirty="0">
                <a:solidFill>
                  <a:schemeClr val="tx1"/>
                </a:solidFill>
              </a:rPr>
              <a:t>At bath time</a:t>
            </a:r>
            <a:endParaRPr lang="en-US" sz="1600" dirty="0"/>
          </a:p>
        </p:txBody>
      </p:sp>
      <p:sp>
        <p:nvSpPr>
          <p:cNvPr id="14" name="Bath list"/>
          <p:cNvSpPr txBox="1"/>
          <p:nvPr/>
        </p:nvSpPr>
        <p:spPr>
          <a:xfrm>
            <a:off x="3383280" y="1783080"/>
            <a:ext cx="5120640" cy="1463040"/>
          </a:xfrm>
          <a:prstGeom prst="rect">
            <a:avLst/>
          </a:prstGeom>
          <a:noFill/>
          <a:ln/>
        </p:spPr>
        <p:txBody>
          <a:bodyPr wrap="square" lIns="0" tIns="0" rIns="0" bIns="0" rtlCol="0" anchor="t"/>
          <a:lstStyle/>
          <a:p>
            <a:pPr marL="177800" indent="-177800">
              <a:spcAft>
                <a:spcPts val="200"/>
              </a:spcAft>
              <a:buSzPct val="100000"/>
              <a:buChar char="•"/>
            </a:pPr>
            <a:r>
              <a:rPr lang="en-US" sz="1400" dirty="0">
                <a:solidFill>
                  <a:schemeClr val="tx2"/>
                </a:solidFill>
              </a:rPr>
              <a:t>Never leave them alone in a bathtub, hot tub or pool</a:t>
            </a:r>
            <a:endParaRPr lang="en-US" sz="1400" dirty="0"/>
          </a:p>
          <a:p>
            <a:pPr marL="177800" indent="-177800">
              <a:spcAft>
                <a:spcPts val="200"/>
              </a:spcAft>
              <a:buSzPct val="100000"/>
              <a:buChar char="•"/>
            </a:pPr>
            <a:r>
              <a:rPr lang="en-US" sz="1400" dirty="0">
                <a:solidFill>
                  <a:schemeClr val="tx2"/>
                </a:solidFill>
              </a:rPr>
              <a:t>Use a sink or infant tub with a non-skid mat</a:t>
            </a:r>
            <a:endParaRPr lang="en-US" sz="1400" dirty="0"/>
          </a:p>
          <a:p>
            <a:pPr marL="177800" indent="-177800">
              <a:spcAft>
                <a:spcPts val="200"/>
              </a:spcAft>
              <a:buSzPct val="100000"/>
              <a:buChar char="•"/>
            </a:pPr>
            <a:r>
              <a:rPr lang="en-US" sz="1400" dirty="0">
                <a:solidFill>
                  <a:schemeClr val="tx2"/>
                </a:solidFill>
              </a:rPr>
              <a:t>Keep most of the body and all of the face out of the water</a:t>
            </a:r>
            <a:endParaRPr lang="en-US" sz="1400" dirty="0"/>
          </a:p>
          <a:p>
            <a:pPr marL="177800" indent="-177800">
              <a:spcAft>
                <a:spcPts val="200"/>
              </a:spcAft>
              <a:buSzPct val="100000"/>
              <a:buChar char="•"/>
            </a:pPr>
            <a:r>
              <a:rPr lang="en-US" sz="1400" dirty="0">
                <a:solidFill>
                  <a:schemeClr val="tx2"/>
                </a:solidFill>
              </a:rPr>
              <a:t>No bath seats: they tip once baby can pull up or stand</a:t>
            </a:r>
            <a:endParaRPr lang="en-US" sz="1400" dirty="0"/>
          </a:p>
          <a:p>
            <a:pPr marL="177800" indent="-177800">
              <a:spcAft>
                <a:spcPts val="200"/>
              </a:spcAft>
              <a:buSzPct val="100000"/>
              <a:buChar char="•"/>
            </a:pPr>
            <a:r>
              <a:rPr lang="en-US" sz="1400" dirty="0">
                <a:solidFill>
                  <a:schemeClr val="tx2"/>
                </a:solidFill>
              </a:rPr>
              <a:t>Keep supplies in reach so 1 hand stays on baby</a:t>
            </a:r>
            <a:endParaRPr lang="en-US" sz="1400" dirty="0"/>
          </a:p>
        </p:txBody>
      </p:sp>
      <p:sp>
        <p:nvSpPr>
          <p:cNvPr id="15" name="Outside water card"/>
          <p:cNvSpPr/>
          <p:nvPr/>
        </p:nvSpPr>
        <p:spPr>
          <a:xfrm>
            <a:off x="3200400" y="3429000"/>
            <a:ext cx="5486400" cy="1097280"/>
          </a:xfrm>
          <a:prstGeom prst="roundRect">
            <a:avLst>
              <a:gd name="adj" fmla="val 10000"/>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6" name="Outside water text"/>
          <p:cNvSpPr txBox="1"/>
          <p:nvPr/>
        </p:nvSpPr>
        <p:spPr>
          <a:xfrm>
            <a:off x="3383280" y="3429000"/>
            <a:ext cx="5120640" cy="1097280"/>
          </a:xfrm>
          <a:prstGeom prst="rect">
            <a:avLst/>
          </a:prstGeom>
          <a:noFill/>
          <a:ln/>
        </p:spPr>
        <p:txBody>
          <a:bodyPr wrap="square" lIns="0" tIns="0" rIns="0" bIns="0" rtlCol="0" anchor="ctr"/>
          <a:lstStyle/>
          <a:p>
            <a:pPr marL="0" indent="0">
              <a:buNone/>
            </a:pPr>
            <a:r>
              <a:rPr lang="en-US" sz="1400" b="1" dirty="0">
                <a:solidFill>
                  <a:schemeClr val="tx1"/>
                </a:solidFill>
              </a:rPr>
              <a:t>Empty or cover water outside: </a:t>
            </a:r>
            <a:r>
              <a:rPr lang="en-US" sz="1400" dirty="0">
                <a:solidFill>
                  <a:schemeClr val="tx2"/>
                </a:solidFill>
              </a:rPr>
              <a:t>buckets, trash cans, inflatable pools, recycling bins, coolers with melted ice and large water bowls.</a:t>
            </a:r>
            <a:endParaRPr lang="en-US" sz="1400" dirty="0"/>
          </a:p>
        </p:txBody>
      </p:sp>
      <p:sp>
        <p:nvSpPr>
          <p:cNvPr id="17" name="Back button">
            <a:hlinkClick r:id="rId5" action="ppaction://hlinksldjump" tooltip="Previous slide"/>
          </p:cNvPr>
          <p:cNvSpPr/>
          <p:nvPr/>
        </p:nvSpPr>
        <p:spPr>
          <a:xfrm>
            <a:off x="6446520" y="4636008"/>
            <a:ext cx="1051560" cy="347472"/>
          </a:xfrm>
          <a:prstGeom prst="roundRect">
            <a:avLst>
              <a:gd name="adj" fmla="val 50000"/>
            </a:avLst>
          </a:prstGeom>
          <a:solidFill>
            <a:schemeClr val="bg1"/>
          </a:solidFill>
          <a:ln/>
        </p:spPr>
        <p:txBody>
          <a:bodyPr wrap="square" lIns="0" tIns="0" rIns="0" bIns="0" rtlCol="0" anchor="ctr"/>
          <a:lstStyle/>
          <a:p>
            <a:pPr marL="0" indent="0" algn="ctr">
              <a:buNone/>
            </a:pPr>
            <a:r>
              <a:rPr lang="en-US" sz="1400" b="1" dirty="0">
                <a:solidFill>
                  <a:schemeClr val="tx1"/>
                </a:solidFill>
              </a:rPr>
              <a:t>‹ Back</a:t>
            </a:r>
            <a:endParaRPr lang="en-US" sz="1400" dirty="0"/>
          </a:p>
        </p:txBody>
      </p:sp>
      <p:sp>
        <p:nvSpPr>
          <p:cNvPr id="18" name="Next button">
            <a:hlinkClick r:id="rId6" action="ppaction://hlinksldjump" tooltip="Next slide"/>
          </p:cNvPr>
          <p:cNvSpPr/>
          <p:nvPr/>
        </p:nvSpPr>
        <p:spPr>
          <a:xfrm>
            <a:off x="7589520" y="4636008"/>
            <a:ext cx="1097280" cy="347472"/>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Next ›</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A safe crib</a:t>
            </a:r>
            <a:endParaRPr lang="en-US"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Menu</a:t>
            </a:r>
            <a:endParaRPr lang="en-US" sz="1400" dirty="0"/>
          </a:p>
        </p:txBody>
      </p:sp>
      <p:sp>
        <p:nvSpPr>
          <p:cNvPr id="4" name="Stat Fixed sides"/>
          <p:cNvSpPr/>
          <p:nvPr/>
        </p:nvSpPr>
        <p:spPr>
          <a:xfrm>
            <a:off x="457200" y="1143000"/>
            <a:ext cx="2651760" cy="1645920"/>
          </a:xfrm>
          <a:prstGeom prst="roundRect">
            <a:avLst>
              <a:gd name="adj" fmla="val 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5" name="Fixed sides stat"/>
          <p:cNvSpPr txBox="1"/>
          <p:nvPr/>
        </p:nvSpPr>
        <p:spPr>
          <a:xfrm>
            <a:off x="640080" y="1280160"/>
            <a:ext cx="2286000" cy="502920"/>
          </a:xfrm>
          <a:prstGeom prst="rect">
            <a:avLst/>
          </a:prstGeom>
          <a:noFill/>
          <a:ln/>
        </p:spPr>
        <p:txBody>
          <a:bodyPr wrap="square" lIns="0" tIns="0" rIns="0" bIns="0" rtlCol="0" anchor="ctr"/>
          <a:lstStyle/>
          <a:p>
            <a:pPr marL="0" indent="0">
              <a:buNone/>
            </a:pPr>
            <a:r>
              <a:rPr lang="en-US" sz="2400" b="1" dirty="0">
                <a:solidFill>
                  <a:schemeClr val="accent1"/>
                </a:solidFill>
                <a:latin typeface="+mj-lt" pitchFamily="34" charset="0"/>
                <a:ea typeface="+mj-lt" pitchFamily="34" charset="-122"/>
                <a:cs typeface="+mj-lt" pitchFamily="34" charset="-120"/>
              </a:rPr>
              <a:t>Fixed sides</a:t>
            </a:r>
            <a:endParaRPr lang="en-US" sz="2400" dirty="0"/>
          </a:p>
        </p:txBody>
      </p:sp>
      <p:sp>
        <p:nvSpPr>
          <p:cNvPr id="6" name="Fixed sides text"/>
          <p:cNvSpPr txBox="1"/>
          <p:nvPr/>
        </p:nvSpPr>
        <p:spPr>
          <a:xfrm>
            <a:off x="640080" y="1828800"/>
            <a:ext cx="2286000" cy="868680"/>
          </a:xfrm>
          <a:prstGeom prst="rect">
            <a:avLst/>
          </a:prstGeom>
          <a:noFill/>
          <a:ln/>
        </p:spPr>
        <p:txBody>
          <a:bodyPr wrap="square" lIns="0" tIns="0" rIns="0" bIns="0" rtlCol="0" anchor="t"/>
          <a:lstStyle/>
          <a:p>
            <a:pPr marL="0" indent="0">
              <a:buNone/>
            </a:pPr>
            <a:r>
              <a:rPr lang="en-US" sz="1400" dirty="0">
                <a:solidFill>
                  <a:schemeClr val="tx2"/>
                </a:solidFill>
              </a:rPr>
              <a:t>Never use drop-side cribs. Babies and toddlers can get trapped.</a:t>
            </a:r>
            <a:endParaRPr lang="en-US" sz="1400" dirty="0"/>
          </a:p>
        </p:txBody>
      </p:sp>
      <p:sp>
        <p:nvSpPr>
          <p:cNvPr id="7" name="Stat Under 10°"/>
          <p:cNvSpPr/>
          <p:nvPr/>
        </p:nvSpPr>
        <p:spPr>
          <a:xfrm>
            <a:off x="3246120" y="1143000"/>
            <a:ext cx="2651760" cy="1645920"/>
          </a:xfrm>
          <a:prstGeom prst="roundRect">
            <a:avLst>
              <a:gd name="adj" fmla="val 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8" name="Under 10° stat"/>
          <p:cNvSpPr txBox="1"/>
          <p:nvPr/>
        </p:nvSpPr>
        <p:spPr>
          <a:xfrm>
            <a:off x="3429000" y="1280160"/>
            <a:ext cx="2286000" cy="502920"/>
          </a:xfrm>
          <a:prstGeom prst="rect">
            <a:avLst/>
          </a:prstGeom>
          <a:noFill/>
          <a:ln/>
        </p:spPr>
        <p:txBody>
          <a:bodyPr wrap="square" lIns="0" tIns="0" rIns="0" bIns="0" rtlCol="0" anchor="ctr"/>
          <a:lstStyle/>
          <a:p>
            <a:pPr marL="0" indent="0">
              <a:buNone/>
            </a:pPr>
            <a:r>
              <a:rPr lang="en-US" sz="2400" b="1" dirty="0">
                <a:solidFill>
                  <a:schemeClr val="accent2"/>
                </a:solidFill>
                <a:latin typeface="+mj-lt" pitchFamily="34" charset="0"/>
                <a:ea typeface="+mj-lt" pitchFamily="34" charset="-122"/>
                <a:cs typeface="+mj-lt" pitchFamily="34" charset="-120"/>
              </a:rPr>
              <a:t>Under 10°</a:t>
            </a:r>
            <a:endParaRPr lang="en-US" sz="2400" dirty="0"/>
          </a:p>
        </p:txBody>
      </p:sp>
      <p:sp>
        <p:nvSpPr>
          <p:cNvPr id="9" name="Under 10° text"/>
          <p:cNvSpPr txBox="1"/>
          <p:nvPr/>
        </p:nvSpPr>
        <p:spPr>
          <a:xfrm>
            <a:off x="3429000" y="1828800"/>
            <a:ext cx="2286000" cy="868680"/>
          </a:xfrm>
          <a:prstGeom prst="rect">
            <a:avLst/>
          </a:prstGeom>
          <a:noFill/>
          <a:ln/>
        </p:spPr>
        <p:txBody>
          <a:bodyPr wrap="square" lIns="0" tIns="0" rIns="0" bIns="0" rtlCol="0" anchor="t"/>
          <a:lstStyle/>
          <a:p>
            <a:pPr marL="0" indent="0">
              <a:buNone/>
            </a:pPr>
            <a:r>
              <a:rPr lang="en-US" sz="1400" dirty="0">
                <a:solidFill>
                  <a:schemeClr val="tx2"/>
                </a:solidFill>
              </a:rPr>
              <a:t>Do not incline the crib past 10 degrees. An angled mattress is not safe.</a:t>
            </a:r>
            <a:endParaRPr lang="en-US" sz="1400" dirty="0"/>
          </a:p>
        </p:txBody>
      </p:sp>
      <p:sp>
        <p:nvSpPr>
          <p:cNvPr id="10" name="Stat Bare crib"/>
          <p:cNvSpPr/>
          <p:nvPr/>
        </p:nvSpPr>
        <p:spPr>
          <a:xfrm>
            <a:off x="6035040" y="1143000"/>
            <a:ext cx="2651760" cy="1645920"/>
          </a:xfrm>
          <a:prstGeom prst="roundRect">
            <a:avLst>
              <a:gd name="adj" fmla="val 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1" name="Bare crib stat"/>
          <p:cNvSpPr txBox="1"/>
          <p:nvPr/>
        </p:nvSpPr>
        <p:spPr>
          <a:xfrm>
            <a:off x="6217920" y="1280160"/>
            <a:ext cx="2286000" cy="502920"/>
          </a:xfrm>
          <a:prstGeom prst="rect">
            <a:avLst/>
          </a:prstGeom>
          <a:noFill/>
          <a:ln/>
        </p:spPr>
        <p:txBody>
          <a:bodyPr wrap="square" lIns="0" tIns="0" rIns="0" bIns="0" rtlCol="0" anchor="ctr"/>
          <a:lstStyle/>
          <a:p>
            <a:pPr marL="0" indent="0">
              <a:buNone/>
            </a:pPr>
            <a:r>
              <a:rPr lang="en-US" sz="2400" b="1" dirty="0">
                <a:solidFill>
                  <a:schemeClr val="accent4"/>
                </a:solidFill>
                <a:latin typeface="+mj-lt" pitchFamily="34" charset="0"/>
                <a:ea typeface="+mj-lt" pitchFamily="34" charset="-122"/>
                <a:cs typeface="+mj-lt" pitchFamily="34" charset="-120"/>
              </a:rPr>
              <a:t>Bare crib</a:t>
            </a:r>
            <a:endParaRPr lang="en-US" sz="2400" dirty="0"/>
          </a:p>
        </p:txBody>
      </p:sp>
      <p:sp>
        <p:nvSpPr>
          <p:cNvPr id="12" name="Bare crib text"/>
          <p:cNvSpPr txBox="1"/>
          <p:nvPr/>
        </p:nvSpPr>
        <p:spPr>
          <a:xfrm>
            <a:off x="6217920" y="1828800"/>
            <a:ext cx="2286000" cy="868680"/>
          </a:xfrm>
          <a:prstGeom prst="rect">
            <a:avLst/>
          </a:prstGeom>
          <a:noFill/>
          <a:ln/>
        </p:spPr>
        <p:txBody>
          <a:bodyPr wrap="square" lIns="0" tIns="0" rIns="0" bIns="0" rtlCol="0" anchor="t"/>
          <a:lstStyle/>
          <a:p>
            <a:pPr marL="0" indent="0">
              <a:buNone/>
            </a:pPr>
            <a:r>
              <a:rPr lang="en-US" sz="1400" dirty="0">
                <a:solidFill>
                  <a:schemeClr val="tx2"/>
                </a:solidFill>
              </a:rPr>
              <a:t>No soft bedding, comforters, loose sheets, blankets, pillows, sheepskins, toys or bumpers.</a:t>
            </a:r>
            <a:endParaRPr lang="en-US" sz="1400" dirty="0"/>
          </a:p>
        </p:txBody>
      </p:sp>
      <p:sp>
        <p:nvSpPr>
          <p:cNvPr id="13" name="Stat Snug sheet"/>
          <p:cNvSpPr/>
          <p:nvPr/>
        </p:nvSpPr>
        <p:spPr>
          <a:xfrm>
            <a:off x="457200" y="2880360"/>
            <a:ext cx="2651760" cy="1645920"/>
          </a:xfrm>
          <a:prstGeom prst="roundRect">
            <a:avLst>
              <a:gd name="adj" fmla="val 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4" name="Snug sheet stat"/>
          <p:cNvSpPr txBox="1"/>
          <p:nvPr/>
        </p:nvSpPr>
        <p:spPr>
          <a:xfrm>
            <a:off x="640080" y="3017520"/>
            <a:ext cx="2286000" cy="502920"/>
          </a:xfrm>
          <a:prstGeom prst="rect">
            <a:avLst/>
          </a:prstGeom>
          <a:noFill/>
          <a:ln/>
        </p:spPr>
        <p:txBody>
          <a:bodyPr wrap="square" lIns="0" tIns="0" rIns="0" bIns="0" rtlCol="0" anchor="ctr"/>
          <a:lstStyle/>
          <a:p>
            <a:pPr marL="0" indent="0">
              <a:buNone/>
            </a:pPr>
            <a:r>
              <a:rPr lang="en-US" sz="2400" b="1" dirty="0">
                <a:solidFill>
                  <a:schemeClr val="accent5"/>
                </a:solidFill>
                <a:latin typeface="+mj-lt" pitchFamily="34" charset="0"/>
                <a:ea typeface="+mj-lt" pitchFamily="34" charset="-122"/>
                <a:cs typeface="+mj-lt" pitchFamily="34" charset="-120"/>
              </a:rPr>
              <a:t>Snug sheet</a:t>
            </a:r>
            <a:endParaRPr lang="en-US" sz="2400" dirty="0"/>
          </a:p>
        </p:txBody>
      </p:sp>
      <p:sp>
        <p:nvSpPr>
          <p:cNvPr id="15" name="Snug sheet text"/>
          <p:cNvSpPr txBox="1"/>
          <p:nvPr/>
        </p:nvSpPr>
        <p:spPr>
          <a:xfrm>
            <a:off x="640080" y="3566160"/>
            <a:ext cx="2286000" cy="868680"/>
          </a:xfrm>
          <a:prstGeom prst="rect">
            <a:avLst/>
          </a:prstGeom>
          <a:noFill/>
          <a:ln/>
        </p:spPr>
        <p:txBody>
          <a:bodyPr wrap="square" lIns="0" tIns="0" rIns="0" bIns="0" rtlCol="0" anchor="t"/>
          <a:lstStyle/>
          <a:p>
            <a:pPr marL="0" indent="0">
              <a:buNone/>
            </a:pPr>
            <a:r>
              <a:rPr lang="en-US" sz="1400" dirty="0">
                <a:solidFill>
                  <a:schemeClr val="tx2"/>
                </a:solidFill>
              </a:rPr>
              <a:t>Use tight-fitting sheets over the crib mattress.</a:t>
            </a:r>
            <a:endParaRPr lang="en-US" sz="1400" dirty="0"/>
          </a:p>
        </p:txBody>
      </p:sp>
      <p:sp>
        <p:nvSpPr>
          <p:cNvPr id="16" name="Stat No cords"/>
          <p:cNvSpPr/>
          <p:nvPr/>
        </p:nvSpPr>
        <p:spPr>
          <a:xfrm>
            <a:off x="3246120" y="2880360"/>
            <a:ext cx="2651760" cy="1645920"/>
          </a:xfrm>
          <a:prstGeom prst="roundRect">
            <a:avLst>
              <a:gd name="adj" fmla="val 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7" name="No cords stat"/>
          <p:cNvSpPr txBox="1"/>
          <p:nvPr/>
        </p:nvSpPr>
        <p:spPr>
          <a:xfrm>
            <a:off x="3429000" y="3017520"/>
            <a:ext cx="2286000" cy="502920"/>
          </a:xfrm>
          <a:prstGeom prst="rect">
            <a:avLst/>
          </a:prstGeom>
          <a:noFill/>
          <a:ln/>
        </p:spPr>
        <p:txBody>
          <a:bodyPr wrap="square" lIns="0" tIns="0" rIns="0" bIns="0" rtlCol="0" anchor="ctr"/>
          <a:lstStyle/>
          <a:p>
            <a:pPr marL="0" indent="0">
              <a:buNone/>
            </a:pPr>
            <a:r>
              <a:rPr lang="en-US" sz="2400" b="1" dirty="0">
                <a:solidFill>
                  <a:schemeClr val="accent6"/>
                </a:solidFill>
                <a:latin typeface="+mj-lt" pitchFamily="34" charset="0"/>
                <a:ea typeface="+mj-lt" pitchFamily="34" charset="-122"/>
                <a:cs typeface="+mj-lt" pitchFamily="34" charset="-120"/>
              </a:rPr>
              <a:t>No cords</a:t>
            </a:r>
            <a:endParaRPr lang="en-US" sz="2400" dirty="0"/>
          </a:p>
        </p:txBody>
      </p:sp>
      <p:sp>
        <p:nvSpPr>
          <p:cNvPr id="18" name="No cords text"/>
          <p:cNvSpPr txBox="1"/>
          <p:nvPr/>
        </p:nvSpPr>
        <p:spPr>
          <a:xfrm>
            <a:off x="3429000" y="3566160"/>
            <a:ext cx="2286000" cy="868680"/>
          </a:xfrm>
          <a:prstGeom prst="rect">
            <a:avLst/>
          </a:prstGeom>
          <a:noFill/>
          <a:ln/>
        </p:spPr>
        <p:txBody>
          <a:bodyPr wrap="square" lIns="0" tIns="0" rIns="0" bIns="0" rtlCol="0" anchor="t"/>
          <a:lstStyle/>
          <a:p>
            <a:pPr marL="0" indent="0">
              <a:buNone/>
            </a:pPr>
            <a:r>
              <a:rPr lang="en-US" sz="1400" dirty="0">
                <a:solidFill>
                  <a:schemeClr val="tx2"/>
                </a:solidFill>
              </a:rPr>
              <a:t>Keep cords from blinds, lamps or mobiles away from the crib.</a:t>
            </a:r>
            <a:endParaRPr lang="en-US" sz="1400" dirty="0"/>
          </a:p>
        </p:txBody>
      </p:sp>
      <p:sp>
        <p:nvSpPr>
          <p:cNvPr id="19" name="Stat 2⅜ inches"/>
          <p:cNvSpPr/>
          <p:nvPr/>
        </p:nvSpPr>
        <p:spPr>
          <a:xfrm>
            <a:off x="6035040" y="2880360"/>
            <a:ext cx="2651760" cy="1645920"/>
          </a:xfrm>
          <a:prstGeom prst="roundRect">
            <a:avLst>
              <a:gd name="adj" fmla="val 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20" name="2⅜ inches stat"/>
          <p:cNvSpPr txBox="1"/>
          <p:nvPr/>
        </p:nvSpPr>
        <p:spPr>
          <a:xfrm>
            <a:off x="6217920" y="3017520"/>
            <a:ext cx="2286000" cy="502920"/>
          </a:xfrm>
          <a:prstGeom prst="rect">
            <a:avLst/>
          </a:prstGeom>
          <a:noFill/>
          <a:ln/>
        </p:spPr>
        <p:txBody>
          <a:bodyPr wrap="square" lIns="0" tIns="0" rIns="0" bIns="0" rtlCol="0" anchor="ctr"/>
          <a:lstStyle/>
          <a:p>
            <a:pPr marL="0" indent="0">
              <a:buNone/>
            </a:pPr>
            <a:r>
              <a:rPr lang="en-US" sz="2400" b="1" dirty="0">
                <a:solidFill>
                  <a:schemeClr val="accent1"/>
                </a:solidFill>
                <a:latin typeface="+mj-lt" pitchFamily="34" charset="0"/>
                <a:ea typeface="+mj-lt" pitchFamily="34" charset="-122"/>
                <a:cs typeface="+mj-lt" pitchFamily="34" charset="-120"/>
              </a:rPr>
              <a:t>2⅜ inches</a:t>
            </a:r>
            <a:endParaRPr lang="en-US" sz="2400" dirty="0"/>
          </a:p>
        </p:txBody>
      </p:sp>
      <p:sp>
        <p:nvSpPr>
          <p:cNvPr id="21" name="2⅜ inches text"/>
          <p:cNvSpPr txBox="1"/>
          <p:nvPr/>
        </p:nvSpPr>
        <p:spPr>
          <a:xfrm>
            <a:off x="6217920" y="3566160"/>
            <a:ext cx="2286000" cy="868680"/>
          </a:xfrm>
          <a:prstGeom prst="rect">
            <a:avLst/>
          </a:prstGeom>
          <a:noFill/>
          <a:ln/>
        </p:spPr>
        <p:txBody>
          <a:bodyPr wrap="square" lIns="0" tIns="0" rIns="0" bIns="0" rtlCol="0" anchor="t"/>
          <a:lstStyle/>
          <a:p>
            <a:pPr marL="0" indent="0">
              <a:buNone/>
            </a:pPr>
            <a:r>
              <a:rPr lang="en-US" sz="1400" dirty="0">
                <a:solidFill>
                  <a:schemeClr val="tx2"/>
                </a:solidFill>
              </a:rPr>
              <a:t>Maximum gap between spindles, about as wide as a soda can.</a:t>
            </a:r>
            <a:endParaRPr lang="en-US" sz="1400" dirty="0"/>
          </a:p>
        </p:txBody>
      </p:sp>
      <p:sp>
        <p:nvSpPr>
          <p:cNvPr id="22" name="Back button">
            <a:hlinkClick r:id="rId4" action="ppaction://hlinksldjump" tooltip="Previous slide"/>
          </p:cNvPr>
          <p:cNvSpPr/>
          <p:nvPr/>
        </p:nvSpPr>
        <p:spPr>
          <a:xfrm>
            <a:off x="6446520" y="4636008"/>
            <a:ext cx="1051560" cy="347472"/>
          </a:xfrm>
          <a:prstGeom prst="roundRect">
            <a:avLst>
              <a:gd name="adj" fmla="val 50000"/>
            </a:avLst>
          </a:prstGeom>
          <a:solidFill>
            <a:schemeClr val="bg1"/>
          </a:solidFill>
          <a:ln/>
        </p:spPr>
        <p:txBody>
          <a:bodyPr wrap="square" lIns="0" tIns="0" rIns="0" bIns="0" rtlCol="0" anchor="ctr"/>
          <a:lstStyle/>
          <a:p>
            <a:pPr marL="0" indent="0" algn="ctr">
              <a:buNone/>
            </a:pPr>
            <a:r>
              <a:rPr lang="en-US" sz="1400" b="1" dirty="0">
                <a:solidFill>
                  <a:schemeClr val="tx1"/>
                </a:solidFill>
              </a:rPr>
              <a:t>‹ Back</a:t>
            </a:r>
            <a:endParaRPr lang="en-US" sz="1400" dirty="0"/>
          </a:p>
        </p:txBody>
      </p:sp>
      <p:sp>
        <p:nvSpPr>
          <p:cNvPr id="23" name="Next button">
            <a:hlinkClick r:id="rId5" action="ppaction://hlinksldjump" tooltip="Next slide"/>
          </p:cNvPr>
          <p:cNvSpPr/>
          <p:nvPr/>
        </p:nvSpPr>
        <p:spPr>
          <a:xfrm>
            <a:off x="7589520" y="4636008"/>
            <a:ext cx="1097280" cy="347472"/>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Next ›</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Highchair and infant swing</a:t>
            </a:r>
            <a:endParaRPr lang="en-US"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Menu</a:t>
            </a:r>
            <a:endParaRPr lang="en-US" sz="1400" dirty="0"/>
          </a:p>
        </p:txBody>
      </p:sp>
      <p:sp>
        <p:nvSpPr>
          <p:cNvPr id="4" name="Highchair card"/>
          <p:cNvSpPr/>
          <p:nvPr/>
        </p:nvSpPr>
        <p:spPr>
          <a:xfrm>
            <a:off x="457200" y="1143000"/>
            <a:ext cx="4023360" cy="3383280"/>
          </a:xfrm>
          <a:prstGeom prst="roundRect">
            <a:avLst>
              <a:gd name="adj" fmla="val 3243"/>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5" name="Highchair circle"/>
          <p:cNvSpPr/>
          <p:nvPr/>
        </p:nvSpPr>
        <p:spPr>
          <a:xfrm>
            <a:off x="640080" y="1307592"/>
            <a:ext cx="502920" cy="502920"/>
          </a:xfrm>
          <a:prstGeom prst="ellipse">
            <a:avLst/>
          </a:prstGeom>
          <a:solidFill>
            <a:schemeClr val="accent1"/>
          </a:solidFill>
          <a:ln w="12700">
            <a:solidFill>
              <a:schemeClr val="accent1"/>
            </a:solidFill>
            <a:prstDash val="solid"/>
          </a:ln>
        </p:spPr>
      </p:sp>
      <p:pic>
        <p:nvPicPr>
          <p:cNvPr id="6" name="Highchair glyph" descr="Highchair"/>
          <p:cNvPicPr>
            <a:picLocks noChangeAspect="1"/>
          </p:cNvPicPr>
          <p:nvPr/>
        </p:nvPicPr>
        <p:blipFill>
          <a:blip r:embed="rId4"/>
          <a:stretch>
            <a:fillRect/>
          </a:stretch>
        </p:blipFill>
        <p:spPr>
          <a:xfrm>
            <a:off x="770839" y="1438351"/>
            <a:ext cx="241402" cy="241402"/>
          </a:xfrm>
          <a:prstGeom prst="rect">
            <a:avLst/>
          </a:prstGeom>
        </p:spPr>
      </p:pic>
      <p:sp>
        <p:nvSpPr>
          <p:cNvPr id="7" name="Highchair heading"/>
          <p:cNvSpPr txBox="1"/>
          <p:nvPr/>
        </p:nvSpPr>
        <p:spPr>
          <a:xfrm>
            <a:off x="1280160" y="1307592"/>
            <a:ext cx="3017520" cy="502920"/>
          </a:xfrm>
          <a:prstGeom prst="rect">
            <a:avLst/>
          </a:prstGeom>
          <a:noFill/>
          <a:ln/>
        </p:spPr>
        <p:txBody>
          <a:bodyPr wrap="square" lIns="0" tIns="0" rIns="0" bIns="0" rtlCol="0" anchor="ctr"/>
          <a:lstStyle/>
          <a:p>
            <a:pPr marL="0" indent="0">
              <a:buNone/>
            </a:pPr>
            <a:r>
              <a:rPr lang="en-US" sz="1800" b="1" dirty="0">
                <a:solidFill>
                  <a:schemeClr val="tx1"/>
                </a:solidFill>
              </a:rPr>
              <a:t>Highchair</a:t>
            </a:r>
            <a:endParaRPr lang="en-US" sz="1800" dirty="0"/>
          </a:p>
        </p:txBody>
      </p:sp>
      <p:sp>
        <p:nvSpPr>
          <p:cNvPr id="8" name="Highchair sub"/>
          <p:cNvSpPr txBox="1"/>
          <p:nvPr/>
        </p:nvSpPr>
        <p:spPr>
          <a:xfrm>
            <a:off x="640080" y="1920240"/>
            <a:ext cx="3657600" cy="548640"/>
          </a:xfrm>
          <a:prstGeom prst="rect">
            <a:avLst/>
          </a:prstGeom>
          <a:noFill/>
          <a:ln/>
        </p:spPr>
        <p:txBody>
          <a:bodyPr wrap="square" lIns="0" tIns="0" rIns="0" bIns="0" rtlCol="0" anchor="t"/>
          <a:lstStyle/>
          <a:p>
            <a:pPr marL="0" indent="0">
              <a:buNone/>
            </a:pPr>
            <a:r>
              <a:rPr lang="en-US" sz="1400" i="1" dirty="0">
                <a:solidFill>
                  <a:schemeClr val="tx2"/>
                </a:solidFill>
              </a:rPr>
              <a:t>Once baby can sit up without support.</a:t>
            </a:r>
            <a:endParaRPr lang="en-US" sz="1400" dirty="0"/>
          </a:p>
        </p:txBody>
      </p:sp>
      <p:sp>
        <p:nvSpPr>
          <p:cNvPr id="9" name="Highchair list"/>
          <p:cNvSpPr txBox="1"/>
          <p:nvPr/>
        </p:nvSpPr>
        <p:spPr>
          <a:xfrm>
            <a:off x="640080" y="2514600"/>
            <a:ext cx="3657600" cy="19202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Keep it away from tables and countertops: baby could push off and tip it</a:t>
            </a:r>
            <a:endParaRPr lang="en-US" sz="1400" dirty="0"/>
          </a:p>
          <a:p>
            <a:pPr marL="177800" indent="-177800">
              <a:spcAft>
                <a:spcPts val="600"/>
              </a:spcAft>
              <a:buSzPct val="100000"/>
              <a:buChar char="•"/>
            </a:pPr>
            <a:r>
              <a:rPr lang="en-US" sz="1400" dirty="0">
                <a:solidFill>
                  <a:schemeClr val="tx1"/>
                </a:solidFill>
              </a:rPr>
              <a:t>Make sure the tray latches securely</a:t>
            </a:r>
            <a:endParaRPr lang="en-US" sz="1400" dirty="0"/>
          </a:p>
          <a:p>
            <a:pPr marL="177800" indent="-177800">
              <a:spcAft>
                <a:spcPts val="600"/>
              </a:spcAft>
              <a:buSzPct val="100000"/>
              <a:buChar char="•"/>
            </a:pPr>
            <a:r>
              <a:rPr lang="en-US" sz="1400" dirty="0">
                <a:solidFill>
                  <a:schemeClr val="tx1"/>
                </a:solidFill>
              </a:rPr>
              <a:t>Always use the 5-point harness, and never leave baby alone in it</a:t>
            </a:r>
            <a:endParaRPr lang="en-US" sz="1400" dirty="0"/>
          </a:p>
        </p:txBody>
      </p:sp>
      <p:sp>
        <p:nvSpPr>
          <p:cNvPr id="10" name="Infant swing card"/>
          <p:cNvSpPr/>
          <p:nvPr/>
        </p:nvSpPr>
        <p:spPr>
          <a:xfrm>
            <a:off x="4663440" y="1143000"/>
            <a:ext cx="4023360" cy="3383280"/>
          </a:xfrm>
          <a:prstGeom prst="roundRect">
            <a:avLst>
              <a:gd name="adj" fmla="val 3243"/>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1" name="Infant swing circle"/>
          <p:cNvSpPr/>
          <p:nvPr/>
        </p:nvSpPr>
        <p:spPr>
          <a:xfrm>
            <a:off x="4846320" y="1307592"/>
            <a:ext cx="502920" cy="502920"/>
          </a:xfrm>
          <a:prstGeom prst="ellipse">
            <a:avLst/>
          </a:prstGeom>
          <a:solidFill>
            <a:schemeClr val="accent5"/>
          </a:solidFill>
          <a:ln w="12700">
            <a:solidFill>
              <a:schemeClr val="accent5"/>
            </a:solidFill>
            <a:prstDash val="solid"/>
          </a:ln>
        </p:spPr>
      </p:sp>
      <p:pic>
        <p:nvPicPr>
          <p:cNvPr id="12" name="Infant swing glyph" descr="Infant swing"/>
          <p:cNvPicPr>
            <a:picLocks noChangeAspect="1"/>
          </p:cNvPicPr>
          <p:nvPr/>
        </p:nvPicPr>
        <p:blipFill>
          <a:blip r:embed="rId5"/>
          <a:stretch>
            <a:fillRect/>
          </a:stretch>
        </p:blipFill>
        <p:spPr>
          <a:xfrm>
            <a:off x="4977079" y="1438351"/>
            <a:ext cx="241402" cy="241402"/>
          </a:xfrm>
          <a:prstGeom prst="rect">
            <a:avLst/>
          </a:prstGeom>
        </p:spPr>
      </p:pic>
      <p:sp>
        <p:nvSpPr>
          <p:cNvPr id="13" name="Infant swing heading"/>
          <p:cNvSpPr txBox="1"/>
          <p:nvPr/>
        </p:nvSpPr>
        <p:spPr>
          <a:xfrm>
            <a:off x="5486400" y="1307592"/>
            <a:ext cx="3017520" cy="502920"/>
          </a:xfrm>
          <a:prstGeom prst="rect">
            <a:avLst/>
          </a:prstGeom>
          <a:noFill/>
          <a:ln/>
        </p:spPr>
        <p:txBody>
          <a:bodyPr wrap="square" lIns="0" tIns="0" rIns="0" bIns="0" rtlCol="0" anchor="ctr"/>
          <a:lstStyle/>
          <a:p>
            <a:pPr marL="0" indent="0">
              <a:buNone/>
            </a:pPr>
            <a:r>
              <a:rPr lang="en-US" sz="1800" b="1" dirty="0">
                <a:solidFill>
                  <a:schemeClr val="tx1"/>
                </a:solidFill>
              </a:rPr>
              <a:t>Infant swing</a:t>
            </a:r>
            <a:endParaRPr lang="en-US" sz="1800" dirty="0"/>
          </a:p>
        </p:txBody>
      </p:sp>
      <p:sp>
        <p:nvSpPr>
          <p:cNvPr id="14" name="Infant swing sub"/>
          <p:cNvSpPr txBox="1"/>
          <p:nvPr/>
        </p:nvSpPr>
        <p:spPr>
          <a:xfrm>
            <a:off x="4846320" y="1920240"/>
            <a:ext cx="3657600" cy="548640"/>
          </a:xfrm>
          <a:prstGeom prst="rect">
            <a:avLst/>
          </a:prstGeom>
          <a:noFill/>
          <a:ln/>
        </p:spPr>
        <p:txBody>
          <a:bodyPr wrap="square" lIns="0" tIns="0" rIns="0" bIns="0" rtlCol="0" anchor="t"/>
          <a:lstStyle/>
          <a:p>
            <a:pPr marL="0" indent="0">
              <a:buNone/>
            </a:pPr>
            <a:r>
              <a:rPr lang="en-US" sz="1400" i="1" dirty="0">
                <a:solidFill>
                  <a:schemeClr val="tx2"/>
                </a:solidFill>
              </a:rPr>
              <a:t>The motion often soothes a baby who cries a lot.</a:t>
            </a:r>
            <a:endParaRPr lang="en-US" sz="1400" dirty="0"/>
          </a:p>
        </p:txBody>
      </p:sp>
      <p:sp>
        <p:nvSpPr>
          <p:cNvPr id="15" name="Infant swing list"/>
          <p:cNvSpPr txBox="1"/>
          <p:nvPr/>
        </p:nvSpPr>
        <p:spPr>
          <a:xfrm>
            <a:off x="4846320" y="2514600"/>
            <a:ext cx="3657600" cy="19202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Always use the 5-point harness</a:t>
            </a:r>
            <a:endParaRPr lang="en-US" sz="1400" dirty="0"/>
          </a:p>
          <a:p>
            <a:pPr marL="177800" indent="-177800">
              <a:spcAft>
                <a:spcPts val="600"/>
              </a:spcAft>
              <a:buSzPct val="100000"/>
              <a:buChar char="•"/>
            </a:pPr>
            <a:r>
              <a:rPr lang="en-US" sz="1400" dirty="0">
                <a:solidFill>
                  <a:schemeClr val="tx1"/>
                </a:solidFill>
              </a:rPr>
              <a:t>If baby falls asleep, gently move them to the crib, on their back</a:t>
            </a:r>
            <a:endParaRPr lang="en-US" sz="1400" dirty="0"/>
          </a:p>
        </p:txBody>
      </p:sp>
      <p:sp>
        <p:nvSpPr>
          <p:cNvPr id="16" name="Back button">
            <a:hlinkClick r:id="rId6" action="ppaction://hlinksldjump" tooltip="Previous slide"/>
          </p:cNvPr>
          <p:cNvSpPr/>
          <p:nvPr/>
        </p:nvSpPr>
        <p:spPr>
          <a:xfrm>
            <a:off x="6446520" y="4636008"/>
            <a:ext cx="1051560" cy="347472"/>
          </a:xfrm>
          <a:prstGeom prst="roundRect">
            <a:avLst>
              <a:gd name="adj" fmla="val 50000"/>
            </a:avLst>
          </a:prstGeom>
          <a:solidFill>
            <a:schemeClr val="bg1"/>
          </a:solidFill>
          <a:ln/>
        </p:spPr>
        <p:txBody>
          <a:bodyPr wrap="square" lIns="0" tIns="0" rIns="0" bIns="0" rtlCol="0" anchor="ctr"/>
          <a:lstStyle/>
          <a:p>
            <a:pPr marL="0" indent="0" algn="ctr">
              <a:buNone/>
            </a:pPr>
            <a:r>
              <a:rPr lang="en-US" sz="1400" b="1" dirty="0">
                <a:solidFill>
                  <a:schemeClr val="tx1"/>
                </a:solidFill>
              </a:rPr>
              <a:t>‹ Back</a:t>
            </a:r>
            <a:endParaRPr lang="en-US" sz="1400" dirty="0"/>
          </a:p>
        </p:txBody>
      </p:sp>
      <p:sp>
        <p:nvSpPr>
          <p:cNvPr id="17" name="Next button">
            <a:hlinkClick r:id="rId7" action="ppaction://hlinksldjump" tooltip="Next slide"/>
          </p:cNvPr>
          <p:cNvSpPr/>
          <p:nvPr/>
        </p:nvSpPr>
        <p:spPr>
          <a:xfrm>
            <a:off x="7589520" y="4636008"/>
            <a:ext cx="1097280" cy="347472"/>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Next ›</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Car seat and baby gear</a:t>
            </a:r>
            <a:endParaRPr lang="en-US"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Menu</a:t>
            </a:r>
            <a:endParaRPr lang="en-US" sz="1400" dirty="0"/>
          </a:p>
        </p:txBody>
      </p:sp>
      <p:sp>
        <p:nvSpPr>
          <p:cNvPr id="4" name="Car seat card"/>
          <p:cNvSpPr/>
          <p:nvPr/>
        </p:nvSpPr>
        <p:spPr>
          <a:xfrm>
            <a:off x="457200" y="1143000"/>
            <a:ext cx="3383280" cy="3383280"/>
          </a:xfrm>
          <a:prstGeom prst="roundRect">
            <a:avLst>
              <a:gd name="adj" fmla="val 3243"/>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5" name="Car seat circle"/>
          <p:cNvSpPr/>
          <p:nvPr/>
        </p:nvSpPr>
        <p:spPr>
          <a:xfrm>
            <a:off x="640080" y="1307592"/>
            <a:ext cx="502920" cy="502920"/>
          </a:xfrm>
          <a:prstGeom prst="ellipse">
            <a:avLst/>
          </a:prstGeom>
          <a:solidFill>
            <a:schemeClr val="accent6"/>
          </a:solidFill>
          <a:ln w="12700">
            <a:solidFill>
              <a:schemeClr val="accent6"/>
            </a:solidFill>
            <a:prstDash val="solid"/>
          </a:ln>
        </p:spPr>
      </p:sp>
      <p:pic>
        <p:nvPicPr>
          <p:cNvPr id="6" name="Car seat glyph" descr="Car seat"/>
          <p:cNvPicPr>
            <a:picLocks noChangeAspect="1"/>
          </p:cNvPicPr>
          <p:nvPr/>
        </p:nvPicPr>
        <p:blipFill>
          <a:blip r:embed="rId4"/>
          <a:stretch>
            <a:fillRect/>
          </a:stretch>
        </p:blipFill>
        <p:spPr>
          <a:xfrm>
            <a:off x="770839" y="1438351"/>
            <a:ext cx="241402" cy="241402"/>
          </a:xfrm>
          <a:prstGeom prst="rect">
            <a:avLst/>
          </a:prstGeom>
        </p:spPr>
      </p:pic>
      <p:sp>
        <p:nvSpPr>
          <p:cNvPr id="7" name="Car seat heading"/>
          <p:cNvSpPr txBox="1"/>
          <p:nvPr/>
        </p:nvSpPr>
        <p:spPr>
          <a:xfrm>
            <a:off x="1280160" y="1307592"/>
            <a:ext cx="2377440" cy="502920"/>
          </a:xfrm>
          <a:prstGeom prst="rect">
            <a:avLst/>
          </a:prstGeom>
          <a:noFill/>
          <a:ln/>
        </p:spPr>
        <p:txBody>
          <a:bodyPr wrap="square" lIns="0" tIns="0" rIns="0" bIns="0" rtlCol="0" anchor="ctr"/>
          <a:lstStyle/>
          <a:p>
            <a:pPr marL="0" indent="0">
              <a:buNone/>
            </a:pPr>
            <a:r>
              <a:rPr lang="en-US" sz="1800" b="1" dirty="0">
                <a:solidFill>
                  <a:schemeClr val="tx1"/>
                </a:solidFill>
              </a:rPr>
              <a:t>Car seat</a:t>
            </a:r>
            <a:endParaRPr lang="en-US" sz="1800" dirty="0"/>
          </a:p>
        </p:txBody>
      </p:sp>
      <p:sp>
        <p:nvSpPr>
          <p:cNvPr id="8" name="Car seat stat"/>
          <p:cNvSpPr txBox="1"/>
          <p:nvPr/>
        </p:nvSpPr>
        <p:spPr>
          <a:xfrm>
            <a:off x="640080" y="1920240"/>
            <a:ext cx="3017520" cy="502920"/>
          </a:xfrm>
          <a:prstGeom prst="rect">
            <a:avLst/>
          </a:prstGeom>
          <a:noFill/>
          <a:ln/>
        </p:spPr>
        <p:txBody>
          <a:bodyPr wrap="square" lIns="0" tIns="0" rIns="0" bIns="0" rtlCol="0" anchor="ctr"/>
          <a:lstStyle/>
          <a:p>
            <a:pPr marL="0" indent="0">
              <a:buNone/>
            </a:pPr>
            <a:r>
              <a:rPr lang="en-US" sz="2400" b="1" dirty="0">
                <a:solidFill>
                  <a:schemeClr val="accent6"/>
                </a:solidFill>
                <a:latin typeface="+mj-lt" pitchFamily="34" charset="0"/>
                <a:ea typeface="+mj-lt" pitchFamily="34" charset="-122"/>
                <a:cs typeface="+mj-lt" pitchFamily="34" charset="-120"/>
              </a:rPr>
              <a:t>Rear-facing</a:t>
            </a:r>
            <a:endParaRPr lang="en-US" sz="2400" dirty="0"/>
          </a:p>
        </p:txBody>
      </p:sp>
      <p:sp>
        <p:nvSpPr>
          <p:cNvPr id="9" name="Car seat list"/>
          <p:cNvSpPr txBox="1"/>
          <p:nvPr/>
        </p:nvSpPr>
        <p:spPr>
          <a:xfrm>
            <a:off x="640080" y="2514600"/>
            <a:ext cx="3017520" cy="192024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2"/>
                </a:solidFill>
              </a:rPr>
              <a:t>In the back seat, until at least 2 years old or the seat’s height or weight limit</a:t>
            </a:r>
            <a:endParaRPr lang="en-US" sz="1400" dirty="0"/>
          </a:p>
          <a:p>
            <a:pPr marL="177800" indent="-177800">
              <a:spcAft>
                <a:spcPts val="500"/>
              </a:spcAft>
              <a:buSzPct val="100000"/>
              <a:buChar char="•"/>
            </a:pPr>
            <a:r>
              <a:rPr lang="en-US" sz="1400" dirty="0">
                <a:solidFill>
                  <a:schemeClr val="tx2"/>
                </a:solidFill>
              </a:rPr>
              <a:t>Do not let baby sleep in it when not traveling</a:t>
            </a:r>
            <a:endParaRPr lang="en-US" sz="1400" dirty="0"/>
          </a:p>
          <a:p>
            <a:pPr marL="177800" indent="-177800">
              <a:spcAft>
                <a:spcPts val="500"/>
              </a:spcAft>
              <a:buSzPct val="100000"/>
              <a:buChar char="•"/>
            </a:pPr>
            <a:r>
              <a:rPr lang="en-US" sz="1400" dirty="0">
                <a:solidFill>
                  <a:schemeClr val="tx2"/>
                </a:solidFill>
              </a:rPr>
              <a:t>As a carrier, set it on a hard, flat floor</a:t>
            </a:r>
            <a:endParaRPr lang="en-US" sz="1400" dirty="0"/>
          </a:p>
        </p:txBody>
      </p:sp>
      <p:sp>
        <p:nvSpPr>
          <p:cNvPr id="10" name="Card Playpen"/>
          <p:cNvSpPr/>
          <p:nvPr/>
        </p:nvSpPr>
        <p:spPr>
          <a:xfrm>
            <a:off x="4069080" y="1143000"/>
            <a:ext cx="4617720" cy="1051560"/>
          </a:xfrm>
          <a:prstGeom prst="roundRect">
            <a:avLst>
              <a:gd name="adj" fmla="val 10435"/>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1" name="Playpen circle"/>
          <p:cNvSpPr/>
          <p:nvPr/>
        </p:nvSpPr>
        <p:spPr>
          <a:xfrm>
            <a:off x="4233672" y="1417320"/>
            <a:ext cx="502920" cy="502920"/>
          </a:xfrm>
          <a:prstGeom prst="ellipse">
            <a:avLst/>
          </a:prstGeom>
          <a:solidFill>
            <a:schemeClr val="accent4"/>
          </a:solidFill>
          <a:ln w="12700">
            <a:solidFill>
              <a:schemeClr val="accent4"/>
            </a:solidFill>
            <a:prstDash val="solid"/>
          </a:ln>
        </p:spPr>
      </p:sp>
      <p:pic>
        <p:nvPicPr>
          <p:cNvPr id="12" name="Playpen glyph" descr="Playpen"/>
          <p:cNvPicPr>
            <a:picLocks noChangeAspect="1"/>
          </p:cNvPicPr>
          <p:nvPr/>
        </p:nvPicPr>
        <p:blipFill>
          <a:blip r:embed="rId5"/>
          <a:stretch>
            <a:fillRect/>
          </a:stretch>
        </p:blipFill>
        <p:spPr>
          <a:xfrm>
            <a:off x="4364431" y="1548079"/>
            <a:ext cx="241402" cy="241402"/>
          </a:xfrm>
          <a:prstGeom prst="rect">
            <a:avLst/>
          </a:prstGeom>
        </p:spPr>
      </p:pic>
      <p:sp>
        <p:nvSpPr>
          <p:cNvPr id="13" name="Playpen heading"/>
          <p:cNvSpPr txBox="1"/>
          <p:nvPr/>
        </p:nvSpPr>
        <p:spPr>
          <a:xfrm>
            <a:off x="4892040" y="1234440"/>
            <a:ext cx="3657600" cy="320040"/>
          </a:xfrm>
          <a:prstGeom prst="rect">
            <a:avLst/>
          </a:prstGeom>
          <a:noFill/>
          <a:ln/>
        </p:spPr>
        <p:txBody>
          <a:bodyPr wrap="square" lIns="0" tIns="0" rIns="0" bIns="0" rtlCol="0" anchor="ctr"/>
          <a:lstStyle/>
          <a:p>
            <a:pPr marL="0" indent="0">
              <a:buNone/>
            </a:pPr>
            <a:r>
              <a:rPr lang="en-US" sz="1600" b="1" dirty="0">
                <a:solidFill>
                  <a:schemeClr val="tx1"/>
                </a:solidFill>
              </a:rPr>
              <a:t>Playpen</a:t>
            </a:r>
            <a:endParaRPr lang="en-US" sz="1600" dirty="0"/>
          </a:p>
        </p:txBody>
      </p:sp>
      <p:sp>
        <p:nvSpPr>
          <p:cNvPr id="14" name="Playpen text"/>
          <p:cNvSpPr txBox="1"/>
          <p:nvPr/>
        </p:nvSpPr>
        <p:spPr>
          <a:xfrm>
            <a:off x="4892040" y="1572768"/>
            <a:ext cx="3657600" cy="548640"/>
          </a:xfrm>
          <a:prstGeom prst="rect">
            <a:avLst/>
          </a:prstGeom>
          <a:noFill/>
          <a:ln/>
        </p:spPr>
        <p:txBody>
          <a:bodyPr wrap="square" lIns="0" tIns="0" rIns="0" bIns="0" rtlCol="0" anchor="t"/>
          <a:lstStyle/>
          <a:p>
            <a:pPr marL="0" indent="0">
              <a:buNone/>
            </a:pPr>
            <a:r>
              <a:rPr lang="en-US" sz="1400" dirty="0">
                <a:solidFill>
                  <a:schemeClr val="tx2"/>
                </a:solidFill>
              </a:rPr>
              <a:t>Sides locked. No pillows, comforters, blankets, bumpers or stuffed animals.</a:t>
            </a:r>
            <a:endParaRPr lang="en-US" sz="1400" dirty="0"/>
          </a:p>
        </p:txBody>
      </p:sp>
      <p:sp>
        <p:nvSpPr>
          <p:cNvPr id="15" name="Card Baby walkers: do not use"/>
          <p:cNvSpPr/>
          <p:nvPr/>
        </p:nvSpPr>
        <p:spPr>
          <a:xfrm>
            <a:off x="4069080" y="2313432"/>
            <a:ext cx="4617720" cy="1051560"/>
          </a:xfrm>
          <a:prstGeom prst="roundRect">
            <a:avLst>
              <a:gd name="adj" fmla="val 10435"/>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6" name="Baby walkers: do not use circle"/>
          <p:cNvSpPr/>
          <p:nvPr/>
        </p:nvSpPr>
        <p:spPr>
          <a:xfrm>
            <a:off x="4233672" y="2587752"/>
            <a:ext cx="502920" cy="502920"/>
          </a:xfrm>
          <a:prstGeom prst="ellipse">
            <a:avLst/>
          </a:prstGeom>
          <a:solidFill>
            <a:schemeClr val="accent2"/>
          </a:solidFill>
          <a:ln w="12700">
            <a:solidFill>
              <a:schemeClr val="accent2"/>
            </a:solidFill>
            <a:prstDash val="solid"/>
          </a:ln>
        </p:spPr>
      </p:sp>
      <p:pic>
        <p:nvPicPr>
          <p:cNvPr id="17" name="Baby walkers: do not use glyph" descr="Baby walkers: do not use"/>
          <p:cNvPicPr>
            <a:picLocks noChangeAspect="1"/>
          </p:cNvPicPr>
          <p:nvPr/>
        </p:nvPicPr>
        <p:blipFill>
          <a:blip r:embed="rId6"/>
          <a:stretch>
            <a:fillRect/>
          </a:stretch>
        </p:blipFill>
        <p:spPr>
          <a:xfrm>
            <a:off x="4364431" y="2718511"/>
            <a:ext cx="241402" cy="241402"/>
          </a:xfrm>
          <a:prstGeom prst="rect">
            <a:avLst/>
          </a:prstGeom>
        </p:spPr>
      </p:pic>
      <p:sp>
        <p:nvSpPr>
          <p:cNvPr id="18" name="Baby walkers: do not use heading"/>
          <p:cNvSpPr txBox="1"/>
          <p:nvPr/>
        </p:nvSpPr>
        <p:spPr>
          <a:xfrm>
            <a:off x="4892040" y="2404872"/>
            <a:ext cx="3657600" cy="320040"/>
          </a:xfrm>
          <a:prstGeom prst="rect">
            <a:avLst/>
          </a:prstGeom>
          <a:noFill/>
          <a:ln/>
        </p:spPr>
        <p:txBody>
          <a:bodyPr wrap="square" lIns="0" tIns="0" rIns="0" bIns="0" rtlCol="0" anchor="ctr"/>
          <a:lstStyle/>
          <a:p>
            <a:pPr marL="0" indent="0">
              <a:buNone/>
            </a:pPr>
            <a:r>
              <a:rPr lang="en-US" sz="1600" b="1" dirty="0">
                <a:solidFill>
                  <a:schemeClr val="tx1"/>
                </a:solidFill>
              </a:rPr>
              <a:t>Baby walkers: do not use</a:t>
            </a:r>
            <a:endParaRPr lang="en-US" sz="1600" dirty="0"/>
          </a:p>
        </p:txBody>
      </p:sp>
      <p:sp>
        <p:nvSpPr>
          <p:cNvPr id="19" name="Baby walkers: do not use text"/>
          <p:cNvSpPr txBox="1"/>
          <p:nvPr/>
        </p:nvSpPr>
        <p:spPr>
          <a:xfrm>
            <a:off x="4892040" y="2743200"/>
            <a:ext cx="3657600" cy="548640"/>
          </a:xfrm>
          <a:prstGeom prst="rect">
            <a:avLst/>
          </a:prstGeom>
          <a:noFill/>
          <a:ln/>
        </p:spPr>
        <p:txBody>
          <a:bodyPr wrap="square" lIns="0" tIns="0" rIns="0" bIns="0" rtlCol="0" anchor="t"/>
          <a:lstStyle/>
          <a:p>
            <a:pPr marL="0" indent="0">
              <a:buNone/>
            </a:pPr>
            <a:r>
              <a:rPr lang="en-US" sz="1400" dirty="0">
                <a:solidFill>
                  <a:schemeClr val="tx2"/>
                </a:solidFill>
              </a:rPr>
              <a:t>Children do not need them to learn to walk, and many babies are hurt in falls.</a:t>
            </a:r>
            <a:endParaRPr lang="en-US" sz="1400" dirty="0"/>
          </a:p>
        </p:txBody>
      </p:sp>
      <p:sp>
        <p:nvSpPr>
          <p:cNvPr id="20" name="Card Baby gates"/>
          <p:cNvSpPr/>
          <p:nvPr/>
        </p:nvSpPr>
        <p:spPr>
          <a:xfrm>
            <a:off x="4069080" y="3483864"/>
            <a:ext cx="4617720" cy="1051560"/>
          </a:xfrm>
          <a:prstGeom prst="roundRect">
            <a:avLst>
              <a:gd name="adj" fmla="val 10435"/>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21" name="Baby gates circle"/>
          <p:cNvSpPr/>
          <p:nvPr/>
        </p:nvSpPr>
        <p:spPr>
          <a:xfrm>
            <a:off x="4233672" y="3758184"/>
            <a:ext cx="502920" cy="502920"/>
          </a:xfrm>
          <a:prstGeom prst="ellipse">
            <a:avLst/>
          </a:prstGeom>
          <a:solidFill>
            <a:schemeClr val="accent1"/>
          </a:solidFill>
          <a:ln w="12700">
            <a:solidFill>
              <a:schemeClr val="accent1"/>
            </a:solidFill>
            <a:prstDash val="solid"/>
          </a:ln>
        </p:spPr>
      </p:sp>
      <p:pic>
        <p:nvPicPr>
          <p:cNvPr id="22" name="Baby gates glyph" descr="Baby gates"/>
          <p:cNvPicPr>
            <a:picLocks noChangeAspect="1"/>
          </p:cNvPicPr>
          <p:nvPr/>
        </p:nvPicPr>
        <p:blipFill>
          <a:blip r:embed="rId7"/>
          <a:stretch>
            <a:fillRect/>
          </a:stretch>
        </p:blipFill>
        <p:spPr>
          <a:xfrm>
            <a:off x="4364431" y="3888943"/>
            <a:ext cx="241402" cy="241402"/>
          </a:xfrm>
          <a:prstGeom prst="rect">
            <a:avLst/>
          </a:prstGeom>
        </p:spPr>
      </p:pic>
      <p:sp>
        <p:nvSpPr>
          <p:cNvPr id="23" name="Baby gates heading"/>
          <p:cNvSpPr txBox="1"/>
          <p:nvPr/>
        </p:nvSpPr>
        <p:spPr>
          <a:xfrm>
            <a:off x="4892040" y="3575304"/>
            <a:ext cx="3657600" cy="320040"/>
          </a:xfrm>
          <a:prstGeom prst="rect">
            <a:avLst/>
          </a:prstGeom>
          <a:noFill/>
          <a:ln/>
        </p:spPr>
        <p:txBody>
          <a:bodyPr wrap="square" lIns="0" tIns="0" rIns="0" bIns="0" rtlCol="0" anchor="ctr"/>
          <a:lstStyle/>
          <a:p>
            <a:pPr marL="0" indent="0">
              <a:buNone/>
            </a:pPr>
            <a:r>
              <a:rPr lang="en-US" sz="1600" b="1" dirty="0">
                <a:solidFill>
                  <a:schemeClr val="tx1"/>
                </a:solidFill>
              </a:rPr>
              <a:t>Baby gates</a:t>
            </a:r>
            <a:endParaRPr lang="en-US" sz="1600" dirty="0"/>
          </a:p>
        </p:txBody>
      </p:sp>
      <p:sp>
        <p:nvSpPr>
          <p:cNvPr id="24" name="Baby gates text"/>
          <p:cNvSpPr txBox="1"/>
          <p:nvPr/>
        </p:nvSpPr>
        <p:spPr>
          <a:xfrm>
            <a:off x="4892040" y="3913632"/>
            <a:ext cx="3657600" cy="548640"/>
          </a:xfrm>
          <a:prstGeom prst="rect">
            <a:avLst/>
          </a:prstGeom>
          <a:noFill/>
          <a:ln/>
        </p:spPr>
        <p:txBody>
          <a:bodyPr wrap="square" lIns="0" tIns="0" rIns="0" bIns="0" rtlCol="0" anchor="t"/>
          <a:lstStyle/>
          <a:p>
            <a:pPr marL="0" indent="0">
              <a:buNone/>
            </a:pPr>
            <a:r>
              <a:rPr lang="en-US" sz="1400" dirty="0">
                <a:solidFill>
                  <a:schemeClr val="tx2"/>
                </a:solidFill>
              </a:rPr>
              <a:t>Block unsafe areas. Place them at the top and bottom of stairs.</a:t>
            </a:r>
            <a:endParaRPr lang="en-US" sz="1400" dirty="0"/>
          </a:p>
        </p:txBody>
      </p:sp>
      <p:sp>
        <p:nvSpPr>
          <p:cNvPr id="25" name="Back button">
            <a:hlinkClick r:id="rId8" action="ppaction://hlinksldjump" tooltip="Previous slide"/>
          </p:cNvPr>
          <p:cNvSpPr/>
          <p:nvPr/>
        </p:nvSpPr>
        <p:spPr>
          <a:xfrm>
            <a:off x="6446520" y="4636008"/>
            <a:ext cx="1051560" cy="347472"/>
          </a:xfrm>
          <a:prstGeom prst="roundRect">
            <a:avLst>
              <a:gd name="adj" fmla="val 50000"/>
            </a:avLst>
          </a:prstGeom>
          <a:solidFill>
            <a:schemeClr val="bg1"/>
          </a:solidFill>
          <a:ln/>
        </p:spPr>
        <p:txBody>
          <a:bodyPr wrap="square" lIns="0" tIns="0" rIns="0" bIns="0" rtlCol="0" anchor="ctr"/>
          <a:lstStyle/>
          <a:p>
            <a:pPr marL="0" indent="0" algn="ctr">
              <a:buNone/>
            </a:pPr>
            <a:r>
              <a:rPr lang="en-US" sz="1400" b="1" dirty="0">
                <a:solidFill>
                  <a:schemeClr val="tx1"/>
                </a:solidFill>
              </a:rPr>
              <a:t>‹ Back</a:t>
            </a:r>
            <a:endParaRPr lang="en-US" sz="1400" dirty="0"/>
          </a:p>
        </p:txBody>
      </p:sp>
      <p:sp>
        <p:nvSpPr>
          <p:cNvPr id="26" name="Next button">
            <a:hlinkClick r:id="rId9" action="ppaction://hlinksldjump" tooltip="Next slide"/>
          </p:cNvPr>
          <p:cNvSpPr/>
          <p:nvPr/>
        </p:nvSpPr>
        <p:spPr>
          <a:xfrm>
            <a:off x="7589520" y="4636008"/>
            <a:ext cx="1097280" cy="347472"/>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Next ›</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Clothes and pacifiers</a:t>
            </a:r>
            <a:endParaRPr lang="en-US"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Menu</a:t>
            </a:r>
            <a:endParaRPr lang="en-US" sz="1400" dirty="0"/>
          </a:p>
        </p:txBody>
      </p:sp>
      <p:sp>
        <p:nvSpPr>
          <p:cNvPr id="4" name="Clothes 1"/>
          <p:cNvSpPr/>
          <p:nvPr/>
        </p:nvSpPr>
        <p:spPr>
          <a:xfrm>
            <a:off x="457200" y="1143000"/>
            <a:ext cx="8229600" cy="1051560"/>
          </a:xfrm>
          <a:prstGeom prst="roundRect">
            <a:avLst>
              <a:gd name="adj" fmla="val 10435"/>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5" name="Cut the strings circle"/>
          <p:cNvSpPr/>
          <p:nvPr/>
        </p:nvSpPr>
        <p:spPr>
          <a:xfrm>
            <a:off x="685800" y="1417320"/>
            <a:ext cx="502920" cy="502920"/>
          </a:xfrm>
          <a:prstGeom prst="ellipse">
            <a:avLst/>
          </a:prstGeom>
          <a:solidFill>
            <a:schemeClr val="accent1"/>
          </a:solidFill>
          <a:ln w="12700">
            <a:solidFill>
              <a:schemeClr val="accent1"/>
            </a:solidFill>
            <a:prstDash val="solid"/>
          </a:ln>
        </p:spPr>
      </p:sp>
      <p:pic>
        <p:nvPicPr>
          <p:cNvPr id="6" name="Cut the strings glyph" descr="Cut the strings"/>
          <p:cNvPicPr>
            <a:picLocks noChangeAspect="1"/>
          </p:cNvPicPr>
          <p:nvPr/>
        </p:nvPicPr>
        <p:blipFill>
          <a:blip r:embed="rId4"/>
          <a:stretch>
            <a:fillRect/>
          </a:stretch>
        </p:blipFill>
        <p:spPr>
          <a:xfrm>
            <a:off x="816559" y="1548079"/>
            <a:ext cx="241402" cy="241402"/>
          </a:xfrm>
          <a:prstGeom prst="rect">
            <a:avLst/>
          </a:prstGeom>
        </p:spPr>
      </p:pic>
      <p:sp>
        <p:nvSpPr>
          <p:cNvPr id="7" name="Cut the strings heading"/>
          <p:cNvSpPr txBox="1"/>
          <p:nvPr/>
        </p:nvSpPr>
        <p:spPr>
          <a:xfrm>
            <a:off x="1463040" y="1234440"/>
            <a:ext cx="7040880" cy="365760"/>
          </a:xfrm>
          <a:prstGeom prst="rect">
            <a:avLst/>
          </a:prstGeom>
          <a:noFill/>
          <a:ln/>
        </p:spPr>
        <p:txBody>
          <a:bodyPr wrap="square" lIns="0" tIns="0" rIns="0" bIns="0" rtlCol="0" anchor="ctr"/>
          <a:lstStyle/>
          <a:p>
            <a:pPr marL="0" indent="0">
              <a:buNone/>
            </a:pPr>
            <a:r>
              <a:rPr lang="en-US" sz="1800" b="1" dirty="0">
                <a:solidFill>
                  <a:schemeClr val="tx1"/>
                </a:solidFill>
              </a:rPr>
              <a:t>Cut the strings</a:t>
            </a:r>
            <a:endParaRPr lang="en-US" sz="1800" dirty="0"/>
          </a:p>
        </p:txBody>
      </p:sp>
      <p:sp>
        <p:nvSpPr>
          <p:cNvPr id="8" name="Cut the strings text"/>
          <p:cNvSpPr txBox="1"/>
          <p:nvPr/>
        </p:nvSpPr>
        <p:spPr>
          <a:xfrm>
            <a:off x="1463040" y="1600200"/>
            <a:ext cx="7040880" cy="502920"/>
          </a:xfrm>
          <a:prstGeom prst="rect">
            <a:avLst/>
          </a:prstGeom>
          <a:noFill/>
          <a:ln/>
        </p:spPr>
        <p:txBody>
          <a:bodyPr wrap="square" lIns="0" tIns="0" rIns="0" bIns="0" rtlCol="0" anchor="t"/>
          <a:lstStyle/>
          <a:p>
            <a:pPr marL="0" indent="0">
              <a:buNone/>
            </a:pPr>
            <a:r>
              <a:rPr lang="en-US" sz="1400" dirty="0">
                <a:solidFill>
                  <a:schemeClr val="tx2"/>
                </a:solidFill>
              </a:rPr>
              <a:t>Take strings off sleepers so baby cannot wrap them around the neck or toes.</a:t>
            </a:r>
            <a:endParaRPr lang="en-US" sz="1400" dirty="0"/>
          </a:p>
        </p:txBody>
      </p:sp>
      <p:sp>
        <p:nvSpPr>
          <p:cNvPr id="9" name="Clothes 2"/>
          <p:cNvSpPr/>
          <p:nvPr/>
        </p:nvSpPr>
        <p:spPr>
          <a:xfrm>
            <a:off x="457200" y="2313432"/>
            <a:ext cx="8229600" cy="1051560"/>
          </a:xfrm>
          <a:prstGeom prst="roundRect">
            <a:avLst>
              <a:gd name="adj" fmla="val 10435"/>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0" name="Check every outfit circle"/>
          <p:cNvSpPr/>
          <p:nvPr/>
        </p:nvSpPr>
        <p:spPr>
          <a:xfrm>
            <a:off x="685800" y="2587752"/>
            <a:ext cx="502920" cy="502920"/>
          </a:xfrm>
          <a:prstGeom prst="ellipse">
            <a:avLst/>
          </a:prstGeom>
          <a:solidFill>
            <a:schemeClr val="accent4"/>
          </a:solidFill>
          <a:ln w="12700">
            <a:solidFill>
              <a:schemeClr val="accent4"/>
            </a:solidFill>
            <a:prstDash val="solid"/>
          </a:ln>
        </p:spPr>
      </p:sp>
      <p:pic>
        <p:nvPicPr>
          <p:cNvPr id="11" name="Check every outfit glyph" descr="Check every outfit"/>
          <p:cNvPicPr>
            <a:picLocks noChangeAspect="1"/>
          </p:cNvPicPr>
          <p:nvPr/>
        </p:nvPicPr>
        <p:blipFill>
          <a:blip r:embed="rId5"/>
          <a:stretch>
            <a:fillRect/>
          </a:stretch>
        </p:blipFill>
        <p:spPr>
          <a:xfrm>
            <a:off x="816559" y="2718511"/>
            <a:ext cx="241402" cy="241402"/>
          </a:xfrm>
          <a:prstGeom prst="rect">
            <a:avLst/>
          </a:prstGeom>
        </p:spPr>
      </p:pic>
      <p:sp>
        <p:nvSpPr>
          <p:cNvPr id="12" name="Check every outfit heading"/>
          <p:cNvSpPr txBox="1"/>
          <p:nvPr/>
        </p:nvSpPr>
        <p:spPr>
          <a:xfrm>
            <a:off x="1463040" y="2404872"/>
            <a:ext cx="7040880" cy="365760"/>
          </a:xfrm>
          <a:prstGeom prst="rect">
            <a:avLst/>
          </a:prstGeom>
          <a:noFill/>
          <a:ln/>
        </p:spPr>
        <p:txBody>
          <a:bodyPr wrap="square" lIns="0" tIns="0" rIns="0" bIns="0" rtlCol="0" anchor="ctr"/>
          <a:lstStyle/>
          <a:p>
            <a:pPr marL="0" indent="0">
              <a:buNone/>
            </a:pPr>
            <a:r>
              <a:rPr lang="en-US" sz="1800" b="1" dirty="0">
                <a:solidFill>
                  <a:schemeClr val="tx1"/>
                </a:solidFill>
              </a:rPr>
              <a:t>Check every outfit</a:t>
            </a:r>
            <a:endParaRPr lang="en-US" sz="1800" dirty="0"/>
          </a:p>
        </p:txBody>
      </p:sp>
      <p:sp>
        <p:nvSpPr>
          <p:cNvPr id="13" name="Check every outfit text"/>
          <p:cNvSpPr txBox="1"/>
          <p:nvPr/>
        </p:nvSpPr>
        <p:spPr>
          <a:xfrm>
            <a:off x="1463040" y="2770632"/>
            <a:ext cx="7040880" cy="502920"/>
          </a:xfrm>
          <a:prstGeom prst="rect">
            <a:avLst/>
          </a:prstGeom>
          <a:noFill/>
          <a:ln/>
        </p:spPr>
        <p:txBody>
          <a:bodyPr wrap="square" lIns="0" tIns="0" rIns="0" bIns="0" rtlCol="0" anchor="t"/>
          <a:lstStyle/>
          <a:p>
            <a:pPr marL="0" indent="0">
              <a:buNone/>
            </a:pPr>
            <a:r>
              <a:rPr lang="en-US" sz="1400" dirty="0">
                <a:solidFill>
                  <a:schemeClr val="tx2"/>
                </a:solidFill>
              </a:rPr>
              <a:t>Look for loose buttons that could be swallowed, and strings that could wrap around the neck, fingers or toes.</a:t>
            </a:r>
            <a:endParaRPr lang="en-US" sz="1400" dirty="0"/>
          </a:p>
        </p:txBody>
      </p:sp>
      <p:sp>
        <p:nvSpPr>
          <p:cNvPr id="14" name="Clothes 3"/>
          <p:cNvSpPr/>
          <p:nvPr/>
        </p:nvSpPr>
        <p:spPr>
          <a:xfrm>
            <a:off x="457200" y="3483864"/>
            <a:ext cx="8229600" cy="1051560"/>
          </a:xfrm>
          <a:prstGeom prst="roundRect">
            <a:avLst>
              <a:gd name="adj" fmla="val 10435"/>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5" name="Free pacifier circle"/>
          <p:cNvSpPr/>
          <p:nvPr/>
        </p:nvSpPr>
        <p:spPr>
          <a:xfrm>
            <a:off x="685800" y="3758184"/>
            <a:ext cx="502920" cy="502920"/>
          </a:xfrm>
          <a:prstGeom prst="ellipse">
            <a:avLst/>
          </a:prstGeom>
          <a:solidFill>
            <a:schemeClr val="accent2"/>
          </a:solidFill>
          <a:ln w="12700">
            <a:solidFill>
              <a:schemeClr val="accent2"/>
            </a:solidFill>
            <a:prstDash val="solid"/>
          </a:ln>
        </p:spPr>
      </p:sp>
      <p:pic>
        <p:nvPicPr>
          <p:cNvPr id="16" name="Free pacifier glyph" descr="Free pacifier"/>
          <p:cNvPicPr>
            <a:picLocks noChangeAspect="1"/>
          </p:cNvPicPr>
          <p:nvPr/>
        </p:nvPicPr>
        <p:blipFill>
          <a:blip r:embed="rId6"/>
          <a:stretch>
            <a:fillRect/>
          </a:stretch>
        </p:blipFill>
        <p:spPr>
          <a:xfrm>
            <a:off x="816559" y="3888943"/>
            <a:ext cx="241402" cy="241402"/>
          </a:xfrm>
          <a:prstGeom prst="rect">
            <a:avLst/>
          </a:prstGeom>
        </p:spPr>
      </p:pic>
      <p:sp>
        <p:nvSpPr>
          <p:cNvPr id="17" name="Free pacifier heading"/>
          <p:cNvSpPr txBox="1"/>
          <p:nvPr/>
        </p:nvSpPr>
        <p:spPr>
          <a:xfrm>
            <a:off x="1463040" y="3575304"/>
            <a:ext cx="7040880" cy="365760"/>
          </a:xfrm>
          <a:prstGeom prst="rect">
            <a:avLst/>
          </a:prstGeom>
          <a:noFill/>
          <a:ln/>
        </p:spPr>
        <p:txBody>
          <a:bodyPr wrap="square" lIns="0" tIns="0" rIns="0" bIns="0" rtlCol="0" anchor="ctr"/>
          <a:lstStyle/>
          <a:p>
            <a:pPr marL="0" indent="0">
              <a:buNone/>
            </a:pPr>
            <a:r>
              <a:rPr lang="en-US" sz="1800" b="1" dirty="0">
                <a:solidFill>
                  <a:schemeClr val="tx1"/>
                </a:solidFill>
              </a:rPr>
              <a:t>Free pacifier</a:t>
            </a:r>
            <a:endParaRPr lang="en-US" sz="1800" dirty="0"/>
          </a:p>
        </p:txBody>
      </p:sp>
      <p:sp>
        <p:nvSpPr>
          <p:cNvPr id="18" name="Free pacifier text"/>
          <p:cNvSpPr txBox="1"/>
          <p:nvPr/>
        </p:nvSpPr>
        <p:spPr>
          <a:xfrm>
            <a:off x="1463040" y="3941064"/>
            <a:ext cx="7040880" cy="502920"/>
          </a:xfrm>
          <a:prstGeom prst="rect">
            <a:avLst/>
          </a:prstGeom>
          <a:noFill/>
          <a:ln/>
        </p:spPr>
        <p:txBody>
          <a:bodyPr wrap="square" lIns="0" tIns="0" rIns="0" bIns="0" rtlCol="0" anchor="t"/>
          <a:lstStyle/>
          <a:p>
            <a:pPr marL="0" indent="0">
              <a:buNone/>
            </a:pPr>
            <a:r>
              <a:rPr lang="en-US" sz="1400" dirty="0">
                <a:solidFill>
                  <a:schemeClr val="tx2"/>
                </a:solidFill>
              </a:rPr>
              <a:t>Do not tie a pacifier to clothes or around the neck.</a:t>
            </a:r>
            <a:endParaRPr lang="en-US" sz="1400" dirty="0"/>
          </a:p>
        </p:txBody>
      </p:sp>
      <p:sp>
        <p:nvSpPr>
          <p:cNvPr id="19" name="Back button">
            <a:hlinkClick r:id="rId7" action="ppaction://hlinksldjump" tooltip="Previous slide"/>
          </p:cNvPr>
          <p:cNvSpPr/>
          <p:nvPr/>
        </p:nvSpPr>
        <p:spPr>
          <a:xfrm>
            <a:off x="6446520" y="4636008"/>
            <a:ext cx="1051560" cy="347472"/>
          </a:xfrm>
          <a:prstGeom prst="roundRect">
            <a:avLst>
              <a:gd name="adj" fmla="val 50000"/>
            </a:avLst>
          </a:prstGeom>
          <a:solidFill>
            <a:schemeClr val="bg1"/>
          </a:solidFill>
          <a:ln/>
        </p:spPr>
        <p:txBody>
          <a:bodyPr wrap="square" lIns="0" tIns="0" rIns="0" bIns="0" rtlCol="0" anchor="ctr"/>
          <a:lstStyle/>
          <a:p>
            <a:pPr marL="0" indent="0" algn="ctr">
              <a:buNone/>
            </a:pPr>
            <a:r>
              <a:rPr lang="en-US" sz="1400" b="1" dirty="0">
                <a:solidFill>
                  <a:schemeClr val="tx1"/>
                </a:solidFill>
              </a:rPr>
              <a:t>‹ Back</a:t>
            </a:r>
            <a:endParaRPr lang="en-US" sz="1400" dirty="0"/>
          </a:p>
        </p:txBody>
      </p:sp>
      <p:sp>
        <p:nvSpPr>
          <p:cNvPr id="20" name="Next button">
            <a:hlinkClick r:id="rId8" action="ppaction://hlinksldjump" tooltip="Next slide"/>
          </p:cNvPr>
          <p:cNvSpPr/>
          <p:nvPr/>
        </p:nvSpPr>
        <p:spPr>
          <a:xfrm>
            <a:off x="7589520" y="4636008"/>
            <a:ext cx="1097280" cy="347472"/>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Next ›</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Active and protected</a:t>
            </a:r>
            <a:endParaRPr lang="en-US"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Menu</a:t>
            </a:r>
            <a:endParaRPr lang="en-US" sz="1400" dirty="0"/>
          </a:p>
        </p:txBody>
      </p:sp>
      <p:pic>
        <p:nvPicPr>
          <p:cNvPr id="4" name="Helmet photo" descr="A mother fastening a yellow bicycle helmet on her young son"/>
          <p:cNvPicPr>
            <a:picLocks noChangeAspect="1"/>
          </p:cNvPicPr>
          <p:nvPr/>
        </p:nvPicPr>
        <p:blipFill>
          <a:blip r:embed="rId4"/>
          <a:stretch>
            <a:fillRect/>
          </a:stretch>
        </p:blipFill>
        <p:spPr>
          <a:xfrm>
            <a:off x="457200" y="1143000"/>
            <a:ext cx="3200400" cy="2130552"/>
          </a:xfrm>
          <a:prstGeom prst="rect">
            <a:avLst/>
          </a:prstGeom>
        </p:spPr>
      </p:pic>
      <p:sp>
        <p:nvSpPr>
          <p:cNvPr id="5" name="Gear card"/>
          <p:cNvSpPr/>
          <p:nvPr/>
        </p:nvSpPr>
        <p:spPr>
          <a:xfrm>
            <a:off x="457200" y="3429000"/>
            <a:ext cx="3200400" cy="1097280"/>
          </a:xfrm>
          <a:prstGeom prst="roundRect">
            <a:avLst>
              <a:gd name="adj" fmla="val 10000"/>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6" name="Gear text"/>
          <p:cNvSpPr txBox="1"/>
          <p:nvPr/>
        </p:nvSpPr>
        <p:spPr>
          <a:xfrm>
            <a:off x="621792" y="3429000"/>
            <a:ext cx="2880360" cy="1097280"/>
          </a:xfrm>
          <a:prstGeom prst="rect">
            <a:avLst/>
          </a:prstGeom>
          <a:noFill/>
          <a:ln/>
        </p:spPr>
        <p:txBody>
          <a:bodyPr wrap="square" lIns="0" tIns="0" rIns="0" bIns="0" rtlCol="0" anchor="ctr"/>
          <a:lstStyle/>
          <a:p>
            <a:pPr marL="0" indent="0">
              <a:buNone/>
            </a:pPr>
            <a:r>
              <a:rPr lang="en-US" sz="1400" dirty="0">
                <a:solidFill>
                  <a:schemeClr val="tx2"/>
                </a:solidFill>
              </a:rPr>
              <a:t>Injury prevention: use protective gear for sports, like a helmet.</a:t>
            </a:r>
            <a:endParaRPr lang="en-US" sz="1400" dirty="0"/>
          </a:p>
        </p:txBody>
      </p:sp>
      <p:sp>
        <p:nvSpPr>
          <p:cNvPr id="7" name="Stat 60 minutes"/>
          <p:cNvSpPr/>
          <p:nvPr/>
        </p:nvSpPr>
        <p:spPr>
          <a:xfrm>
            <a:off x="3886200" y="1143000"/>
            <a:ext cx="4800600" cy="1600200"/>
          </a:xfrm>
          <a:prstGeom prst="roundRect">
            <a:avLst>
              <a:gd name="adj" fmla="val 685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8" name="60 minutes stat"/>
          <p:cNvSpPr txBox="1"/>
          <p:nvPr/>
        </p:nvSpPr>
        <p:spPr>
          <a:xfrm>
            <a:off x="4069080" y="1280160"/>
            <a:ext cx="4434840" cy="502920"/>
          </a:xfrm>
          <a:prstGeom prst="rect">
            <a:avLst/>
          </a:prstGeom>
          <a:noFill/>
          <a:ln/>
        </p:spPr>
        <p:txBody>
          <a:bodyPr wrap="square" lIns="0" tIns="0" rIns="0" bIns="0" rtlCol="0" anchor="ctr"/>
          <a:lstStyle/>
          <a:p>
            <a:pPr marL="0" indent="0">
              <a:buNone/>
            </a:pPr>
            <a:r>
              <a:rPr lang="en-US" sz="2400" b="1" dirty="0">
                <a:solidFill>
                  <a:schemeClr val="accent4"/>
                </a:solidFill>
                <a:latin typeface="+mj-lt" pitchFamily="34" charset="0"/>
                <a:ea typeface="+mj-lt" pitchFamily="34" charset="-122"/>
                <a:cs typeface="+mj-lt" pitchFamily="34" charset="-120"/>
              </a:rPr>
              <a:t>60 minutes</a:t>
            </a:r>
            <a:endParaRPr lang="en-US" sz="2400" dirty="0"/>
          </a:p>
        </p:txBody>
      </p:sp>
      <p:sp>
        <p:nvSpPr>
          <p:cNvPr id="9" name="60 minutes text"/>
          <p:cNvSpPr txBox="1"/>
          <p:nvPr/>
        </p:nvSpPr>
        <p:spPr>
          <a:xfrm>
            <a:off x="4069080" y="1828800"/>
            <a:ext cx="4434840" cy="822960"/>
          </a:xfrm>
          <a:prstGeom prst="rect">
            <a:avLst/>
          </a:prstGeom>
          <a:noFill/>
          <a:ln/>
        </p:spPr>
        <p:txBody>
          <a:bodyPr wrap="square" lIns="0" tIns="0" rIns="0" bIns="0" rtlCol="0" anchor="t"/>
          <a:lstStyle/>
          <a:p>
            <a:pPr marL="0" indent="0">
              <a:buNone/>
            </a:pPr>
            <a:r>
              <a:rPr lang="en-US" sz="1400" dirty="0">
                <a:solidFill>
                  <a:schemeClr val="tx2"/>
                </a:solidFill>
              </a:rPr>
              <a:t>of age-appropriate physical activity daily, or on most days of the week.</a:t>
            </a:r>
            <a:endParaRPr lang="en-US" sz="1400" dirty="0"/>
          </a:p>
        </p:txBody>
      </p:sp>
      <p:sp>
        <p:nvSpPr>
          <p:cNvPr id="10" name="Card Lead poisoning"/>
          <p:cNvSpPr/>
          <p:nvPr/>
        </p:nvSpPr>
        <p:spPr>
          <a:xfrm>
            <a:off x="3886200" y="2926080"/>
            <a:ext cx="4800600" cy="1600200"/>
          </a:xfrm>
          <a:prstGeom prst="roundRect">
            <a:avLst>
              <a:gd name="adj" fmla="val 685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1" name="Lead poisoning circle"/>
          <p:cNvSpPr/>
          <p:nvPr/>
        </p:nvSpPr>
        <p:spPr>
          <a:xfrm>
            <a:off x="4069080" y="3090672"/>
            <a:ext cx="457200" cy="457200"/>
          </a:xfrm>
          <a:prstGeom prst="ellipse">
            <a:avLst/>
          </a:prstGeom>
          <a:solidFill>
            <a:schemeClr val="accent1"/>
          </a:solidFill>
          <a:ln w="12700">
            <a:solidFill>
              <a:schemeClr val="accent1"/>
            </a:solidFill>
            <a:prstDash val="solid"/>
          </a:ln>
        </p:spPr>
      </p:sp>
      <p:pic>
        <p:nvPicPr>
          <p:cNvPr id="12" name="Lead poisoning glyph" descr="Lead poisoning"/>
          <p:cNvPicPr>
            <a:picLocks noChangeAspect="1"/>
          </p:cNvPicPr>
          <p:nvPr/>
        </p:nvPicPr>
        <p:blipFill>
          <a:blip r:embed="rId5"/>
          <a:stretch>
            <a:fillRect/>
          </a:stretch>
        </p:blipFill>
        <p:spPr>
          <a:xfrm>
            <a:off x="4187952" y="3209544"/>
            <a:ext cx="219456" cy="219456"/>
          </a:xfrm>
          <a:prstGeom prst="rect">
            <a:avLst/>
          </a:prstGeom>
        </p:spPr>
      </p:pic>
      <p:sp>
        <p:nvSpPr>
          <p:cNvPr id="13" name="Lead poisoning heading"/>
          <p:cNvSpPr txBox="1"/>
          <p:nvPr/>
        </p:nvSpPr>
        <p:spPr>
          <a:xfrm>
            <a:off x="4636008" y="3090672"/>
            <a:ext cx="3886200" cy="457200"/>
          </a:xfrm>
          <a:prstGeom prst="rect">
            <a:avLst/>
          </a:prstGeom>
          <a:noFill/>
          <a:ln/>
        </p:spPr>
        <p:txBody>
          <a:bodyPr wrap="square" lIns="0" tIns="0" rIns="0" bIns="0" rtlCol="0" anchor="ctr"/>
          <a:lstStyle/>
          <a:p>
            <a:pPr marL="0" indent="0">
              <a:buNone/>
            </a:pPr>
            <a:r>
              <a:rPr lang="en-US" sz="1600" b="1" dirty="0">
                <a:solidFill>
                  <a:schemeClr val="tx1"/>
                </a:solidFill>
              </a:rPr>
              <a:t>Lead poisoning</a:t>
            </a:r>
            <a:endParaRPr lang="en-US" sz="1600" dirty="0"/>
          </a:p>
        </p:txBody>
      </p:sp>
      <p:sp>
        <p:nvSpPr>
          <p:cNvPr id="14" name="Lead poisoning text"/>
          <p:cNvSpPr txBox="1"/>
          <p:nvPr/>
        </p:nvSpPr>
        <p:spPr>
          <a:xfrm>
            <a:off x="4069080" y="3639312"/>
            <a:ext cx="4434840" cy="777240"/>
          </a:xfrm>
          <a:prstGeom prst="rect">
            <a:avLst/>
          </a:prstGeom>
          <a:noFill/>
          <a:ln/>
        </p:spPr>
        <p:txBody>
          <a:bodyPr wrap="square" lIns="0" tIns="0" rIns="0" bIns="0" rtlCol="0" anchor="t"/>
          <a:lstStyle/>
          <a:p>
            <a:pPr marL="0" indent="0">
              <a:buNone/>
            </a:pPr>
            <a:r>
              <a:rPr lang="en-US" sz="1400" dirty="0">
                <a:solidFill>
                  <a:schemeClr val="tx2"/>
                </a:solidFill>
              </a:rPr>
              <a:t>Lead is an everyday environmental toxicant that can harm many organ systems. In children, its best-studied effect is cognitive impairment.</a:t>
            </a:r>
            <a:endParaRPr lang="en-US" sz="1400" dirty="0"/>
          </a:p>
        </p:txBody>
      </p:sp>
      <p:sp>
        <p:nvSpPr>
          <p:cNvPr id="15" name="Back button">
            <a:hlinkClick r:id="rId6" action="ppaction://hlinksldjump" tooltip="Previous slide"/>
          </p:cNvPr>
          <p:cNvSpPr/>
          <p:nvPr/>
        </p:nvSpPr>
        <p:spPr>
          <a:xfrm>
            <a:off x="6446520" y="4636008"/>
            <a:ext cx="1051560" cy="347472"/>
          </a:xfrm>
          <a:prstGeom prst="roundRect">
            <a:avLst>
              <a:gd name="adj" fmla="val 50000"/>
            </a:avLst>
          </a:prstGeom>
          <a:solidFill>
            <a:schemeClr val="bg1"/>
          </a:solidFill>
          <a:ln/>
        </p:spPr>
        <p:txBody>
          <a:bodyPr wrap="square" lIns="0" tIns="0" rIns="0" bIns="0" rtlCol="0" anchor="ctr"/>
          <a:lstStyle/>
          <a:p>
            <a:pPr marL="0" indent="0" algn="ctr">
              <a:buNone/>
            </a:pPr>
            <a:r>
              <a:rPr lang="en-US" sz="1400" b="1" dirty="0">
                <a:solidFill>
                  <a:schemeClr val="tx1"/>
                </a:solidFill>
              </a:rPr>
              <a:t>‹ Back</a:t>
            </a:r>
            <a:endParaRPr lang="en-US" sz="1400" dirty="0"/>
          </a:p>
        </p:txBody>
      </p:sp>
      <p:sp>
        <p:nvSpPr>
          <p:cNvPr id="16" name="Next button">
            <a:hlinkClick r:id="rId7" action="ppaction://hlinksldjump" tooltip="Next slide"/>
          </p:cNvPr>
          <p:cNvSpPr/>
          <p:nvPr/>
        </p:nvSpPr>
        <p:spPr>
          <a:xfrm>
            <a:off x="7589520" y="4636008"/>
            <a:ext cx="1097280" cy="347472"/>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Next ›</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Child protection strategies</a:t>
            </a:r>
            <a:endParaRPr lang="en-US"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Menu</a:t>
            </a:r>
            <a:endParaRPr lang="en-US" sz="1400" dirty="0"/>
          </a:p>
        </p:txBody>
      </p:sp>
      <p:sp>
        <p:nvSpPr>
          <p:cNvPr id="4" name="Strategy 1"/>
          <p:cNvSpPr/>
          <p:nvPr/>
        </p:nvSpPr>
        <p:spPr>
          <a:xfrm>
            <a:off x="457200" y="1143000"/>
            <a:ext cx="1920240" cy="960120"/>
          </a:xfrm>
          <a:prstGeom prst="roundRect">
            <a:avLst>
              <a:gd name="adj" fmla="val 9524"/>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5" name="Strategy 1 circle"/>
          <p:cNvSpPr/>
          <p:nvPr/>
        </p:nvSpPr>
        <p:spPr>
          <a:xfrm>
            <a:off x="566928" y="1417320"/>
            <a:ext cx="411480" cy="411480"/>
          </a:xfrm>
          <a:prstGeom prst="ellipse">
            <a:avLst/>
          </a:prstGeom>
          <a:solidFill>
            <a:schemeClr val="accent1"/>
          </a:solidFill>
          <a:ln w="12700">
            <a:solidFill>
              <a:schemeClr val="accent1"/>
            </a:solidFill>
            <a:prstDash val="solid"/>
          </a:ln>
        </p:spPr>
      </p:sp>
      <p:pic>
        <p:nvPicPr>
          <p:cNvPr id="6" name="Strategy 1 glyph" descr="Strategy 1"/>
          <p:cNvPicPr>
            <a:picLocks noChangeAspect="1"/>
          </p:cNvPicPr>
          <p:nvPr/>
        </p:nvPicPr>
        <p:blipFill>
          <a:blip r:embed="rId4"/>
          <a:stretch>
            <a:fillRect/>
          </a:stretch>
        </p:blipFill>
        <p:spPr>
          <a:xfrm>
            <a:off x="673913" y="1524305"/>
            <a:ext cx="197510" cy="197510"/>
          </a:xfrm>
          <a:prstGeom prst="rect">
            <a:avLst/>
          </a:prstGeom>
        </p:spPr>
      </p:pic>
      <p:sp>
        <p:nvSpPr>
          <p:cNvPr id="7" name="Strategy 1 text"/>
          <p:cNvSpPr txBox="1"/>
          <p:nvPr/>
        </p:nvSpPr>
        <p:spPr>
          <a:xfrm>
            <a:off x="1078992" y="1143000"/>
            <a:ext cx="1234440" cy="960120"/>
          </a:xfrm>
          <a:prstGeom prst="rect">
            <a:avLst/>
          </a:prstGeom>
          <a:noFill/>
          <a:ln/>
        </p:spPr>
        <p:txBody>
          <a:bodyPr wrap="square" lIns="0" tIns="0" rIns="0" bIns="0" rtlCol="0" anchor="ctr"/>
          <a:lstStyle/>
          <a:p>
            <a:pPr marL="0" indent="0">
              <a:buNone/>
            </a:pPr>
            <a:r>
              <a:rPr lang="en-US" sz="1400" dirty="0">
                <a:solidFill>
                  <a:schemeClr val="tx1"/>
                </a:solidFill>
              </a:rPr>
              <a:t>Laws that are enforced</a:t>
            </a:r>
            <a:endParaRPr lang="en-US" sz="1400" dirty="0"/>
          </a:p>
        </p:txBody>
      </p:sp>
      <p:sp>
        <p:nvSpPr>
          <p:cNvPr id="8" name="Strategy 2"/>
          <p:cNvSpPr/>
          <p:nvPr/>
        </p:nvSpPr>
        <p:spPr>
          <a:xfrm>
            <a:off x="2560320" y="1143000"/>
            <a:ext cx="1920240" cy="960120"/>
          </a:xfrm>
          <a:prstGeom prst="roundRect">
            <a:avLst>
              <a:gd name="adj" fmla="val 9524"/>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9" name="Strategy 2 circle"/>
          <p:cNvSpPr/>
          <p:nvPr/>
        </p:nvSpPr>
        <p:spPr>
          <a:xfrm>
            <a:off x="2670048" y="1417320"/>
            <a:ext cx="411480" cy="411480"/>
          </a:xfrm>
          <a:prstGeom prst="ellipse">
            <a:avLst/>
          </a:prstGeom>
          <a:solidFill>
            <a:schemeClr val="accent2"/>
          </a:solidFill>
          <a:ln w="12700">
            <a:solidFill>
              <a:schemeClr val="accent2"/>
            </a:solidFill>
            <a:prstDash val="solid"/>
          </a:ln>
        </p:spPr>
      </p:sp>
      <p:pic>
        <p:nvPicPr>
          <p:cNvPr id="10" name="Strategy 2 glyph" descr="Strategy 2"/>
          <p:cNvPicPr>
            <a:picLocks noChangeAspect="1"/>
          </p:cNvPicPr>
          <p:nvPr/>
        </p:nvPicPr>
        <p:blipFill>
          <a:blip r:embed="rId5"/>
          <a:stretch>
            <a:fillRect/>
          </a:stretch>
        </p:blipFill>
        <p:spPr>
          <a:xfrm>
            <a:off x="2777033" y="1524305"/>
            <a:ext cx="197510" cy="197510"/>
          </a:xfrm>
          <a:prstGeom prst="rect">
            <a:avLst/>
          </a:prstGeom>
        </p:spPr>
      </p:pic>
      <p:sp>
        <p:nvSpPr>
          <p:cNvPr id="11" name="Strategy 2 text"/>
          <p:cNvSpPr txBox="1"/>
          <p:nvPr/>
        </p:nvSpPr>
        <p:spPr>
          <a:xfrm>
            <a:off x="3182112" y="1143000"/>
            <a:ext cx="1234440" cy="960120"/>
          </a:xfrm>
          <a:prstGeom prst="rect">
            <a:avLst/>
          </a:prstGeom>
          <a:noFill/>
          <a:ln/>
        </p:spPr>
        <p:txBody>
          <a:bodyPr wrap="square" lIns="0" tIns="0" rIns="0" bIns="0" rtlCol="0" anchor="ctr"/>
          <a:lstStyle/>
          <a:p>
            <a:pPr marL="0" indent="0">
              <a:buNone/>
            </a:pPr>
            <a:r>
              <a:rPr lang="en-US" sz="1400" dirty="0">
                <a:solidFill>
                  <a:schemeClr val="tx1"/>
                </a:solidFill>
              </a:rPr>
              <a:t>Norms and values</a:t>
            </a:r>
            <a:endParaRPr lang="en-US" sz="1400" dirty="0"/>
          </a:p>
        </p:txBody>
      </p:sp>
      <p:sp>
        <p:nvSpPr>
          <p:cNvPr id="12" name="Strategy 3"/>
          <p:cNvSpPr/>
          <p:nvPr/>
        </p:nvSpPr>
        <p:spPr>
          <a:xfrm>
            <a:off x="4663440" y="1143000"/>
            <a:ext cx="1920240" cy="960120"/>
          </a:xfrm>
          <a:prstGeom prst="roundRect">
            <a:avLst>
              <a:gd name="adj" fmla="val 9524"/>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3" name="Strategy 3 circle"/>
          <p:cNvSpPr/>
          <p:nvPr/>
        </p:nvSpPr>
        <p:spPr>
          <a:xfrm>
            <a:off x="4773168" y="1417320"/>
            <a:ext cx="411480" cy="411480"/>
          </a:xfrm>
          <a:prstGeom prst="ellipse">
            <a:avLst/>
          </a:prstGeom>
          <a:solidFill>
            <a:schemeClr val="accent4"/>
          </a:solidFill>
          <a:ln w="12700">
            <a:solidFill>
              <a:schemeClr val="accent4"/>
            </a:solidFill>
            <a:prstDash val="solid"/>
          </a:ln>
        </p:spPr>
      </p:sp>
      <p:pic>
        <p:nvPicPr>
          <p:cNvPr id="14" name="Strategy 3 glyph" descr="Strategy 3"/>
          <p:cNvPicPr>
            <a:picLocks noChangeAspect="1"/>
          </p:cNvPicPr>
          <p:nvPr/>
        </p:nvPicPr>
        <p:blipFill>
          <a:blip r:embed="rId6"/>
          <a:stretch>
            <a:fillRect/>
          </a:stretch>
        </p:blipFill>
        <p:spPr>
          <a:xfrm>
            <a:off x="4880153" y="1524305"/>
            <a:ext cx="197510" cy="197510"/>
          </a:xfrm>
          <a:prstGeom prst="rect">
            <a:avLst/>
          </a:prstGeom>
        </p:spPr>
      </p:pic>
      <p:sp>
        <p:nvSpPr>
          <p:cNvPr id="15" name="Strategy 3 text"/>
          <p:cNvSpPr txBox="1"/>
          <p:nvPr/>
        </p:nvSpPr>
        <p:spPr>
          <a:xfrm>
            <a:off x="5285232" y="1143000"/>
            <a:ext cx="1234440" cy="960120"/>
          </a:xfrm>
          <a:prstGeom prst="rect">
            <a:avLst/>
          </a:prstGeom>
          <a:noFill/>
          <a:ln/>
        </p:spPr>
        <p:txBody>
          <a:bodyPr wrap="square" lIns="0" tIns="0" rIns="0" bIns="0" rtlCol="0" anchor="ctr"/>
          <a:lstStyle/>
          <a:p>
            <a:pPr marL="0" indent="0">
              <a:buNone/>
            </a:pPr>
            <a:r>
              <a:rPr lang="en-US" sz="1400" dirty="0">
                <a:solidFill>
                  <a:schemeClr val="tx1"/>
                </a:solidFill>
              </a:rPr>
              <a:t>Safe environments</a:t>
            </a:r>
            <a:endParaRPr lang="en-US" sz="1400" dirty="0"/>
          </a:p>
        </p:txBody>
      </p:sp>
      <p:sp>
        <p:nvSpPr>
          <p:cNvPr id="16" name="Strategy 4"/>
          <p:cNvSpPr/>
          <p:nvPr/>
        </p:nvSpPr>
        <p:spPr>
          <a:xfrm>
            <a:off x="6766560" y="1143000"/>
            <a:ext cx="1920240" cy="960120"/>
          </a:xfrm>
          <a:prstGeom prst="roundRect">
            <a:avLst>
              <a:gd name="adj" fmla="val 9524"/>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7" name="Strategy 4 circle"/>
          <p:cNvSpPr/>
          <p:nvPr/>
        </p:nvSpPr>
        <p:spPr>
          <a:xfrm>
            <a:off x="6876288" y="1417320"/>
            <a:ext cx="411480" cy="411480"/>
          </a:xfrm>
          <a:prstGeom prst="ellipse">
            <a:avLst/>
          </a:prstGeom>
          <a:solidFill>
            <a:schemeClr val="accent5"/>
          </a:solidFill>
          <a:ln w="12700">
            <a:solidFill>
              <a:schemeClr val="accent5"/>
            </a:solidFill>
            <a:prstDash val="solid"/>
          </a:ln>
        </p:spPr>
      </p:sp>
      <p:pic>
        <p:nvPicPr>
          <p:cNvPr id="18" name="Strategy 4 glyph" descr="Strategy 4"/>
          <p:cNvPicPr>
            <a:picLocks noChangeAspect="1"/>
          </p:cNvPicPr>
          <p:nvPr/>
        </p:nvPicPr>
        <p:blipFill>
          <a:blip r:embed="rId7"/>
          <a:stretch>
            <a:fillRect/>
          </a:stretch>
        </p:blipFill>
        <p:spPr>
          <a:xfrm>
            <a:off x="6983273" y="1524305"/>
            <a:ext cx="197510" cy="197510"/>
          </a:xfrm>
          <a:prstGeom prst="rect">
            <a:avLst/>
          </a:prstGeom>
        </p:spPr>
      </p:pic>
      <p:sp>
        <p:nvSpPr>
          <p:cNvPr id="19" name="Strategy 4 text"/>
          <p:cNvSpPr txBox="1"/>
          <p:nvPr/>
        </p:nvSpPr>
        <p:spPr>
          <a:xfrm>
            <a:off x="7388352" y="1143000"/>
            <a:ext cx="1234440" cy="960120"/>
          </a:xfrm>
          <a:prstGeom prst="rect">
            <a:avLst/>
          </a:prstGeom>
          <a:noFill/>
          <a:ln/>
        </p:spPr>
        <p:txBody>
          <a:bodyPr wrap="square" lIns="0" tIns="0" rIns="0" bIns="0" rtlCol="0" anchor="ctr"/>
          <a:lstStyle/>
          <a:p>
            <a:pPr marL="0" indent="0">
              <a:buNone/>
            </a:pPr>
            <a:r>
              <a:rPr lang="en-US" sz="1400" dirty="0">
                <a:solidFill>
                  <a:schemeClr val="tx1"/>
                </a:solidFill>
              </a:rPr>
              <a:t>Parent and caregiver support</a:t>
            </a:r>
            <a:endParaRPr lang="en-US" sz="1400" dirty="0"/>
          </a:p>
        </p:txBody>
      </p:sp>
      <p:sp>
        <p:nvSpPr>
          <p:cNvPr id="20" name="Strategy 5"/>
          <p:cNvSpPr/>
          <p:nvPr/>
        </p:nvSpPr>
        <p:spPr>
          <a:xfrm>
            <a:off x="457200" y="2194560"/>
            <a:ext cx="1920240" cy="960120"/>
          </a:xfrm>
          <a:prstGeom prst="roundRect">
            <a:avLst>
              <a:gd name="adj" fmla="val 9524"/>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21" name="Strategy 5 circle"/>
          <p:cNvSpPr/>
          <p:nvPr/>
        </p:nvSpPr>
        <p:spPr>
          <a:xfrm>
            <a:off x="566928" y="2468880"/>
            <a:ext cx="411480" cy="411480"/>
          </a:xfrm>
          <a:prstGeom prst="ellipse">
            <a:avLst/>
          </a:prstGeom>
          <a:solidFill>
            <a:schemeClr val="accent6"/>
          </a:solidFill>
          <a:ln w="12700">
            <a:solidFill>
              <a:schemeClr val="accent6"/>
            </a:solidFill>
            <a:prstDash val="solid"/>
          </a:ln>
        </p:spPr>
      </p:sp>
      <p:pic>
        <p:nvPicPr>
          <p:cNvPr id="22" name="Strategy 5 glyph" descr="Strategy 5"/>
          <p:cNvPicPr>
            <a:picLocks noChangeAspect="1"/>
          </p:cNvPicPr>
          <p:nvPr/>
        </p:nvPicPr>
        <p:blipFill>
          <a:blip r:embed="rId8"/>
          <a:stretch>
            <a:fillRect/>
          </a:stretch>
        </p:blipFill>
        <p:spPr>
          <a:xfrm>
            <a:off x="673913" y="2575865"/>
            <a:ext cx="197510" cy="197510"/>
          </a:xfrm>
          <a:prstGeom prst="rect">
            <a:avLst/>
          </a:prstGeom>
        </p:spPr>
      </p:pic>
      <p:sp>
        <p:nvSpPr>
          <p:cNvPr id="23" name="Strategy 5 text"/>
          <p:cNvSpPr txBox="1"/>
          <p:nvPr/>
        </p:nvSpPr>
        <p:spPr>
          <a:xfrm>
            <a:off x="1078992" y="2194560"/>
            <a:ext cx="1234440" cy="960120"/>
          </a:xfrm>
          <a:prstGeom prst="rect">
            <a:avLst/>
          </a:prstGeom>
          <a:noFill/>
          <a:ln/>
        </p:spPr>
        <p:txBody>
          <a:bodyPr wrap="square" lIns="0" tIns="0" rIns="0" bIns="0" rtlCol="0" anchor="ctr"/>
          <a:lstStyle/>
          <a:p>
            <a:pPr marL="0" indent="0">
              <a:buNone/>
            </a:pPr>
            <a:r>
              <a:rPr lang="en-US" sz="1400" dirty="0">
                <a:solidFill>
                  <a:schemeClr val="tx1"/>
                </a:solidFill>
              </a:rPr>
              <a:t>Income and economic strengthening</a:t>
            </a:r>
            <a:endParaRPr lang="en-US" sz="1400" dirty="0"/>
          </a:p>
        </p:txBody>
      </p:sp>
      <p:sp>
        <p:nvSpPr>
          <p:cNvPr id="24" name="Strategy 6"/>
          <p:cNvSpPr/>
          <p:nvPr/>
        </p:nvSpPr>
        <p:spPr>
          <a:xfrm>
            <a:off x="2560320" y="2194560"/>
            <a:ext cx="1920240" cy="960120"/>
          </a:xfrm>
          <a:prstGeom prst="roundRect">
            <a:avLst>
              <a:gd name="adj" fmla="val 9524"/>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25" name="Strategy 6 circle"/>
          <p:cNvSpPr/>
          <p:nvPr/>
        </p:nvSpPr>
        <p:spPr>
          <a:xfrm>
            <a:off x="2670048" y="2468880"/>
            <a:ext cx="411480" cy="411480"/>
          </a:xfrm>
          <a:prstGeom prst="ellipse">
            <a:avLst/>
          </a:prstGeom>
          <a:solidFill>
            <a:schemeClr val="accent1"/>
          </a:solidFill>
          <a:ln w="12700">
            <a:solidFill>
              <a:schemeClr val="accent1"/>
            </a:solidFill>
            <a:prstDash val="solid"/>
          </a:ln>
        </p:spPr>
      </p:sp>
      <p:pic>
        <p:nvPicPr>
          <p:cNvPr id="26" name="Strategy 6 glyph" descr="Strategy 6"/>
          <p:cNvPicPr>
            <a:picLocks noChangeAspect="1"/>
          </p:cNvPicPr>
          <p:nvPr/>
        </p:nvPicPr>
        <p:blipFill>
          <a:blip r:embed="rId9"/>
          <a:stretch>
            <a:fillRect/>
          </a:stretch>
        </p:blipFill>
        <p:spPr>
          <a:xfrm>
            <a:off x="2777033" y="2575865"/>
            <a:ext cx="197510" cy="197510"/>
          </a:xfrm>
          <a:prstGeom prst="rect">
            <a:avLst/>
          </a:prstGeom>
        </p:spPr>
      </p:pic>
      <p:sp>
        <p:nvSpPr>
          <p:cNvPr id="27" name="Strategy 6 text"/>
          <p:cNvSpPr txBox="1"/>
          <p:nvPr/>
        </p:nvSpPr>
        <p:spPr>
          <a:xfrm>
            <a:off x="3182112" y="2194560"/>
            <a:ext cx="1234440" cy="960120"/>
          </a:xfrm>
          <a:prstGeom prst="rect">
            <a:avLst/>
          </a:prstGeom>
          <a:noFill/>
          <a:ln/>
        </p:spPr>
        <p:txBody>
          <a:bodyPr wrap="square" lIns="0" tIns="0" rIns="0" bIns="0" rtlCol="0" anchor="ctr"/>
          <a:lstStyle/>
          <a:p>
            <a:pPr marL="0" indent="0">
              <a:buNone/>
            </a:pPr>
            <a:r>
              <a:rPr lang="en-US" sz="1400" dirty="0">
                <a:solidFill>
                  <a:schemeClr val="tx1"/>
                </a:solidFill>
              </a:rPr>
              <a:t>Response and support services</a:t>
            </a:r>
            <a:endParaRPr lang="en-US" sz="1400" dirty="0"/>
          </a:p>
        </p:txBody>
      </p:sp>
      <p:sp>
        <p:nvSpPr>
          <p:cNvPr id="28" name="Strategy 7"/>
          <p:cNvSpPr/>
          <p:nvPr/>
        </p:nvSpPr>
        <p:spPr>
          <a:xfrm>
            <a:off x="4663440" y="2194560"/>
            <a:ext cx="1920240" cy="960120"/>
          </a:xfrm>
          <a:prstGeom prst="roundRect">
            <a:avLst>
              <a:gd name="adj" fmla="val 9524"/>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29" name="Strategy 7 circle"/>
          <p:cNvSpPr/>
          <p:nvPr/>
        </p:nvSpPr>
        <p:spPr>
          <a:xfrm>
            <a:off x="4773168" y="2468880"/>
            <a:ext cx="411480" cy="411480"/>
          </a:xfrm>
          <a:prstGeom prst="ellipse">
            <a:avLst/>
          </a:prstGeom>
          <a:solidFill>
            <a:schemeClr val="accent4"/>
          </a:solidFill>
          <a:ln w="12700">
            <a:solidFill>
              <a:schemeClr val="accent4"/>
            </a:solidFill>
            <a:prstDash val="solid"/>
          </a:ln>
        </p:spPr>
      </p:sp>
      <p:pic>
        <p:nvPicPr>
          <p:cNvPr id="30" name="Strategy 7 glyph" descr="Strategy 7"/>
          <p:cNvPicPr>
            <a:picLocks noChangeAspect="1"/>
          </p:cNvPicPr>
          <p:nvPr/>
        </p:nvPicPr>
        <p:blipFill>
          <a:blip r:embed="rId10"/>
          <a:stretch>
            <a:fillRect/>
          </a:stretch>
        </p:blipFill>
        <p:spPr>
          <a:xfrm>
            <a:off x="4880153" y="2575865"/>
            <a:ext cx="197510" cy="197510"/>
          </a:xfrm>
          <a:prstGeom prst="rect">
            <a:avLst/>
          </a:prstGeom>
        </p:spPr>
      </p:pic>
      <p:sp>
        <p:nvSpPr>
          <p:cNvPr id="31" name="Strategy 7 text"/>
          <p:cNvSpPr txBox="1"/>
          <p:nvPr/>
        </p:nvSpPr>
        <p:spPr>
          <a:xfrm>
            <a:off x="5285232" y="2194560"/>
            <a:ext cx="1234440" cy="960120"/>
          </a:xfrm>
          <a:prstGeom prst="rect">
            <a:avLst/>
          </a:prstGeom>
          <a:noFill/>
          <a:ln/>
        </p:spPr>
        <p:txBody>
          <a:bodyPr wrap="square" lIns="0" tIns="0" rIns="0" bIns="0" rtlCol="0" anchor="ctr"/>
          <a:lstStyle/>
          <a:p>
            <a:pPr marL="0" indent="0">
              <a:buNone/>
            </a:pPr>
            <a:r>
              <a:rPr lang="en-US" sz="1400" dirty="0">
                <a:solidFill>
                  <a:schemeClr val="tx1"/>
                </a:solidFill>
              </a:rPr>
              <a:t>Education and life skills</a:t>
            </a:r>
            <a:endParaRPr lang="en-US" sz="1400" dirty="0"/>
          </a:p>
        </p:txBody>
      </p:sp>
      <p:sp>
        <p:nvSpPr>
          <p:cNvPr id="32" name="Strategy 8"/>
          <p:cNvSpPr/>
          <p:nvPr/>
        </p:nvSpPr>
        <p:spPr>
          <a:xfrm>
            <a:off x="6766560" y="2194560"/>
            <a:ext cx="1920240" cy="960120"/>
          </a:xfrm>
          <a:prstGeom prst="roundRect">
            <a:avLst>
              <a:gd name="adj" fmla="val 9524"/>
            </a:avLst>
          </a:prstGeom>
          <a:solidFill>
            <a:schemeClr val="accent3"/>
          </a:solidFill>
          <a:ln w="12700">
            <a:solidFill>
              <a:schemeClr val="accent3"/>
            </a:solidFill>
            <a:prstDash val="solid"/>
          </a:ln>
          <a:effectLst>
            <a:outerShdw blurRad="101600" dist="25400" dir="5400000" algn="bl" rotWithShape="0">
              <a:srgbClr val="17304F">
                <a:alpha val="14000"/>
              </a:srgbClr>
            </a:outerShdw>
          </a:effectLst>
        </p:spPr>
      </p:sp>
      <p:sp>
        <p:nvSpPr>
          <p:cNvPr id="33" name="Strategy 8 circle"/>
          <p:cNvSpPr/>
          <p:nvPr/>
        </p:nvSpPr>
        <p:spPr>
          <a:xfrm>
            <a:off x="6876288" y="2468880"/>
            <a:ext cx="411480" cy="411480"/>
          </a:xfrm>
          <a:prstGeom prst="ellipse">
            <a:avLst/>
          </a:prstGeom>
          <a:solidFill>
            <a:schemeClr val="tx1"/>
          </a:solidFill>
          <a:ln w="12700">
            <a:solidFill>
              <a:schemeClr val="tx1"/>
            </a:solidFill>
            <a:prstDash val="solid"/>
          </a:ln>
        </p:spPr>
      </p:sp>
      <p:pic>
        <p:nvPicPr>
          <p:cNvPr id="34" name="Strategy 8 glyph" descr="Strategy 8"/>
          <p:cNvPicPr>
            <a:picLocks noChangeAspect="1"/>
          </p:cNvPicPr>
          <p:nvPr/>
        </p:nvPicPr>
        <p:blipFill>
          <a:blip r:embed="rId11"/>
          <a:stretch>
            <a:fillRect/>
          </a:stretch>
        </p:blipFill>
        <p:spPr>
          <a:xfrm>
            <a:off x="6983273" y="2575865"/>
            <a:ext cx="197510" cy="197510"/>
          </a:xfrm>
          <a:prstGeom prst="rect">
            <a:avLst/>
          </a:prstGeom>
        </p:spPr>
      </p:pic>
      <p:sp>
        <p:nvSpPr>
          <p:cNvPr id="35" name="Strategy 8 text"/>
          <p:cNvSpPr txBox="1"/>
          <p:nvPr/>
        </p:nvSpPr>
        <p:spPr>
          <a:xfrm>
            <a:off x="7388352" y="2194560"/>
            <a:ext cx="1234440" cy="960120"/>
          </a:xfrm>
          <a:prstGeom prst="rect">
            <a:avLst/>
          </a:prstGeom>
          <a:noFill/>
          <a:ln/>
        </p:spPr>
        <p:txBody>
          <a:bodyPr wrap="square" lIns="0" tIns="0" rIns="0" bIns="0" rtlCol="0" anchor="ctr"/>
          <a:lstStyle/>
          <a:p>
            <a:pPr marL="0" indent="0">
              <a:buNone/>
            </a:pPr>
            <a:r>
              <a:rPr lang="en-US" sz="1400" b="1" dirty="0">
                <a:solidFill>
                  <a:schemeClr val="tx1"/>
                </a:solidFill>
              </a:rPr>
              <a:t>No single risk factor predicts abuse</a:t>
            </a:r>
            <a:endParaRPr lang="en-US" sz="1400" dirty="0"/>
          </a:p>
        </p:txBody>
      </p:sp>
      <p:sp>
        <p:nvSpPr>
          <p:cNvPr id="36" name="Reporting banner"/>
          <p:cNvSpPr/>
          <p:nvPr/>
        </p:nvSpPr>
        <p:spPr>
          <a:xfrm>
            <a:off x="457200" y="3383280"/>
            <a:ext cx="8229600" cy="1188720"/>
          </a:xfrm>
          <a:prstGeom prst="roundRect">
            <a:avLst>
              <a:gd name="adj" fmla="val 9231"/>
            </a:avLst>
          </a:prstGeom>
          <a:solidFill>
            <a:schemeClr val="tx1"/>
          </a:solidFill>
          <a:ln w="12700">
            <a:solidFill>
              <a:schemeClr val="tx1"/>
            </a:solidFill>
            <a:prstDash val="solid"/>
          </a:ln>
        </p:spPr>
      </p:sp>
      <p:sp>
        <p:nvSpPr>
          <p:cNvPr id="37" name="Reporting text"/>
          <p:cNvSpPr txBox="1"/>
          <p:nvPr/>
        </p:nvSpPr>
        <p:spPr>
          <a:xfrm>
            <a:off x="640080" y="3383280"/>
            <a:ext cx="7863840" cy="1188720"/>
          </a:xfrm>
          <a:prstGeom prst="rect">
            <a:avLst/>
          </a:prstGeom>
          <a:noFill/>
          <a:ln/>
        </p:spPr>
        <p:txBody>
          <a:bodyPr wrap="square" lIns="0" tIns="0" rIns="0" bIns="0" rtlCol="0" anchor="ctr"/>
          <a:lstStyle/>
          <a:p>
            <a:pPr marL="0" indent="0">
              <a:buNone/>
            </a:pPr>
            <a:r>
              <a:rPr lang="en-US" sz="1400" b="1" dirty="0">
                <a:solidFill>
                  <a:schemeClr val="accent3"/>
                </a:solidFill>
              </a:rPr>
              <a:t>Reporting: </a:t>
            </a:r>
            <a:r>
              <a:rPr lang="en-US" sz="1400" dirty="0">
                <a:solidFill>
                  <a:schemeClr val="bg1"/>
                </a:solidFill>
              </a:rPr>
              <a:t>doctors and nurses report a child who appears abused to the DSWD within 48 hours, orally or in writing. Suspected cases also go to the Local Barangay Council for the Protection of Children (BCPC) and the Local Government Unit.</a:t>
            </a:r>
            <a:endParaRPr lang="en-US" sz="1400" dirty="0"/>
          </a:p>
        </p:txBody>
      </p:sp>
      <p:sp>
        <p:nvSpPr>
          <p:cNvPr id="38" name="Back button">
            <a:hlinkClick r:id="rId12" action="ppaction://hlinksldjump" tooltip="Previous slide"/>
          </p:cNvPr>
          <p:cNvSpPr/>
          <p:nvPr/>
        </p:nvSpPr>
        <p:spPr>
          <a:xfrm>
            <a:off x="6446520" y="4636008"/>
            <a:ext cx="1051560" cy="347472"/>
          </a:xfrm>
          <a:prstGeom prst="roundRect">
            <a:avLst>
              <a:gd name="adj" fmla="val 50000"/>
            </a:avLst>
          </a:prstGeom>
          <a:solidFill>
            <a:schemeClr val="bg1"/>
          </a:solidFill>
          <a:ln/>
        </p:spPr>
        <p:txBody>
          <a:bodyPr wrap="square" lIns="0" tIns="0" rIns="0" bIns="0" rtlCol="0" anchor="ctr"/>
          <a:lstStyle/>
          <a:p>
            <a:pPr marL="0" indent="0" algn="ctr">
              <a:buNone/>
            </a:pPr>
            <a:r>
              <a:rPr lang="en-US" sz="1400" b="1" dirty="0">
                <a:solidFill>
                  <a:schemeClr val="tx1"/>
                </a:solidFill>
              </a:rPr>
              <a:t>‹ Back</a:t>
            </a:r>
            <a:endParaRPr lang="en-US" sz="1400" dirty="0"/>
          </a:p>
        </p:txBody>
      </p:sp>
      <p:sp>
        <p:nvSpPr>
          <p:cNvPr id="39" name="Next button">
            <a:hlinkClick r:id="rId13" action="ppaction://hlinksldjump" tooltip="Next slide"/>
          </p:cNvPr>
          <p:cNvSpPr/>
          <p:nvPr/>
        </p:nvSpPr>
        <p:spPr>
          <a:xfrm>
            <a:off x="7589520" y="4636008"/>
            <a:ext cx="1097280" cy="347472"/>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Quiz ›</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Bike family photo" descr="A father and mother helping their daughter learn to ride a bike"/>
          <p:cNvPicPr>
            <a:picLocks noChangeAspect="1"/>
          </p:cNvPicPr>
          <p:nvPr/>
        </p:nvPicPr>
        <p:blipFill>
          <a:blip r:embed="rId3"/>
          <a:stretch>
            <a:fillRect/>
          </a:stretch>
        </p:blipFill>
        <p:spPr>
          <a:xfrm>
            <a:off x="4754880" y="0"/>
            <a:ext cx="4389120" cy="5143500"/>
          </a:xfrm>
          <a:prstGeom prst="rect">
            <a:avLst/>
          </a:prstGeom>
        </p:spPr>
      </p:pic>
      <p:sp>
        <p:nvSpPr>
          <p:cNvPr id="3" name="Eyebrow"/>
          <p:cNvSpPr txBox="1"/>
          <p:nvPr/>
        </p:nvSpPr>
        <p:spPr>
          <a:xfrm>
            <a:off x="548640" y="1097280"/>
            <a:ext cx="3931920" cy="320040"/>
          </a:xfrm>
          <a:prstGeom prst="rect">
            <a:avLst/>
          </a:prstGeom>
          <a:noFill/>
          <a:ln/>
        </p:spPr>
        <p:txBody>
          <a:bodyPr wrap="square" lIns="0" tIns="0" rIns="0" bIns="0" rtlCol="0" anchor="ctr"/>
          <a:lstStyle/>
          <a:p>
            <a:pPr marL="0" indent="0">
              <a:buNone/>
            </a:pPr>
            <a:r>
              <a:rPr lang="en-US" sz="1400" b="1" kern="0" spc="400" dirty="0">
                <a:solidFill>
                  <a:schemeClr val="accent3"/>
                </a:solidFill>
              </a:rPr>
              <a:t>QUICK QUIZ</a:t>
            </a:r>
            <a:endParaRPr lang="en-US" sz="1400" dirty="0"/>
          </a:p>
        </p:txBody>
      </p:sp>
      <p:sp>
        <p:nvSpPr>
          <p:cNvPr id="4" name="Quiz title"/>
          <p:cNvSpPr txBox="1"/>
          <p:nvPr/>
        </p:nvSpPr>
        <p:spPr>
          <a:xfrm>
            <a:off x="548640" y="1508760"/>
            <a:ext cx="3931920" cy="1280160"/>
          </a:xfrm>
          <a:prstGeom prst="rect">
            <a:avLst/>
          </a:prstGeom>
          <a:noFill/>
          <a:ln/>
        </p:spPr>
        <p:txBody>
          <a:bodyPr wrap="square" lIns="0" tIns="0" rIns="0" bIns="0" rtlCol="0" anchor="t"/>
          <a:lstStyle/>
          <a:p>
            <a:pPr marL="0" indent="0">
              <a:buNone/>
            </a:pPr>
            <a:r>
              <a:rPr lang="en-US" sz="3600" b="1" dirty="0">
                <a:solidFill>
                  <a:schemeClr val="bg1"/>
                </a:solidFill>
                <a:latin typeface="+mj-lt" pitchFamily="34" charset="0"/>
                <a:ea typeface="+mj-lt" pitchFamily="34" charset="-122"/>
                <a:cs typeface="+mj-lt" pitchFamily="34" charset="-120"/>
              </a:rPr>
              <a:t>Test what you learned</a:t>
            </a:r>
            <a:endParaRPr lang="en-US" sz="3600" dirty="0"/>
          </a:p>
        </p:txBody>
      </p:sp>
      <p:sp>
        <p:nvSpPr>
          <p:cNvPr id="5" name="Quiz instructions"/>
          <p:cNvSpPr txBox="1"/>
          <p:nvPr/>
        </p:nvSpPr>
        <p:spPr>
          <a:xfrm>
            <a:off x="548640" y="2926080"/>
            <a:ext cx="3840480" cy="822960"/>
          </a:xfrm>
          <a:prstGeom prst="rect">
            <a:avLst/>
          </a:prstGeom>
          <a:noFill/>
          <a:ln/>
        </p:spPr>
        <p:txBody>
          <a:bodyPr wrap="square" lIns="0" tIns="0" rIns="0" bIns="0" rtlCol="0" anchor="t"/>
          <a:lstStyle/>
          <a:p>
            <a:pPr marL="0" indent="0">
              <a:buNone/>
            </a:pPr>
            <a:r>
              <a:rPr lang="en-US" sz="1600" dirty="0">
                <a:solidFill>
                  <a:schemeClr val="bg1"/>
                </a:solidFill>
              </a:rPr>
              <a:t>4 questions. Tap an answer to see if you got it right. Wrong answer? You can try again.</a:t>
            </a:r>
            <a:endParaRPr lang="en-US" sz="1600" dirty="0"/>
          </a:p>
        </p:txBody>
      </p:sp>
      <p:sp>
        <p:nvSpPr>
          <p:cNvPr id="6" name="Start quiz">
            <a:hlinkClick r:id="rId4" action="ppaction://hlinksldjump" tooltip="Go to question 1"/>
          </p:cNvPr>
          <p:cNvSpPr/>
          <p:nvPr/>
        </p:nvSpPr>
        <p:spPr>
          <a:xfrm>
            <a:off x="548640" y="3977640"/>
            <a:ext cx="1645920" cy="420624"/>
          </a:xfrm>
          <a:prstGeom prst="roundRect">
            <a:avLst>
              <a:gd name="adj" fmla="val 50000"/>
            </a:avLst>
          </a:prstGeom>
          <a:solidFill>
            <a:schemeClr val="accent3"/>
          </a:solidFill>
          <a:ln/>
        </p:spPr>
        <p:txBody>
          <a:bodyPr wrap="square" lIns="0" tIns="0" rIns="0" bIns="0" rtlCol="0" anchor="ctr"/>
          <a:lstStyle/>
          <a:p>
            <a:pPr marL="0" indent="0" algn="ctr">
              <a:buNone/>
            </a:pPr>
            <a:r>
              <a:rPr lang="en-US" sz="1400" b="1" dirty="0">
                <a:solidFill>
                  <a:schemeClr val="tx1"/>
                </a:solidFill>
              </a:rPr>
              <a:t>Start quiz</a:t>
            </a:r>
            <a:endParaRPr lang="en-US" sz="1400" dirty="0"/>
          </a:p>
        </p:txBody>
      </p:sp>
      <p:sp>
        <p:nvSpPr>
          <p:cNvPr id="7" name="Menu button">
            <a:hlinkClick r:id="rId5" action="ppaction://hlinksldjump" tooltip="Back to the topic menu"/>
          </p:cNvPr>
          <p:cNvSpPr/>
          <p:nvPr/>
        </p:nvSpPr>
        <p:spPr>
          <a:xfrm>
            <a:off x="2377440" y="3977640"/>
            <a:ext cx="1280160" cy="420624"/>
          </a:xfrm>
          <a:prstGeom prst="roundRect">
            <a:avLst>
              <a:gd name="adj" fmla="val 50000"/>
            </a:avLst>
          </a:prstGeom>
          <a:solidFill>
            <a:schemeClr val="tx2"/>
          </a:solidFill>
          <a:ln/>
        </p:spPr>
        <p:txBody>
          <a:bodyPr wrap="square" lIns="0" tIns="0" rIns="0" bIns="0" rtlCol="0" anchor="ctr"/>
          <a:lstStyle/>
          <a:p>
            <a:pPr marL="0" indent="0" algn="ctr">
              <a:buNone/>
            </a:pPr>
            <a:r>
              <a:rPr lang="en-US" sz="1400" b="1" dirty="0">
                <a:solidFill>
                  <a:schemeClr val="bg1"/>
                </a:solidFill>
              </a:rPr>
              <a:t>Menu</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Question 1 of 4</a:t>
            </a:r>
            <a:endParaRPr lang="en-US"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Menu</a:t>
            </a:r>
            <a:endParaRPr lang="en-US" sz="1400" dirty="0"/>
          </a:p>
        </p:txBody>
      </p:sp>
      <p:sp>
        <p:nvSpPr>
          <p:cNvPr id="4" name="Topic label"/>
          <p:cNvSpPr txBox="1"/>
          <p:nvPr/>
        </p:nvSpPr>
        <p:spPr>
          <a:xfrm>
            <a:off x="457200" y="896112"/>
            <a:ext cx="54864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SAFE SLEEP</a:t>
            </a:r>
            <a:endParaRPr lang="en-US" sz="1200" dirty="0"/>
          </a:p>
        </p:txBody>
      </p:sp>
      <p:sp>
        <p:nvSpPr>
          <p:cNvPr id="5" name="Question"/>
          <p:cNvSpPr txBox="1"/>
          <p:nvPr/>
        </p:nvSpPr>
        <p:spPr>
          <a:xfrm>
            <a:off x="457200" y="1188720"/>
            <a:ext cx="8229600" cy="822960"/>
          </a:xfrm>
          <a:prstGeom prst="rect">
            <a:avLst/>
          </a:prstGeom>
          <a:noFill/>
          <a:ln/>
        </p:spPr>
        <p:txBody>
          <a:bodyPr wrap="square" lIns="0" tIns="0" rIns="0" bIns="0" rtlCol="0" anchor="t"/>
          <a:lstStyle/>
          <a:p>
            <a:pPr marL="0" indent="0">
              <a:buNone/>
            </a:pPr>
            <a:r>
              <a:rPr lang="en-US" sz="2200" b="1" dirty="0">
                <a:solidFill>
                  <a:schemeClr val="tx1"/>
                </a:solidFill>
                <a:latin typeface="+mj-lt" pitchFamily="34" charset="0"/>
                <a:ea typeface="+mj-lt" pitchFamily="34" charset="-122"/>
                <a:cs typeface="+mj-lt" pitchFamily="34" charset="-120"/>
              </a:rPr>
              <a:t>How should a baby be placed to sleep?</a:t>
            </a:r>
            <a:endParaRPr lang="en-US" sz="2200" dirty="0"/>
          </a:p>
        </p:txBody>
      </p:sp>
      <p:sp>
        <p:nvSpPr>
          <p:cNvPr id="6" name="Answer A">
            <a:hlinkClick r:id="rId4" action="ppaction://hlinksldjump" tooltip="Answer A"/>
          </p:cNvPr>
          <p:cNvSpPr/>
          <p:nvPr/>
        </p:nvSpPr>
        <p:spPr>
          <a:xfrm>
            <a:off x="457200" y="2148840"/>
            <a:ext cx="8229600" cy="694944"/>
          </a:xfrm>
          <a:prstGeom prst="roundRect">
            <a:avLst>
              <a:gd name="adj" fmla="val 15789"/>
            </a:avLst>
          </a:prstGeom>
          <a:solidFill>
            <a:schemeClr val="bg1"/>
          </a:solidFill>
          <a:ln/>
          <a:effectLst>
            <a:outerShdw blurRad="101600" dist="25400" dir="5400000" algn="bl" rotWithShape="0">
              <a:srgbClr val="17304F">
                <a:alpha val="14000"/>
              </a:srgbClr>
            </a:outerShdw>
          </a:effectLst>
        </p:spPr>
        <p:txBody>
          <a:bodyPr wrap="square" lIns="228600" tIns="0" rIns="152400" bIns="0" rtlCol="0" anchor="ctr"/>
          <a:lstStyle/>
          <a:p>
            <a:pPr marL="0" indent="0" algn="l">
              <a:buNone/>
            </a:pPr>
            <a:r>
              <a:rPr lang="en-US" sz="2000" b="1" dirty="0">
                <a:solidFill>
                  <a:schemeClr val="accent1"/>
                </a:solidFill>
              </a:rPr>
              <a:t>A    </a:t>
            </a:r>
            <a:r>
              <a:rPr lang="en-US" sz="1600" dirty="0">
                <a:solidFill>
                  <a:schemeClr val="tx1"/>
                </a:solidFill>
              </a:rPr>
              <a:t>On their side</a:t>
            </a:r>
            <a:endParaRPr lang="en-US" sz="2000" dirty="0"/>
          </a:p>
        </p:txBody>
      </p:sp>
      <p:sp>
        <p:nvSpPr>
          <p:cNvPr id="7" name="Answer B">
            <a:hlinkClick r:id="rId5" action="ppaction://hlinksldjump" tooltip="Answer B"/>
          </p:cNvPr>
          <p:cNvSpPr/>
          <p:nvPr/>
        </p:nvSpPr>
        <p:spPr>
          <a:xfrm>
            <a:off x="457200" y="2953512"/>
            <a:ext cx="8229600" cy="694944"/>
          </a:xfrm>
          <a:prstGeom prst="roundRect">
            <a:avLst>
              <a:gd name="adj" fmla="val 15789"/>
            </a:avLst>
          </a:prstGeom>
          <a:solidFill>
            <a:schemeClr val="bg1"/>
          </a:solidFill>
          <a:ln/>
          <a:effectLst>
            <a:outerShdw blurRad="101600" dist="25400" dir="5400000" algn="bl" rotWithShape="0">
              <a:srgbClr val="17304F">
                <a:alpha val="14000"/>
              </a:srgbClr>
            </a:outerShdw>
          </a:effectLst>
        </p:spPr>
        <p:txBody>
          <a:bodyPr wrap="square" lIns="228600" tIns="0" rIns="152400" bIns="0" rtlCol="0" anchor="ctr"/>
          <a:lstStyle/>
          <a:p>
            <a:pPr marL="0" indent="0" algn="l">
              <a:buNone/>
            </a:pPr>
            <a:r>
              <a:rPr lang="en-US" sz="2000" b="1" dirty="0">
                <a:solidFill>
                  <a:schemeClr val="accent1"/>
                </a:solidFill>
              </a:rPr>
              <a:t>B    </a:t>
            </a:r>
            <a:r>
              <a:rPr lang="en-US" sz="1600" dirty="0">
                <a:solidFill>
                  <a:schemeClr val="tx1"/>
                </a:solidFill>
              </a:rPr>
              <a:t>On their back</a:t>
            </a:r>
            <a:endParaRPr lang="en-US" sz="2000" dirty="0"/>
          </a:p>
        </p:txBody>
      </p:sp>
      <p:sp>
        <p:nvSpPr>
          <p:cNvPr id="8" name="Answer C">
            <a:hlinkClick r:id="rId4" action="ppaction://hlinksldjump" tooltip="Answer C"/>
          </p:cNvPr>
          <p:cNvSpPr/>
          <p:nvPr/>
        </p:nvSpPr>
        <p:spPr>
          <a:xfrm>
            <a:off x="457200" y="3758184"/>
            <a:ext cx="8229600" cy="694944"/>
          </a:xfrm>
          <a:prstGeom prst="roundRect">
            <a:avLst>
              <a:gd name="adj" fmla="val 15789"/>
            </a:avLst>
          </a:prstGeom>
          <a:solidFill>
            <a:schemeClr val="bg1"/>
          </a:solidFill>
          <a:ln/>
          <a:effectLst>
            <a:outerShdw blurRad="101600" dist="25400" dir="5400000" algn="bl" rotWithShape="0">
              <a:srgbClr val="17304F">
                <a:alpha val="14000"/>
              </a:srgbClr>
            </a:outerShdw>
          </a:effectLst>
        </p:spPr>
        <p:txBody>
          <a:bodyPr wrap="square" lIns="228600" tIns="0" rIns="152400" bIns="0" rtlCol="0" anchor="ctr"/>
          <a:lstStyle/>
          <a:p>
            <a:pPr marL="0" indent="0" algn="l">
              <a:buNone/>
            </a:pPr>
            <a:r>
              <a:rPr lang="en-US" sz="2000" b="1" dirty="0">
                <a:solidFill>
                  <a:schemeClr val="accent1"/>
                </a:solidFill>
              </a:rPr>
              <a:t>C    </a:t>
            </a:r>
            <a:r>
              <a:rPr lang="en-US" sz="1600" dirty="0">
                <a:solidFill>
                  <a:schemeClr val="tx1"/>
                </a:solidFill>
              </a:rPr>
              <a:t>On their stomach</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Correct!</a:t>
            </a:r>
            <a:endParaRPr lang="en-US" sz="3000" dirty="0"/>
          </a:p>
        </p:txBody>
      </p:sp>
      <p:sp>
        <p:nvSpPr>
          <p:cNvPr id="3" name="Correct circle"/>
          <p:cNvSpPr/>
          <p:nvPr/>
        </p:nvSpPr>
        <p:spPr>
          <a:xfrm>
            <a:off x="640080" y="1554480"/>
            <a:ext cx="1371600" cy="1371600"/>
          </a:xfrm>
          <a:prstGeom prst="ellipse">
            <a:avLst/>
          </a:prstGeom>
          <a:solidFill>
            <a:schemeClr val="accent4"/>
          </a:solidFill>
          <a:ln w="12700">
            <a:solidFill>
              <a:schemeClr val="accent4"/>
            </a:solidFill>
            <a:prstDash val="solid"/>
          </a:ln>
        </p:spPr>
      </p:sp>
      <p:pic>
        <p:nvPicPr>
          <p:cNvPr id="4" name="Correct glyph" descr="Correct"/>
          <p:cNvPicPr>
            <a:picLocks noChangeAspect="1"/>
          </p:cNvPicPr>
          <p:nvPr/>
        </p:nvPicPr>
        <p:blipFill>
          <a:blip r:embed="rId3"/>
          <a:stretch>
            <a:fillRect/>
          </a:stretch>
        </p:blipFill>
        <p:spPr>
          <a:xfrm>
            <a:off x="996696" y="1911096"/>
            <a:ext cx="658368" cy="658368"/>
          </a:xfrm>
          <a:prstGeom prst="rect">
            <a:avLst/>
          </a:prstGeom>
        </p:spPr>
      </p:pic>
      <p:sp>
        <p:nvSpPr>
          <p:cNvPr id="5" name="Right answer"/>
          <p:cNvSpPr txBox="1"/>
          <p:nvPr/>
        </p:nvSpPr>
        <p:spPr>
          <a:xfrm>
            <a:off x="2377440" y="1417320"/>
            <a:ext cx="6309360" cy="822960"/>
          </a:xfrm>
          <a:prstGeom prst="rect">
            <a:avLst/>
          </a:prstGeom>
          <a:noFill/>
          <a:ln/>
        </p:spPr>
        <p:txBody>
          <a:bodyPr wrap="square" lIns="0" tIns="0" rIns="0" bIns="0" rtlCol="0" anchor="t"/>
          <a:lstStyle/>
          <a:p>
            <a:pPr marL="0" indent="0">
              <a:buNone/>
            </a:pPr>
            <a:r>
              <a:rPr lang="en-US" sz="2200" b="1" dirty="0">
                <a:solidFill>
                  <a:schemeClr val="tx1"/>
                </a:solidFill>
                <a:latin typeface="+mj-lt" pitchFamily="34" charset="0"/>
                <a:ea typeface="+mj-lt" pitchFamily="34" charset="-122"/>
                <a:cs typeface="+mj-lt" pitchFamily="34" charset="-120"/>
              </a:rPr>
              <a:t>On their back</a:t>
            </a:r>
            <a:endParaRPr lang="en-US" sz="2200" dirty="0"/>
          </a:p>
        </p:txBody>
      </p:sp>
      <p:sp>
        <p:nvSpPr>
          <p:cNvPr id="6" name="Explanation"/>
          <p:cNvSpPr txBox="1"/>
          <p:nvPr/>
        </p:nvSpPr>
        <p:spPr>
          <a:xfrm>
            <a:off x="2377440" y="2377440"/>
            <a:ext cx="6309360" cy="1097280"/>
          </a:xfrm>
          <a:prstGeom prst="rect">
            <a:avLst/>
          </a:prstGeom>
          <a:noFill/>
          <a:ln/>
        </p:spPr>
        <p:txBody>
          <a:bodyPr wrap="square" lIns="0" tIns="0" rIns="0" bIns="0" rtlCol="0" anchor="t"/>
          <a:lstStyle/>
          <a:p>
            <a:pPr marL="0" indent="0">
              <a:buNone/>
            </a:pPr>
            <a:r>
              <a:rPr lang="en-US" sz="1800" dirty="0">
                <a:solidFill>
                  <a:schemeClr val="tx2"/>
                </a:solidFill>
              </a:rPr>
              <a:t>Always place baby on their back. Side or stomach sleeping can cause suffocating or choking.</a:t>
            </a:r>
            <a:endParaRPr lang="en-US" sz="1800" dirty="0"/>
          </a:p>
        </p:txBody>
      </p:sp>
      <p:sp>
        <p:nvSpPr>
          <p:cNvPr id="7" name="Continue button">
            <a:hlinkClick r:id="rId4" action="ppaction://hlinksldjump" tooltip="Continue"/>
          </p:cNvPr>
          <p:cNvSpPr/>
          <p:nvPr/>
        </p:nvSpPr>
        <p:spPr>
          <a:xfrm>
            <a:off x="6583680" y="3977640"/>
            <a:ext cx="2103120" cy="45720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Next question ›</a:t>
            </a:r>
            <a:endParaRPr lang="en-US" sz="1400" dirty="0"/>
          </a:p>
        </p:txBody>
      </p:sp>
      <p:sp>
        <p:nvSpPr>
          <p:cNvPr id="8" name="Menu button">
            <a:hlinkClick r:id="rId5" action="ppaction://hlinksldjump" tooltip="Back to the topic menu"/>
          </p:cNvPr>
          <p:cNvSpPr/>
          <p:nvPr/>
        </p:nvSpPr>
        <p:spPr>
          <a:xfrm>
            <a:off x="457200" y="3977640"/>
            <a:ext cx="1280160" cy="457200"/>
          </a:xfrm>
          <a:prstGeom prst="roundRect">
            <a:avLst>
              <a:gd name="adj" fmla="val 50000"/>
            </a:avLst>
          </a:prstGeom>
          <a:solidFill>
            <a:schemeClr val="bg1"/>
          </a:solidFill>
          <a:ln/>
        </p:spPr>
        <p:txBody>
          <a:bodyPr wrap="square" lIns="0" tIns="0" rIns="0" bIns="0" rtlCol="0" anchor="ctr"/>
          <a:lstStyle/>
          <a:p>
            <a:pPr marL="0" indent="0" algn="ctr">
              <a:buNone/>
            </a:pPr>
            <a:r>
              <a:rPr lang="en-US" sz="1400" b="1" dirty="0">
                <a:solidFill>
                  <a:schemeClr val="tx1"/>
                </a:solidFill>
              </a:rPr>
              <a:t>Menu</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Not quite</a:t>
            </a:r>
            <a:endParaRPr lang="en-US" sz="3000" dirty="0"/>
          </a:p>
        </p:txBody>
      </p:sp>
      <p:sp>
        <p:nvSpPr>
          <p:cNvPr id="3" name="Try again circle"/>
          <p:cNvSpPr/>
          <p:nvPr/>
        </p:nvSpPr>
        <p:spPr>
          <a:xfrm>
            <a:off x="640080" y="1554480"/>
            <a:ext cx="1371600" cy="1371600"/>
          </a:xfrm>
          <a:prstGeom prst="ellipse">
            <a:avLst/>
          </a:prstGeom>
          <a:solidFill>
            <a:schemeClr val="accent2"/>
          </a:solidFill>
          <a:ln w="12700">
            <a:solidFill>
              <a:schemeClr val="accent2"/>
            </a:solidFill>
            <a:prstDash val="solid"/>
          </a:ln>
        </p:spPr>
      </p:sp>
      <p:pic>
        <p:nvPicPr>
          <p:cNvPr id="4" name="Try again glyph" descr="Try again"/>
          <p:cNvPicPr>
            <a:picLocks noChangeAspect="1"/>
          </p:cNvPicPr>
          <p:nvPr/>
        </p:nvPicPr>
        <p:blipFill>
          <a:blip r:embed="rId3"/>
          <a:stretch>
            <a:fillRect/>
          </a:stretch>
        </p:blipFill>
        <p:spPr>
          <a:xfrm>
            <a:off x="996696" y="1911096"/>
            <a:ext cx="658368" cy="658368"/>
          </a:xfrm>
          <a:prstGeom prst="rect">
            <a:avLst/>
          </a:prstGeom>
        </p:spPr>
      </p:pic>
      <p:sp>
        <p:nvSpPr>
          <p:cNvPr id="5" name="Hint label"/>
          <p:cNvSpPr txBox="1"/>
          <p:nvPr/>
        </p:nvSpPr>
        <p:spPr>
          <a:xfrm>
            <a:off x="2377440" y="1417320"/>
            <a:ext cx="6309360" cy="365760"/>
          </a:xfrm>
          <a:prstGeom prst="rect">
            <a:avLst/>
          </a:prstGeom>
          <a:noFill/>
          <a:ln/>
        </p:spPr>
        <p:txBody>
          <a:bodyPr wrap="square" lIns="0" tIns="0" rIns="0" bIns="0" rtlCol="0" anchor="t"/>
          <a:lstStyle/>
          <a:p>
            <a:pPr marL="0" indent="0">
              <a:buNone/>
            </a:pPr>
            <a:r>
              <a:rPr lang="en-US" sz="1400" b="1" dirty="0">
                <a:solidFill>
                  <a:schemeClr val="accent2"/>
                </a:solidFill>
              </a:rPr>
              <a:t>Hint</a:t>
            </a:r>
            <a:endParaRPr lang="en-US" sz="1400" dirty="0"/>
          </a:p>
        </p:txBody>
      </p:sp>
      <p:sp>
        <p:nvSpPr>
          <p:cNvPr id="6" name="Hint text"/>
          <p:cNvSpPr txBox="1"/>
          <p:nvPr/>
        </p:nvSpPr>
        <p:spPr>
          <a:xfrm>
            <a:off x="2377440" y="1828800"/>
            <a:ext cx="6309360" cy="1280160"/>
          </a:xfrm>
          <a:prstGeom prst="rect">
            <a:avLst/>
          </a:prstGeom>
          <a:noFill/>
          <a:ln/>
        </p:spPr>
        <p:txBody>
          <a:bodyPr wrap="square" lIns="0" tIns="0" rIns="0" bIns="0" rtlCol="0" anchor="t"/>
          <a:lstStyle/>
          <a:p>
            <a:pPr marL="0" indent="0">
              <a:buNone/>
            </a:pPr>
            <a:r>
              <a:rPr lang="en-US" sz="2200" b="1" dirty="0">
                <a:solidFill>
                  <a:schemeClr val="tx1"/>
                </a:solidFill>
                <a:latin typeface="+mj-lt" pitchFamily="34" charset="0"/>
                <a:ea typeface="+mj-lt" pitchFamily="34" charset="-122"/>
                <a:cs typeface="+mj-lt" pitchFamily="34" charset="-120"/>
              </a:rPr>
              <a:t>Think of the position that keeps the airway clear.</a:t>
            </a:r>
            <a:endParaRPr lang="en-US" sz="2200" dirty="0"/>
          </a:p>
        </p:txBody>
      </p:sp>
      <p:sp>
        <p:nvSpPr>
          <p:cNvPr id="7" name="Try again button">
            <a:hlinkClick r:id="rId4" action="ppaction://hlinksldjump" tooltip="Back to the question"/>
          </p:cNvPr>
          <p:cNvSpPr/>
          <p:nvPr/>
        </p:nvSpPr>
        <p:spPr>
          <a:xfrm>
            <a:off x="6583680" y="3977640"/>
            <a:ext cx="2103120" cy="45720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Try again</a:t>
            </a:r>
            <a:endParaRPr lang="en-US" sz="1400" dirty="0"/>
          </a:p>
        </p:txBody>
      </p:sp>
      <p:sp>
        <p:nvSpPr>
          <p:cNvPr id="8" name="Menu button">
            <a:hlinkClick r:id="rId5" action="ppaction://hlinksldjump" tooltip="Back to the topic menu"/>
          </p:cNvPr>
          <p:cNvSpPr/>
          <p:nvPr/>
        </p:nvSpPr>
        <p:spPr>
          <a:xfrm>
            <a:off x="457200" y="3977640"/>
            <a:ext cx="1280160" cy="457200"/>
          </a:xfrm>
          <a:prstGeom prst="roundRect">
            <a:avLst>
              <a:gd name="adj" fmla="val 50000"/>
            </a:avLst>
          </a:prstGeom>
          <a:solidFill>
            <a:schemeClr val="bg1"/>
          </a:solidFill>
          <a:ln/>
        </p:spPr>
        <p:txBody>
          <a:bodyPr wrap="square" lIns="0" tIns="0" rIns="0" bIns="0" rtlCol="0" anchor="ctr"/>
          <a:lstStyle/>
          <a:p>
            <a:pPr marL="0" indent="0" algn="ctr">
              <a:buNone/>
            </a:pPr>
            <a:r>
              <a:rPr lang="en-US" sz="1400" b="1" dirty="0">
                <a:solidFill>
                  <a:schemeClr val="tx1"/>
                </a:solidFill>
              </a:rPr>
              <a:t>Menu</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Question 2 of 4</a:t>
            </a:r>
            <a:endParaRPr lang="en-US"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Menu</a:t>
            </a:r>
            <a:endParaRPr lang="en-US" sz="1400" dirty="0"/>
          </a:p>
        </p:txBody>
      </p:sp>
      <p:sp>
        <p:nvSpPr>
          <p:cNvPr id="4" name="Topic label"/>
          <p:cNvSpPr txBox="1"/>
          <p:nvPr/>
        </p:nvSpPr>
        <p:spPr>
          <a:xfrm>
            <a:off x="457200" y="896112"/>
            <a:ext cx="54864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WATER SAFETY</a:t>
            </a:r>
            <a:endParaRPr lang="en-US" sz="1200" dirty="0"/>
          </a:p>
        </p:txBody>
      </p:sp>
      <p:sp>
        <p:nvSpPr>
          <p:cNvPr id="5" name="Question"/>
          <p:cNvSpPr txBox="1"/>
          <p:nvPr/>
        </p:nvSpPr>
        <p:spPr>
          <a:xfrm>
            <a:off x="457200" y="1188720"/>
            <a:ext cx="8229600" cy="822960"/>
          </a:xfrm>
          <a:prstGeom prst="rect">
            <a:avLst/>
          </a:prstGeom>
          <a:noFill/>
          <a:ln/>
        </p:spPr>
        <p:txBody>
          <a:bodyPr wrap="square" lIns="0" tIns="0" rIns="0" bIns="0" rtlCol="0" anchor="t"/>
          <a:lstStyle/>
          <a:p>
            <a:pPr marL="0" indent="0">
              <a:buNone/>
            </a:pPr>
            <a:r>
              <a:rPr lang="en-US" sz="2200" b="1" dirty="0">
                <a:solidFill>
                  <a:schemeClr val="tx1"/>
                </a:solidFill>
                <a:latin typeface="+mj-lt" pitchFamily="34" charset="0"/>
                <a:ea typeface="+mj-lt" pitchFamily="34" charset="-122"/>
                <a:cs typeface="+mj-lt" pitchFamily="34" charset="-120"/>
              </a:rPr>
              <a:t>How much water can a baby drown in?</a:t>
            </a:r>
            <a:endParaRPr lang="en-US" sz="2200" dirty="0"/>
          </a:p>
        </p:txBody>
      </p:sp>
      <p:sp>
        <p:nvSpPr>
          <p:cNvPr id="6" name="Answer A">
            <a:hlinkClick r:id="rId4" action="ppaction://hlinksldjump" tooltip="Answer A"/>
          </p:cNvPr>
          <p:cNvSpPr/>
          <p:nvPr/>
        </p:nvSpPr>
        <p:spPr>
          <a:xfrm>
            <a:off x="457200" y="2148840"/>
            <a:ext cx="8229600" cy="694944"/>
          </a:xfrm>
          <a:prstGeom prst="roundRect">
            <a:avLst>
              <a:gd name="adj" fmla="val 15789"/>
            </a:avLst>
          </a:prstGeom>
          <a:solidFill>
            <a:schemeClr val="bg1"/>
          </a:solidFill>
          <a:ln/>
          <a:effectLst>
            <a:outerShdw blurRad="101600" dist="25400" dir="5400000" algn="bl" rotWithShape="0">
              <a:srgbClr val="17304F">
                <a:alpha val="14000"/>
              </a:srgbClr>
            </a:outerShdw>
          </a:effectLst>
        </p:spPr>
        <p:txBody>
          <a:bodyPr wrap="square" lIns="228600" tIns="0" rIns="152400" bIns="0" rtlCol="0" anchor="ctr"/>
          <a:lstStyle/>
          <a:p>
            <a:pPr marL="0" indent="0" algn="l">
              <a:buNone/>
            </a:pPr>
            <a:r>
              <a:rPr lang="en-US" sz="2000" b="1" dirty="0">
                <a:solidFill>
                  <a:schemeClr val="accent1"/>
                </a:solidFill>
              </a:rPr>
              <a:t>A    </a:t>
            </a:r>
            <a:r>
              <a:rPr lang="en-US" sz="1600" dirty="0">
                <a:solidFill>
                  <a:schemeClr val="tx1"/>
                </a:solidFill>
              </a:rPr>
              <a:t>At least one foot of water</a:t>
            </a:r>
            <a:endParaRPr lang="en-US" sz="2000" dirty="0"/>
          </a:p>
        </p:txBody>
      </p:sp>
      <p:sp>
        <p:nvSpPr>
          <p:cNvPr id="7" name="Answer B">
            <a:hlinkClick r:id="rId4" action="ppaction://hlinksldjump" tooltip="Answer B"/>
          </p:cNvPr>
          <p:cNvSpPr/>
          <p:nvPr/>
        </p:nvSpPr>
        <p:spPr>
          <a:xfrm>
            <a:off x="457200" y="2953512"/>
            <a:ext cx="8229600" cy="694944"/>
          </a:xfrm>
          <a:prstGeom prst="roundRect">
            <a:avLst>
              <a:gd name="adj" fmla="val 15789"/>
            </a:avLst>
          </a:prstGeom>
          <a:solidFill>
            <a:schemeClr val="bg1"/>
          </a:solidFill>
          <a:ln/>
          <a:effectLst>
            <a:outerShdw blurRad="101600" dist="25400" dir="5400000" algn="bl" rotWithShape="0">
              <a:srgbClr val="17304F">
                <a:alpha val="14000"/>
              </a:srgbClr>
            </a:outerShdw>
          </a:effectLst>
        </p:spPr>
        <p:txBody>
          <a:bodyPr wrap="square" lIns="228600" tIns="0" rIns="152400" bIns="0" rtlCol="0" anchor="ctr"/>
          <a:lstStyle/>
          <a:p>
            <a:pPr marL="0" indent="0" algn="l">
              <a:buNone/>
            </a:pPr>
            <a:r>
              <a:rPr lang="en-US" sz="2000" b="1" dirty="0">
                <a:solidFill>
                  <a:schemeClr val="accent1"/>
                </a:solidFill>
              </a:rPr>
              <a:t>B    </a:t>
            </a:r>
            <a:r>
              <a:rPr lang="en-US" sz="1600" dirty="0">
                <a:solidFill>
                  <a:schemeClr val="tx1"/>
                </a:solidFill>
              </a:rPr>
              <a:t>Only a full bathtub</a:t>
            </a:r>
            <a:endParaRPr lang="en-US" sz="2000" dirty="0"/>
          </a:p>
        </p:txBody>
      </p:sp>
      <p:sp>
        <p:nvSpPr>
          <p:cNvPr id="8" name="Answer C">
            <a:hlinkClick r:id="rId5" action="ppaction://hlinksldjump" tooltip="Answer C"/>
          </p:cNvPr>
          <p:cNvSpPr/>
          <p:nvPr/>
        </p:nvSpPr>
        <p:spPr>
          <a:xfrm>
            <a:off x="457200" y="3758184"/>
            <a:ext cx="8229600" cy="694944"/>
          </a:xfrm>
          <a:prstGeom prst="roundRect">
            <a:avLst>
              <a:gd name="adj" fmla="val 15789"/>
            </a:avLst>
          </a:prstGeom>
          <a:solidFill>
            <a:schemeClr val="bg1"/>
          </a:solidFill>
          <a:ln/>
          <a:effectLst>
            <a:outerShdw blurRad="101600" dist="25400" dir="5400000" algn="bl" rotWithShape="0">
              <a:srgbClr val="17304F">
                <a:alpha val="14000"/>
              </a:srgbClr>
            </a:outerShdw>
          </a:effectLst>
        </p:spPr>
        <p:txBody>
          <a:bodyPr wrap="square" lIns="228600" tIns="0" rIns="152400" bIns="0" rtlCol="0" anchor="ctr"/>
          <a:lstStyle/>
          <a:p>
            <a:pPr marL="0" indent="0" algn="l">
              <a:buNone/>
            </a:pPr>
            <a:r>
              <a:rPr lang="en-US" sz="2000" b="1" dirty="0">
                <a:solidFill>
                  <a:schemeClr val="accent1"/>
                </a:solidFill>
              </a:rPr>
              <a:t>C    </a:t>
            </a:r>
            <a:r>
              <a:rPr lang="en-US" sz="1600" dirty="0">
                <a:solidFill>
                  <a:schemeClr val="tx1"/>
                </a:solidFill>
              </a:rPr>
              <a:t>Just 1 to 2 inches</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Correct!</a:t>
            </a:r>
            <a:endParaRPr lang="en-US" sz="3000" dirty="0"/>
          </a:p>
        </p:txBody>
      </p:sp>
      <p:sp>
        <p:nvSpPr>
          <p:cNvPr id="3" name="Correct circle"/>
          <p:cNvSpPr/>
          <p:nvPr/>
        </p:nvSpPr>
        <p:spPr>
          <a:xfrm>
            <a:off x="640080" y="1554480"/>
            <a:ext cx="1371600" cy="1371600"/>
          </a:xfrm>
          <a:prstGeom prst="ellipse">
            <a:avLst/>
          </a:prstGeom>
          <a:solidFill>
            <a:schemeClr val="accent4"/>
          </a:solidFill>
          <a:ln w="12700">
            <a:solidFill>
              <a:schemeClr val="accent4"/>
            </a:solidFill>
            <a:prstDash val="solid"/>
          </a:ln>
        </p:spPr>
      </p:sp>
      <p:pic>
        <p:nvPicPr>
          <p:cNvPr id="4" name="Correct glyph" descr="Correct"/>
          <p:cNvPicPr>
            <a:picLocks noChangeAspect="1"/>
          </p:cNvPicPr>
          <p:nvPr/>
        </p:nvPicPr>
        <p:blipFill>
          <a:blip r:embed="rId3"/>
          <a:stretch>
            <a:fillRect/>
          </a:stretch>
        </p:blipFill>
        <p:spPr>
          <a:xfrm>
            <a:off x="996696" y="1911096"/>
            <a:ext cx="658368" cy="658368"/>
          </a:xfrm>
          <a:prstGeom prst="rect">
            <a:avLst/>
          </a:prstGeom>
        </p:spPr>
      </p:pic>
      <p:sp>
        <p:nvSpPr>
          <p:cNvPr id="5" name="Right answer"/>
          <p:cNvSpPr txBox="1"/>
          <p:nvPr/>
        </p:nvSpPr>
        <p:spPr>
          <a:xfrm>
            <a:off x="2377440" y="1417320"/>
            <a:ext cx="6309360" cy="822960"/>
          </a:xfrm>
          <a:prstGeom prst="rect">
            <a:avLst/>
          </a:prstGeom>
          <a:noFill/>
          <a:ln/>
        </p:spPr>
        <p:txBody>
          <a:bodyPr wrap="square" lIns="0" tIns="0" rIns="0" bIns="0" rtlCol="0" anchor="t"/>
          <a:lstStyle/>
          <a:p>
            <a:pPr marL="0" indent="0">
              <a:buNone/>
            </a:pPr>
            <a:r>
              <a:rPr lang="en-US" sz="2200" b="1" dirty="0">
                <a:solidFill>
                  <a:schemeClr val="tx1"/>
                </a:solidFill>
                <a:latin typeface="+mj-lt" pitchFamily="34" charset="0"/>
                <a:ea typeface="+mj-lt" pitchFamily="34" charset="-122"/>
                <a:cs typeface="+mj-lt" pitchFamily="34" charset="-120"/>
              </a:rPr>
              <a:t>Just 1 to 2 inches</a:t>
            </a:r>
            <a:endParaRPr lang="en-US" sz="2200" dirty="0"/>
          </a:p>
        </p:txBody>
      </p:sp>
      <p:sp>
        <p:nvSpPr>
          <p:cNvPr id="6" name="Explanation"/>
          <p:cNvSpPr txBox="1"/>
          <p:nvPr/>
        </p:nvSpPr>
        <p:spPr>
          <a:xfrm>
            <a:off x="2377440" y="2377440"/>
            <a:ext cx="6309360" cy="1097280"/>
          </a:xfrm>
          <a:prstGeom prst="rect">
            <a:avLst/>
          </a:prstGeom>
          <a:noFill/>
          <a:ln/>
        </p:spPr>
        <p:txBody>
          <a:bodyPr wrap="square" lIns="0" tIns="0" rIns="0" bIns="0" rtlCol="0" anchor="t"/>
          <a:lstStyle/>
          <a:p>
            <a:pPr marL="0" indent="0">
              <a:buNone/>
            </a:pPr>
            <a:r>
              <a:rPr lang="en-US" sz="1800" dirty="0">
                <a:solidFill>
                  <a:schemeClr val="tx2"/>
                </a:solidFill>
              </a:rPr>
              <a:t>Babies and young children can drown in just 1 to 2 inches of water, so never leave them alone near water.</a:t>
            </a:r>
            <a:endParaRPr lang="en-US" sz="1800" dirty="0"/>
          </a:p>
        </p:txBody>
      </p:sp>
      <p:sp>
        <p:nvSpPr>
          <p:cNvPr id="7" name="Continue button">
            <a:hlinkClick r:id="rId4" action="ppaction://hlinksldjump" tooltip="Continue"/>
          </p:cNvPr>
          <p:cNvSpPr/>
          <p:nvPr/>
        </p:nvSpPr>
        <p:spPr>
          <a:xfrm>
            <a:off x="6583680" y="3977640"/>
            <a:ext cx="2103120" cy="45720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Next question ›</a:t>
            </a:r>
            <a:endParaRPr lang="en-US" sz="1400" dirty="0"/>
          </a:p>
        </p:txBody>
      </p:sp>
      <p:sp>
        <p:nvSpPr>
          <p:cNvPr id="8" name="Menu button">
            <a:hlinkClick r:id="rId5" action="ppaction://hlinksldjump" tooltip="Back to the topic menu"/>
          </p:cNvPr>
          <p:cNvSpPr/>
          <p:nvPr/>
        </p:nvSpPr>
        <p:spPr>
          <a:xfrm>
            <a:off x="457200" y="3977640"/>
            <a:ext cx="1280160" cy="457200"/>
          </a:xfrm>
          <a:prstGeom prst="roundRect">
            <a:avLst>
              <a:gd name="adj" fmla="val 50000"/>
            </a:avLst>
          </a:prstGeom>
          <a:solidFill>
            <a:schemeClr val="bg1"/>
          </a:solidFill>
          <a:ln/>
        </p:spPr>
        <p:txBody>
          <a:bodyPr wrap="square" lIns="0" tIns="0" rIns="0" bIns="0" rtlCol="0" anchor="ctr"/>
          <a:lstStyle/>
          <a:p>
            <a:pPr marL="0" indent="0" algn="ctr">
              <a:buNone/>
            </a:pPr>
            <a:r>
              <a:rPr lang="en-US" sz="1400" b="1" dirty="0">
                <a:solidFill>
                  <a:schemeClr val="tx1"/>
                </a:solidFill>
              </a:rPr>
              <a:t>Menu</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Not quite</a:t>
            </a:r>
            <a:endParaRPr lang="en-US" sz="3000" dirty="0"/>
          </a:p>
        </p:txBody>
      </p:sp>
      <p:sp>
        <p:nvSpPr>
          <p:cNvPr id="3" name="Try again circle"/>
          <p:cNvSpPr/>
          <p:nvPr/>
        </p:nvSpPr>
        <p:spPr>
          <a:xfrm>
            <a:off x="640080" y="1554480"/>
            <a:ext cx="1371600" cy="1371600"/>
          </a:xfrm>
          <a:prstGeom prst="ellipse">
            <a:avLst/>
          </a:prstGeom>
          <a:solidFill>
            <a:schemeClr val="accent2"/>
          </a:solidFill>
          <a:ln w="12700">
            <a:solidFill>
              <a:schemeClr val="accent2"/>
            </a:solidFill>
            <a:prstDash val="solid"/>
          </a:ln>
        </p:spPr>
      </p:sp>
      <p:pic>
        <p:nvPicPr>
          <p:cNvPr id="4" name="Try again glyph" descr="Try again"/>
          <p:cNvPicPr>
            <a:picLocks noChangeAspect="1"/>
          </p:cNvPicPr>
          <p:nvPr/>
        </p:nvPicPr>
        <p:blipFill>
          <a:blip r:embed="rId3"/>
          <a:stretch>
            <a:fillRect/>
          </a:stretch>
        </p:blipFill>
        <p:spPr>
          <a:xfrm>
            <a:off x="996696" y="1911096"/>
            <a:ext cx="658368" cy="658368"/>
          </a:xfrm>
          <a:prstGeom prst="rect">
            <a:avLst/>
          </a:prstGeom>
        </p:spPr>
      </p:pic>
      <p:sp>
        <p:nvSpPr>
          <p:cNvPr id="5" name="Hint label"/>
          <p:cNvSpPr txBox="1"/>
          <p:nvPr/>
        </p:nvSpPr>
        <p:spPr>
          <a:xfrm>
            <a:off x="2377440" y="1417320"/>
            <a:ext cx="6309360" cy="365760"/>
          </a:xfrm>
          <a:prstGeom prst="rect">
            <a:avLst/>
          </a:prstGeom>
          <a:noFill/>
          <a:ln/>
        </p:spPr>
        <p:txBody>
          <a:bodyPr wrap="square" lIns="0" tIns="0" rIns="0" bIns="0" rtlCol="0" anchor="t"/>
          <a:lstStyle/>
          <a:p>
            <a:pPr marL="0" indent="0">
              <a:buNone/>
            </a:pPr>
            <a:r>
              <a:rPr lang="en-US" sz="1400" b="1" dirty="0">
                <a:solidFill>
                  <a:schemeClr val="accent2"/>
                </a:solidFill>
              </a:rPr>
              <a:t>Hint</a:t>
            </a:r>
            <a:endParaRPr lang="en-US" sz="1400" dirty="0"/>
          </a:p>
        </p:txBody>
      </p:sp>
      <p:sp>
        <p:nvSpPr>
          <p:cNvPr id="6" name="Hint text"/>
          <p:cNvSpPr txBox="1"/>
          <p:nvPr/>
        </p:nvSpPr>
        <p:spPr>
          <a:xfrm>
            <a:off x="2377440" y="1828800"/>
            <a:ext cx="6309360" cy="1280160"/>
          </a:xfrm>
          <a:prstGeom prst="rect">
            <a:avLst/>
          </a:prstGeom>
          <a:noFill/>
          <a:ln/>
        </p:spPr>
        <p:txBody>
          <a:bodyPr wrap="square" lIns="0" tIns="0" rIns="0" bIns="0" rtlCol="0" anchor="t"/>
          <a:lstStyle/>
          <a:p>
            <a:pPr marL="0" indent="0">
              <a:buNone/>
            </a:pPr>
            <a:r>
              <a:rPr lang="en-US" sz="2200" b="1" dirty="0">
                <a:solidFill>
                  <a:schemeClr val="tx1"/>
                </a:solidFill>
                <a:latin typeface="+mj-lt" pitchFamily="34" charset="0"/>
                <a:ea typeface="+mj-lt" pitchFamily="34" charset="-122"/>
                <a:cs typeface="+mj-lt" pitchFamily="34" charset="-120"/>
              </a:rPr>
              <a:t>It is far less water than you might think.</a:t>
            </a:r>
            <a:endParaRPr lang="en-US" sz="2200" dirty="0"/>
          </a:p>
        </p:txBody>
      </p:sp>
      <p:sp>
        <p:nvSpPr>
          <p:cNvPr id="7" name="Try again button">
            <a:hlinkClick r:id="rId4" action="ppaction://hlinksldjump" tooltip="Back to the question"/>
          </p:cNvPr>
          <p:cNvSpPr/>
          <p:nvPr/>
        </p:nvSpPr>
        <p:spPr>
          <a:xfrm>
            <a:off x="6583680" y="3977640"/>
            <a:ext cx="2103120" cy="45720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Try again</a:t>
            </a:r>
            <a:endParaRPr lang="en-US" sz="1400" dirty="0"/>
          </a:p>
        </p:txBody>
      </p:sp>
      <p:sp>
        <p:nvSpPr>
          <p:cNvPr id="8" name="Menu button">
            <a:hlinkClick r:id="rId5" action="ppaction://hlinksldjump" tooltip="Back to the topic menu"/>
          </p:cNvPr>
          <p:cNvSpPr/>
          <p:nvPr/>
        </p:nvSpPr>
        <p:spPr>
          <a:xfrm>
            <a:off x="457200" y="3977640"/>
            <a:ext cx="1280160" cy="457200"/>
          </a:xfrm>
          <a:prstGeom prst="roundRect">
            <a:avLst>
              <a:gd name="adj" fmla="val 50000"/>
            </a:avLst>
          </a:prstGeom>
          <a:solidFill>
            <a:schemeClr val="bg1"/>
          </a:solidFill>
          <a:ln/>
        </p:spPr>
        <p:txBody>
          <a:bodyPr wrap="square" lIns="0" tIns="0" rIns="0" bIns="0" rtlCol="0" anchor="ctr"/>
          <a:lstStyle/>
          <a:p>
            <a:pPr marL="0" indent="0" algn="ctr">
              <a:buNone/>
            </a:pPr>
            <a:r>
              <a:rPr lang="en-US" sz="1400" b="1" dirty="0">
                <a:solidFill>
                  <a:schemeClr val="tx1"/>
                </a:solidFill>
              </a:rPr>
              <a:t>Menu</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Question 3 of 4</a:t>
            </a:r>
            <a:endParaRPr lang="en-US"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Menu</a:t>
            </a:r>
            <a:endParaRPr lang="en-US" sz="1400" dirty="0"/>
          </a:p>
        </p:txBody>
      </p:sp>
      <p:sp>
        <p:nvSpPr>
          <p:cNvPr id="4" name="Topic label"/>
          <p:cNvSpPr txBox="1"/>
          <p:nvPr/>
        </p:nvSpPr>
        <p:spPr>
          <a:xfrm>
            <a:off x="457200" y="896112"/>
            <a:ext cx="54864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CAR SEAT</a:t>
            </a:r>
            <a:endParaRPr lang="en-US" sz="1200" dirty="0"/>
          </a:p>
        </p:txBody>
      </p:sp>
      <p:sp>
        <p:nvSpPr>
          <p:cNvPr id="5" name="Question"/>
          <p:cNvSpPr txBox="1"/>
          <p:nvPr/>
        </p:nvSpPr>
        <p:spPr>
          <a:xfrm>
            <a:off x="457200" y="1188720"/>
            <a:ext cx="8229600" cy="822960"/>
          </a:xfrm>
          <a:prstGeom prst="rect">
            <a:avLst/>
          </a:prstGeom>
          <a:noFill/>
          <a:ln/>
        </p:spPr>
        <p:txBody>
          <a:bodyPr wrap="square" lIns="0" tIns="0" rIns="0" bIns="0" rtlCol="0" anchor="t"/>
          <a:lstStyle/>
          <a:p>
            <a:pPr marL="0" indent="0">
              <a:buNone/>
            </a:pPr>
            <a:r>
              <a:rPr lang="en-US" sz="2200" b="1" dirty="0">
                <a:solidFill>
                  <a:schemeClr val="tx1"/>
                </a:solidFill>
                <a:latin typeface="+mj-lt" pitchFamily="34" charset="0"/>
                <a:ea typeface="+mj-lt" pitchFamily="34" charset="-122"/>
                <a:cs typeface="+mj-lt" pitchFamily="34" charset="-120"/>
              </a:rPr>
              <a:t>How long should a baby ride in a rear-facing car seat?</a:t>
            </a:r>
            <a:endParaRPr lang="en-US" sz="2200" dirty="0"/>
          </a:p>
        </p:txBody>
      </p:sp>
      <p:sp>
        <p:nvSpPr>
          <p:cNvPr id="6" name="Answer A">
            <a:hlinkClick r:id="rId4" action="ppaction://hlinksldjump" tooltip="Answer A"/>
          </p:cNvPr>
          <p:cNvSpPr/>
          <p:nvPr/>
        </p:nvSpPr>
        <p:spPr>
          <a:xfrm>
            <a:off x="457200" y="2148840"/>
            <a:ext cx="8229600" cy="694944"/>
          </a:xfrm>
          <a:prstGeom prst="roundRect">
            <a:avLst>
              <a:gd name="adj" fmla="val 15789"/>
            </a:avLst>
          </a:prstGeom>
          <a:solidFill>
            <a:schemeClr val="bg1"/>
          </a:solidFill>
          <a:ln/>
          <a:effectLst>
            <a:outerShdw blurRad="101600" dist="25400" dir="5400000" algn="bl" rotWithShape="0">
              <a:srgbClr val="17304F">
                <a:alpha val="14000"/>
              </a:srgbClr>
            </a:outerShdw>
          </a:effectLst>
        </p:spPr>
        <p:txBody>
          <a:bodyPr wrap="square" lIns="228600" tIns="0" rIns="152400" bIns="0" rtlCol="0" anchor="ctr"/>
          <a:lstStyle/>
          <a:p>
            <a:pPr marL="0" indent="0" algn="l">
              <a:buNone/>
            </a:pPr>
            <a:r>
              <a:rPr lang="en-US" sz="2000" b="1" dirty="0">
                <a:solidFill>
                  <a:schemeClr val="accent1"/>
                </a:solidFill>
              </a:rPr>
              <a:t>A    </a:t>
            </a:r>
            <a:r>
              <a:rPr lang="en-US" sz="1600" dirty="0">
                <a:solidFill>
                  <a:schemeClr val="tx1"/>
                </a:solidFill>
              </a:rPr>
              <a:t>Until at least 2 years old, or the seat’s limit</a:t>
            </a:r>
            <a:endParaRPr lang="en-US" sz="2000" dirty="0"/>
          </a:p>
        </p:txBody>
      </p:sp>
      <p:sp>
        <p:nvSpPr>
          <p:cNvPr id="7" name="Answer B">
            <a:hlinkClick r:id="rId5" action="ppaction://hlinksldjump" tooltip="Answer B"/>
          </p:cNvPr>
          <p:cNvSpPr/>
          <p:nvPr/>
        </p:nvSpPr>
        <p:spPr>
          <a:xfrm>
            <a:off x="457200" y="2953512"/>
            <a:ext cx="8229600" cy="694944"/>
          </a:xfrm>
          <a:prstGeom prst="roundRect">
            <a:avLst>
              <a:gd name="adj" fmla="val 15789"/>
            </a:avLst>
          </a:prstGeom>
          <a:solidFill>
            <a:schemeClr val="bg1"/>
          </a:solidFill>
          <a:ln/>
          <a:effectLst>
            <a:outerShdw blurRad="101600" dist="25400" dir="5400000" algn="bl" rotWithShape="0">
              <a:srgbClr val="17304F">
                <a:alpha val="14000"/>
              </a:srgbClr>
            </a:outerShdw>
          </a:effectLst>
        </p:spPr>
        <p:txBody>
          <a:bodyPr wrap="square" lIns="228600" tIns="0" rIns="152400" bIns="0" rtlCol="0" anchor="ctr"/>
          <a:lstStyle/>
          <a:p>
            <a:pPr marL="0" indent="0" algn="l">
              <a:buNone/>
            </a:pPr>
            <a:r>
              <a:rPr lang="en-US" sz="2000" b="1" dirty="0">
                <a:solidFill>
                  <a:schemeClr val="accent1"/>
                </a:solidFill>
              </a:rPr>
              <a:t>B    </a:t>
            </a:r>
            <a:r>
              <a:rPr lang="en-US" sz="1600" dirty="0">
                <a:solidFill>
                  <a:schemeClr val="tx1"/>
                </a:solidFill>
              </a:rPr>
              <a:t>Until 6 months</a:t>
            </a:r>
            <a:endParaRPr lang="en-US" sz="2000" dirty="0"/>
          </a:p>
        </p:txBody>
      </p:sp>
      <p:sp>
        <p:nvSpPr>
          <p:cNvPr id="8" name="Answer C">
            <a:hlinkClick r:id="rId5" action="ppaction://hlinksldjump" tooltip="Answer C"/>
          </p:cNvPr>
          <p:cNvSpPr/>
          <p:nvPr/>
        </p:nvSpPr>
        <p:spPr>
          <a:xfrm>
            <a:off x="457200" y="3758184"/>
            <a:ext cx="8229600" cy="694944"/>
          </a:xfrm>
          <a:prstGeom prst="roundRect">
            <a:avLst>
              <a:gd name="adj" fmla="val 15789"/>
            </a:avLst>
          </a:prstGeom>
          <a:solidFill>
            <a:schemeClr val="bg1"/>
          </a:solidFill>
          <a:ln/>
          <a:effectLst>
            <a:outerShdw blurRad="101600" dist="25400" dir="5400000" algn="bl" rotWithShape="0">
              <a:srgbClr val="17304F">
                <a:alpha val="14000"/>
              </a:srgbClr>
            </a:outerShdw>
          </a:effectLst>
        </p:spPr>
        <p:txBody>
          <a:bodyPr wrap="square" lIns="228600" tIns="0" rIns="152400" bIns="0" rtlCol="0" anchor="ctr"/>
          <a:lstStyle/>
          <a:p>
            <a:pPr marL="0" indent="0" algn="l">
              <a:buNone/>
            </a:pPr>
            <a:r>
              <a:rPr lang="en-US" sz="2000" b="1" dirty="0">
                <a:solidFill>
                  <a:schemeClr val="accent1"/>
                </a:solidFill>
              </a:rPr>
              <a:t>C    </a:t>
            </a:r>
            <a:r>
              <a:rPr lang="en-US" sz="1600" dirty="0">
                <a:solidFill>
                  <a:schemeClr val="tx1"/>
                </a:solidFill>
              </a:rPr>
              <a:t>Until they can walk</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Correct!</a:t>
            </a:r>
            <a:endParaRPr lang="en-US" sz="3000" dirty="0"/>
          </a:p>
        </p:txBody>
      </p:sp>
      <p:sp>
        <p:nvSpPr>
          <p:cNvPr id="3" name="Correct circle"/>
          <p:cNvSpPr/>
          <p:nvPr/>
        </p:nvSpPr>
        <p:spPr>
          <a:xfrm>
            <a:off x="640080" y="1554480"/>
            <a:ext cx="1371600" cy="1371600"/>
          </a:xfrm>
          <a:prstGeom prst="ellipse">
            <a:avLst/>
          </a:prstGeom>
          <a:solidFill>
            <a:schemeClr val="accent4"/>
          </a:solidFill>
          <a:ln w="12700">
            <a:solidFill>
              <a:schemeClr val="accent4"/>
            </a:solidFill>
            <a:prstDash val="solid"/>
          </a:ln>
        </p:spPr>
      </p:sp>
      <p:pic>
        <p:nvPicPr>
          <p:cNvPr id="4" name="Correct glyph" descr="Correct"/>
          <p:cNvPicPr>
            <a:picLocks noChangeAspect="1"/>
          </p:cNvPicPr>
          <p:nvPr/>
        </p:nvPicPr>
        <p:blipFill>
          <a:blip r:embed="rId3"/>
          <a:stretch>
            <a:fillRect/>
          </a:stretch>
        </p:blipFill>
        <p:spPr>
          <a:xfrm>
            <a:off x="996696" y="1911096"/>
            <a:ext cx="658368" cy="658368"/>
          </a:xfrm>
          <a:prstGeom prst="rect">
            <a:avLst/>
          </a:prstGeom>
        </p:spPr>
      </p:pic>
      <p:sp>
        <p:nvSpPr>
          <p:cNvPr id="5" name="Right answer"/>
          <p:cNvSpPr txBox="1"/>
          <p:nvPr/>
        </p:nvSpPr>
        <p:spPr>
          <a:xfrm>
            <a:off x="2377440" y="1417320"/>
            <a:ext cx="6309360" cy="822960"/>
          </a:xfrm>
          <a:prstGeom prst="rect">
            <a:avLst/>
          </a:prstGeom>
          <a:noFill/>
          <a:ln/>
        </p:spPr>
        <p:txBody>
          <a:bodyPr wrap="square" lIns="0" tIns="0" rIns="0" bIns="0" rtlCol="0" anchor="t"/>
          <a:lstStyle/>
          <a:p>
            <a:pPr marL="0" indent="0">
              <a:buNone/>
            </a:pPr>
            <a:r>
              <a:rPr lang="en-US" sz="2200" b="1" dirty="0">
                <a:solidFill>
                  <a:schemeClr val="tx1"/>
                </a:solidFill>
                <a:latin typeface="+mj-lt" pitchFamily="34" charset="0"/>
                <a:ea typeface="+mj-lt" pitchFamily="34" charset="-122"/>
                <a:cs typeface="+mj-lt" pitchFamily="34" charset="-120"/>
              </a:rPr>
              <a:t>Until at least 2 years old, or the seat’s limit</a:t>
            </a:r>
            <a:endParaRPr lang="en-US" sz="2200" dirty="0"/>
          </a:p>
        </p:txBody>
      </p:sp>
      <p:sp>
        <p:nvSpPr>
          <p:cNvPr id="6" name="Explanation"/>
          <p:cNvSpPr txBox="1"/>
          <p:nvPr/>
        </p:nvSpPr>
        <p:spPr>
          <a:xfrm>
            <a:off x="2377440" y="2377440"/>
            <a:ext cx="6309360" cy="1097280"/>
          </a:xfrm>
          <a:prstGeom prst="rect">
            <a:avLst/>
          </a:prstGeom>
          <a:noFill/>
          <a:ln/>
        </p:spPr>
        <p:txBody>
          <a:bodyPr wrap="square" lIns="0" tIns="0" rIns="0" bIns="0" rtlCol="0" anchor="t"/>
          <a:lstStyle/>
          <a:p>
            <a:pPr marL="0" indent="0">
              <a:buNone/>
            </a:pPr>
            <a:r>
              <a:rPr lang="en-US" sz="1800" dirty="0">
                <a:solidFill>
                  <a:schemeClr val="tx2"/>
                </a:solidFill>
              </a:rPr>
              <a:t>Babies ride rear-facing in the back seat until at least 2 years old, or the height or weight limit of the seat.</a:t>
            </a:r>
            <a:endParaRPr lang="en-US" sz="1800" dirty="0"/>
          </a:p>
        </p:txBody>
      </p:sp>
      <p:sp>
        <p:nvSpPr>
          <p:cNvPr id="7" name="Continue button">
            <a:hlinkClick r:id="rId4" action="ppaction://hlinksldjump" tooltip="Continue"/>
          </p:cNvPr>
          <p:cNvSpPr/>
          <p:nvPr/>
        </p:nvSpPr>
        <p:spPr>
          <a:xfrm>
            <a:off x="6583680" y="3977640"/>
            <a:ext cx="2103120" cy="45720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Next question ›</a:t>
            </a:r>
            <a:endParaRPr lang="en-US" sz="1400" dirty="0"/>
          </a:p>
        </p:txBody>
      </p:sp>
      <p:sp>
        <p:nvSpPr>
          <p:cNvPr id="8" name="Menu button">
            <a:hlinkClick r:id="rId5" action="ppaction://hlinksldjump" tooltip="Back to the topic menu"/>
          </p:cNvPr>
          <p:cNvSpPr/>
          <p:nvPr/>
        </p:nvSpPr>
        <p:spPr>
          <a:xfrm>
            <a:off x="457200" y="3977640"/>
            <a:ext cx="1280160" cy="457200"/>
          </a:xfrm>
          <a:prstGeom prst="roundRect">
            <a:avLst>
              <a:gd name="adj" fmla="val 50000"/>
            </a:avLst>
          </a:prstGeom>
          <a:solidFill>
            <a:schemeClr val="bg1"/>
          </a:solidFill>
          <a:ln/>
        </p:spPr>
        <p:txBody>
          <a:bodyPr wrap="square" lIns="0" tIns="0" rIns="0" bIns="0" rtlCol="0" anchor="ctr"/>
          <a:lstStyle/>
          <a:p>
            <a:pPr marL="0" indent="0" algn="ctr">
              <a:buNone/>
            </a:pPr>
            <a:r>
              <a:rPr lang="en-US" sz="1400" b="1" dirty="0">
                <a:solidFill>
                  <a:schemeClr val="tx1"/>
                </a:solidFill>
              </a:rPr>
              <a:t>Menu</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Not quite</a:t>
            </a:r>
            <a:endParaRPr lang="en-US" sz="3000" dirty="0"/>
          </a:p>
        </p:txBody>
      </p:sp>
      <p:sp>
        <p:nvSpPr>
          <p:cNvPr id="3" name="Try again circle"/>
          <p:cNvSpPr/>
          <p:nvPr/>
        </p:nvSpPr>
        <p:spPr>
          <a:xfrm>
            <a:off x="640080" y="1554480"/>
            <a:ext cx="1371600" cy="1371600"/>
          </a:xfrm>
          <a:prstGeom prst="ellipse">
            <a:avLst/>
          </a:prstGeom>
          <a:solidFill>
            <a:schemeClr val="accent2"/>
          </a:solidFill>
          <a:ln w="12700">
            <a:solidFill>
              <a:schemeClr val="accent2"/>
            </a:solidFill>
            <a:prstDash val="solid"/>
          </a:ln>
        </p:spPr>
      </p:sp>
      <p:pic>
        <p:nvPicPr>
          <p:cNvPr id="4" name="Try again glyph" descr="Try again"/>
          <p:cNvPicPr>
            <a:picLocks noChangeAspect="1"/>
          </p:cNvPicPr>
          <p:nvPr/>
        </p:nvPicPr>
        <p:blipFill>
          <a:blip r:embed="rId3"/>
          <a:stretch>
            <a:fillRect/>
          </a:stretch>
        </p:blipFill>
        <p:spPr>
          <a:xfrm>
            <a:off x="996696" y="1911096"/>
            <a:ext cx="658368" cy="658368"/>
          </a:xfrm>
          <a:prstGeom prst="rect">
            <a:avLst/>
          </a:prstGeom>
        </p:spPr>
      </p:pic>
      <p:sp>
        <p:nvSpPr>
          <p:cNvPr id="5" name="Hint label"/>
          <p:cNvSpPr txBox="1"/>
          <p:nvPr/>
        </p:nvSpPr>
        <p:spPr>
          <a:xfrm>
            <a:off x="2377440" y="1417320"/>
            <a:ext cx="6309360" cy="365760"/>
          </a:xfrm>
          <a:prstGeom prst="rect">
            <a:avLst/>
          </a:prstGeom>
          <a:noFill/>
          <a:ln/>
        </p:spPr>
        <p:txBody>
          <a:bodyPr wrap="square" lIns="0" tIns="0" rIns="0" bIns="0" rtlCol="0" anchor="t"/>
          <a:lstStyle/>
          <a:p>
            <a:pPr marL="0" indent="0">
              <a:buNone/>
            </a:pPr>
            <a:r>
              <a:rPr lang="en-US" sz="1400" b="1" dirty="0">
                <a:solidFill>
                  <a:schemeClr val="accent2"/>
                </a:solidFill>
              </a:rPr>
              <a:t>Hint</a:t>
            </a:r>
            <a:endParaRPr lang="en-US" sz="1400" dirty="0"/>
          </a:p>
        </p:txBody>
      </p:sp>
      <p:sp>
        <p:nvSpPr>
          <p:cNvPr id="6" name="Hint text"/>
          <p:cNvSpPr txBox="1"/>
          <p:nvPr/>
        </p:nvSpPr>
        <p:spPr>
          <a:xfrm>
            <a:off x="2377440" y="1828800"/>
            <a:ext cx="6309360" cy="1280160"/>
          </a:xfrm>
          <a:prstGeom prst="rect">
            <a:avLst/>
          </a:prstGeom>
          <a:noFill/>
          <a:ln/>
        </p:spPr>
        <p:txBody>
          <a:bodyPr wrap="square" lIns="0" tIns="0" rIns="0" bIns="0" rtlCol="0" anchor="t"/>
          <a:lstStyle/>
          <a:p>
            <a:pPr marL="0" indent="0">
              <a:buNone/>
            </a:pPr>
            <a:r>
              <a:rPr lang="en-US" sz="2200" b="1" dirty="0">
                <a:solidFill>
                  <a:schemeClr val="tx1"/>
                </a:solidFill>
                <a:latin typeface="+mj-lt" pitchFamily="34" charset="0"/>
                <a:ea typeface="+mj-lt" pitchFamily="34" charset="-122"/>
                <a:cs typeface="+mj-lt" pitchFamily="34" charset="-120"/>
              </a:rPr>
              <a:t>It is measured in years, not months.</a:t>
            </a:r>
            <a:endParaRPr lang="en-US" sz="2200" dirty="0"/>
          </a:p>
        </p:txBody>
      </p:sp>
      <p:sp>
        <p:nvSpPr>
          <p:cNvPr id="7" name="Try again button">
            <a:hlinkClick r:id="rId4" action="ppaction://hlinksldjump" tooltip="Back to the question"/>
          </p:cNvPr>
          <p:cNvSpPr/>
          <p:nvPr/>
        </p:nvSpPr>
        <p:spPr>
          <a:xfrm>
            <a:off x="6583680" y="3977640"/>
            <a:ext cx="2103120" cy="45720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Try again</a:t>
            </a:r>
            <a:endParaRPr lang="en-US" sz="1400" dirty="0"/>
          </a:p>
        </p:txBody>
      </p:sp>
      <p:sp>
        <p:nvSpPr>
          <p:cNvPr id="8" name="Menu button">
            <a:hlinkClick r:id="rId5" action="ppaction://hlinksldjump" tooltip="Back to the topic menu"/>
          </p:cNvPr>
          <p:cNvSpPr/>
          <p:nvPr/>
        </p:nvSpPr>
        <p:spPr>
          <a:xfrm>
            <a:off x="457200" y="3977640"/>
            <a:ext cx="1280160" cy="457200"/>
          </a:xfrm>
          <a:prstGeom prst="roundRect">
            <a:avLst>
              <a:gd name="adj" fmla="val 50000"/>
            </a:avLst>
          </a:prstGeom>
          <a:solidFill>
            <a:schemeClr val="bg1"/>
          </a:solidFill>
          <a:ln/>
        </p:spPr>
        <p:txBody>
          <a:bodyPr wrap="square" lIns="0" tIns="0" rIns="0" bIns="0" rtlCol="0" anchor="ctr"/>
          <a:lstStyle/>
          <a:p>
            <a:pPr marL="0" indent="0" algn="ctr">
              <a:buNone/>
            </a:pPr>
            <a:r>
              <a:rPr lang="en-US" sz="1400" b="1" dirty="0">
                <a:solidFill>
                  <a:schemeClr val="tx1"/>
                </a:solidFill>
              </a:rPr>
              <a:t>Menu</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Question 4 of 4</a:t>
            </a:r>
            <a:endParaRPr lang="en-US"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Menu</a:t>
            </a:r>
            <a:endParaRPr lang="en-US" sz="1400" dirty="0"/>
          </a:p>
        </p:txBody>
      </p:sp>
      <p:sp>
        <p:nvSpPr>
          <p:cNvPr id="4" name="Topic label"/>
          <p:cNvSpPr txBox="1"/>
          <p:nvPr/>
        </p:nvSpPr>
        <p:spPr>
          <a:xfrm>
            <a:off x="457200" y="896112"/>
            <a:ext cx="54864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BABY GEAR</a:t>
            </a:r>
            <a:endParaRPr lang="en-US" sz="1200" dirty="0"/>
          </a:p>
        </p:txBody>
      </p:sp>
      <p:sp>
        <p:nvSpPr>
          <p:cNvPr id="5" name="Question"/>
          <p:cNvSpPr txBox="1"/>
          <p:nvPr/>
        </p:nvSpPr>
        <p:spPr>
          <a:xfrm>
            <a:off x="457200" y="1188720"/>
            <a:ext cx="8229600" cy="822960"/>
          </a:xfrm>
          <a:prstGeom prst="rect">
            <a:avLst/>
          </a:prstGeom>
          <a:noFill/>
          <a:ln/>
        </p:spPr>
        <p:txBody>
          <a:bodyPr wrap="square" lIns="0" tIns="0" rIns="0" bIns="0" rtlCol="0" anchor="t"/>
          <a:lstStyle/>
          <a:p>
            <a:pPr marL="0" indent="0">
              <a:buNone/>
            </a:pPr>
            <a:r>
              <a:rPr lang="en-US" sz="2200" b="1" dirty="0">
                <a:solidFill>
                  <a:schemeClr val="tx1"/>
                </a:solidFill>
                <a:latin typeface="+mj-lt" pitchFamily="34" charset="0"/>
                <a:ea typeface="+mj-lt" pitchFamily="34" charset="-122"/>
                <a:cs typeface="+mj-lt" pitchFamily="34" charset="-120"/>
              </a:rPr>
              <a:t>Which of these must not be used for babies?</a:t>
            </a:r>
            <a:endParaRPr lang="en-US" sz="2200" dirty="0"/>
          </a:p>
        </p:txBody>
      </p:sp>
      <p:sp>
        <p:nvSpPr>
          <p:cNvPr id="6" name="Answer A">
            <a:hlinkClick r:id="rId4" action="ppaction://hlinksldjump" tooltip="Answer A"/>
          </p:cNvPr>
          <p:cNvSpPr/>
          <p:nvPr/>
        </p:nvSpPr>
        <p:spPr>
          <a:xfrm>
            <a:off x="457200" y="2148840"/>
            <a:ext cx="8229600" cy="694944"/>
          </a:xfrm>
          <a:prstGeom prst="roundRect">
            <a:avLst>
              <a:gd name="adj" fmla="val 15789"/>
            </a:avLst>
          </a:prstGeom>
          <a:solidFill>
            <a:schemeClr val="bg1"/>
          </a:solidFill>
          <a:ln/>
          <a:effectLst>
            <a:outerShdw blurRad="101600" dist="25400" dir="5400000" algn="bl" rotWithShape="0">
              <a:srgbClr val="17304F">
                <a:alpha val="14000"/>
              </a:srgbClr>
            </a:outerShdw>
          </a:effectLst>
        </p:spPr>
        <p:txBody>
          <a:bodyPr wrap="square" lIns="228600" tIns="0" rIns="152400" bIns="0" rtlCol="0" anchor="ctr"/>
          <a:lstStyle/>
          <a:p>
            <a:pPr marL="0" indent="0" algn="l">
              <a:buNone/>
            </a:pPr>
            <a:r>
              <a:rPr lang="en-US" sz="2000" b="1" dirty="0">
                <a:solidFill>
                  <a:schemeClr val="accent1"/>
                </a:solidFill>
              </a:rPr>
              <a:t>A    </a:t>
            </a:r>
            <a:r>
              <a:rPr lang="en-US" sz="1600" dirty="0">
                <a:solidFill>
                  <a:schemeClr val="tx1"/>
                </a:solidFill>
              </a:rPr>
              <a:t>A rear-facing car seat</a:t>
            </a:r>
            <a:endParaRPr lang="en-US" sz="2000" dirty="0"/>
          </a:p>
        </p:txBody>
      </p:sp>
      <p:sp>
        <p:nvSpPr>
          <p:cNvPr id="7" name="Answer B">
            <a:hlinkClick r:id="rId4" action="ppaction://hlinksldjump" tooltip="Answer B"/>
          </p:cNvPr>
          <p:cNvSpPr/>
          <p:nvPr/>
        </p:nvSpPr>
        <p:spPr>
          <a:xfrm>
            <a:off x="457200" y="2953512"/>
            <a:ext cx="8229600" cy="694944"/>
          </a:xfrm>
          <a:prstGeom prst="roundRect">
            <a:avLst>
              <a:gd name="adj" fmla="val 15789"/>
            </a:avLst>
          </a:prstGeom>
          <a:solidFill>
            <a:schemeClr val="bg1"/>
          </a:solidFill>
          <a:ln/>
          <a:effectLst>
            <a:outerShdw blurRad="101600" dist="25400" dir="5400000" algn="bl" rotWithShape="0">
              <a:srgbClr val="17304F">
                <a:alpha val="14000"/>
              </a:srgbClr>
            </a:outerShdw>
          </a:effectLst>
        </p:spPr>
        <p:txBody>
          <a:bodyPr wrap="square" lIns="228600" tIns="0" rIns="152400" bIns="0" rtlCol="0" anchor="ctr"/>
          <a:lstStyle/>
          <a:p>
            <a:pPr marL="0" indent="0" algn="l">
              <a:buNone/>
            </a:pPr>
            <a:r>
              <a:rPr lang="en-US" sz="2000" b="1" dirty="0">
                <a:solidFill>
                  <a:schemeClr val="accent1"/>
                </a:solidFill>
              </a:rPr>
              <a:t>B    </a:t>
            </a:r>
            <a:r>
              <a:rPr lang="en-US" sz="1600" dirty="0">
                <a:solidFill>
                  <a:schemeClr val="tx1"/>
                </a:solidFill>
              </a:rPr>
              <a:t>A playpen with locked sides</a:t>
            </a:r>
            <a:endParaRPr lang="en-US" sz="2000" dirty="0"/>
          </a:p>
        </p:txBody>
      </p:sp>
      <p:sp>
        <p:nvSpPr>
          <p:cNvPr id="8" name="Answer C">
            <a:hlinkClick r:id="rId5" action="ppaction://hlinksldjump" tooltip="Answer C"/>
          </p:cNvPr>
          <p:cNvSpPr/>
          <p:nvPr/>
        </p:nvSpPr>
        <p:spPr>
          <a:xfrm>
            <a:off x="457200" y="3758184"/>
            <a:ext cx="8229600" cy="694944"/>
          </a:xfrm>
          <a:prstGeom prst="roundRect">
            <a:avLst>
              <a:gd name="adj" fmla="val 15789"/>
            </a:avLst>
          </a:prstGeom>
          <a:solidFill>
            <a:schemeClr val="bg1"/>
          </a:solidFill>
          <a:ln/>
          <a:effectLst>
            <a:outerShdw blurRad="101600" dist="25400" dir="5400000" algn="bl" rotWithShape="0">
              <a:srgbClr val="17304F">
                <a:alpha val="14000"/>
              </a:srgbClr>
            </a:outerShdw>
          </a:effectLst>
        </p:spPr>
        <p:txBody>
          <a:bodyPr wrap="square" lIns="228600" tIns="0" rIns="152400" bIns="0" rtlCol="0" anchor="ctr"/>
          <a:lstStyle/>
          <a:p>
            <a:pPr marL="0" indent="0" algn="l">
              <a:buNone/>
            </a:pPr>
            <a:r>
              <a:rPr lang="en-US" sz="2000" b="1" dirty="0">
                <a:solidFill>
                  <a:schemeClr val="accent1"/>
                </a:solidFill>
              </a:rPr>
              <a:t>C    </a:t>
            </a:r>
            <a:r>
              <a:rPr lang="en-US" sz="1600" dirty="0">
                <a:solidFill>
                  <a:schemeClr val="tx1"/>
                </a:solidFill>
              </a:rPr>
              <a:t>A baby walker</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Correct!</a:t>
            </a:r>
            <a:endParaRPr lang="en-US" sz="3000" dirty="0"/>
          </a:p>
        </p:txBody>
      </p:sp>
      <p:sp>
        <p:nvSpPr>
          <p:cNvPr id="3" name="Correct circle"/>
          <p:cNvSpPr/>
          <p:nvPr/>
        </p:nvSpPr>
        <p:spPr>
          <a:xfrm>
            <a:off x="640080" y="1554480"/>
            <a:ext cx="1371600" cy="1371600"/>
          </a:xfrm>
          <a:prstGeom prst="ellipse">
            <a:avLst/>
          </a:prstGeom>
          <a:solidFill>
            <a:schemeClr val="accent4"/>
          </a:solidFill>
          <a:ln w="12700">
            <a:solidFill>
              <a:schemeClr val="accent4"/>
            </a:solidFill>
            <a:prstDash val="solid"/>
          </a:ln>
        </p:spPr>
      </p:sp>
      <p:pic>
        <p:nvPicPr>
          <p:cNvPr id="4" name="Correct glyph" descr="Correct"/>
          <p:cNvPicPr>
            <a:picLocks noChangeAspect="1"/>
          </p:cNvPicPr>
          <p:nvPr/>
        </p:nvPicPr>
        <p:blipFill>
          <a:blip r:embed="rId3"/>
          <a:stretch>
            <a:fillRect/>
          </a:stretch>
        </p:blipFill>
        <p:spPr>
          <a:xfrm>
            <a:off x="996696" y="1911096"/>
            <a:ext cx="658368" cy="658368"/>
          </a:xfrm>
          <a:prstGeom prst="rect">
            <a:avLst/>
          </a:prstGeom>
        </p:spPr>
      </p:pic>
      <p:sp>
        <p:nvSpPr>
          <p:cNvPr id="5" name="Right answer"/>
          <p:cNvSpPr txBox="1"/>
          <p:nvPr/>
        </p:nvSpPr>
        <p:spPr>
          <a:xfrm>
            <a:off x="2377440" y="1417320"/>
            <a:ext cx="6309360" cy="822960"/>
          </a:xfrm>
          <a:prstGeom prst="rect">
            <a:avLst/>
          </a:prstGeom>
          <a:noFill/>
          <a:ln/>
        </p:spPr>
        <p:txBody>
          <a:bodyPr wrap="square" lIns="0" tIns="0" rIns="0" bIns="0" rtlCol="0" anchor="t"/>
          <a:lstStyle/>
          <a:p>
            <a:pPr marL="0" indent="0">
              <a:buNone/>
            </a:pPr>
            <a:r>
              <a:rPr lang="en-US" sz="2200" b="1" dirty="0">
                <a:solidFill>
                  <a:schemeClr val="tx1"/>
                </a:solidFill>
                <a:latin typeface="+mj-lt" pitchFamily="34" charset="0"/>
                <a:ea typeface="+mj-lt" pitchFamily="34" charset="-122"/>
                <a:cs typeface="+mj-lt" pitchFamily="34" charset="-120"/>
              </a:rPr>
              <a:t>A baby walker</a:t>
            </a:r>
            <a:endParaRPr lang="en-US" sz="2200" dirty="0"/>
          </a:p>
        </p:txBody>
      </p:sp>
      <p:sp>
        <p:nvSpPr>
          <p:cNvPr id="6" name="Explanation"/>
          <p:cNvSpPr txBox="1"/>
          <p:nvPr/>
        </p:nvSpPr>
        <p:spPr>
          <a:xfrm>
            <a:off x="2377440" y="2377440"/>
            <a:ext cx="6309360" cy="1097280"/>
          </a:xfrm>
          <a:prstGeom prst="rect">
            <a:avLst/>
          </a:prstGeom>
          <a:noFill/>
          <a:ln/>
        </p:spPr>
        <p:txBody>
          <a:bodyPr wrap="square" lIns="0" tIns="0" rIns="0" bIns="0" rtlCol="0" anchor="t"/>
          <a:lstStyle/>
          <a:p>
            <a:pPr marL="0" indent="0">
              <a:buNone/>
            </a:pPr>
            <a:r>
              <a:rPr lang="en-US" sz="1800" dirty="0">
                <a:solidFill>
                  <a:schemeClr val="tx2"/>
                </a:solidFill>
              </a:rPr>
              <a:t>Baby walkers are very dangerous. Children do not need them to learn to walk, and many babies are hurt in falls.</a:t>
            </a:r>
            <a:endParaRPr lang="en-US" sz="1800" dirty="0"/>
          </a:p>
        </p:txBody>
      </p:sp>
      <p:sp>
        <p:nvSpPr>
          <p:cNvPr id="7" name="Continue button">
            <a:hlinkClick r:id="rId4" action="ppaction://hlinksldjump" tooltip="Continue"/>
          </p:cNvPr>
          <p:cNvSpPr/>
          <p:nvPr/>
        </p:nvSpPr>
        <p:spPr>
          <a:xfrm>
            <a:off x="6583680" y="3977640"/>
            <a:ext cx="2103120" cy="45720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Finish ›</a:t>
            </a:r>
            <a:endParaRPr lang="en-US" sz="1400" dirty="0"/>
          </a:p>
        </p:txBody>
      </p:sp>
      <p:sp>
        <p:nvSpPr>
          <p:cNvPr id="8" name="Menu button">
            <a:hlinkClick r:id="rId5" action="ppaction://hlinksldjump" tooltip="Back to the topic menu"/>
          </p:cNvPr>
          <p:cNvSpPr/>
          <p:nvPr/>
        </p:nvSpPr>
        <p:spPr>
          <a:xfrm>
            <a:off x="457200" y="3977640"/>
            <a:ext cx="1280160" cy="457200"/>
          </a:xfrm>
          <a:prstGeom prst="roundRect">
            <a:avLst>
              <a:gd name="adj" fmla="val 50000"/>
            </a:avLst>
          </a:prstGeom>
          <a:solidFill>
            <a:schemeClr val="bg1"/>
          </a:solidFill>
          <a:ln/>
        </p:spPr>
        <p:txBody>
          <a:bodyPr wrap="square" lIns="0" tIns="0" rIns="0" bIns="0" rtlCol="0" anchor="ctr"/>
          <a:lstStyle/>
          <a:p>
            <a:pPr marL="0" indent="0" algn="ctr">
              <a:buNone/>
            </a:pPr>
            <a:r>
              <a:rPr lang="en-US" sz="1400" b="1" dirty="0">
                <a:solidFill>
                  <a:schemeClr val="tx1"/>
                </a:solidFill>
              </a:rPr>
              <a:t>Menu</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Not quite</a:t>
            </a:r>
            <a:endParaRPr lang="en-US" sz="3000" dirty="0"/>
          </a:p>
        </p:txBody>
      </p:sp>
      <p:sp>
        <p:nvSpPr>
          <p:cNvPr id="3" name="Try again circle"/>
          <p:cNvSpPr/>
          <p:nvPr/>
        </p:nvSpPr>
        <p:spPr>
          <a:xfrm>
            <a:off x="640080" y="1554480"/>
            <a:ext cx="1371600" cy="1371600"/>
          </a:xfrm>
          <a:prstGeom prst="ellipse">
            <a:avLst/>
          </a:prstGeom>
          <a:solidFill>
            <a:schemeClr val="accent2"/>
          </a:solidFill>
          <a:ln w="12700">
            <a:solidFill>
              <a:schemeClr val="accent2"/>
            </a:solidFill>
            <a:prstDash val="solid"/>
          </a:ln>
        </p:spPr>
      </p:sp>
      <p:pic>
        <p:nvPicPr>
          <p:cNvPr id="4" name="Try again glyph" descr="Try again"/>
          <p:cNvPicPr>
            <a:picLocks noChangeAspect="1"/>
          </p:cNvPicPr>
          <p:nvPr/>
        </p:nvPicPr>
        <p:blipFill>
          <a:blip r:embed="rId3"/>
          <a:stretch>
            <a:fillRect/>
          </a:stretch>
        </p:blipFill>
        <p:spPr>
          <a:xfrm>
            <a:off x="996696" y="1911096"/>
            <a:ext cx="658368" cy="658368"/>
          </a:xfrm>
          <a:prstGeom prst="rect">
            <a:avLst/>
          </a:prstGeom>
        </p:spPr>
      </p:pic>
      <p:sp>
        <p:nvSpPr>
          <p:cNvPr id="5" name="Hint label"/>
          <p:cNvSpPr txBox="1"/>
          <p:nvPr/>
        </p:nvSpPr>
        <p:spPr>
          <a:xfrm>
            <a:off x="2377440" y="1417320"/>
            <a:ext cx="6309360" cy="365760"/>
          </a:xfrm>
          <a:prstGeom prst="rect">
            <a:avLst/>
          </a:prstGeom>
          <a:noFill/>
          <a:ln/>
        </p:spPr>
        <p:txBody>
          <a:bodyPr wrap="square" lIns="0" tIns="0" rIns="0" bIns="0" rtlCol="0" anchor="t"/>
          <a:lstStyle/>
          <a:p>
            <a:pPr marL="0" indent="0">
              <a:buNone/>
            </a:pPr>
            <a:r>
              <a:rPr lang="en-US" sz="1400" b="1" dirty="0">
                <a:solidFill>
                  <a:schemeClr val="accent2"/>
                </a:solidFill>
              </a:rPr>
              <a:t>Hint</a:t>
            </a:r>
            <a:endParaRPr lang="en-US" sz="1400" dirty="0"/>
          </a:p>
        </p:txBody>
      </p:sp>
      <p:sp>
        <p:nvSpPr>
          <p:cNvPr id="6" name="Hint text"/>
          <p:cNvSpPr txBox="1"/>
          <p:nvPr/>
        </p:nvSpPr>
        <p:spPr>
          <a:xfrm>
            <a:off x="2377440" y="1828800"/>
            <a:ext cx="6309360" cy="1280160"/>
          </a:xfrm>
          <a:prstGeom prst="rect">
            <a:avLst/>
          </a:prstGeom>
          <a:noFill/>
          <a:ln/>
        </p:spPr>
        <p:txBody>
          <a:bodyPr wrap="square" lIns="0" tIns="0" rIns="0" bIns="0" rtlCol="0" anchor="t"/>
          <a:lstStyle/>
          <a:p>
            <a:pPr marL="0" indent="0">
              <a:buNone/>
            </a:pPr>
            <a:r>
              <a:rPr lang="en-US" sz="2200" b="1" dirty="0">
                <a:solidFill>
                  <a:schemeClr val="tx1"/>
                </a:solidFill>
                <a:latin typeface="+mj-lt" pitchFamily="34" charset="0"/>
                <a:ea typeface="+mj-lt" pitchFamily="34" charset="-122"/>
                <a:cs typeface="+mj-lt" pitchFamily="34" charset="-120"/>
              </a:rPr>
              <a:t>One of these is linked to many fall injuries each year.</a:t>
            </a:r>
            <a:endParaRPr lang="en-US" sz="2200" dirty="0"/>
          </a:p>
        </p:txBody>
      </p:sp>
      <p:sp>
        <p:nvSpPr>
          <p:cNvPr id="7" name="Try again button">
            <a:hlinkClick r:id="rId4" action="ppaction://hlinksldjump" tooltip="Back to the question"/>
          </p:cNvPr>
          <p:cNvSpPr/>
          <p:nvPr/>
        </p:nvSpPr>
        <p:spPr>
          <a:xfrm>
            <a:off x="6583680" y="3977640"/>
            <a:ext cx="2103120" cy="45720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Try again</a:t>
            </a:r>
            <a:endParaRPr lang="en-US" sz="1400" dirty="0"/>
          </a:p>
        </p:txBody>
      </p:sp>
      <p:sp>
        <p:nvSpPr>
          <p:cNvPr id="8" name="Menu button">
            <a:hlinkClick r:id="rId5" action="ppaction://hlinksldjump" tooltip="Back to the topic menu"/>
          </p:cNvPr>
          <p:cNvSpPr/>
          <p:nvPr/>
        </p:nvSpPr>
        <p:spPr>
          <a:xfrm>
            <a:off x="457200" y="3977640"/>
            <a:ext cx="1280160" cy="457200"/>
          </a:xfrm>
          <a:prstGeom prst="roundRect">
            <a:avLst>
              <a:gd name="adj" fmla="val 50000"/>
            </a:avLst>
          </a:prstGeom>
          <a:solidFill>
            <a:schemeClr val="bg1"/>
          </a:solidFill>
          <a:ln/>
        </p:spPr>
        <p:txBody>
          <a:bodyPr wrap="square" lIns="0" tIns="0" rIns="0" bIns="0" rtlCol="0" anchor="ctr"/>
          <a:lstStyle/>
          <a:p>
            <a:pPr marL="0" indent="0" algn="ctr">
              <a:buNone/>
            </a:pPr>
            <a:r>
              <a:rPr lang="en-US" sz="1400" b="1" dirty="0">
                <a:solidFill>
                  <a:schemeClr val="tx1"/>
                </a:solidFill>
              </a:rPr>
              <a:t>Menu</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Family photo" descr="Two parents swinging a child between them in a field at sunset"/>
          <p:cNvPicPr>
            <a:picLocks noChangeAspect="1"/>
          </p:cNvPicPr>
          <p:nvPr/>
        </p:nvPicPr>
        <p:blipFill>
          <a:blip r:embed="rId3"/>
          <a:stretch>
            <a:fillRect/>
          </a:stretch>
        </p:blipFill>
        <p:spPr>
          <a:xfrm>
            <a:off x="4937760" y="0"/>
            <a:ext cx="4206240" cy="5143500"/>
          </a:xfrm>
          <a:prstGeom prst="rect">
            <a:avLst/>
          </a:prstGeom>
        </p:spPr>
      </p:pic>
      <p:sp>
        <p:nvSpPr>
          <p:cNvPr id="3" name="Eyebrow"/>
          <p:cNvSpPr txBox="1"/>
          <p:nvPr/>
        </p:nvSpPr>
        <p:spPr>
          <a:xfrm>
            <a:off x="548640" y="640080"/>
            <a:ext cx="4023360" cy="320040"/>
          </a:xfrm>
          <a:prstGeom prst="rect">
            <a:avLst/>
          </a:prstGeom>
          <a:noFill/>
          <a:ln/>
        </p:spPr>
        <p:txBody>
          <a:bodyPr wrap="square" lIns="0" tIns="0" rIns="0" bIns="0" rtlCol="0" anchor="ctr"/>
          <a:lstStyle/>
          <a:p>
            <a:pPr marL="0" indent="0">
              <a:buNone/>
            </a:pPr>
            <a:r>
              <a:rPr lang="en-US" sz="1400" b="1" kern="0" spc="400" dirty="0">
                <a:solidFill>
                  <a:schemeClr val="accent3"/>
                </a:solidFill>
              </a:rPr>
              <a:t>WELL DONE</a:t>
            </a:r>
            <a:endParaRPr lang="en-US" sz="1400" dirty="0"/>
          </a:p>
        </p:txBody>
      </p:sp>
      <p:sp>
        <p:nvSpPr>
          <p:cNvPr id="4" name="Closing title"/>
          <p:cNvSpPr txBox="1"/>
          <p:nvPr/>
        </p:nvSpPr>
        <p:spPr>
          <a:xfrm>
            <a:off x="548640" y="1005840"/>
            <a:ext cx="4114800" cy="1280160"/>
          </a:xfrm>
          <a:prstGeom prst="rect">
            <a:avLst/>
          </a:prstGeom>
          <a:noFill/>
          <a:ln/>
        </p:spPr>
        <p:txBody>
          <a:bodyPr wrap="square" lIns="0" tIns="0" rIns="0" bIns="0" rtlCol="0" anchor="t"/>
          <a:lstStyle/>
          <a:p>
            <a:pPr marL="0" indent="0">
              <a:buNone/>
            </a:pPr>
            <a:r>
              <a:rPr lang="en-US" sz="3000" b="1" dirty="0">
                <a:solidFill>
                  <a:schemeClr val="bg1"/>
                </a:solidFill>
                <a:latin typeface="+mj-lt" pitchFamily="34" charset="0"/>
                <a:ea typeface="+mj-lt" pitchFamily="34" charset="-122"/>
                <a:cs typeface="+mj-lt" pitchFamily="34" charset="-120"/>
              </a:rPr>
              <a:t>Safe home, curious child</a:t>
            </a:r>
            <a:endParaRPr lang="en-US" sz="3000" dirty="0"/>
          </a:p>
        </p:txBody>
      </p:sp>
      <p:sp>
        <p:nvSpPr>
          <p:cNvPr id="5" name="Takeaways"/>
          <p:cNvSpPr txBox="1"/>
          <p:nvPr/>
        </p:nvSpPr>
        <p:spPr>
          <a:xfrm>
            <a:off x="548640" y="2423160"/>
            <a:ext cx="4114800" cy="1554480"/>
          </a:xfrm>
          <a:prstGeom prst="rect">
            <a:avLst/>
          </a:prstGeom>
          <a:noFill/>
          <a:ln/>
        </p:spPr>
        <p:txBody>
          <a:bodyPr wrap="square" lIns="0" tIns="0" rIns="0" bIns="0" rtlCol="0" anchor="t"/>
          <a:lstStyle/>
          <a:p>
            <a:pPr marL="177800" indent="-177800">
              <a:spcAft>
                <a:spcPts val="800"/>
              </a:spcAft>
              <a:buSzPct val="100000"/>
              <a:buChar char="•"/>
            </a:pPr>
            <a:r>
              <a:rPr lang="en-US" sz="1600" dirty="0">
                <a:solidFill>
                  <a:schemeClr val="bg1"/>
                </a:solidFill>
              </a:rPr>
              <a:t>Back to sleep, in a crib or bassinet</a:t>
            </a:r>
            <a:endParaRPr lang="en-US" sz="1600" dirty="0"/>
          </a:p>
          <a:p>
            <a:pPr marL="177800" indent="-177800">
              <a:spcAft>
                <a:spcPts val="800"/>
              </a:spcAft>
              <a:buSzPct val="100000"/>
              <a:buChar char="•"/>
            </a:pPr>
            <a:r>
              <a:rPr lang="en-US" sz="1600" dirty="0">
                <a:solidFill>
                  <a:schemeClr val="bg1"/>
                </a:solidFill>
              </a:rPr>
              <a:t>One hand on baby, near water and heights</a:t>
            </a:r>
            <a:endParaRPr lang="en-US" sz="1600" dirty="0"/>
          </a:p>
          <a:p>
            <a:pPr marL="177800" indent="-177800">
              <a:spcAft>
                <a:spcPts val="800"/>
              </a:spcAft>
              <a:buSzPct val="100000"/>
              <a:buChar char="•"/>
            </a:pPr>
            <a:r>
              <a:rPr lang="en-US" sz="1600" dirty="0">
                <a:solidFill>
                  <a:schemeClr val="bg1"/>
                </a:solidFill>
              </a:rPr>
              <a:t>Small objects, cords and poisons out of reach</a:t>
            </a:r>
            <a:endParaRPr lang="en-US" sz="1600" dirty="0"/>
          </a:p>
          <a:p>
            <a:pPr marL="177800" indent="-177800">
              <a:spcAft>
                <a:spcPts val="800"/>
              </a:spcAft>
              <a:buSzPct val="100000"/>
              <a:buChar char="•"/>
            </a:pPr>
            <a:r>
              <a:rPr lang="en-US" sz="1600" dirty="0">
                <a:solidFill>
                  <a:schemeClr val="bg1"/>
                </a:solidFill>
              </a:rPr>
              <a:t>Rear-facing car seat, and no baby walkers</a:t>
            </a:r>
            <a:endParaRPr lang="en-US" sz="1600" dirty="0"/>
          </a:p>
        </p:txBody>
      </p:sp>
      <p:sp>
        <p:nvSpPr>
          <p:cNvPr id="6" name="Menu button">
            <a:hlinkClick r:id="rId4" action="ppaction://hlinksldjump" tooltip="Open the topic menu"/>
          </p:cNvPr>
          <p:cNvSpPr/>
          <p:nvPr/>
        </p:nvSpPr>
        <p:spPr>
          <a:xfrm>
            <a:off x="548640" y="4160520"/>
            <a:ext cx="1828800" cy="420624"/>
          </a:xfrm>
          <a:prstGeom prst="roundRect">
            <a:avLst>
              <a:gd name="adj" fmla="val 50000"/>
            </a:avLst>
          </a:prstGeom>
          <a:solidFill>
            <a:schemeClr val="accent3"/>
          </a:solidFill>
          <a:ln/>
        </p:spPr>
        <p:txBody>
          <a:bodyPr wrap="square" lIns="0" tIns="0" rIns="0" bIns="0" rtlCol="0" anchor="ctr"/>
          <a:lstStyle/>
          <a:p>
            <a:pPr marL="0" indent="0" algn="ctr">
              <a:buNone/>
            </a:pPr>
            <a:r>
              <a:rPr lang="en-US" sz="1400" b="1" dirty="0">
                <a:solidFill>
                  <a:schemeClr val="tx1"/>
                </a:solidFill>
              </a:rPr>
              <a:t>Back to menu</a:t>
            </a:r>
            <a:endParaRPr lang="en-US" sz="1400" dirty="0"/>
          </a:p>
        </p:txBody>
      </p:sp>
      <p:sp>
        <p:nvSpPr>
          <p:cNvPr id="7" name="Retake button">
            <a:hlinkClick r:id="rId5" action="ppaction://hlinksldjump" tooltip="Restart the quiz"/>
          </p:cNvPr>
          <p:cNvSpPr/>
          <p:nvPr/>
        </p:nvSpPr>
        <p:spPr>
          <a:xfrm>
            <a:off x="2560320" y="4160520"/>
            <a:ext cx="1645920" cy="420624"/>
          </a:xfrm>
          <a:prstGeom prst="roundRect">
            <a:avLst>
              <a:gd name="adj" fmla="val 50000"/>
            </a:avLst>
          </a:prstGeom>
          <a:solidFill>
            <a:schemeClr val="tx2"/>
          </a:solidFill>
          <a:ln/>
        </p:spPr>
        <p:txBody>
          <a:bodyPr wrap="square" lIns="0" tIns="0" rIns="0" bIns="0" rtlCol="0" anchor="ctr"/>
          <a:lstStyle/>
          <a:p>
            <a:pPr marL="0" indent="0" algn="ctr">
              <a:buNone/>
            </a:pPr>
            <a:r>
              <a:rPr lang="en-US" sz="1400" b="1" dirty="0">
                <a:solidFill>
                  <a:schemeClr val="bg1"/>
                </a:solidFill>
              </a:rPr>
              <a:t>Retake quiz</a:t>
            </a:r>
            <a:endParaRPr lang="en-US" sz="1400" dirty="0"/>
          </a:p>
        </p:txBody>
      </p:sp>
    </p:spTree>
  </p:cSld>
  <p:clrMapOvr>
    <a:masterClrMapping/>
  </p:clrMapOvr>
</p:sld>
</file>

<file path=ppt/theme/theme1.xml><?xml version="1.0" encoding="utf-8"?>
<a:theme xmlns:a="http://schemas.openxmlformats.org/drawingml/2006/main" name="Safe Harbor">
  <a:themeElements>
    <a:clrScheme name="Safe Harbor">
      <a:dk1>
        <a:srgbClr val="17304F"/>
      </a:dk1>
      <a:lt1>
        <a:srgbClr val="FFFFFF"/>
      </a:lt1>
      <a:dk2>
        <a:srgbClr val="2F4B6E"/>
      </a:dk2>
      <a:lt2>
        <a:srgbClr val="F1F5F9"/>
      </a:lt2>
      <a:accent1>
        <a:srgbClr val="D9661B"/>
      </a:accent1>
      <a:accent2>
        <a:srgbClr val="C93A3A"/>
      </a:accent2>
      <a:accent3>
        <a:srgbClr val="F6B93B"/>
      </a:accent3>
      <a:accent4>
        <a:srgbClr val="237F73"/>
      </a:accent4>
      <a:accent5>
        <a:srgbClr val="6556B8"/>
      </a:accent5>
      <a:accent6>
        <a:srgbClr val="3B78C4"/>
      </a:accent6>
      <a:hlink>
        <a:srgbClr val="3B78C4"/>
      </a:hlink>
      <a:folHlink>
        <a:srgbClr val="6556B8"/>
      </a:folHlink>
    </a:clrScheme>
    <a:fontScheme name="Safe Harbo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1743</Words>
  <Application>Microsoft Office PowerPoint</Application>
  <PresentationFormat>On-screen Show (16:9)</PresentationFormat>
  <Paragraphs>285</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Cambria</vt:lpstr>
      <vt:lpstr>Safe Harbor</vt:lpstr>
      <vt:lpstr>PowerPoint Presentation</vt:lpstr>
      <vt:lpstr>Pick a topic to explore</vt:lpstr>
      <vt:lpstr>Keep small objects out of reach</vt:lpstr>
      <vt:lpstr>Safe sleep for every nap</vt:lpstr>
      <vt:lpstr>Hands on, always</vt:lpstr>
      <vt:lpstr>Childproof the home</vt:lpstr>
      <vt:lpstr>Water safety and bath time</vt:lpstr>
      <vt:lpstr>A safe crib</vt:lpstr>
      <vt:lpstr>Highchair and infant swing</vt:lpstr>
      <vt:lpstr>Car seat and baby gear</vt:lpstr>
      <vt:lpstr>Clothes and pacifiers</vt:lpstr>
      <vt:lpstr>Active and protected</vt:lpstr>
      <vt:lpstr>Child protection strategies</vt:lpstr>
      <vt:lpstr>PowerPoint Presentation</vt:lpstr>
      <vt:lpstr>Question 1 of 4</vt:lpstr>
      <vt:lpstr>Correct!</vt:lpstr>
      <vt:lpstr>Not quite</vt:lpstr>
      <vt:lpstr>Question 2 of 4</vt:lpstr>
      <vt:lpstr>Correct!</vt:lpstr>
      <vt:lpstr>Not quite</vt:lpstr>
      <vt:lpstr>Question 3 of 4</vt:lpstr>
      <vt:lpstr>Correct!</vt:lpstr>
      <vt:lpstr>Not quite</vt:lpstr>
      <vt:lpstr>Question 4 of 4</vt:lpstr>
      <vt:lpstr>Correct!</vt:lpstr>
      <vt:lpstr>Not quite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Safety Guide: Safe at Home</dc:title>
  <dc:subject>Interactive safety guide based on REdbook notes</dc:subject>
  <dc:creator>Justine Miguel F. Aguilos</dc:creator>
  <cp:lastModifiedBy>Jm Aguilos</cp:lastModifiedBy>
  <cp:revision>2</cp:revision>
  <dcterms:created xsi:type="dcterms:W3CDTF">2026-10-10T14:13:06Z</dcterms:created>
  <dcterms:modified xsi:type="dcterms:W3CDTF">2026-10-22T10:53:48Z</dcterms:modified>
</cp:coreProperties>
</file>