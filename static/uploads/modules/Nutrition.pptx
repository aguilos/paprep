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17678644-3F74-EBC6-B686-56F83E6B7657}">
          <p14:sldIdLst>
            <p14:sldId id="256"/>
            <p14:sldId id="257"/>
          </p14:sldIdLst>
        </p14:section>
        <p14:section name="Topics" id="{0E8B750C-E313-4128-FA87-152E2D6C9E5A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Quiz" id="{F5CF8425-9F40-621E-2A9D-611967F05C6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Wrap-up" id="{79D73023-5F1F-C01E-B99C-D059F1884D64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5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deck in Slide Show mode so the cards, buttons and quiz answers are clickable. Based on the Nutrition section of the REdbook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Exclusive breastfeeding up to 6 months, continued up to 2 years and beyond.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Principles: timely, adequate, safe and properly fed. Give supplements of iron, zinc, calcium and vitamin B12 if the diet is deficient.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A. Exclusive breastfeeding up to 6 months, then continued up to 2 years and beyond alongside food.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C. Introduce one new food at a time for 3 days, starting with 1 to 2 teaspoons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B. Pureed at 6 months, finger foods around 8 months, lumpy or chopped at 10 months, table food at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C. Do not deworm with high-grade fever, profuse diarrhea or abdominal pain. Otherwise, dose every 6 months on a full stomach.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Source: Nutrition section of the REdbook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Nutrition Guide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6.png"/><Relationship Id="rId3" Type="http://schemas.openxmlformats.org/officeDocument/2006/relationships/slide" Target="slide10.xml"/><Relationship Id="rId7" Type="http://schemas.openxmlformats.org/officeDocument/2006/relationships/image" Target="../media/image3.png"/><Relationship Id="rId12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4.png"/><Relationship Id="rId1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2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slide" Target="slide4.xml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2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10" Type="http://schemas.openxmlformats.org/officeDocument/2006/relationships/slide" Target="slide5.xml"/><Relationship Id="rId4" Type="http://schemas.openxmlformats.org/officeDocument/2006/relationships/image" Target="../media/image13.jp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.xml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5.xml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8.xml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1.xml"/><Relationship Id="rId4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A laughing girl and boy at a table with juice and a pile of fresh fr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NUTRITION GUIDE</a:t>
            </a:r>
            <a:endParaRPr lang="en-US" sz="1400" dirty="0"/>
          </a:p>
        </p:txBody>
      </p:sp>
      <p:sp>
        <p:nvSpPr>
          <p:cNvPr id="4" name="Deck title"/>
          <p:cNvSpPr txBox="1"/>
          <p:nvPr/>
        </p:nvSpPr>
        <p:spPr>
          <a:xfrm>
            <a:off x="548640" y="1234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Eating well, from first milk to family table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guide. Tap a card to explore, then take the quiz.</a:t>
            </a:r>
            <a:endParaRPr lang="en-US" sz="1600" dirty="0"/>
          </a:p>
        </p:txBody>
      </p:sp>
      <p:sp>
        <p:nvSpPr>
          <p:cNvPr id="6" name="Start button">
            <a:hlinkClick r:id="rId4" action="ppaction://hlinksldjump" tooltip="Open the topic menu"/>
          </p:cNvPr>
          <p:cNvSpPr/>
          <p:nvPr/>
        </p:nvSpPr>
        <p:spPr>
          <a:xfrm>
            <a:off x="548640" y="4206240"/>
            <a:ext cx="160020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exploring</a:t>
            </a:r>
            <a:endParaRPr lang="en-US" sz="1400" dirty="0"/>
          </a:p>
        </p:txBody>
      </p:sp>
      <p:sp>
        <p:nvSpPr>
          <p:cNvPr id="7" name="Quiz button">
            <a:hlinkClick r:id="rId5" action="ppaction://hlinksldjump" tooltip="Jump to the quiz"/>
          </p:cNvPr>
          <p:cNvSpPr/>
          <p:nvPr/>
        </p:nvSpPr>
        <p:spPr>
          <a:xfrm>
            <a:off x="2286000" y="4206240"/>
            <a:ext cx="150876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Take the quiz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Pick a topic to explore</a:t>
            </a:r>
            <a:endParaRPr lang="en-US" sz="3000" dirty="0"/>
          </a:p>
        </p:txBody>
      </p:sp>
      <p:sp>
        <p:nvSpPr>
          <p:cNvPr id="3" name="Quiz shortcut">
            <a:hlinkClick r:id="rId3" action="ppaction://hlinksldjump" tooltip="Jump to the quiz"/>
          </p:cNvPr>
          <p:cNvSpPr/>
          <p:nvPr/>
        </p:nvSpPr>
        <p:spPr>
          <a:xfrm>
            <a:off x="6812280" y="36576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Take the quiz ›</a:t>
            </a:r>
            <a:endParaRPr lang="en-US" sz="1400" dirty="0"/>
          </a:p>
        </p:txBody>
      </p:sp>
      <p:sp>
        <p:nvSpPr>
          <p:cNvPr id="4" name="Menu card Breastfeeding">
            <a:hlinkClick r:id="rId4" action="ppaction://hlinksldjump" tooltip="Open Breastfeeding"/>
          </p:cNvPr>
          <p:cNvSpPr/>
          <p:nvPr/>
        </p:nvSpPr>
        <p:spPr>
          <a:xfrm>
            <a:off x="45720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Breastfeeding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Duration and benefits</a:t>
            </a:r>
            <a:endParaRPr lang="en-US" sz="1800" dirty="0"/>
          </a:p>
        </p:txBody>
      </p:sp>
      <p:sp>
        <p:nvSpPr>
          <p:cNvPr id="5" name="Breastfeeding circle">
            <a:hlinkClick r:id="rId4" action="ppaction://hlinksldjump" tooltip="Open Breastfeeding"/>
          </p:cNvPr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Breastfeeding glyph" descr="Breastfeeding">
            <a:hlinkClick r:id="rId4" action="ppaction://hlinksldjump" tooltip="Open Breastfeeding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4" y="1526134"/>
            <a:ext cx="285293" cy="285293"/>
          </a:xfrm>
          <a:prstGeom prst="rect">
            <a:avLst/>
          </a:prstGeom>
        </p:spPr>
      </p:pic>
      <p:sp>
        <p:nvSpPr>
          <p:cNvPr id="7" name="Menu card Starting solids">
            <a:hlinkClick r:id="rId6" action="ppaction://hlinksldjump" tooltip="Open Starting solids"/>
          </p:cNvPr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Starting solids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Principles and textures</a:t>
            </a:r>
            <a:endParaRPr lang="en-US" sz="1800" dirty="0"/>
          </a:p>
        </p:txBody>
      </p:sp>
      <p:sp>
        <p:nvSpPr>
          <p:cNvPr id="8" name="Starting solids circle">
            <a:hlinkClick r:id="rId6" action="ppaction://hlinksldjump" tooltip="Open Starting solids"/>
          </p:cNvPr>
          <p:cNvSpPr/>
          <p:nvPr/>
        </p:nvSpPr>
        <p:spPr>
          <a:xfrm>
            <a:off x="3474720" y="13716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Starting solids glyph" descr="Starting solids">
            <a:hlinkClick r:id="rId6" action="ppaction://hlinksldjump" tooltip="Open Starting solids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254" y="1526134"/>
            <a:ext cx="285293" cy="285293"/>
          </a:xfrm>
          <a:prstGeom prst="rect">
            <a:avLst/>
          </a:prstGeom>
        </p:spPr>
      </p:pic>
      <p:sp>
        <p:nvSpPr>
          <p:cNvPr id="10" name="Menu card Iron">
            <a:hlinkClick r:id="rId8" action="ppaction://hlinksldjump" tooltip="Open Iron"/>
          </p:cNvPr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Iron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Who needs it, how much</a:t>
            </a:r>
            <a:endParaRPr lang="en-US" sz="1800" dirty="0"/>
          </a:p>
        </p:txBody>
      </p:sp>
      <p:sp>
        <p:nvSpPr>
          <p:cNvPr id="11" name="Iron circle">
            <a:hlinkClick r:id="rId8" action="ppaction://hlinksldjump" tooltip="Open Iron"/>
          </p:cNvPr>
          <p:cNvSpPr/>
          <p:nvPr/>
        </p:nvSpPr>
        <p:spPr>
          <a:xfrm>
            <a:off x="630936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ron glyph" descr="Iron">
            <a:hlinkClick r:id="rId8" action="ppaction://hlinksldjump" tooltip="Open Iron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3894" y="1526134"/>
            <a:ext cx="285293" cy="285293"/>
          </a:xfrm>
          <a:prstGeom prst="rect">
            <a:avLst/>
          </a:prstGeom>
        </p:spPr>
      </p:pic>
      <p:sp>
        <p:nvSpPr>
          <p:cNvPr id="13" name="Menu card Vitamin A and zinc">
            <a:hlinkClick r:id="rId10" action="ppaction://hlinksldjump" tooltip="Open Vitamin A and zinc"/>
          </p:cNvPr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Vitamin A and zinc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Doses and why</a:t>
            </a:r>
            <a:endParaRPr lang="en-US" sz="1800" dirty="0"/>
          </a:p>
        </p:txBody>
      </p:sp>
      <p:sp>
        <p:nvSpPr>
          <p:cNvPr id="14" name="Vitamin A and zinc circle">
            <a:hlinkClick r:id="rId10" action="ppaction://hlinksldjump" tooltip="Open Vitamin A and zinc"/>
          </p:cNvPr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Vitamin A and zinc glyph" descr="Vitamin A and zinc">
            <a:hlinkClick r:id="rId10" action="ppaction://hlinksldjump" tooltip="Open Vitamin A and zinc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14" y="3263494"/>
            <a:ext cx="285293" cy="285293"/>
          </a:xfrm>
          <a:prstGeom prst="rect">
            <a:avLst/>
          </a:prstGeom>
        </p:spPr>
      </p:pic>
      <p:sp>
        <p:nvSpPr>
          <p:cNvPr id="16" name="Menu card Deworming">
            <a:hlinkClick r:id="rId12" action="ppaction://hlinksldjump" tooltip="Open Deworming"/>
          </p:cNvPr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Deworming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Drugs, timing, cautions</a:t>
            </a:r>
            <a:endParaRPr lang="en-US" sz="1800" dirty="0"/>
          </a:p>
        </p:txBody>
      </p:sp>
      <p:sp>
        <p:nvSpPr>
          <p:cNvPr id="17" name="Deworming circle">
            <a:hlinkClick r:id="rId12" action="ppaction://hlinksldjump" tooltip="Open Deworming"/>
          </p:cNvPr>
          <p:cNvSpPr/>
          <p:nvPr/>
        </p:nvSpPr>
        <p:spPr>
          <a:xfrm>
            <a:off x="3474720" y="3108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Deworming glyph" descr="Deworming">
            <a:hlinkClick r:id="rId12" action="ppaction://hlinksldjump" tooltip="Open Deworming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9254" y="3263494"/>
            <a:ext cx="285293" cy="285293"/>
          </a:xfrm>
          <a:prstGeom prst="rect">
            <a:avLst/>
          </a:prstGeom>
        </p:spPr>
      </p:pic>
      <p:sp>
        <p:nvSpPr>
          <p:cNvPr id="19" name="Menu card Iron deficiency anemia">
            <a:hlinkClick r:id="rId14" action="ppaction://hlinksldjump" tooltip="Open Iron deficiency anemia"/>
          </p:cNvPr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Iron deficiency anemia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Who to test, and when</a:t>
            </a:r>
            <a:endParaRPr lang="en-US" sz="1800" dirty="0"/>
          </a:p>
        </p:txBody>
      </p:sp>
      <p:sp>
        <p:nvSpPr>
          <p:cNvPr id="20" name="Iron deficiency anemia circle">
            <a:hlinkClick r:id="rId14" action="ppaction://hlinksldjump" tooltip="Open Iron deficiency anemia"/>
          </p:cNvPr>
          <p:cNvSpPr/>
          <p:nvPr/>
        </p:nvSpPr>
        <p:spPr>
          <a:xfrm>
            <a:off x="6309360" y="310896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ron deficiency anemia glyph" descr="Iron deficiency anemia">
            <a:hlinkClick r:id="rId14" action="ppaction://hlinksldjump" tooltip="Open Iron deficiency anemia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3894" y="326349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Breastfeeding: how long and why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Stat 6 months"/>
          <p:cNvSpPr/>
          <p:nvPr/>
        </p:nvSpPr>
        <p:spPr>
          <a:xfrm>
            <a:off x="457200" y="114300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6 months stat"/>
          <p:cNvSpPr txBox="1"/>
          <p:nvPr/>
        </p:nvSpPr>
        <p:spPr>
          <a:xfrm>
            <a:off x="64008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months</a:t>
            </a:r>
            <a:endParaRPr lang="en-US" sz="2400" dirty="0"/>
          </a:p>
        </p:txBody>
      </p:sp>
      <p:sp>
        <p:nvSpPr>
          <p:cNvPr id="6" name="6 months text"/>
          <p:cNvSpPr txBox="1"/>
          <p:nvPr/>
        </p:nvSpPr>
        <p:spPr>
          <a:xfrm>
            <a:off x="64008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Exclusive breastfeeding</a:t>
            </a:r>
            <a:endParaRPr lang="en-US" sz="1400" dirty="0"/>
          </a:p>
        </p:txBody>
      </p:sp>
      <p:sp>
        <p:nvSpPr>
          <p:cNvPr id="7" name="Stat 2 years+"/>
          <p:cNvSpPr/>
          <p:nvPr/>
        </p:nvSpPr>
        <p:spPr>
          <a:xfrm>
            <a:off x="457200" y="292608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2 years+ stat"/>
          <p:cNvSpPr txBox="1"/>
          <p:nvPr/>
        </p:nvSpPr>
        <p:spPr>
          <a:xfrm>
            <a:off x="640080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years+</a:t>
            </a:r>
            <a:endParaRPr lang="en-US" sz="2400" dirty="0"/>
          </a:p>
        </p:txBody>
      </p:sp>
      <p:sp>
        <p:nvSpPr>
          <p:cNvPr id="9" name="2 years+ text"/>
          <p:cNvSpPr txBox="1"/>
          <p:nvPr/>
        </p:nvSpPr>
        <p:spPr>
          <a:xfrm>
            <a:off x="64008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Continue breastfeeding alongside food</a:t>
            </a:r>
            <a:endParaRPr lang="en-US" sz="1400" dirty="0"/>
          </a:p>
        </p:txBody>
      </p:sp>
      <p:sp>
        <p:nvSpPr>
          <p:cNvPr id="10" name="Benefit 1"/>
          <p:cNvSpPr/>
          <p:nvPr/>
        </p:nvSpPr>
        <p:spPr>
          <a:xfrm>
            <a:off x="2971800" y="114300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Benefit 1 circle"/>
          <p:cNvSpPr/>
          <p:nvPr/>
        </p:nvSpPr>
        <p:spPr>
          <a:xfrm>
            <a:off x="3108960" y="14813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Benefit 1 glyph" descr="Benefi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322" y="1590690"/>
            <a:ext cx="201900" cy="201900"/>
          </a:xfrm>
          <a:prstGeom prst="rect">
            <a:avLst/>
          </a:prstGeom>
        </p:spPr>
      </p:pic>
      <p:sp>
        <p:nvSpPr>
          <p:cNvPr id="13" name="Benefit 1 text"/>
          <p:cNvSpPr txBox="1"/>
          <p:nvPr/>
        </p:nvSpPr>
        <p:spPr>
          <a:xfrm>
            <a:off x="365760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Easy to digest and absorb</a:t>
            </a:r>
            <a:endParaRPr lang="en-US" sz="1400" dirty="0"/>
          </a:p>
        </p:txBody>
      </p:sp>
      <p:sp>
        <p:nvSpPr>
          <p:cNvPr id="14" name="Benefit 2"/>
          <p:cNvSpPr/>
          <p:nvPr/>
        </p:nvSpPr>
        <p:spPr>
          <a:xfrm>
            <a:off x="5852160" y="114300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5" name="Benefit 2 circle"/>
          <p:cNvSpPr/>
          <p:nvPr/>
        </p:nvSpPr>
        <p:spPr>
          <a:xfrm>
            <a:off x="5989320" y="1481328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Benefit 2 glyph" descr="Benefit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82" y="1590690"/>
            <a:ext cx="201900" cy="201900"/>
          </a:xfrm>
          <a:prstGeom prst="rect">
            <a:avLst/>
          </a:prstGeom>
        </p:spPr>
      </p:pic>
      <p:sp>
        <p:nvSpPr>
          <p:cNvPr id="17" name="Benefit 2 text"/>
          <p:cNvSpPr txBox="1"/>
          <p:nvPr/>
        </p:nvSpPr>
        <p:spPr>
          <a:xfrm>
            <a:off x="653796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Contains antibodies</a:t>
            </a:r>
            <a:endParaRPr lang="en-US" sz="1400" dirty="0"/>
          </a:p>
        </p:txBody>
      </p:sp>
      <p:sp>
        <p:nvSpPr>
          <p:cNvPr id="18" name="Benefit 3"/>
          <p:cNvSpPr/>
          <p:nvPr/>
        </p:nvSpPr>
        <p:spPr>
          <a:xfrm>
            <a:off x="2971800" y="233172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9" name="Benefit 3 circle"/>
          <p:cNvSpPr/>
          <p:nvPr/>
        </p:nvSpPr>
        <p:spPr>
          <a:xfrm>
            <a:off x="3108960" y="267004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Benefit 3 glyph" descr="Benefit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322" y="2779410"/>
            <a:ext cx="201900" cy="201900"/>
          </a:xfrm>
          <a:prstGeom prst="rect">
            <a:avLst/>
          </a:prstGeom>
        </p:spPr>
      </p:pic>
      <p:sp>
        <p:nvSpPr>
          <p:cNvPr id="21" name="Benefit 3 text"/>
          <p:cNvSpPr txBox="1"/>
          <p:nvPr/>
        </p:nvSpPr>
        <p:spPr>
          <a:xfrm>
            <a:off x="365760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 fats support brain development and intelligence</a:t>
            </a:r>
            <a:endParaRPr lang="en-US" sz="1400" dirty="0"/>
          </a:p>
        </p:txBody>
      </p:sp>
      <p:sp>
        <p:nvSpPr>
          <p:cNvPr id="22" name="Benefit 4"/>
          <p:cNvSpPr/>
          <p:nvPr/>
        </p:nvSpPr>
        <p:spPr>
          <a:xfrm>
            <a:off x="5852160" y="233172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3" name="Benefit 4 circle"/>
          <p:cNvSpPr/>
          <p:nvPr/>
        </p:nvSpPr>
        <p:spPr>
          <a:xfrm>
            <a:off x="5989320" y="267004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4 glyph" descr="Benefit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8682" y="2779410"/>
            <a:ext cx="201900" cy="201900"/>
          </a:xfrm>
          <a:prstGeom prst="rect">
            <a:avLst/>
          </a:prstGeom>
        </p:spPr>
      </p:pic>
      <p:sp>
        <p:nvSpPr>
          <p:cNvPr id="25" name="Benefit 4 text"/>
          <p:cNvSpPr txBox="1"/>
          <p:nvPr/>
        </p:nvSpPr>
        <p:spPr>
          <a:xfrm>
            <a:off x="653796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Promotes emotional bonding</a:t>
            </a:r>
            <a:endParaRPr lang="en-US" sz="1400" dirty="0"/>
          </a:p>
        </p:txBody>
      </p:sp>
      <p:sp>
        <p:nvSpPr>
          <p:cNvPr id="26" name="Benefit 5"/>
          <p:cNvSpPr/>
          <p:nvPr/>
        </p:nvSpPr>
        <p:spPr>
          <a:xfrm>
            <a:off x="2971800" y="352044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7" name="Benefit 5 circle"/>
          <p:cNvSpPr/>
          <p:nvPr/>
        </p:nvSpPr>
        <p:spPr>
          <a:xfrm>
            <a:off x="3108960" y="38587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Benefit 5 glyph" descr="Benefit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322" y="3968130"/>
            <a:ext cx="201900" cy="201900"/>
          </a:xfrm>
          <a:prstGeom prst="rect">
            <a:avLst/>
          </a:prstGeom>
        </p:spPr>
      </p:pic>
      <p:sp>
        <p:nvSpPr>
          <p:cNvPr id="29" name="Benefit 5 text"/>
          <p:cNvSpPr txBox="1"/>
          <p:nvPr/>
        </p:nvSpPr>
        <p:spPr>
          <a:xfrm>
            <a:off x="365760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Protects mom from breast, uterine and ovarian cancer, obesity and bleeding</a:t>
            </a:r>
            <a:endParaRPr lang="en-US" sz="1400" dirty="0"/>
          </a:p>
        </p:txBody>
      </p:sp>
      <p:sp>
        <p:nvSpPr>
          <p:cNvPr id="30" name="Benefit 6"/>
          <p:cNvSpPr/>
          <p:nvPr/>
        </p:nvSpPr>
        <p:spPr>
          <a:xfrm>
            <a:off x="5852160" y="352044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31" name="Benefit 6 circle"/>
          <p:cNvSpPr/>
          <p:nvPr/>
        </p:nvSpPr>
        <p:spPr>
          <a:xfrm>
            <a:off x="5989320" y="385876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Benefit 6 glyph" descr="Benefit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8682" y="3968130"/>
            <a:ext cx="201900" cy="201900"/>
          </a:xfrm>
          <a:prstGeom prst="rect">
            <a:avLst/>
          </a:prstGeom>
        </p:spPr>
      </p:pic>
      <p:sp>
        <p:nvSpPr>
          <p:cNvPr id="33" name="Benefit 6 text"/>
          <p:cNvSpPr txBox="1"/>
          <p:nvPr/>
        </p:nvSpPr>
        <p:spPr>
          <a:xfrm>
            <a:off x="653796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Earlier return to pre-pregnancy weight, and big family savings</a:t>
            </a:r>
            <a:endParaRPr lang="en-US" sz="1400" dirty="0"/>
          </a:p>
        </p:txBody>
      </p:sp>
      <p:sp>
        <p:nvSpPr>
          <p:cNvPr id="34" name="Back button">
            <a:hlinkClick r:id="rId3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35" name="Next button">
            <a:hlinkClick r:id="rId10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Starting solids at 6 months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pic>
        <p:nvPicPr>
          <p:cNvPr id="4" name="Boys eating photo" descr="Two young boys eating apple slices with forks at a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8229600" cy="1463040"/>
          </a:xfrm>
          <a:prstGeom prst="rect">
            <a:avLst/>
          </a:prstGeom>
        </p:spPr>
      </p:pic>
      <p:sp>
        <p:nvSpPr>
          <p:cNvPr id="5" name="Principle Timely"/>
          <p:cNvSpPr/>
          <p:nvPr/>
        </p:nvSpPr>
        <p:spPr>
          <a:xfrm>
            <a:off x="45720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6" name="Timely circle"/>
          <p:cNvSpPr/>
          <p:nvPr/>
        </p:nvSpPr>
        <p:spPr>
          <a:xfrm>
            <a:off x="621792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imely glyph" descr="Time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044952"/>
            <a:ext cx="219456" cy="219456"/>
          </a:xfrm>
          <a:prstGeom prst="rect">
            <a:avLst/>
          </a:prstGeom>
        </p:spPr>
      </p:pic>
      <p:sp>
        <p:nvSpPr>
          <p:cNvPr id="8" name="Timely heading"/>
          <p:cNvSpPr txBox="1"/>
          <p:nvPr/>
        </p:nvSpPr>
        <p:spPr>
          <a:xfrm>
            <a:off x="117043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Timely</a:t>
            </a:r>
            <a:endParaRPr lang="en-US" sz="1600" dirty="0"/>
          </a:p>
        </p:txBody>
      </p:sp>
      <p:sp>
        <p:nvSpPr>
          <p:cNvPr id="9" name="Timely text"/>
          <p:cNvSpPr txBox="1"/>
          <p:nvPr/>
        </p:nvSpPr>
        <p:spPr>
          <a:xfrm>
            <a:off x="62179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Introduce complementary foods at 6 months.</a:t>
            </a:r>
            <a:endParaRPr lang="en-US" sz="1400" dirty="0"/>
          </a:p>
        </p:txBody>
      </p:sp>
      <p:sp>
        <p:nvSpPr>
          <p:cNvPr id="10" name="Principle Adequate"/>
          <p:cNvSpPr/>
          <p:nvPr/>
        </p:nvSpPr>
        <p:spPr>
          <a:xfrm>
            <a:off x="256032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Adequate circle"/>
          <p:cNvSpPr/>
          <p:nvPr/>
        </p:nvSpPr>
        <p:spPr>
          <a:xfrm>
            <a:off x="2724912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Adequate glyph" descr="Adequ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044952"/>
            <a:ext cx="219456" cy="219456"/>
          </a:xfrm>
          <a:prstGeom prst="rect">
            <a:avLst/>
          </a:prstGeom>
        </p:spPr>
      </p:pic>
      <p:sp>
        <p:nvSpPr>
          <p:cNvPr id="13" name="Adequate heading"/>
          <p:cNvSpPr txBox="1"/>
          <p:nvPr/>
        </p:nvSpPr>
        <p:spPr>
          <a:xfrm>
            <a:off x="327355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Adequate</a:t>
            </a:r>
            <a:endParaRPr lang="en-US" sz="1600" dirty="0"/>
          </a:p>
        </p:txBody>
      </p:sp>
      <p:sp>
        <p:nvSpPr>
          <p:cNvPr id="14" name="Adequate text"/>
          <p:cNvSpPr txBox="1"/>
          <p:nvPr/>
        </p:nvSpPr>
        <p:spPr>
          <a:xfrm>
            <a:off x="272491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Plan with the PSRGN Dietary Prescription Food Guide Pyramid.</a:t>
            </a:r>
            <a:endParaRPr lang="en-US" sz="1400" dirty="0"/>
          </a:p>
        </p:txBody>
      </p:sp>
      <p:sp>
        <p:nvSpPr>
          <p:cNvPr id="15" name="Principle Safe"/>
          <p:cNvSpPr/>
          <p:nvPr/>
        </p:nvSpPr>
        <p:spPr>
          <a:xfrm>
            <a:off x="466344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6" name="Safe circle"/>
          <p:cNvSpPr/>
          <p:nvPr/>
        </p:nvSpPr>
        <p:spPr>
          <a:xfrm>
            <a:off x="4828032" y="292608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Safe glyph" descr="Saf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044952"/>
            <a:ext cx="219456" cy="219456"/>
          </a:xfrm>
          <a:prstGeom prst="rect">
            <a:avLst/>
          </a:prstGeom>
        </p:spPr>
      </p:pic>
      <p:sp>
        <p:nvSpPr>
          <p:cNvPr id="18" name="Safe heading"/>
          <p:cNvSpPr txBox="1"/>
          <p:nvPr/>
        </p:nvSpPr>
        <p:spPr>
          <a:xfrm>
            <a:off x="537667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</a:t>
            </a:r>
            <a:endParaRPr lang="en-US" sz="1600" dirty="0"/>
          </a:p>
        </p:txBody>
      </p:sp>
      <p:sp>
        <p:nvSpPr>
          <p:cNvPr id="19" name="Safe text"/>
          <p:cNvSpPr txBox="1"/>
          <p:nvPr/>
        </p:nvSpPr>
        <p:spPr>
          <a:xfrm>
            <a:off x="482803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 not add salt before one year of age.</a:t>
            </a:r>
            <a:endParaRPr lang="en-US" sz="1400" dirty="0"/>
          </a:p>
        </p:txBody>
      </p:sp>
      <p:sp>
        <p:nvSpPr>
          <p:cNvPr id="20" name="Principle Properly fed"/>
          <p:cNvSpPr/>
          <p:nvPr/>
        </p:nvSpPr>
        <p:spPr>
          <a:xfrm>
            <a:off x="676656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1" name="Properly fed circle"/>
          <p:cNvSpPr/>
          <p:nvPr/>
        </p:nvSpPr>
        <p:spPr>
          <a:xfrm>
            <a:off x="6931152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Properly fed glyph" descr="Properly f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024" y="3044952"/>
            <a:ext cx="219456" cy="219456"/>
          </a:xfrm>
          <a:prstGeom prst="rect">
            <a:avLst/>
          </a:prstGeom>
        </p:spPr>
      </p:pic>
      <p:sp>
        <p:nvSpPr>
          <p:cNvPr id="23" name="Properly fed heading"/>
          <p:cNvSpPr txBox="1"/>
          <p:nvPr/>
        </p:nvSpPr>
        <p:spPr>
          <a:xfrm>
            <a:off x="747979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Properly fed</a:t>
            </a:r>
            <a:endParaRPr lang="en-US" sz="1600" dirty="0"/>
          </a:p>
        </p:txBody>
      </p:sp>
      <p:sp>
        <p:nvSpPr>
          <p:cNvPr id="24" name="Properly fed text"/>
          <p:cNvSpPr txBox="1"/>
          <p:nvPr/>
        </p:nvSpPr>
        <p:spPr>
          <a:xfrm>
            <a:off x="693115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Practice responsive feeding.</a:t>
            </a:r>
            <a:endParaRPr lang="en-US" sz="1400" dirty="0"/>
          </a:p>
        </p:txBody>
      </p:sp>
      <p:sp>
        <p:nvSpPr>
          <p:cNvPr id="25" name="Back button">
            <a:hlinkClick r:id="rId9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26" name="Next button">
            <a:hlinkClick r:id="rId10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Textures and how often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Timeline line"/>
          <p:cNvSpPr/>
          <p:nvPr/>
        </p:nvSpPr>
        <p:spPr>
          <a:xfrm>
            <a:off x="1417320" y="1481328"/>
            <a:ext cx="630936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5" name="Month 6 badge"/>
          <p:cNvSpPr/>
          <p:nvPr/>
        </p:nvSpPr>
        <p:spPr>
          <a:xfrm>
            <a:off x="109728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6" name="Month 6 number"/>
          <p:cNvSpPr txBox="1"/>
          <p:nvPr/>
        </p:nvSpPr>
        <p:spPr>
          <a:xfrm>
            <a:off x="109728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7" name="Month 6 label"/>
          <p:cNvSpPr txBox="1"/>
          <p:nvPr/>
        </p:nvSpPr>
        <p:spPr>
          <a:xfrm>
            <a:off x="45720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Pureed food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at 6 months</a:t>
            </a:r>
            <a:endParaRPr lang="en-US" sz="1600" dirty="0"/>
          </a:p>
        </p:txBody>
      </p:sp>
      <p:sp>
        <p:nvSpPr>
          <p:cNvPr id="8" name="Month 8 badge"/>
          <p:cNvSpPr/>
          <p:nvPr/>
        </p:nvSpPr>
        <p:spPr>
          <a:xfrm>
            <a:off x="320040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9" name="Month 8 number"/>
          <p:cNvSpPr txBox="1"/>
          <p:nvPr/>
        </p:nvSpPr>
        <p:spPr>
          <a:xfrm>
            <a:off x="320040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10" name="Month 8 label"/>
          <p:cNvSpPr txBox="1"/>
          <p:nvPr/>
        </p:nvSpPr>
        <p:spPr>
          <a:xfrm>
            <a:off x="25603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Finger foods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at 8 months</a:t>
            </a:r>
            <a:endParaRPr lang="en-US" sz="1600" dirty="0"/>
          </a:p>
        </p:txBody>
      </p:sp>
      <p:sp>
        <p:nvSpPr>
          <p:cNvPr id="11" name="Month 10 badge"/>
          <p:cNvSpPr/>
          <p:nvPr/>
        </p:nvSpPr>
        <p:spPr>
          <a:xfrm>
            <a:off x="530352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2" name="Month 10 number"/>
          <p:cNvSpPr txBox="1"/>
          <p:nvPr/>
        </p:nvSpPr>
        <p:spPr>
          <a:xfrm>
            <a:off x="530352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en-US" sz="2000" dirty="0"/>
          </a:p>
        </p:txBody>
      </p:sp>
      <p:sp>
        <p:nvSpPr>
          <p:cNvPr id="13" name="Month 10 label"/>
          <p:cNvSpPr txBox="1"/>
          <p:nvPr/>
        </p:nvSpPr>
        <p:spPr>
          <a:xfrm>
            <a:off x="46634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Lumpy or chopped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at 10 months</a:t>
            </a:r>
            <a:endParaRPr lang="en-US" sz="1600" dirty="0"/>
          </a:p>
        </p:txBody>
      </p:sp>
      <p:sp>
        <p:nvSpPr>
          <p:cNvPr id="14" name="Month 12 badge"/>
          <p:cNvSpPr/>
          <p:nvPr/>
        </p:nvSpPr>
        <p:spPr>
          <a:xfrm>
            <a:off x="740664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5" name="Month 12 number"/>
          <p:cNvSpPr txBox="1"/>
          <p:nvPr/>
        </p:nvSpPr>
        <p:spPr>
          <a:xfrm>
            <a:off x="740664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12</a:t>
            </a:r>
            <a:endParaRPr lang="en-US" sz="2000" dirty="0"/>
          </a:p>
        </p:txBody>
      </p:sp>
      <p:sp>
        <p:nvSpPr>
          <p:cNvPr id="16" name="Month 12 label"/>
          <p:cNvSpPr txBox="1"/>
          <p:nvPr/>
        </p:nvSpPr>
        <p:spPr>
          <a:xfrm>
            <a:off x="676656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 food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at 12 months</a:t>
            </a:r>
            <a:endParaRPr lang="en-US" sz="1600" dirty="0"/>
          </a:p>
        </p:txBody>
      </p:sp>
      <p:sp>
        <p:nvSpPr>
          <p:cNvPr id="17" name="Card Go slowly"/>
          <p:cNvSpPr/>
          <p:nvPr/>
        </p:nvSpPr>
        <p:spPr>
          <a:xfrm>
            <a:off x="457200" y="269748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8" name="Go slowly circle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Go slowly glyph" descr="Go slowl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80944"/>
            <a:ext cx="219456" cy="219456"/>
          </a:xfrm>
          <a:prstGeom prst="rect">
            <a:avLst/>
          </a:prstGeom>
        </p:spPr>
      </p:pic>
      <p:sp>
        <p:nvSpPr>
          <p:cNvPr id="20" name="Go slowly heading"/>
          <p:cNvSpPr txBox="1"/>
          <p:nvPr/>
        </p:nvSpPr>
        <p:spPr>
          <a:xfrm>
            <a:off x="1207008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 slowly</a:t>
            </a:r>
            <a:endParaRPr lang="en-US" sz="1600" dirty="0"/>
          </a:p>
        </p:txBody>
      </p:sp>
      <p:sp>
        <p:nvSpPr>
          <p:cNvPr id="21" name="Go slowly text"/>
          <p:cNvSpPr txBox="1"/>
          <p:nvPr/>
        </p:nvSpPr>
        <p:spPr>
          <a:xfrm>
            <a:off x="64008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new food at a time, for 3 days. Start with 1 to 2 teaspoons a day of lugaw or cereals, fruits or vegetables.</a:t>
            </a:r>
            <a:endParaRPr lang="en-US" sz="1400" dirty="0"/>
          </a:p>
        </p:txBody>
      </p:sp>
      <p:sp>
        <p:nvSpPr>
          <p:cNvPr id="22" name="Card How often"/>
          <p:cNvSpPr/>
          <p:nvPr/>
        </p:nvSpPr>
        <p:spPr>
          <a:xfrm>
            <a:off x="3246120" y="269748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3" name="How often circle"/>
          <p:cNvSpPr/>
          <p:nvPr/>
        </p:nvSpPr>
        <p:spPr>
          <a:xfrm>
            <a:off x="3429000" y="28620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How often glyph" descr="How oft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2980944"/>
            <a:ext cx="219456" cy="219456"/>
          </a:xfrm>
          <a:prstGeom prst="rect">
            <a:avLst/>
          </a:prstGeom>
        </p:spPr>
      </p:pic>
      <p:sp>
        <p:nvSpPr>
          <p:cNvPr id="25" name="How often heading"/>
          <p:cNvSpPr txBox="1"/>
          <p:nvPr/>
        </p:nvSpPr>
        <p:spPr>
          <a:xfrm>
            <a:off x="3995928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often</a:t>
            </a:r>
            <a:endParaRPr lang="en-US" sz="1600" dirty="0"/>
          </a:p>
        </p:txBody>
      </p:sp>
      <p:sp>
        <p:nvSpPr>
          <p:cNvPr id="26" name="How often text"/>
          <p:cNvSpPr txBox="1"/>
          <p:nvPr/>
        </p:nvSpPr>
        <p:spPr>
          <a:xfrm>
            <a:off x="342900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2 to 3 times a day at 6 to 8 months. 3 to 4 times a day from 9 to 24 months.</a:t>
            </a:r>
            <a:endParaRPr lang="en-US" sz="1400" dirty="0"/>
          </a:p>
        </p:txBody>
      </p:sp>
      <p:pic>
        <p:nvPicPr>
          <p:cNvPr id="27" name="Boy with vegetables photo" descr="A smiling boy reaching into a bowl of colorful vegetab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697480"/>
            <a:ext cx="2651760" cy="1828800"/>
          </a:xfrm>
          <a:prstGeom prst="rect">
            <a:avLst/>
          </a:prstGeom>
        </p:spPr>
      </p:pic>
      <p:sp>
        <p:nvSpPr>
          <p:cNvPr id="28" name="Back button">
            <a:hlinkClick r:id="rId7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29" name="Next button">
            <a:hlinkClick r:id="rId8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Iron supplementation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graphicFrame>
        <p:nvGraphicFramePr>
          <p:cNvPr id="7" name="Ir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760720" cy="3337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and 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birth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Drops: 15 mg iron per 0.6 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mL once a day, from 2 to 6 months of 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Infants 6–11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Drops: 15 mg iron per 0.6 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mL once a day for 3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1–5 years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Syrup: 30 mg iron per 5 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tsp once a day for 3 months, or 30 mg once a week for 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Girls 10–19 years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Coated tablet: 60 mg iron with 400 mcg folic acid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tablet once a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Strong girl photo" descr="A little girl flexing her arms in front of a pile of fruit and vegetab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143000"/>
            <a:ext cx="2240280" cy="1700784"/>
          </a:xfrm>
          <a:prstGeom prst="rect">
            <a:avLst/>
          </a:prstGeom>
        </p:spPr>
      </p:pic>
      <p:sp>
        <p:nvSpPr>
          <p:cNvPr id="6" name="Why card"/>
          <p:cNvSpPr/>
          <p:nvPr/>
        </p:nvSpPr>
        <p:spPr>
          <a:xfrm>
            <a:off x="644652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4" name="Why heading"/>
          <p:cNvSpPr txBox="1"/>
          <p:nvPr/>
        </p:nvSpPr>
        <p:spPr>
          <a:xfrm>
            <a:off x="6583680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8" name="Why text"/>
          <p:cNvSpPr txBox="1"/>
          <p:nvPr/>
        </p:nvSpPr>
        <p:spPr>
          <a:xfrm>
            <a:off x="6583680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Low iron is linked to problems with thinking and movement skills.</a:t>
            </a:r>
            <a:endParaRPr lang="en-US" sz="1400" dirty="0"/>
          </a:p>
        </p:txBody>
      </p:sp>
      <p:sp>
        <p:nvSpPr>
          <p:cNvPr id="10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11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Vitamin A and zinc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Stat 100,000 IU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100,000 IU stat"/>
          <p:cNvSpPr txBox="1"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100,000 IU</a:t>
            </a:r>
            <a:endParaRPr lang="en-US" sz="2400" dirty="0"/>
          </a:p>
        </p:txBody>
      </p:sp>
      <p:sp>
        <p:nvSpPr>
          <p:cNvPr id="6" name="100,000 IU text"/>
          <p:cNvSpPr txBox="1"/>
          <p:nvPr/>
        </p:nvSpPr>
        <p:spPr>
          <a:xfrm>
            <a:off x="64008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Infants 6 to 11 months. One dose only, usually given at 9 months.</a:t>
            </a:r>
            <a:endParaRPr lang="en-US" sz="1400" dirty="0"/>
          </a:p>
        </p:txBody>
      </p:sp>
      <p:sp>
        <p:nvSpPr>
          <p:cNvPr id="7" name="Stat 200,000 IU"/>
          <p:cNvSpPr/>
          <p:nvPr/>
        </p:nvSpPr>
        <p:spPr>
          <a:xfrm>
            <a:off x="4663440" y="114300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200,000 IU stat"/>
          <p:cNvSpPr txBox="1"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200,000 IU</a:t>
            </a:r>
            <a:endParaRPr lang="en-US" sz="2400" dirty="0"/>
          </a:p>
        </p:txBody>
      </p:sp>
      <p:sp>
        <p:nvSpPr>
          <p:cNvPr id="9" name="200,000 IU text"/>
          <p:cNvSpPr txBox="1"/>
          <p:nvPr/>
        </p:nvSpPr>
        <p:spPr>
          <a:xfrm>
            <a:off x="484632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Children 12 to 59 months. One capsule every 6 months.</a:t>
            </a:r>
            <a:endParaRPr lang="en-US" sz="1400" dirty="0"/>
          </a:p>
        </p:txBody>
      </p:sp>
      <p:sp>
        <p:nvSpPr>
          <p:cNvPr id="10" name="Card Zinc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Zinc circle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Zinc glyph" descr="Zi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46704"/>
            <a:ext cx="219456" cy="219456"/>
          </a:xfrm>
          <a:prstGeom prst="rect">
            <a:avLst/>
          </a:prstGeom>
        </p:spPr>
      </p:pic>
      <p:sp>
        <p:nvSpPr>
          <p:cNvPr id="13" name="Zinc heading"/>
          <p:cNvSpPr txBox="1"/>
          <p:nvPr/>
        </p:nvSpPr>
        <p:spPr>
          <a:xfrm>
            <a:off x="1207008" y="3227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Zinc</a:t>
            </a:r>
            <a:endParaRPr lang="en-US" sz="1600" dirty="0"/>
          </a:p>
        </p:txBody>
      </p:sp>
      <p:sp>
        <p:nvSpPr>
          <p:cNvPr id="14" name="Zinc text"/>
          <p:cNvSpPr txBox="1"/>
          <p:nvPr/>
        </p:nvSpPr>
        <p:spPr>
          <a:xfrm>
            <a:off x="640080" y="377647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Zinc supplements help prevent pneumonia and diarrhea.</a:t>
            </a:r>
            <a:endParaRPr lang="en-US" sz="1400" dirty="0"/>
          </a:p>
        </p:txBody>
      </p:sp>
      <p:sp>
        <p:nvSpPr>
          <p:cNvPr id="16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17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Deworming every 6 months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Stat Albendazole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Albendazole stat"/>
          <p:cNvSpPr txBox="1"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Albendazole</a:t>
            </a:r>
            <a:endParaRPr lang="en-US" sz="2400" dirty="0"/>
          </a:p>
        </p:txBody>
      </p:sp>
      <p:sp>
        <p:nvSpPr>
          <p:cNvPr id="6" name="Albendazole text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200 mg for ages 12 to 23 months. 400 mg for 24 months and above.</a:t>
            </a:r>
            <a:endParaRPr lang="en-US" sz="1400" dirty="0"/>
          </a:p>
        </p:txBody>
      </p:sp>
      <p:sp>
        <p:nvSpPr>
          <p:cNvPr id="7" name="Stat Mebendazole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Mebendazole stat"/>
          <p:cNvSpPr txBox="1"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Mebendazole</a:t>
            </a:r>
            <a:endParaRPr lang="en-US" sz="2400" dirty="0"/>
          </a:p>
        </p:txBody>
      </p:sp>
      <p:sp>
        <p:nvSpPr>
          <p:cNvPr id="9" name="Mebendazole text"/>
          <p:cNvSpPr txBox="1"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500 mg for ages 12 months and above.</a:t>
            </a:r>
            <a:endParaRPr lang="en-US" sz="1400" dirty="0"/>
          </a:p>
        </p:txBody>
      </p:sp>
      <p:sp>
        <p:nvSpPr>
          <p:cNvPr id="10" name="Card Who and when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Who and when circle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Who and when glyph" descr="Who and wh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09544"/>
            <a:ext cx="219456" cy="219456"/>
          </a:xfrm>
          <a:prstGeom prst="rect">
            <a:avLst/>
          </a:prstGeom>
        </p:spPr>
      </p:pic>
      <p:sp>
        <p:nvSpPr>
          <p:cNvPr id="13" name="Who and when heading"/>
          <p:cNvSpPr txBox="1"/>
          <p:nvPr/>
        </p:nvSpPr>
        <p:spPr>
          <a:xfrm>
            <a:off x="1207008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and when</a:t>
            </a:r>
            <a:endParaRPr lang="en-US" sz="1600" dirty="0"/>
          </a:p>
        </p:txBody>
      </p:sp>
      <p:sp>
        <p:nvSpPr>
          <p:cNvPr id="14" name="Who and when text"/>
          <p:cNvSpPr txBox="1"/>
          <p:nvPr/>
        </p:nvSpPr>
        <p:spPr>
          <a:xfrm>
            <a:off x="64008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All children aged 1 to 12 years (DOH). A single dose every 6 months, taken on a full stomach.</a:t>
            </a:r>
            <a:endParaRPr lang="en-US" sz="1400" dirty="0"/>
          </a:p>
        </p:txBody>
      </p:sp>
      <p:sp>
        <p:nvSpPr>
          <p:cNvPr id="15" name="Card Do not deworm if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6" name="Do not deworm if circle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o not deworm if glyph" descr="Do not deworm 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209544"/>
            <a:ext cx="219456" cy="219456"/>
          </a:xfrm>
          <a:prstGeom prst="rect">
            <a:avLst/>
          </a:prstGeom>
        </p:spPr>
      </p:pic>
      <p:sp>
        <p:nvSpPr>
          <p:cNvPr id="18" name="Do not deworm if heading"/>
          <p:cNvSpPr txBox="1"/>
          <p:nvPr/>
        </p:nvSpPr>
        <p:spPr>
          <a:xfrm>
            <a:off x="5413248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 not deworm if</a:t>
            </a:r>
            <a:endParaRPr lang="en-US" sz="1600" dirty="0"/>
          </a:p>
        </p:txBody>
      </p:sp>
      <p:sp>
        <p:nvSpPr>
          <p:cNvPr id="19" name="Do not deworm if text"/>
          <p:cNvSpPr txBox="1"/>
          <p:nvPr/>
        </p:nvSpPr>
        <p:spPr>
          <a:xfrm>
            <a:off x="484632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child has high-grade fever, profuse diarrhea or abdominal pain.</a:t>
            </a:r>
            <a:endParaRPr lang="en-US" sz="1400" dirty="0"/>
          </a:p>
        </p:txBody>
      </p:sp>
      <p:sp>
        <p:nvSpPr>
          <p:cNvPr id="20" name="Back button">
            <a:hlinkClick r:id="rId6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21" name="Next button">
            <a:hlinkClick r:id="rId7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Iron deficiency anemia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Intro card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Anemia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nemia glyph" descr="Anem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7" name="Intro text"/>
          <p:cNvSpPr txBox="1"/>
          <p:nvPr/>
        </p:nvSpPr>
        <p:spPr>
          <a:xfrm>
            <a:off x="1280160" y="11430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is associated with cognitive and psychomotor problems in children.</a:t>
            </a:r>
            <a:endParaRPr lang="en-US" sz="1600" dirty="0"/>
          </a:p>
        </p:txBody>
      </p:sp>
      <p:sp>
        <p:nvSpPr>
          <p:cNvPr id="8" name="CBC label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At-risk children should have a complete blood count (CBC) at least once at:</a:t>
            </a:r>
            <a:endParaRPr lang="en-US" sz="1400" dirty="0"/>
          </a:p>
        </p:txBody>
      </p:sp>
      <p:sp>
        <p:nvSpPr>
          <p:cNvPr id="9" name="Age 6–24 months"/>
          <p:cNvSpPr/>
          <p:nvPr/>
        </p:nvSpPr>
        <p:spPr>
          <a:xfrm>
            <a:off x="45720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0" name="Age 6–24 months text"/>
          <p:cNvSpPr txBox="1"/>
          <p:nvPr/>
        </p:nvSpPr>
        <p:spPr>
          <a:xfrm>
            <a:off x="64008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6–24 months</a:t>
            </a:r>
            <a:endParaRPr lang="en-US" sz="2400" dirty="0"/>
          </a:p>
        </p:txBody>
      </p:sp>
      <p:sp>
        <p:nvSpPr>
          <p:cNvPr id="11" name="Age 2–6 years"/>
          <p:cNvSpPr/>
          <p:nvPr/>
        </p:nvSpPr>
        <p:spPr>
          <a:xfrm>
            <a:off x="324612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2" name="Age 2–6 years text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2–6 years</a:t>
            </a:r>
            <a:endParaRPr lang="en-US" sz="2400" dirty="0"/>
          </a:p>
        </p:txBody>
      </p:sp>
      <p:sp>
        <p:nvSpPr>
          <p:cNvPr id="13" name="Age 10–19 years"/>
          <p:cNvSpPr/>
          <p:nvPr/>
        </p:nvSpPr>
        <p:spPr>
          <a:xfrm>
            <a:off x="603504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4" name="Age 10–19 years text"/>
          <p:cNvSpPr txBox="1"/>
          <p:nvPr/>
        </p:nvSpPr>
        <p:spPr>
          <a:xfrm>
            <a:off x="621792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10–19 years</a:t>
            </a:r>
            <a:endParaRPr lang="en-US" sz="2400" dirty="0"/>
          </a:p>
        </p:txBody>
      </p:sp>
      <p:sp>
        <p:nvSpPr>
          <p:cNvPr id="15" name="Also at risk banner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Also at risk text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Also at risk: </a:t>
            </a:r>
            <a:r>
              <a:rPr lang="en-US" sz="1400" dirty="0">
                <a:solidFill>
                  <a:schemeClr val="bg1"/>
                </a:solidFill>
              </a:rPr>
              <a:t>actively menstruating adolescent girls and fad dieters. A CBC is recommended at each stage of adolescence.</a:t>
            </a:r>
            <a:endParaRPr lang="en-US" sz="1400" dirty="0"/>
          </a:p>
        </p:txBody>
      </p:sp>
      <p:sp>
        <p:nvSpPr>
          <p:cNvPr id="17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‹ Back</a:t>
            </a:r>
            <a:endParaRPr lang="en-US" sz="1400" dirty="0"/>
          </a:p>
        </p:txBody>
      </p:sp>
      <p:sp>
        <p:nvSpPr>
          <p:cNvPr id="18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Quiz ›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y photo" descr="A smiling boy picking vegetables from a salad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QUICK QUIZ</a:t>
            </a:r>
            <a:endParaRPr lang="en-US" sz="1400" dirty="0"/>
          </a:p>
        </p:txBody>
      </p:sp>
      <p:sp>
        <p:nvSpPr>
          <p:cNvPr id="4" name="Quiz title"/>
          <p:cNvSpPr txBox="1"/>
          <p:nvPr/>
        </p:nvSpPr>
        <p:spPr>
          <a:xfrm>
            <a:off x="548640" y="15087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what you learned</a:t>
            </a:r>
            <a:endParaRPr lang="en-US" sz="3600" dirty="0"/>
          </a:p>
        </p:txBody>
      </p:sp>
      <p:sp>
        <p:nvSpPr>
          <p:cNvPr id="5" name="Quiz instructions"/>
          <p:cNvSpPr txBox="1"/>
          <p:nvPr/>
        </p:nvSpPr>
        <p:spPr>
          <a:xfrm>
            <a:off x="54864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4 questions. Tap an answer to see if you got it right. Wrong answer? You can try again.</a:t>
            </a:r>
            <a:endParaRPr lang="en-US" sz="1600" dirty="0"/>
          </a:p>
        </p:txBody>
      </p:sp>
      <p:sp>
        <p:nvSpPr>
          <p:cNvPr id="6" name="Start quiz">
            <a:hlinkClick r:id="rId4" action="ppaction://hlinksldjump" tooltip="Go to question 1"/>
          </p:cNvPr>
          <p:cNvSpPr/>
          <p:nvPr/>
        </p:nvSpPr>
        <p:spPr>
          <a:xfrm>
            <a:off x="548640" y="3977640"/>
            <a:ext cx="164592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quiz</a:t>
            </a:r>
            <a:endParaRPr lang="en-US" sz="1400" dirty="0"/>
          </a:p>
        </p:txBody>
      </p:sp>
      <p:sp>
        <p:nvSpPr>
          <p:cNvPr id="7" name="Menu button">
            <a:hlinkClick r:id="rId5" action="ppaction://hlinksldjump" tooltip="Back to the topic menu"/>
          </p:cNvPr>
          <p:cNvSpPr/>
          <p:nvPr/>
        </p:nvSpPr>
        <p:spPr>
          <a:xfrm>
            <a:off x="2377440" y="3977640"/>
            <a:ext cx="128016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Question 1 of 4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BREASTFEEDING</a:t>
            </a:r>
            <a:endParaRPr lang="en-US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long is exclusive breastfeeding recommended?</a:t>
            </a:r>
            <a:endParaRPr lang="en-US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   </a:t>
            </a:r>
            <a:r>
              <a:rPr lang="en-US" sz="1600" dirty="0">
                <a:solidFill>
                  <a:schemeClr val="tx1"/>
                </a:solidFill>
              </a:rPr>
              <a:t>Up to 6 months</a:t>
            </a:r>
            <a:endParaRPr lang="en-US" sz="2000" dirty="0"/>
          </a:p>
        </p:txBody>
      </p:sp>
      <p:sp>
        <p:nvSpPr>
          <p:cNvPr id="7" name="Answer B">
            <a:hlinkClick r:id="rId5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    </a:t>
            </a:r>
            <a:r>
              <a:rPr lang="en-US" sz="1600" dirty="0">
                <a:solidFill>
                  <a:schemeClr val="tx1"/>
                </a:solidFill>
              </a:rPr>
              <a:t>Up to 3 months</a:t>
            </a:r>
            <a:endParaRPr lang="en-US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   </a:t>
            </a:r>
            <a:r>
              <a:rPr lang="en-US" sz="1600" dirty="0">
                <a:solidFill>
                  <a:schemeClr val="tx1"/>
                </a:solidFill>
              </a:rPr>
              <a:t>Up to 12 months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Correct!</a:t>
            </a:r>
            <a:endParaRPr lang="en-US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 to 6 months</a:t>
            </a:r>
            <a:endParaRPr lang="en-US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Exclusive breastfeeding up to 6 months, then continued up to 2 years and beyond alongside food.</a:t>
            </a:r>
            <a:endParaRPr lang="en-US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question ›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Not quite</a:t>
            </a:r>
            <a:endParaRPr lang="en-US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Hint</a:t>
            </a:r>
            <a:endParaRPr lang="en-US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Think about the age when solid foods begin.</a:t>
            </a:r>
            <a:endParaRPr lang="en-US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Question 2 of 4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STARTING SOLIDS</a:t>
            </a:r>
            <a:endParaRPr lang="en-US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should new foods be introduced to a 6-month-old?</a:t>
            </a:r>
            <a:endParaRPr lang="en-US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   </a:t>
            </a:r>
            <a:r>
              <a:rPr lang="en-US" sz="1600" dirty="0">
                <a:solidFill>
                  <a:schemeClr val="tx1"/>
                </a:solidFill>
              </a:rPr>
              <a:t>Several new foods at the same time</a:t>
            </a:r>
            <a:endParaRPr lang="en-US" sz="2000" dirty="0"/>
          </a:p>
        </p:txBody>
      </p:sp>
      <p:sp>
        <p:nvSpPr>
          <p:cNvPr id="7" name="Answer B">
            <a:hlinkClick r:id="rId4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    </a:t>
            </a:r>
            <a:r>
              <a:rPr lang="en-US" sz="1600" dirty="0">
                <a:solidFill>
                  <a:schemeClr val="tx1"/>
                </a:solidFill>
              </a:rPr>
              <a:t>A new food at every meal, every day</a:t>
            </a:r>
            <a:endParaRPr lang="en-US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   </a:t>
            </a:r>
            <a:r>
              <a:rPr lang="en-US" sz="1600" dirty="0">
                <a:solidFill>
                  <a:schemeClr val="tx1"/>
                </a:solidFill>
              </a:rPr>
              <a:t>One new food at a time, for 3 days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Correct!</a:t>
            </a:r>
            <a:endParaRPr lang="en-US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new food at a time, for 3 days</a:t>
            </a:r>
            <a:endParaRPr lang="en-US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Introduce one new food at a time for 3 days, starting with 1 to 2 teaspoons a day.</a:t>
            </a:r>
            <a:endParaRPr lang="en-US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question ›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Not quite</a:t>
            </a:r>
            <a:endParaRPr lang="en-US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Hint</a:t>
            </a:r>
            <a:endParaRPr lang="en-US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 slowly so you can tell how each food agrees with the baby.</a:t>
            </a:r>
            <a:endParaRPr lang="en-US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Question 3 of 4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TEXTURES</a:t>
            </a:r>
            <a:endParaRPr lang="en-US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 what age is table food introduced?</a:t>
            </a:r>
            <a:endParaRPr lang="en-US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   </a:t>
            </a:r>
            <a:r>
              <a:rPr lang="en-US" sz="1600" dirty="0">
                <a:solidFill>
                  <a:schemeClr val="tx1"/>
                </a:solidFill>
              </a:rPr>
              <a:t>6 months</a:t>
            </a:r>
            <a:endParaRPr lang="en-US" sz="2000" dirty="0"/>
          </a:p>
        </p:txBody>
      </p:sp>
      <p:sp>
        <p:nvSpPr>
          <p:cNvPr id="7" name="Answer B">
            <a:hlinkClick r:id="rId5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    </a:t>
            </a:r>
            <a:r>
              <a:rPr lang="en-US" sz="1600" dirty="0">
                <a:solidFill>
                  <a:schemeClr val="tx1"/>
                </a:solidFill>
              </a:rPr>
              <a:t>12 months</a:t>
            </a:r>
            <a:endParaRPr lang="en-US" sz="2000" dirty="0"/>
          </a:p>
        </p:txBody>
      </p:sp>
      <p:sp>
        <p:nvSpPr>
          <p:cNvPr id="8" name="Answer C">
            <a:hlinkClick r:id="rId4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   </a:t>
            </a:r>
            <a:r>
              <a:rPr lang="en-US" sz="1600" dirty="0">
                <a:solidFill>
                  <a:schemeClr val="tx1"/>
                </a:solidFill>
              </a:rPr>
              <a:t>8 months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Correct!</a:t>
            </a:r>
            <a:endParaRPr lang="en-US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months</a:t>
            </a:r>
            <a:endParaRPr lang="en-US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Pureed at 6 months, finger foods around 8 months, lumpy or chopped at 10 months, table food at 12 months.</a:t>
            </a:r>
            <a:endParaRPr lang="en-US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question ›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Not quite</a:t>
            </a:r>
            <a:endParaRPr lang="en-US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Hint</a:t>
            </a:r>
            <a:endParaRPr lang="en-US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is the last step on the texture timeline.</a:t>
            </a:r>
            <a:endParaRPr lang="en-US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Question 4 of 4</a:t>
            </a:r>
            <a:endParaRPr lang="en-US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Menu</a:t>
            </a:r>
            <a:endParaRPr lang="en-US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DEWORMING</a:t>
            </a:r>
            <a:endParaRPr lang="en-US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When should deworming be skipped?</a:t>
            </a:r>
            <a:endParaRPr lang="en-US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   </a:t>
            </a:r>
            <a:r>
              <a:rPr lang="en-US" sz="1600" dirty="0">
                <a:solidFill>
                  <a:schemeClr val="tx1"/>
                </a:solidFill>
              </a:rPr>
              <a:t>When the child has just eaten</a:t>
            </a:r>
            <a:endParaRPr lang="en-US" sz="2000" dirty="0"/>
          </a:p>
        </p:txBody>
      </p:sp>
      <p:sp>
        <p:nvSpPr>
          <p:cNvPr id="7" name="Answer B">
            <a:hlinkClick r:id="rId4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    </a:t>
            </a:r>
            <a:r>
              <a:rPr lang="en-US" sz="1600" dirty="0">
                <a:solidFill>
                  <a:schemeClr val="tx1"/>
                </a:solidFill>
              </a:rPr>
              <a:t>When the child is 5 years old</a:t>
            </a:r>
            <a:endParaRPr lang="en-US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   </a:t>
            </a:r>
            <a:r>
              <a:rPr lang="en-US" sz="1600" dirty="0">
                <a:solidFill>
                  <a:schemeClr val="tx1"/>
                </a:solidFill>
              </a:rPr>
              <a:t>When there is high-grade fever, profuse diarrhea or abdominal pain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Correct!</a:t>
            </a:r>
            <a:endParaRPr lang="en-US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When there is high-grade fever, profuse diarrhea or abdominal pain</a:t>
            </a:r>
            <a:endParaRPr lang="en-US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Do not deworm with high-grade fever, profuse diarrhea or abdominal pain. Otherwise, dose every 6 months on a full stomach.</a:t>
            </a:r>
            <a:endParaRPr lang="en-US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Finish ›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Not quite</a:t>
            </a:r>
            <a:endParaRPr lang="en-US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Hint</a:t>
            </a:r>
            <a:endParaRPr lang="en-US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Think of signs that a child is already unwell.</a:t>
            </a:r>
            <a:endParaRPr lang="en-US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Menu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y with fruit photo" descr="A laughing boy at a table with fresh fr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640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WELL DONE</a:t>
            </a:r>
            <a:endParaRPr lang="en-US" sz="1400" dirty="0"/>
          </a:p>
        </p:txBody>
      </p:sp>
      <p:sp>
        <p:nvSpPr>
          <p:cNvPr id="4" name="Closing title"/>
          <p:cNvSpPr txBox="1"/>
          <p:nvPr/>
        </p:nvSpPr>
        <p:spPr>
          <a:xfrm>
            <a:off x="548640" y="1005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Good food, good start</a:t>
            </a:r>
            <a:endParaRPr lang="en-US" sz="3400" dirty="0"/>
          </a:p>
        </p:txBody>
      </p:sp>
      <p:sp>
        <p:nvSpPr>
          <p:cNvPr id="5" name="Takeaways"/>
          <p:cNvSpPr txBox="1"/>
          <p:nvPr/>
        </p:nvSpPr>
        <p:spPr>
          <a:xfrm>
            <a:off x="548640" y="22860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Breast milk only to 6 months, then keep going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One new food at a time, for 3 days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salt before age 1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Keep iron, vitamin A and deworming on schedule</a:t>
            </a:r>
            <a:endParaRPr lang="en-US" sz="1600" dirty="0"/>
          </a:p>
        </p:txBody>
      </p:sp>
      <p:sp>
        <p:nvSpPr>
          <p:cNvPr id="6" name="Menu button">
            <a:hlinkClick r:id="rId4" action="ppaction://hlinksldjump" tooltip="Open the topic menu"/>
          </p:cNvPr>
          <p:cNvSpPr/>
          <p:nvPr/>
        </p:nvSpPr>
        <p:spPr>
          <a:xfrm>
            <a:off x="548640" y="4160520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Back to menu</a:t>
            </a:r>
            <a:endParaRPr lang="en-US" sz="1400" dirty="0"/>
          </a:p>
        </p:txBody>
      </p:sp>
      <p:sp>
        <p:nvSpPr>
          <p:cNvPr id="7" name="Retake button">
            <a:hlinkClick r:id="rId5" action="ppaction://hlinksldjump" tooltip="Restart the quiz"/>
          </p:cNvPr>
          <p:cNvSpPr/>
          <p:nvPr/>
        </p:nvSpPr>
        <p:spPr>
          <a:xfrm>
            <a:off x="2560320" y="4160520"/>
            <a:ext cx="164592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Retake quiz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sh Harvest">
  <a:themeElements>
    <a:clrScheme name="Fresh Harvest">
      <a:dk1>
        <a:srgbClr val="1F3D2B"/>
      </a:dk1>
      <a:lt1>
        <a:srgbClr val="FFFFFF"/>
      </a:lt1>
      <a:dk2>
        <a:srgbClr val="3A5A45"/>
      </a:dk2>
      <a:lt2>
        <a:srgbClr val="F2F7F0"/>
      </a:lt2>
      <a:accent1>
        <a:srgbClr val="D9661B"/>
      </a:accent1>
      <a:accent2>
        <a:srgbClr val="D6455D"/>
      </a:accent2>
      <a:accent3>
        <a:srgbClr val="F6B93B"/>
      </a:accent3>
      <a:accent4>
        <a:srgbClr val="237F73"/>
      </a:accent4>
      <a:accent5>
        <a:srgbClr val="6556B8"/>
      </a:accent5>
      <a:accent6>
        <a:srgbClr val="3B78C4"/>
      </a:accent6>
      <a:hlink>
        <a:srgbClr val="3B78C4"/>
      </a:hlink>
      <a:folHlink>
        <a:srgbClr val="6556B8"/>
      </a:folHlink>
    </a:clrScheme>
    <a:fontScheme name="Fresh Harv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1212</Words>
  <Application>Microsoft Office PowerPoint</Application>
  <PresentationFormat>On-screen Show (16:9)</PresentationFormat>
  <Paragraphs>230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Fresh Harvest</vt:lpstr>
      <vt:lpstr>PowerPoint Presentation</vt:lpstr>
      <vt:lpstr>Pick a topic to explore</vt:lpstr>
      <vt:lpstr>Breastfeeding: how long and why</vt:lpstr>
      <vt:lpstr>Starting solids at 6 months</vt:lpstr>
      <vt:lpstr>Textures and how often</vt:lpstr>
      <vt:lpstr>Iron supplementation</vt:lpstr>
      <vt:lpstr>Vitamin A and zinc</vt:lpstr>
      <vt:lpstr>Deworming every 6 months</vt:lpstr>
      <vt:lpstr>Iron deficiency anemia</vt:lpstr>
      <vt:lpstr>PowerPoint Presentation</vt:lpstr>
      <vt:lpstr>Question 1 of 4</vt:lpstr>
      <vt:lpstr>Correct!</vt:lpstr>
      <vt:lpstr>Not quite</vt:lpstr>
      <vt:lpstr>Question 2 of 4</vt:lpstr>
      <vt:lpstr>Correct!</vt:lpstr>
      <vt:lpstr>Not quite</vt:lpstr>
      <vt:lpstr>Question 3 of 4</vt:lpstr>
      <vt:lpstr>Correct!</vt:lpstr>
      <vt:lpstr>Not quite</vt:lpstr>
      <vt:lpstr>Question 4 of 4</vt:lpstr>
      <vt:lpstr>Correct!</vt:lpstr>
      <vt:lpstr>Not quite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Guide: Eating Well</dc:title>
  <dc:subject>Interactive nutrition guide based on REdbook notes</dc:subject>
  <dc:creator>Justine Miguel F. Aguilos</dc:creator>
  <cp:lastModifiedBy>Jm Aguilos</cp:lastModifiedBy>
  <cp:revision>3</cp:revision>
  <dcterms:created xsi:type="dcterms:W3CDTF">2026-10-10T02:49:06Z</dcterms:created>
  <dcterms:modified xsi:type="dcterms:W3CDTF">2026-10-10T04:53:20Z</dcterms:modified>
</cp:coreProperties>
</file>