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17678644-3F74-EBC6-B686-56F83E6B7657}">
          <p14:sldIdLst>
            <p14:sldId id="256"/>
            <p14:sldId id="257"/>
          </p14:sldIdLst>
        </p14:section>
        <p14:section name="Topics" id="{0E8B750C-E313-4128-FA87-152E2D6C9E5A}">
          <p14:sldIdLst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Quiz" id="{F5CF8425-9F40-621E-2A9D-611967F05C61}">
          <p14:sldIdLst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Wrap-up" id="{79D73023-5F1F-C01E-B99C-D059F1884D64}">
          <p14:sldIdLst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5572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il-PH" dirty="0"/>
              <a:t>Patakbuhin ang deck sa Slide Show mode para gumana ang mga card, button at sagot sa quiz. Batay sa seksyong Nutrition ng REdbook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fil-PH"/>
              <a:t>1</a:t>
            </a:fld>
            <a:endParaRPr lang="fil-PH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l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fil-PH"/>
              <a:t>2</a:t>
            </a:fld>
            <a:endParaRPr lang="fil-PH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il-PH" dirty="0"/>
              <a:t>Eksklusibong pagpapasuso hanggang 6 buwan, ituloy hanggang 2 taon pataas.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fil-PH"/>
              <a:t>3</a:t>
            </a:fld>
            <a:endParaRPr lang="fil-PH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il-PH" dirty="0"/>
              <a:t>Mga prinsipyo: nasa oras, sapat, ligtas at wastong pagpapakain. Magbigay ng iron, zinc, calcium at vitamin B12 kung kulang ang diyeta.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fil-PH"/>
              <a:t>4</a:t>
            </a:fld>
            <a:endParaRPr lang="fil-PH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l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fil-PH"/>
              <a:t>5</a:t>
            </a:fld>
            <a:endParaRPr lang="fil-PH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l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fil-PH"/>
              <a:t>6</a:t>
            </a:fld>
            <a:endParaRPr lang="fil-PH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l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fil-PH"/>
              <a:t>7</a:t>
            </a:fld>
            <a:endParaRPr lang="fil-PH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l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fil-PH"/>
              <a:t>8</a:t>
            </a:fld>
            <a:endParaRPr lang="fil-PH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l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fil-PH"/>
              <a:t>9</a:t>
            </a:fld>
            <a:endParaRPr lang="fil-PH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l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fil-PH"/>
              <a:t>10</a:t>
            </a:fld>
            <a:endParaRPr lang="fil-PH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il-PH" dirty="0"/>
              <a:t>Tamang sagot: A. Eksklusibong pagpapasuso hanggang 6 buwan, saka ituloy hanggang 2 taon pataas kasabay ng pagkain.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fil-PH"/>
              <a:t>11</a:t>
            </a:fld>
            <a:endParaRPr lang="fil-PH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l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fil-PH"/>
              <a:t>12</a:t>
            </a:fld>
            <a:endParaRPr lang="fil-PH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l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fil-PH"/>
              <a:t>13</a:t>
            </a:fld>
            <a:endParaRPr lang="fil-PH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il-PH" dirty="0"/>
              <a:t>Tamang sagot: C. Magpakilala ng isang bagong pagkain bawat 3 araw, simula sa 1 hanggang 2 kutsarita kada araw.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fil-PH"/>
              <a:t>14</a:t>
            </a:fld>
            <a:endParaRPr lang="fil-PH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l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fil-PH"/>
              <a:t>15</a:t>
            </a:fld>
            <a:endParaRPr lang="fil-PH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l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fil-PH"/>
              <a:t>16</a:t>
            </a:fld>
            <a:endParaRPr lang="fil-PH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il-PH" dirty="0"/>
              <a:t>Tamang sagot: B. Minasa sa 6 buwan, finger food mga 8 buwan, magaspang o tinadtad sa 10 buwan, pagkain ng pamilya sa 12 buwan.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fil-PH"/>
              <a:t>17</a:t>
            </a:fld>
            <a:endParaRPr lang="fil-PH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l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fil-PH"/>
              <a:t>18</a:t>
            </a:fld>
            <a:endParaRPr lang="fil-PH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l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fil-PH"/>
              <a:t>19</a:t>
            </a:fld>
            <a:endParaRPr lang="fil-PH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il-PH" dirty="0"/>
              <a:t>Tamang sagot: C. Huwag magpurga kapag may mataas na lagnat, matinding pagtatae o pananakit ng tiyan. Kung hindi, isang dosis kada 6 buwan nang busog ang tiyan.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fil-PH"/>
              <a:t>20</a:t>
            </a:fld>
            <a:endParaRPr lang="fil-PH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l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fil-PH"/>
              <a:t>21</a:t>
            </a:fld>
            <a:endParaRPr lang="fil-PH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l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fil-PH"/>
              <a:t>22</a:t>
            </a:fld>
            <a:endParaRPr lang="fil-PH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il-PH" dirty="0"/>
              <a:t>Pagtatapos. Pinagmulan: seksyong Nutrition ng REdbook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fil-PH"/>
              <a:t>23</a:t>
            </a:fld>
            <a:endParaRPr lang="fil-PH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9494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6634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Nutrition Guide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slide" Target="slide10.xml"/><Relationship Id="rId4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13" Type="http://schemas.openxmlformats.org/officeDocument/2006/relationships/image" Target="../media/image6.png"/><Relationship Id="rId3" Type="http://schemas.openxmlformats.org/officeDocument/2006/relationships/slide" Target="slide10.xml"/><Relationship Id="rId7" Type="http://schemas.openxmlformats.org/officeDocument/2006/relationships/image" Target="../media/image3.png"/><Relationship Id="rId12" Type="http://schemas.openxmlformats.org/officeDocument/2006/relationships/slide" Target="slide8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slide" Target="slide4.xml"/><Relationship Id="rId11" Type="http://schemas.openxmlformats.org/officeDocument/2006/relationships/image" Target="../media/image5.png"/><Relationship Id="rId5" Type="http://schemas.openxmlformats.org/officeDocument/2006/relationships/image" Target="../media/image2.png"/><Relationship Id="rId15" Type="http://schemas.openxmlformats.org/officeDocument/2006/relationships/image" Target="../media/image7.png"/><Relationship Id="rId10" Type="http://schemas.openxmlformats.org/officeDocument/2006/relationships/slide" Target="slide7.xml"/><Relationship Id="rId4" Type="http://schemas.openxmlformats.org/officeDocument/2006/relationships/slide" Target="slide3.xml"/><Relationship Id="rId9" Type="http://schemas.openxmlformats.org/officeDocument/2006/relationships/image" Target="../media/image4.png"/><Relationship Id="rId14" Type="http://schemas.openxmlformats.org/officeDocument/2006/relationships/slide" Target="slide9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" Target="slide2.xml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slide" Target="slide4.xml"/><Relationship Id="rId4" Type="http://schemas.openxmlformats.org/officeDocument/2006/relationships/image" Target="../media/image8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slide" Target="slide2.xml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png"/><Relationship Id="rId5" Type="http://schemas.openxmlformats.org/officeDocument/2006/relationships/image" Target="../media/image14.png"/><Relationship Id="rId10" Type="http://schemas.openxmlformats.org/officeDocument/2006/relationships/slide" Target="slide5.xml"/><Relationship Id="rId4" Type="http://schemas.openxmlformats.org/officeDocument/2006/relationships/image" Target="../media/image13.jpg"/><Relationship Id="rId9" Type="http://schemas.openxmlformats.org/officeDocument/2006/relationships/slide" Target="slide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slide" Target="slide2.xml"/><Relationship Id="rId7" Type="http://schemas.openxmlformats.org/officeDocument/2006/relationships/slide" Target="slide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jpg"/><Relationship Id="rId5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slide" Target="slide7.xml"/><Relationship Id="rId5" Type="http://schemas.openxmlformats.org/officeDocument/2006/relationships/slide" Target="slide5.xml"/><Relationship Id="rId4" Type="http://schemas.openxmlformats.org/officeDocument/2006/relationships/image" Target="../media/image17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slide" Target="slide8.xml"/><Relationship Id="rId5" Type="http://schemas.openxmlformats.org/officeDocument/2006/relationships/slide" Target="slide6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slide" Target="slide9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slide" Target="slide7.xml"/><Relationship Id="rId5" Type="http://schemas.openxmlformats.org/officeDocument/2006/relationships/image" Target="../media/image18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slide" Target="slide10.xml"/><Relationship Id="rId5" Type="http://schemas.openxmlformats.org/officeDocument/2006/relationships/slide" Target="slide8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slide" Target="slide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slide" Target="slide13.xml"/><Relationship Id="rId4" Type="http://schemas.openxmlformats.org/officeDocument/2006/relationships/slide" Target="slide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slide" Target="slide2.xml"/><Relationship Id="rId4" Type="http://schemas.openxmlformats.org/officeDocument/2006/relationships/slide" Target="slide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slide" Target="slide2.xml"/><Relationship Id="rId4" Type="http://schemas.openxmlformats.org/officeDocument/2006/relationships/slide" Target="slide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slide" Target="slide15.xml"/><Relationship Id="rId4" Type="http://schemas.openxmlformats.org/officeDocument/2006/relationships/slide" Target="slide1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5" Type="http://schemas.openxmlformats.org/officeDocument/2006/relationships/slide" Target="slide2.xml"/><Relationship Id="rId4" Type="http://schemas.openxmlformats.org/officeDocument/2006/relationships/slide" Target="slide1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slide" Target="slide2.xml"/><Relationship Id="rId4" Type="http://schemas.openxmlformats.org/officeDocument/2006/relationships/slide" Target="slide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5" Type="http://schemas.openxmlformats.org/officeDocument/2006/relationships/slide" Target="slide18.xml"/><Relationship Id="rId4" Type="http://schemas.openxmlformats.org/officeDocument/2006/relationships/slide" Target="slide1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5" Type="http://schemas.openxmlformats.org/officeDocument/2006/relationships/slide" Target="slide2.xml"/><Relationship Id="rId4" Type="http://schemas.openxmlformats.org/officeDocument/2006/relationships/slide" Target="slide2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5" Type="http://schemas.openxmlformats.org/officeDocument/2006/relationships/slide" Target="slide2.xml"/><Relationship Id="rId4" Type="http://schemas.openxmlformats.org/officeDocument/2006/relationships/slide" Target="slide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5" Type="http://schemas.openxmlformats.org/officeDocument/2006/relationships/slide" Target="slide21.xml"/><Relationship Id="rId4" Type="http://schemas.openxmlformats.org/officeDocument/2006/relationships/slide" Target="slide2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5" Type="http://schemas.openxmlformats.org/officeDocument/2006/relationships/slide" Target="slide2.xml"/><Relationship Id="rId4" Type="http://schemas.openxmlformats.org/officeDocument/2006/relationships/slide" Target="slide2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5" Type="http://schemas.openxmlformats.org/officeDocument/2006/relationships/slide" Target="slide2.xml"/><Relationship Id="rId4" Type="http://schemas.openxmlformats.org/officeDocument/2006/relationships/slide" Target="slide2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slide" Target="slide11.xml"/><Relationship Id="rId4" Type="http://schemas.openxmlformats.org/officeDocument/2006/relationships/slide" Target="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 photo" descr="A laughing girl and boy at a table with juice and a pile of fresh frui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0"/>
            <a:ext cx="5120640" cy="5143500"/>
          </a:xfrm>
          <a:prstGeom prst="rect">
            <a:avLst/>
          </a:prstGeom>
        </p:spPr>
      </p:pic>
      <p:sp>
        <p:nvSpPr>
          <p:cNvPr id="3" name="Eyebrow"/>
          <p:cNvSpPr txBox="1"/>
          <p:nvPr/>
        </p:nvSpPr>
        <p:spPr>
          <a:xfrm>
            <a:off x="548640" y="8229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il-PH" sz="1400" b="1" kern="0" spc="400" dirty="0">
                <a:solidFill>
                  <a:schemeClr val="accent3"/>
                </a:solidFill>
              </a:rPr>
              <a:t>GABAY SA NUTRISYON</a:t>
            </a:r>
            <a:endParaRPr lang="fil-PH" sz="1400" dirty="0"/>
          </a:p>
        </p:txBody>
      </p:sp>
      <p:sp>
        <p:nvSpPr>
          <p:cNvPr id="4" name="Deck title"/>
          <p:cNvSpPr txBox="1"/>
          <p:nvPr/>
        </p:nvSpPr>
        <p:spPr>
          <a:xfrm>
            <a:off x="548640" y="1234440"/>
            <a:ext cx="3291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il-PH" sz="3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Kumain nang tama, mula gatas hanggang hapag</a:t>
            </a:r>
            <a:endParaRPr lang="fil-PH" sz="30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4290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il-PH" sz="1600" dirty="0">
                <a:solidFill>
                  <a:schemeClr val="bg1"/>
                </a:solidFill>
              </a:rPr>
              <a:t>Isang gabay. Pindutin ang card para mag-explore, saka mag-quiz.</a:t>
            </a:r>
            <a:endParaRPr lang="fil-PH" sz="1600" dirty="0"/>
          </a:p>
        </p:txBody>
      </p:sp>
      <p:sp>
        <p:nvSpPr>
          <p:cNvPr id="6" name="Start button">
            <a:hlinkClick r:id="rId4" action="ppaction://hlinksldjump" tooltip="Open the topic menu"/>
          </p:cNvPr>
          <p:cNvSpPr/>
          <p:nvPr/>
        </p:nvSpPr>
        <p:spPr>
          <a:xfrm>
            <a:off x="548640" y="4206240"/>
            <a:ext cx="1600200" cy="42062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il-PH" sz="1400" b="1" dirty="0">
                <a:solidFill>
                  <a:schemeClr val="tx1"/>
                </a:solidFill>
              </a:rPr>
              <a:t>Simulan</a:t>
            </a:r>
            <a:endParaRPr lang="fil-PH" sz="1400" dirty="0"/>
          </a:p>
        </p:txBody>
      </p:sp>
      <p:sp>
        <p:nvSpPr>
          <p:cNvPr id="7" name="Quiz button">
            <a:hlinkClick r:id="rId5" action="ppaction://hlinksldjump" tooltip="Jump to the quiz"/>
          </p:cNvPr>
          <p:cNvSpPr/>
          <p:nvPr/>
        </p:nvSpPr>
        <p:spPr>
          <a:xfrm>
            <a:off x="2286000" y="4206240"/>
            <a:ext cx="1508760" cy="420624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il-PH" sz="1400" b="1" dirty="0">
                <a:solidFill>
                  <a:schemeClr val="bg1"/>
                </a:solidFill>
              </a:rPr>
              <a:t>Mag-quiz</a:t>
            </a:r>
            <a:endParaRPr lang="fil-PH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il-PH" sz="3000" b="1" dirty="0">
                <a:solidFill>
                  <a:schemeClr val="tx1"/>
                </a:solidFill>
              </a:rPr>
              <a:t>Pumili ng paksang tuklasin</a:t>
            </a:r>
            <a:endParaRPr lang="fil-PH" sz="3000" dirty="0"/>
          </a:p>
        </p:txBody>
      </p:sp>
      <p:sp>
        <p:nvSpPr>
          <p:cNvPr id="3" name="Quiz shortcut">
            <a:hlinkClick r:id="rId3" action="ppaction://hlinksldjump" tooltip="Jump to the quiz"/>
          </p:cNvPr>
          <p:cNvSpPr/>
          <p:nvPr/>
        </p:nvSpPr>
        <p:spPr>
          <a:xfrm>
            <a:off x="6812280" y="365760"/>
            <a:ext cx="1874520" cy="36576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il-PH" sz="1400" b="1" dirty="0">
                <a:solidFill>
                  <a:schemeClr val="bg1"/>
                </a:solidFill>
              </a:rPr>
              <a:t>Mag-quiz ›</a:t>
            </a:r>
            <a:endParaRPr lang="fil-PH" sz="1400" dirty="0"/>
          </a:p>
        </p:txBody>
      </p:sp>
      <p:sp>
        <p:nvSpPr>
          <p:cNvPr id="4" name="Menu card Breastfeeding">
            <a:hlinkClick r:id="rId4" action="ppaction://hlinksldjump" tooltip="Open Breastfeeding"/>
          </p:cNvPr>
          <p:cNvSpPr/>
          <p:nvPr/>
        </p:nvSpPr>
        <p:spPr>
          <a:xfrm>
            <a:off x="457200" y="1188720"/>
            <a:ext cx="2560320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F3D2B">
                <a:alpha val="14000"/>
              </a:srgbClr>
            </a:outerShdw>
          </a:effectLst>
        </p:spPr>
        <p:txBody>
          <a:bodyPr wrap="square" lIns="177800" tIns="0" rIns="152400" bIns="177800" rtlCol="0" anchor="b"/>
          <a:lstStyle/>
          <a:p>
            <a:pPr marL="0" indent="0" algn="l">
              <a:buNone/>
            </a:pPr>
            <a:r>
              <a:rPr lang="fil-PH" sz="1800" b="1" dirty="0">
                <a:solidFill>
                  <a:schemeClr val="tx1"/>
                </a:solidFill>
              </a:rPr>
              <a:t>Pagpapasuso</a:t>
            </a:r>
            <a:endParaRPr lang="fil-PH" sz="1800" dirty="0"/>
          </a:p>
          <a:p>
            <a:pPr marL="0" indent="0" algn="l">
              <a:buNone/>
            </a:pPr>
            <a:r>
              <a:rPr lang="fil-PH" sz="1400" dirty="0">
                <a:solidFill>
                  <a:schemeClr val="tx2"/>
                </a:solidFill>
              </a:rPr>
              <a:t>Haba at benepisyo</a:t>
            </a:r>
            <a:endParaRPr lang="fil-PH" sz="1800" dirty="0"/>
          </a:p>
        </p:txBody>
      </p:sp>
      <p:sp>
        <p:nvSpPr>
          <p:cNvPr id="5" name="Breastfeeding circle">
            <a:hlinkClick r:id="rId4" action="ppaction://hlinksldjump" tooltip="Open Breastfeeding"/>
          </p:cNvPr>
          <p:cNvSpPr/>
          <p:nvPr/>
        </p:nvSpPr>
        <p:spPr>
          <a:xfrm>
            <a:off x="640080" y="137160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Breastfeeding glyph" descr="Breastfeeding">
            <a:hlinkClick r:id="rId4" action="ppaction://hlinksldjump" tooltip="Open Breastfeeding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614" y="1526134"/>
            <a:ext cx="285293" cy="285293"/>
          </a:xfrm>
          <a:prstGeom prst="rect">
            <a:avLst/>
          </a:prstGeom>
        </p:spPr>
      </p:pic>
      <p:sp>
        <p:nvSpPr>
          <p:cNvPr id="7" name="Menu card Starting solids">
            <a:hlinkClick r:id="rId6" action="ppaction://hlinksldjump" tooltip="Open Starting solids"/>
          </p:cNvPr>
          <p:cNvSpPr/>
          <p:nvPr/>
        </p:nvSpPr>
        <p:spPr>
          <a:xfrm>
            <a:off x="3291840" y="1188720"/>
            <a:ext cx="2560320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F3D2B">
                <a:alpha val="14000"/>
              </a:srgbClr>
            </a:outerShdw>
          </a:effectLst>
        </p:spPr>
        <p:txBody>
          <a:bodyPr wrap="square" lIns="177800" tIns="0" rIns="152400" bIns="177800" rtlCol="0" anchor="b"/>
          <a:lstStyle/>
          <a:p>
            <a:pPr marL="0" indent="0" algn="l">
              <a:buNone/>
            </a:pPr>
            <a:r>
              <a:rPr lang="fil-PH" sz="1800" b="1" dirty="0">
                <a:solidFill>
                  <a:schemeClr val="tx1"/>
                </a:solidFill>
              </a:rPr>
              <a:t>Pagsisimula ng solido</a:t>
            </a:r>
            <a:endParaRPr lang="fil-PH" sz="1800" dirty="0"/>
          </a:p>
          <a:p>
            <a:pPr marL="0" indent="0" algn="l">
              <a:buNone/>
            </a:pPr>
            <a:r>
              <a:rPr lang="fil-PH" sz="1400" dirty="0">
                <a:solidFill>
                  <a:schemeClr val="tx2"/>
                </a:solidFill>
              </a:rPr>
              <a:t>Prinsipyo at tekstura</a:t>
            </a:r>
            <a:endParaRPr lang="fil-PH" sz="1800" dirty="0"/>
          </a:p>
        </p:txBody>
      </p:sp>
      <p:sp>
        <p:nvSpPr>
          <p:cNvPr id="8" name="Starting solids circle">
            <a:hlinkClick r:id="rId6" action="ppaction://hlinksldjump" tooltip="Open Starting solids"/>
          </p:cNvPr>
          <p:cNvSpPr/>
          <p:nvPr/>
        </p:nvSpPr>
        <p:spPr>
          <a:xfrm>
            <a:off x="3474720" y="1371600"/>
            <a:ext cx="594360" cy="5943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9" name="Starting solids glyph" descr="Starting solids">
            <a:hlinkClick r:id="rId6" action="ppaction://hlinksldjump" tooltip="Open Starting solids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29254" y="1526134"/>
            <a:ext cx="285293" cy="285293"/>
          </a:xfrm>
          <a:prstGeom prst="rect">
            <a:avLst/>
          </a:prstGeom>
        </p:spPr>
      </p:pic>
      <p:sp>
        <p:nvSpPr>
          <p:cNvPr id="10" name="Menu card Iron">
            <a:hlinkClick r:id="rId8" action="ppaction://hlinksldjump" tooltip="Open Iron"/>
          </p:cNvPr>
          <p:cNvSpPr/>
          <p:nvPr/>
        </p:nvSpPr>
        <p:spPr>
          <a:xfrm>
            <a:off x="6126480" y="1188720"/>
            <a:ext cx="2560320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F3D2B">
                <a:alpha val="14000"/>
              </a:srgbClr>
            </a:outerShdw>
          </a:effectLst>
        </p:spPr>
        <p:txBody>
          <a:bodyPr wrap="square" lIns="177800" tIns="0" rIns="152400" bIns="177800" rtlCol="0" anchor="b"/>
          <a:lstStyle/>
          <a:p>
            <a:pPr marL="0" indent="0" algn="l">
              <a:buNone/>
            </a:pPr>
            <a:r>
              <a:rPr lang="fil-PH" sz="1800" b="1" dirty="0">
                <a:solidFill>
                  <a:schemeClr val="tx1"/>
                </a:solidFill>
              </a:rPr>
              <a:t>Iron</a:t>
            </a:r>
            <a:endParaRPr lang="fil-PH" sz="1800" dirty="0"/>
          </a:p>
          <a:p>
            <a:pPr marL="0" indent="0" algn="l">
              <a:buNone/>
            </a:pPr>
            <a:r>
              <a:rPr lang="fil-PH" sz="1400" dirty="0">
                <a:solidFill>
                  <a:schemeClr val="tx2"/>
                </a:solidFill>
              </a:rPr>
              <a:t>Sino at gaano karami</a:t>
            </a:r>
            <a:endParaRPr lang="fil-PH" sz="1800" dirty="0"/>
          </a:p>
        </p:txBody>
      </p:sp>
      <p:sp>
        <p:nvSpPr>
          <p:cNvPr id="11" name="Iron circle">
            <a:hlinkClick r:id="rId8" action="ppaction://hlinksldjump" tooltip="Open Iron"/>
          </p:cNvPr>
          <p:cNvSpPr/>
          <p:nvPr/>
        </p:nvSpPr>
        <p:spPr>
          <a:xfrm>
            <a:off x="6309360" y="137160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ron glyph" descr="Iron">
            <a:hlinkClick r:id="rId8" action="ppaction://hlinksldjump" tooltip="Open Iron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63894" y="1526134"/>
            <a:ext cx="285293" cy="285293"/>
          </a:xfrm>
          <a:prstGeom prst="rect">
            <a:avLst/>
          </a:prstGeom>
        </p:spPr>
      </p:pic>
      <p:sp>
        <p:nvSpPr>
          <p:cNvPr id="13" name="Menu card Vitamin A and zinc">
            <a:hlinkClick r:id="rId10" action="ppaction://hlinksldjump" tooltip="Open Vitamin A and zinc"/>
          </p:cNvPr>
          <p:cNvSpPr/>
          <p:nvPr/>
        </p:nvSpPr>
        <p:spPr>
          <a:xfrm>
            <a:off x="457200" y="2926080"/>
            <a:ext cx="2560320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F3D2B">
                <a:alpha val="14000"/>
              </a:srgbClr>
            </a:outerShdw>
          </a:effectLst>
        </p:spPr>
        <p:txBody>
          <a:bodyPr wrap="square" lIns="177800" tIns="0" rIns="152400" bIns="177800" rtlCol="0" anchor="b"/>
          <a:lstStyle/>
          <a:p>
            <a:pPr marL="0" indent="0" algn="l">
              <a:buNone/>
            </a:pPr>
            <a:r>
              <a:rPr lang="fil-PH" sz="1800" b="1" dirty="0">
                <a:solidFill>
                  <a:schemeClr val="tx1"/>
                </a:solidFill>
              </a:rPr>
              <a:t>Vitamin A at zinc</a:t>
            </a:r>
            <a:endParaRPr lang="fil-PH" sz="1800" dirty="0"/>
          </a:p>
          <a:p>
            <a:pPr marL="0" indent="0" algn="l">
              <a:buNone/>
            </a:pPr>
            <a:r>
              <a:rPr lang="fil-PH" sz="1400" dirty="0">
                <a:solidFill>
                  <a:schemeClr val="tx2"/>
                </a:solidFill>
              </a:rPr>
              <a:t>Dosis at dahilan</a:t>
            </a:r>
            <a:endParaRPr lang="fil-PH" sz="1800" dirty="0"/>
          </a:p>
        </p:txBody>
      </p:sp>
      <p:sp>
        <p:nvSpPr>
          <p:cNvPr id="14" name="Vitamin A and zinc circle">
            <a:hlinkClick r:id="rId10" action="ppaction://hlinksldjump" tooltip="Open Vitamin A and zinc"/>
          </p:cNvPr>
          <p:cNvSpPr/>
          <p:nvPr/>
        </p:nvSpPr>
        <p:spPr>
          <a:xfrm>
            <a:off x="640080" y="3108960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Vitamin A and zinc glyph" descr="Vitamin A and zinc">
            <a:hlinkClick r:id="rId10" action="ppaction://hlinksldjump" tooltip="Open Vitamin A and zinc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4614" y="3263494"/>
            <a:ext cx="285293" cy="285293"/>
          </a:xfrm>
          <a:prstGeom prst="rect">
            <a:avLst/>
          </a:prstGeom>
        </p:spPr>
      </p:pic>
      <p:sp>
        <p:nvSpPr>
          <p:cNvPr id="16" name="Menu card Deworming">
            <a:hlinkClick r:id="rId12" action="ppaction://hlinksldjump" tooltip="Open Deworming"/>
          </p:cNvPr>
          <p:cNvSpPr/>
          <p:nvPr/>
        </p:nvSpPr>
        <p:spPr>
          <a:xfrm>
            <a:off x="3291840" y="2926080"/>
            <a:ext cx="2560320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F3D2B">
                <a:alpha val="14000"/>
              </a:srgbClr>
            </a:outerShdw>
          </a:effectLst>
        </p:spPr>
        <p:txBody>
          <a:bodyPr wrap="square" lIns="177800" tIns="0" rIns="152400" bIns="177800" rtlCol="0" anchor="b"/>
          <a:lstStyle/>
          <a:p>
            <a:pPr marL="0" indent="0" algn="l">
              <a:buNone/>
            </a:pPr>
            <a:r>
              <a:rPr lang="fil-PH" sz="1800" b="1" dirty="0">
                <a:solidFill>
                  <a:schemeClr val="tx1"/>
                </a:solidFill>
              </a:rPr>
              <a:t>Pagpupurga</a:t>
            </a:r>
            <a:endParaRPr lang="fil-PH" sz="1800" dirty="0"/>
          </a:p>
          <a:p>
            <a:pPr marL="0" indent="0" algn="l">
              <a:buNone/>
            </a:pPr>
            <a:r>
              <a:rPr lang="fil-PH" sz="1400" dirty="0">
                <a:solidFill>
                  <a:schemeClr val="tx2"/>
                </a:solidFill>
              </a:rPr>
              <a:t>Gamot, oras, babala</a:t>
            </a:r>
            <a:endParaRPr lang="fil-PH" sz="1800" dirty="0"/>
          </a:p>
        </p:txBody>
      </p:sp>
      <p:sp>
        <p:nvSpPr>
          <p:cNvPr id="17" name="Deworming circle">
            <a:hlinkClick r:id="rId12" action="ppaction://hlinksldjump" tooltip="Open Deworming"/>
          </p:cNvPr>
          <p:cNvSpPr/>
          <p:nvPr/>
        </p:nvSpPr>
        <p:spPr>
          <a:xfrm>
            <a:off x="3474720" y="3108960"/>
            <a:ext cx="594360" cy="5943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8" name="Deworming glyph" descr="Deworming">
            <a:hlinkClick r:id="rId12" action="ppaction://hlinksldjump" tooltip="Open Deworming"/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29254" y="3263494"/>
            <a:ext cx="285293" cy="285293"/>
          </a:xfrm>
          <a:prstGeom prst="rect">
            <a:avLst/>
          </a:prstGeom>
        </p:spPr>
      </p:pic>
      <p:sp>
        <p:nvSpPr>
          <p:cNvPr id="19" name="Menu card Iron deficiency anemia">
            <a:hlinkClick r:id="rId14" action="ppaction://hlinksldjump" tooltip="Open Iron deficiency anemia"/>
          </p:cNvPr>
          <p:cNvSpPr/>
          <p:nvPr/>
        </p:nvSpPr>
        <p:spPr>
          <a:xfrm>
            <a:off x="6126480" y="2926080"/>
            <a:ext cx="2560320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F3D2B">
                <a:alpha val="14000"/>
              </a:srgbClr>
            </a:outerShdw>
          </a:effectLst>
        </p:spPr>
        <p:txBody>
          <a:bodyPr wrap="square" lIns="177800" tIns="0" rIns="152400" bIns="177800" rtlCol="0" anchor="b"/>
          <a:lstStyle/>
          <a:p>
            <a:pPr marL="0" indent="0" algn="l">
              <a:buNone/>
            </a:pPr>
            <a:r>
              <a:rPr lang="fil-PH" sz="1800" b="1" dirty="0">
                <a:solidFill>
                  <a:schemeClr val="tx1"/>
                </a:solidFill>
              </a:rPr>
              <a:t>Anemya sa iron</a:t>
            </a:r>
            <a:endParaRPr lang="fil-PH" sz="1800" dirty="0"/>
          </a:p>
          <a:p>
            <a:pPr marL="0" indent="0" algn="l">
              <a:buNone/>
            </a:pPr>
            <a:r>
              <a:rPr lang="fil-PH" sz="1400" dirty="0">
                <a:solidFill>
                  <a:schemeClr val="tx2"/>
                </a:solidFill>
              </a:rPr>
              <a:t>Sino at kailan susuriin</a:t>
            </a:r>
            <a:endParaRPr lang="fil-PH" sz="1800" dirty="0"/>
          </a:p>
        </p:txBody>
      </p:sp>
      <p:sp>
        <p:nvSpPr>
          <p:cNvPr id="20" name="Iron deficiency anemia circle">
            <a:hlinkClick r:id="rId14" action="ppaction://hlinksldjump" tooltip="Open Iron deficiency anemia"/>
          </p:cNvPr>
          <p:cNvSpPr/>
          <p:nvPr/>
        </p:nvSpPr>
        <p:spPr>
          <a:xfrm>
            <a:off x="6309360" y="3108960"/>
            <a:ext cx="594360" cy="59436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21" name="Iron deficiency anemia glyph" descr="Iron deficiency anemia">
            <a:hlinkClick r:id="rId14" action="ppaction://hlinksldjump" tooltip="Open Iron deficiency anemia"/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63894" y="3263494"/>
            <a:ext cx="285293" cy="28529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il-PH" sz="3000" b="1" dirty="0">
                <a:solidFill>
                  <a:schemeClr val="tx1"/>
                </a:solidFill>
              </a:rPr>
              <a:t>Pagpapasuso: gaano katagal, bakit</a:t>
            </a:r>
            <a:endParaRPr lang="fil-PH" sz="3000" dirty="0"/>
          </a:p>
        </p:txBody>
      </p:sp>
      <p:sp>
        <p:nvSpPr>
          <p:cNvPr id="3" name="Menu button">
            <a:hlinkClick r:id="rId3" action="ppaction://hlinksldjump" tooltip="Back to the topic menu"/>
          </p:cNvPr>
          <p:cNvSpPr/>
          <p:nvPr/>
        </p:nvSpPr>
        <p:spPr>
          <a:xfrm>
            <a:off x="7635240" y="365760"/>
            <a:ext cx="1051560" cy="36576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il-PH" sz="1400" b="1" dirty="0">
                <a:solidFill>
                  <a:schemeClr val="bg1"/>
                </a:solidFill>
              </a:rPr>
              <a:t>Menu</a:t>
            </a:r>
            <a:endParaRPr lang="fil-PH" sz="1400" dirty="0"/>
          </a:p>
        </p:txBody>
      </p:sp>
      <p:sp>
        <p:nvSpPr>
          <p:cNvPr id="4" name="Stat 6 months"/>
          <p:cNvSpPr/>
          <p:nvPr/>
        </p:nvSpPr>
        <p:spPr>
          <a:xfrm>
            <a:off x="457200" y="1143000"/>
            <a:ext cx="2286000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F3D2B">
                <a:alpha val="14000"/>
              </a:srgbClr>
            </a:outerShdw>
          </a:effectLst>
        </p:spPr>
      </p:sp>
      <p:sp>
        <p:nvSpPr>
          <p:cNvPr id="5" name="6 months stat"/>
          <p:cNvSpPr txBox="1"/>
          <p:nvPr/>
        </p:nvSpPr>
        <p:spPr>
          <a:xfrm>
            <a:off x="640080" y="12801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il-PH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 buwan</a:t>
            </a:r>
            <a:endParaRPr lang="fil-PH" sz="2400" dirty="0"/>
          </a:p>
        </p:txBody>
      </p:sp>
      <p:sp>
        <p:nvSpPr>
          <p:cNvPr id="6" name="6 months text"/>
          <p:cNvSpPr txBox="1"/>
          <p:nvPr/>
        </p:nvSpPr>
        <p:spPr>
          <a:xfrm>
            <a:off x="640080" y="18288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il-PH" sz="1400" dirty="0">
                <a:solidFill>
                  <a:schemeClr val="tx2"/>
                </a:solidFill>
              </a:rPr>
              <a:t>Eksklusibong pagpapasuso</a:t>
            </a:r>
            <a:endParaRPr lang="fil-PH" sz="1400" dirty="0"/>
          </a:p>
        </p:txBody>
      </p:sp>
      <p:sp>
        <p:nvSpPr>
          <p:cNvPr id="7" name="Stat 2 years+"/>
          <p:cNvSpPr/>
          <p:nvPr/>
        </p:nvSpPr>
        <p:spPr>
          <a:xfrm>
            <a:off x="457200" y="2926080"/>
            <a:ext cx="2286000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F3D2B">
                <a:alpha val="14000"/>
              </a:srgbClr>
            </a:outerShdw>
          </a:effectLst>
        </p:spPr>
      </p:sp>
      <p:sp>
        <p:nvSpPr>
          <p:cNvPr id="8" name="2 years+ stat"/>
          <p:cNvSpPr txBox="1"/>
          <p:nvPr/>
        </p:nvSpPr>
        <p:spPr>
          <a:xfrm>
            <a:off x="640080" y="30632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il-PH" sz="2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 taon+</a:t>
            </a:r>
            <a:endParaRPr lang="fil-PH" sz="2400" dirty="0"/>
          </a:p>
        </p:txBody>
      </p:sp>
      <p:sp>
        <p:nvSpPr>
          <p:cNvPr id="9" name="2 years+ text"/>
          <p:cNvSpPr txBox="1"/>
          <p:nvPr/>
        </p:nvSpPr>
        <p:spPr>
          <a:xfrm>
            <a:off x="640080" y="36118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il-PH" sz="1400" dirty="0">
                <a:solidFill>
                  <a:schemeClr val="tx2"/>
                </a:solidFill>
              </a:rPr>
              <a:t>Ituloy ang pagpapasuso kasabay ng pagkain</a:t>
            </a:r>
            <a:endParaRPr lang="fil-PH" sz="1400" dirty="0"/>
          </a:p>
        </p:txBody>
      </p:sp>
      <p:sp>
        <p:nvSpPr>
          <p:cNvPr id="10" name="Benefit 1"/>
          <p:cNvSpPr/>
          <p:nvPr/>
        </p:nvSpPr>
        <p:spPr>
          <a:xfrm>
            <a:off x="2971800" y="1143000"/>
            <a:ext cx="278892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F3D2B">
                <a:alpha val="14000"/>
              </a:srgbClr>
            </a:outerShdw>
          </a:effectLst>
        </p:spPr>
      </p:sp>
      <p:sp>
        <p:nvSpPr>
          <p:cNvPr id="11" name="Benefit 1 circle"/>
          <p:cNvSpPr/>
          <p:nvPr/>
        </p:nvSpPr>
        <p:spPr>
          <a:xfrm>
            <a:off x="3108960" y="1481328"/>
            <a:ext cx="420624" cy="42062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2" name="Benefit 1 glyph" descr="Benefit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8322" y="1590690"/>
            <a:ext cx="201900" cy="201900"/>
          </a:xfrm>
          <a:prstGeom prst="rect">
            <a:avLst/>
          </a:prstGeom>
        </p:spPr>
      </p:pic>
      <p:sp>
        <p:nvSpPr>
          <p:cNvPr id="13" name="Benefit 1 text"/>
          <p:cNvSpPr txBox="1"/>
          <p:nvPr/>
        </p:nvSpPr>
        <p:spPr>
          <a:xfrm>
            <a:off x="3657600" y="118872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il-PH" sz="1400" dirty="0">
                <a:solidFill>
                  <a:schemeClr val="tx1"/>
                </a:solidFill>
              </a:rPr>
              <a:t>Madaling tunawin at masipsip</a:t>
            </a:r>
            <a:endParaRPr lang="fil-PH" sz="1400" dirty="0"/>
          </a:p>
        </p:txBody>
      </p:sp>
      <p:sp>
        <p:nvSpPr>
          <p:cNvPr id="14" name="Benefit 2"/>
          <p:cNvSpPr/>
          <p:nvPr/>
        </p:nvSpPr>
        <p:spPr>
          <a:xfrm>
            <a:off x="5852160" y="1143000"/>
            <a:ext cx="278892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F3D2B">
                <a:alpha val="14000"/>
              </a:srgbClr>
            </a:outerShdw>
          </a:effectLst>
        </p:spPr>
      </p:sp>
      <p:sp>
        <p:nvSpPr>
          <p:cNvPr id="15" name="Benefit 2 circle"/>
          <p:cNvSpPr/>
          <p:nvPr/>
        </p:nvSpPr>
        <p:spPr>
          <a:xfrm>
            <a:off x="5989320" y="1481328"/>
            <a:ext cx="420624" cy="420624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6" name="Benefit 2 glyph" descr="Benefit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8682" y="1590690"/>
            <a:ext cx="201900" cy="201900"/>
          </a:xfrm>
          <a:prstGeom prst="rect">
            <a:avLst/>
          </a:prstGeom>
        </p:spPr>
      </p:pic>
      <p:sp>
        <p:nvSpPr>
          <p:cNvPr id="17" name="Benefit 2 text"/>
          <p:cNvSpPr txBox="1"/>
          <p:nvPr/>
        </p:nvSpPr>
        <p:spPr>
          <a:xfrm>
            <a:off x="6537960" y="118872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il-PH" sz="1400" dirty="0">
                <a:solidFill>
                  <a:schemeClr val="tx1"/>
                </a:solidFill>
              </a:rPr>
              <a:t>May antibodies</a:t>
            </a:r>
            <a:endParaRPr lang="fil-PH" sz="1400" dirty="0"/>
          </a:p>
        </p:txBody>
      </p:sp>
      <p:sp>
        <p:nvSpPr>
          <p:cNvPr id="18" name="Benefit 3"/>
          <p:cNvSpPr/>
          <p:nvPr/>
        </p:nvSpPr>
        <p:spPr>
          <a:xfrm>
            <a:off x="2971800" y="2331720"/>
            <a:ext cx="278892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F3D2B">
                <a:alpha val="14000"/>
              </a:srgbClr>
            </a:outerShdw>
          </a:effectLst>
        </p:spPr>
      </p:sp>
      <p:sp>
        <p:nvSpPr>
          <p:cNvPr id="19" name="Benefit 3 circle"/>
          <p:cNvSpPr/>
          <p:nvPr/>
        </p:nvSpPr>
        <p:spPr>
          <a:xfrm>
            <a:off x="3108960" y="2670048"/>
            <a:ext cx="420624" cy="42062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0" name="Benefit 3 glyph" descr="Benefit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8322" y="2779410"/>
            <a:ext cx="201900" cy="201900"/>
          </a:xfrm>
          <a:prstGeom prst="rect">
            <a:avLst/>
          </a:prstGeom>
        </p:spPr>
      </p:pic>
      <p:sp>
        <p:nvSpPr>
          <p:cNvPr id="21" name="Benefit 3 text"/>
          <p:cNvSpPr txBox="1"/>
          <p:nvPr/>
        </p:nvSpPr>
        <p:spPr>
          <a:xfrm>
            <a:off x="3657600" y="237744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il-PH" sz="1400" dirty="0">
                <a:solidFill>
                  <a:schemeClr val="tx1"/>
                </a:solidFill>
              </a:rPr>
              <a:t>Ang DHA ay tumutulong sa pag-unlad ng utak at talino</a:t>
            </a:r>
            <a:endParaRPr lang="fil-PH" sz="1400" dirty="0"/>
          </a:p>
        </p:txBody>
      </p:sp>
      <p:sp>
        <p:nvSpPr>
          <p:cNvPr id="22" name="Benefit 4"/>
          <p:cNvSpPr/>
          <p:nvPr/>
        </p:nvSpPr>
        <p:spPr>
          <a:xfrm>
            <a:off x="5852160" y="2331720"/>
            <a:ext cx="278892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F3D2B">
                <a:alpha val="14000"/>
              </a:srgbClr>
            </a:outerShdw>
          </a:effectLst>
        </p:spPr>
      </p:sp>
      <p:sp>
        <p:nvSpPr>
          <p:cNvPr id="23" name="Benefit 4 circle"/>
          <p:cNvSpPr/>
          <p:nvPr/>
        </p:nvSpPr>
        <p:spPr>
          <a:xfrm>
            <a:off x="5989320" y="2670048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4" name="Benefit 4 glyph" descr="Benefit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8682" y="2779410"/>
            <a:ext cx="201900" cy="201900"/>
          </a:xfrm>
          <a:prstGeom prst="rect">
            <a:avLst/>
          </a:prstGeom>
        </p:spPr>
      </p:pic>
      <p:sp>
        <p:nvSpPr>
          <p:cNvPr id="25" name="Benefit 4 text"/>
          <p:cNvSpPr txBox="1"/>
          <p:nvPr/>
        </p:nvSpPr>
        <p:spPr>
          <a:xfrm>
            <a:off x="6537960" y="237744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il-PH" sz="1400" dirty="0">
                <a:solidFill>
                  <a:schemeClr val="tx1"/>
                </a:solidFill>
              </a:rPr>
              <a:t>Nagpapatibay ng ugnayan ng mag-ina</a:t>
            </a:r>
            <a:endParaRPr lang="fil-PH" sz="1400" dirty="0"/>
          </a:p>
        </p:txBody>
      </p:sp>
      <p:sp>
        <p:nvSpPr>
          <p:cNvPr id="26" name="Benefit 5"/>
          <p:cNvSpPr/>
          <p:nvPr/>
        </p:nvSpPr>
        <p:spPr>
          <a:xfrm>
            <a:off x="2971800" y="3520440"/>
            <a:ext cx="278892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F3D2B">
                <a:alpha val="14000"/>
              </a:srgbClr>
            </a:outerShdw>
          </a:effectLst>
        </p:spPr>
      </p:sp>
      <p:sp>
        <p:nvSpPr>
          <p:cNvPr id="27" name="Benefit 5 circle"/>
          <p:cNvSpPr/>
          <p:nvPr/>
        </p:nvSpPr>
        <p:spPr>
          <a:xfrm>
            <a:off x="3108960" y="385876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8" name="Benefit 5 glyph" descr="Benefit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18322" y="3968130"/>
            <a:ext cx="201900" cy="201900"/>
          </a:xfrm>
          <a:prstGeom prst="rect">
            <a:avLst/>
          </a:prstGeom>
        </p:spPr>
      </p:pic>
      <p:sp>
        <p:nvSpPr>
          <p:cNvPr id="29" name="Benefit 5 text"/>
          <p:cNvSpPr txBox="1"/>
          <p:nvPr/>
        </p:nvSpPr>
        <p:spPr>
          <a:xfrm>
            <a:off x="3657600" y="356616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il-PH" sz="1400" dirty="0">
                <a:solidFill>
                  <a:schemeClr val="tx1"/>
                </a:solidFill>
              </a:rPr>
              <a:t>Pinoprotektahan ang ina laban sa kanser sa suso, matris at obaryo, labis na timbang at pagdurugo</a:t>
            </a:r>
            <a:endParaRPr lang="fil-PH" sz="1400" dirty="0"/>
          </a:p>
        </p:txBody>
      </p:sp>
      <p:sp>
        <p:nvSpPr>
          <p:cNvPr id="30" name="Benefit 6"/>
          <p:cNvSpPr/>
          <p:nvPr/>
        </p:nvSpPr>
        <p:spPr>
          <a:xfrm>
            <a:off x="5852160" y="3520440"/>
            <a:ext cx="278892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F3D2B">
                <a:alpha val="14000"/>
              </a:srgbClr>
            </a:outerShdw>
          </a:effectLst>
        </p:spPr>
      </p:sp>
      <p:sp>
        <p:nvSpPr>
          <p:cNvPr id="31" name="Benefit 6 circle"/>
          <p:cNvSpPr/>
          <p:nvPr/>
        </p:nvSpPr>
        <p:spPr>
          <a:xfrm>
            <a:off x="5989320" y="3858768"/>
            <a:ext cx="420624" cy="42062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2" name="Benefit 6 glyph" descr="Benefit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8682" y="3968130"/>
            <a:ext cx="201900" cy="201900"/>
          </a:xfrm>
          <a:prstGeom prst="rect">
            <a:avLst/>
          </a:prstGeom>
        </p:spPr>
      </p:pic>
      <p:sp>
        <p:nvSpPr>
          <p:cNvPr id="33" name="Benefit 6 text"/>
          <p:cNvSpPr txBox="1"/>
          <p:nvPr/>
        </p:nvSpPr>
        <p:spPr>
          <a:xfrm>
            <a:off x="6537960" y="356616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il-PH" sz="1400" dirty="0">
                <a:solidFill>
                  <a:schemeClr val="tx1"/>
                </a:solidFill>
              </a:rPr>
              <a:t>Mas mabilis bumalik sa timbang bago magbuntis, at malaking tipid ng pamilya</a:t>
            </a:r>
            <a:endParaRPr lang="fil-PH" sz="1400" dirty="0"/>
          </a:p>
        </p:txBody>
      </p:sp>
      <p:sp>
        <p:nvSpPr>
          <p:cNvPr id="34" name="Back button">
            <a:hlinkClick r:id="rId3" action="ppaction://hlinksldjump" tooltip="Previous slide"/>
          </p:cNvPr>
          <p:cNvSpPr/>
          <p:nvPr/>
        </p:nvSpPr>
        <p:spPr>
          <a:xfrm>
            <a:off x="6446520" y="4636008"/>
            <a:ext cx="1051560" cy="3474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il-PH" sz="1400" b="1" dirty="0">
                <a:solidFill>
                  <a:schemeClr val="tx1"/>
                </a:solidFill>
              </a:rPr>
              <a:t>‹ Bumalik</a:t>
            </a:r>
            <a:endParaRPr lang="fil-PH" sz="1400" dirty="0"/>
          </a:p>
        </p:txBody>
      </p:sp>
      <p:sp>
        <p:nvSpPr>
          <p:cNvPr id="35" name="Next button">
            <a:hlinkClick r:id="rId10" action="ppaction://hlinksldjump" tooltip="Next slide"/>
          </p:cNvPr>
          <p:cNvSpPr/>
          <p:nvPr/>
        </p:nvSpPr>
        <p:spPr>
          <a:xfrm>
            <a:off x="7589520" y="4636008"/>
            <a:ext cx="1097280" cy="34747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il-PH" sz="1400" b="1" dirty="0">
                <a:solidFill>
                  <a:schemeClr val="bg1"/>
                </a:solidFill>
              </a:rPr>
              <a:t>Susunod ›</a:t>
            </a:r>
            <a:endParaRPr lang="fil-PH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il-PH" sz="3000" b="1" dirty="0">
                <a:solidFill>
                  <a:schemeClr val="tx1"/>
                </a:solidFill>
              </a:rPr>
              <a:t>Solidong pagkain sa 6 buwan</a:t>
            </a:r>
            <a:endParaRPr lang="fil-PH" sz="3000" dirty="0"/>
          </a:p>
        </p:txBody>
      </p:sp>
      <p:sp>
        <p:nvSpPr>
          <p:cNvPr id="3" name="Menu button">
            <a:hlinkClick r:id="rId3" action="ppaction://hlinksldjump" tooltip="Back to the topic menu"/>
          </p:cNvPr>
          <p:cNvSpPr/>
          <p:nvPr/>
        </p:nvSpPr>
        <p:spPr>
          <a:xfrm>
            <a:off x="7635240" y="365760"/>
            <a:ext cx="1051560" cy="36576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il-PH" sz="1400" b="1" dirty="0">
                <a:solidFill>
                  <a:schemeClr val="bg1"/>
                </a:solidFill>
              </a:rPr>
              <a:t>Menu</a:t>
            </a:r>
            <a:endParaRPr lang="fil-PH" sz="1400" dirty="0"/>
          </a:p>
        </p:txBody>
      </p:sp>
      <p:pic>
        <p:nvPicPr>
          <p:cNvPr id="4" name="Boys eating photo" descr="Two young boys eating apple slices with forks at a tab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143000"/>
            <a:ext cx="8229600" cy="1463040"/>
          </a:xfrm>
          <a:prstGeom prst="rect">
            <a:avLst/>
          </a:prstGeom>
        </p:spPr>
      </p:pic>
      <p:sp>
        <p:nvSpPr>
          <p:cNvPr id="5" name="Principle Timely"/>
          <p:cNvSpPr/>
          <p:nvPr/>
        </p:nvSpPr>
        <p:spPr>
          <a:xfrm>
            <a:off x="457200" y="2788920"/>
            <a:ext cx="1920240" cy="178308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F3D2B">
                <a:alpha val="14000"/>
              </a:srgbClr>
            </a:outerShdw>
          </a:effectLst>
        </p:spPr>
      </p:sp>
      <p:sp>
        <p:nvSpPr>
          <p:cNvPr id="6" name="Timely circle"/>
          <p:cNvSpPr/>
          <p:nvPr/>
        </p:nvSpPr>
        <p:spPr>
          <a:xfrm>
            <a:off x="621792" y="29260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Timely glyph" descr="Timel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" y="3044952"/>
            <a:ext cx="219456" cy="219456"/>
          </a:xfrm>
          <a:prstGeom prst="rect">
            <a:avLst/>
          </a:prstGeom>
        </p:spPr>
      </p:pic>
      <p:sp>
        <p:nvSpPr>
          <p:cNvPr id="8" name="Timely heading"/>
          <p:cNvSpPr txBox="1"/>
          <p:nvPr/>
        </p:nvSpPr>
        <p:spPr>
          <a:xfrm>
            <a:off x="1170432" y="292608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il-PH" sz="1600" b="1" dirty="0">
                <a:solidFill>
                  <a:schemeClr val="tx1"/>
                </a:solidFill>
              </a:rPr>
              <a:t>Nasa oras</a:t>
            </a:r>
            <a:endParaRPr lang="fil-PH" sz="1600" dirty="0"/>
          </a:p>
        </p:txBody>
      </p:sp>
      <p:sp>
        <p:nvSpPr>
          <p:cNvPr id="9" name="Timely text"/>
          <p:cNvSpPr txBox="1"/>
          <p:nvPr/>
        </p:nvSpPr>
        <p:spPr>
          <a:xfrm>
            <a:off x="621792" y="3493008"/>
            <a:ext cx="1627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il-PH" sz="1400" dirty="0">
                <a:solidFill>
                  <a:schemeClr val="tx2"/>
                </a:solidFill>
              </a:rPr>
              <a:t>Simulan ang complementary foods sa 6 buwan.</a:t>
            </a:r>
            <a:endParaRPr lang="fil-PH" sz="1400" dirty="0"/>
          </a:p>
        </p:txBody>
      </p:sp>
      <p:sp>
        <p:nvSpPr>
          <p:cNvPr id="10" name="Principle Adequate"/>
          <p:cNvSpPr/>
          <p:nvPr/>
        </p:nvSpPr>
        <p:spPr>
          <a:xfrm>
            <a:off x="2560320" y="2788920"/>
            <a:ext cx="1920240" cy="178308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F3D2B">
                <a:alpha val="14000"/>
              </a:srgbClr>
            </a:outerShdw>
          </a:effectLst>
        </p:spPr>
      </p:sp>
      <p:sp>
        <p:nvSpPr>
          <p:cNvPr id="11" name="Adequate circle"/>
          <p:cNvSpPr/>
          <p:nvPr/>
        </p:nvSpPr>
        <p:spPr>
          <a:xfrm>
            <a:off x="2724912" y="292608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2" name="Adequate glyph" descr="Adequat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43784" y="3044952"/>
            <a:ext cx="219456" cy="219456"/>
          </a:xfrm>
          <a:prstGeom prst="rect">
            <a:avLst/>
          </a:prstGeom>
        </p:spPr>
      </p:pic>
      <p:sp>
        <p:nvSpPr>
          <p:cNvPr id="13" name="Adequate heading"/>
          <p:cNvSpPr txBox="1"/>
          <p:nvPr/>
        </p:nvSpPr>
        <p:spPr>
          <a:xfrm>
            <a:off x="3273552" y="292608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il-PH" sz="1600" b="1" dirty="0">
                <a:solidFill>
                  <a:schemeClr val="tx1"/>
                </a:solidFill>
              </a:rPr>
              <a:t>Sapat</a:t>
            </a:r>
            <a:endParaRPr lang="fil-PH" sz="1600" dirty="0"/>
          </a:p>
        </p:txBody>
      </p:sp>
      <p:sp>
        <p:nvSpPr>
          <p:cNvPr id="14" name="Adequate text"/>
          <p:cNvSpPr txBox="1"/>
          <p:nvPr/>
        </p:nvSpPr>
        <p:spPr>
          <a:xfrm>
            <a:off x="2724912" y="3493008"/>
            <a:ext cx="1627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il-PH" sz="1400" dirty="0">
                <a:solidFill>
                  <a:schemeClr val="tx2"/>
                </a:solidFill>
              </a:rPr>
              <a:t>Magplano gamit ang PSRGN Dietary Prescription Food Guide Pyramid.</a:t>
            </a:r>
            <a:endParaRPr lang="fil-PH" sz="1400" dirty="0"/>
          </a:p>
        </p:txBody>
      </p:sp>
      <p:sp>
        <p:nvSpPr>
          <p:cNvPr id="15" name="Principle Safe"/>
          <p:cNvSpPr/>
          <p:nvPr/>
        </p:nvSpPr>
        <p:spPr>
          <a:xfrm>
            <a:off x="4663440" y="2788920"/>
            <a:ext cx="1920240" cy="178308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F3D2B">
                <a:alpha val="14000"/>
              </a:srgbClr>
            </a:outerShdw>
          </a:effectLst>
        </p:spPr>
      </p:sp>
      <p:sp>
        <p:nvSpPr>
          <p:cNvPr id="16" name="Safe circle"/>
          <p:cNvSpPr/>
          <p:nvPr/>
        </p:nvSpPr>
        <p:spPr>
          <a:xfrm>
            <a:off x="4828032" y="2926080"/>
            <a:ext cx="457200" cy="4572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7" name="Safe glyph" descr="Saf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46904" y="3044952"/>
            <a:ext cx="219456" cy="219456"/>
          </a:xfrm>
          <a:prstGeom prst="rect">
            <a:avLst/>
          </a:prstGeom>
        </p:spPr>
      </p:pic>
      <p:sp>
        <p:nvSpPr>
          <p:cNvPr id="18" name="Safe heading"/>
          <p:cNvSpPr txBox="1"/>
          <p:nvPr/>
        </p:nvSpPr>
        <p:spPr>
          <a:xfrm>
            <a:off x="5376672" y="292608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il-PH" sz="1600" b="1" dirty="0">
                <a:solidFill>
                  <a:schemeClr val="tx1"/>
                </a:solidFill>
              </a:rPr>
              <a:t>Ligtas</a:t>
            </a:r>
            <a:endParaRPr lang="fil-PH" sz="1600" dirty="0"/>
          </a:p>
        </p:txBody>
      </p:sp>
      <p:sp>
        <p:nvSpPr>
          <p:cNvPr id="19" name="Safe text"/>
          <p:cNvSpPr txBox="1"/>
          <p:nvPr/>
        </p:nvSpPr>
        <p:spPr>
          <a:xfrm>
            <a:off x="4828032" y="3493008"/>
            <a:ext cx="1627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il-PH" sz="1400" dirty="0">
                <a:solidFill>
                  <a:schemeClr val="tx2"/>
                </a:solidFill>
              </a:rPr>
              <a:t>Huwag maglagay ng asin bago mag-isang taon.</a:t>
            </a:r>
            <a:endParaRPr lang="fil-PH" sz="1400" dirty="0"/>
          </a:p>
        </p:txBody>
      </p:sp>
      <p:sp>
        <p:nvSpPr>
          <p:cNvPr id="20" name="Principle Properly fed"/>
          <p:cNvSpPr/>
          <p:nvPr/>
        </p:nvSpPr>
        <p:spPr>
          <a:xfrm>
            <a:off x="6766560" y="2788920"/>
            <a:ext cx="1920240" cy="178308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F3D2B">
                <a:alpha val="14000"/>
              </a:srgbClr>
            </a:outerShdw>
          </a:effectLst>
        </p:spPr>
      </p:sp>
      <p:sp>
        <p:nvSpPr>
          <p:cNvPr id="21" name="Properly fed circle"/>
          <p:cNvSpPr/>
          <p:nvPr/>
        </p:nvSpPr>
        <p:spPr>
          <a:xfrm>
            <a:off x="6931152" y="29260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2" name="Properly fed glyph" descr="Properly fed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50024" y="3044952"/>
            <a:ext cx="219456" cy="219456"/>
          </a:xfrm>
          <a:prstGeom prst="rect">
            <a:avLst/>
          </a:prstGeom>
        </p:spPr>
      </p:pic>
      <p:sp>
        <p:nvSpPr>
          <p:cNvPr id="23" name="Properly fed heading"/>
          <p:cNvSpPr txBox="1"/>
          <p:nvPr/>
        </p:nvSpPr>
        <p:spPr>
          <a:xfrm>
            <a:off x="7479792" y="292608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il-PH" sz="1600" b="1" dirty="0">
                <a:solidFill>
                  <a:schemeClr val="tx1"/>
                </a:solidFill>
              </a:rPr>
              <a:t>Wasto</a:t>
            </a:r>
            <a:endParaRPr lang="fil-PH" sz="1600" dirty="0"/>
          </a:p>
        </p:txBody>
      </p:sp>
      <p:sp>
        <p:nvSpPr>
          <p:cNvPr id="24" name="Properly fed text"/>
          <p:cNvSpPr txBox="1"/>
          <p:nvPr/>
        </p:nvSpPr>
        <p:spPr>
          <a:xfrm>
            <a:off x="6931152" y="3493008"/>
            <a:ext cx="1627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il-PH" sz="1400" dirty="0">
                <a:solidFill>
                  <a:schemeClr val="tx2"/>
                </a:solidFill>
              </a:rPr>
              <a:t>Magsanay ng responsive feeding (tumutugong pagpapakain).</a:t>
            </a:r>
            <a:endParaRPr lang="fil-PH" sz="1400" dirty="0"/>
          </a:p>
        </p:txBody>
      </p:sp>
      <p:sp>
        <p:nvSpPr>
          <p:cNvPr id="25" name="Back button">
            <a:hlinkClick r:id="rId9" action="ppaction://hlinksldjump" tooltip="Previous slide"/>
          </p:cNvPr>
          <p:cNvSpPr/>
          <p:nvPr/>
        </p:nvSpPr>
        <p:spPr>
          <a:xfrm>
            <a:off x="6446520" y="4636008"/>
            <a:ext cx="1051560" cy="3474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il-PH" sz="1400" b="1" dirty="0">
                <a:solidFill>
                  <a:schemeClr val="tx1"/>
                </a:solidFill>
              </a:rPr>
              <a:t>‹ Bumalik</a:t>
            </a:r>
            <a:endParaRPr lang="fil-PH" sz="1400" dirty="0"/>
          </a:p>
        </p:txBody>
      </p:sp>
      <p:sp>
        <p:nvSpPr>
          <p:cNvPr id="26" name="Next button">
            <a:hlinkClick r:id="rId10" action="ppaction://hlinksldjump" tooltip="Next slide"/>
          </p:cNvPr>
          <p:cNvSpPr/>
          <p:nvPr/>
        </p:nvSpPr>
        <p:spPr>
          <a:xfrm>
            <a:off x="7589520" y="4636008"/>
            <a:ext cx="1097280" cy="34747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il-PH" sz="1400" b="1" dirty="0">
                <a:solidFill>
                  <a:schemeClr val="bg1"/>
                </a:solidFill>
              </a:rPr>
              <a:t>Susunod ›</a:t>
            </a:r>
            <a:endParaRPr lang="fil-PH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il-PH" sz="3000" b="1" dirty="0">
                <a:solidFill>
                  <a:schemeClr val="tx1"/>
                </a:solidFill>
              </a:rPr>
              <a:t>Tekstura at dalas</a:t>
            </a:r>
            <a:endParaRPr lang="fil-PH" sz="3000" dirty="0"/>
          </a:p>
        </p:txBody>
      </p:sp>
      <p:sp>
        <p:nvSpPr>
          <p:cNvPr id="3" name="Menu button">
            <a:hlinkClick r:id="rId3" action="ppaction://hlinksldjump" tooltip="Back to the topic menu"/>
          </p:cNvPr>
          <p:cNvSpPr/>
          <p:nvPr/>
        </p:nvSpPr>
        <p:spPr>
          <a:xfrm>
            <a:off x="7635240" y="365760"/>
            <a:ext cx="1051560" cy="36576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il-PH" sz="1400" b="1" dirty="0">
                <a:solidFill>
                  <a:schemeClr val="bg1"/>
                </a:solidFill>
              </a:rPr>
              <a:t>Menu</a:t>
            </a:r>
            <a:endParaRPr lang="fil-PH" sz="1400" dirty="0"/>
          </a:p>
        </p:txBody>
      </p:sp>
      <p:sp>
        <p:nvSpPr>
          <p:cNvPr id="4" name="Timeline line"/>
          <p:cNvSpPr/>
          <p:nvPr/>
        </p:nvSpPr>
        <p:spPr>
          <a:xfrm>
            <a:off x="1417320" y="1481328"/>
            <a:ext cx="6309360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</a:ln>
        </p:spPr>
      </p:sp>
      <p:sp>
        <p:nvSpPr>
          <p:cNvPr id="5" name="Month 6 badge"/>
          <p:cNvSpPr/>
          <p:nvPr/>
        </p:nvSpPr>
        <p:spPr>
          <a:xfrm>
            <a:off x="1097280" y="1161288"/>
            <a:ext cx="640080" cy="64008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2"/>
            </a:solidFill>
            <a:prstDash val="solid"/>
          </a:ln>
        </p:spPr>
      </p:sp>
      <p:sp>
        <p:nvSpPr>
          <p:cNvPr id="6" name="Month 6 number"/>
          <p:cNvSpPr txBox="1"/>
          <p:nvPr/>
        </p:nvSpPr>
        <p:spPr>
          <a:xfrm>
            <a:off x="1097280" y="11612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il-PH" sz="2000" b="1" dirty="0">
                <a:solidFill>
                  <a:schemeClr val="bg1"/>
                </a:solidFill>
              </a:rPr>
              <a:t>6</a:t>
            </a:r>
            <a:endParaRPr lang="fil-PH" sz="2000" dirty="0"/>
          </a:p>
        </p:txBody>
      </p:sp>
      <p:sp>
        <p:nvSpPr>
          <p:cNvPr id="7" name="Month 6 label"/>
          <p:cNvSpPr txBox="1"/>
          <p:nvPr/>
        </p:nvSpPr>
        <p:spPr>
          <a:xfrm>
            <a:off x="457200" y="18745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fil-PH" sz="1600" b="1" dirty="0">
                <a:solidFill>
                  <a:schemeClr val="tx1"/>
                </a:solidFill>
              </a:rPr>
              <a:t>Minasang pagkain</a:t>
            </a:r>
            <a:endParaRPr lang="fil-PH" sz="1600" dirty="0"/>
          </a:p>
          <a:p>
            <a:pPr marL="0" indent="0" algn="ctr">
              <a:buNone/>
            </a:pPr>
            <a:r>
              <a:rPr lang="fil-PH" sz="1400" dirty="0">
                <a:solidFill>
                  <a:schemeClr val="tx2"/>
                </a:solidFill>
              </a:rPr>
              <a:t>sa 6 buwan</a:t>
            </a:r>
            <a:endParaRPr lang="fil-PH" sz="1600" dirty="0"/>
          </a:p>
        </p:txBody>
      </p:sp>
      <p:sp>
        <p:nvSpPr>
          <p:cNvPr id="8" name="Month 8 badge"/>
          <p:cNvSpPr/>
          <p:nvPr/>
        </p:nvSpPr>
        <p:spPr>
          <a:xfrm>
            <a:off x="3200400" y="1161288"/>
            <a:ext cx="640080" cy="64008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2"/>
            </a:solidFill>
            <a:prstDash val="solid"/>
          </a:ln>
        </p:spPr>
      </p:sp>
      <p:sp>
        <p:nvSpPr>
          <p:cNvPr id="9" name="Month 8 number"/>
          <p:cNvSpPr txBox="1"/>
          <p:nvPr/>
        </p:nvSpPr>
        <p:spPr>
          <a:xfrm>
            <a:off x="3200400" y="11612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il-PH" sz="2000" b="1" dirty="0">
                <a:solidFill>
                  <a:schemeClr val="bg1"/>
                </a:solidFill>
              </a:rPr>
              <a:t>8</a:t>
            </a:r>
            <a:endParaRPr lang="fil-PH" sz="2000" dirty="0"/>
          </a:p>
        </p:txBody>
      </p:sp>
      <p:sp>
        <p:nvSpPr>
          <p:cNvPr id="10" name="Month 8 label"/>
          <p:cNvSpPr txBox="1"/>
          <p:nvPr/>
        </p:nvSpPr>
        <p:spPr>
          <a:xfrm>
            <a:off x="2560320" y="18745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fil-PH" sz="1600" b="1" dirty="0">
                <a:solidFill>
                  <a:schemeClr val="tx1"/>
                </a:solidFill>
              </a:rPr>
              <a:t>Finger food</a:t>
            </a:r>
            <a:endParaRPr lang="fil-PH" sz="1600" dirty="0"/>
          </a:p>
          <a:p>
            <a:pPr marL="0" indent="0" algn="ctr">
              <a:buNone/>
            </a:pPr>
            <a:r>
              <a:rPr lang="fil-PH" sz="1400" dirty="0">
                <a:solidFill>
                  <a:schemeClr val="tx2"/>
                </a:solidFill>
              </a:rPr>
              <a:t>sa 8 buwan</a:t>
            </a:r>
            <a:endParaRPr lang="fil-PH" sz="1600" dirty="0"/>
          </a:p>
        </p:txBody>
      </p:sp>
      <p:sp>
        <p:nvSpPr>
          <p:cNvPr id="11" name="Month 10 badge"/>
          <p:cNvSpPr/>
          <p:nvPr/>
        </p:nvSpPr>
        <p:spPr>
          <a:xfrm>
            <a:off x="5303520" y="1161288"/>
            <a:ext cx="640080" cy="64008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2"/>
            </a:solidFill>
            <a:prstDash val="solid"/>
          </a:ln>
        </p:spPr>
      </p:sp>
      <p:sp>
        <p:nvSpPr>
          <p:cNvPr id="12" name="Month 10 number"/>
          <p:cNvSpPr txBox="1"/>
          <p:nvPr/>
        </p:nvSpPr>
        <p:spPr>
          <a:xfrm>
            <a:off x="5303520" y="11612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il-PH" sz="2000" b="1" dirty="0">
                <a:solidFill>
                  <a:schemeClr val="bg1"/>
                </a:solidFill>
              </a:rPr>
              <a:t>10</a:t>
            </a:r>
            <a:endParaRPr lang="fil-PH" sz="2000" dirty="0"/>
          </a:p>
        </p:txBody>
      </p:sp>
      <p:sp>
        <p:nvSpPr>
          <p:cNvPr id="13" name="Month 10 label"/>
          <p:cNvSpPr txBox="1"/>
          <p:nvPr/>
        </p:nvSpPr>
        <p:spPr>
          <a:xfrm>
            <a:off x="4663440" y="18745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fil-PH" sz="1600" b="1" dirty="0">
                <a:solidFill>
                  <a:schemeClr val="tx1"/>
                </a:solidFill>
              </a:rPr>
              <a:t>Magaspang o tinadtad</a:t>
            </a:r>
            <a:endParaRPr lang="fil-PH" sz="1600" dirty="0"/>
          </a:p>
          <a:p>
            <a:pPr marL="0" indent="0" algn="ctr">
              <a:buNone/>
            </a:pPr>
            <a:r>
              <a:rPr lang="fil-PH" sz="1400" dirty="0">
                <a:solidFill>
                  <a:schemeClr val="tx2"/>
                </a:solidFill>
              </a:rPr>
              <a:t>sa 10 buwan</a:t>
            </a:r>
            <a:endParaRPr lang="fil-PH" sz="1600" dirty="0"/>
          </a:p>
        </p:txBody>
      </p:sp>
      <p:sp>
        <p:nvSpPr>
          <p:cNvPr id="14" name="Month 12 badge"/>
          <p:cNvSpPr/>
          <p:nvPr/>
        </p:nvSpPr>
        <p:spPr>
          <a:xfrm>
            <a:off x="7406640" y="1161288"/>
            <a:ext cx="640080" cy="64008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2"/>
            </a:solidFill>
            <a:prstDash val="solid"/>
          </a:ln>
        </p:spPr>
      </p:sp>
      <p:sp>
        <p:nvSpPr>
          <p:cNvPr id="15" name="Month 12 number"/>
          <p:cNvSpPr txBox="1"/>
          <p:nvPr/>
        </p:nvSpPr>
        <p:spPr>
          <a:xfrm>
            <a:off x="7406640" y="11612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il-PH" sz="2000" b="1" dirty="0">
                <a:solidFill>
                  <a:schemeClr val="bg1"/>
                </a:solidFill>
              </a:rPr>
              <a:t>12</a:t>
            </a:r>
            <a:endParaRPr lang="fil-PH" sz="2000" dirty="0"/>
          </a:p>
        </p:txBody>
      </p:sp>
      <p:sp>
        <p:nvSpPr>
          <p:cNvPr id="16" name="Month 12 label"/>
          <p:cNvSpPr txBox="1"/>
          <p:nvPr/>
        </p:nvSpPr>
        <p:spPr>
          <a:xfrm>
            <a:off x="6766560" y="18745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fil-PH" sz="1600" b="1" dirty="0">
                <a:solidFill>
                  <a:schemeClr val="tx1"/>
                </a:solidFill>
              </a:rPr>
              <a:t>Pagkain ng pamilya</a:t>
            </a:r>
            <a:endParaRPr lang="fil-PH" sz="1600" dirty="0"/>
          </a:p>
          <a:p>
            <a:pPr marL="0" indent="0" algn="ctr">
              <a:buNone/>
            </a:pPr>
            <a:r>
              <a:rPr lang="fil-PH" sz="1400" dirty="0">
                <a:solidFill>
                  <a:schemeClr val="tx2"/>
                </a:solidFill>
              </a:rPr>
              <a:t>sa 12 buwan</a:t>
            </a:r>
            <a:endParaRPr lang="fil-PH" sz="1600" dirty="0"/>
          </a:p>
        </p:txBody>
      </p:sp>
      <p:sp>
        <p:nvSpPr>
          <p:cNvPr id="17" name="Card Go slowly"/>
          <p:cNvSpPr/>
          <p:nvPr/>
        </p:nvSpPr>
        <p:spPr>
          <a:xfrm>
            <a:off x="457200" y="2697480"/>
            <a:ext cx="2651760" cy="18288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F3D2B">
                <a:alpha val="14000"/>
              </a:srgbClr>
            </a:outerShdw>
          </a:effectLst>
        </p:spPr>
      </p:sp>
      <p:sp>
        <p:nvSpPr>
          <p:cNvPr id="18" name="Go slowly circle"/>
          <p:cNvSpPr/>
          <p:nvPr/>
        </p:nvSpPr>
        <p:spPr>
          <a:xfrm>
            <a:off x="640080" y="286207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Go slowly glyph" descr="Go slowl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2980944"/>
            <a:ext cx="219456" cy="219456"/>
          </a:xfrm>
          <a:prstGeom prst="rect">
            <a:avLst/>
          </a:prstGeom>
        </p:spPr>
      </p:pic>
      <p:sp>
        <p:nvSpPr>
          <p:cNvPr id="20" name="Go slowly heading"/>
          <p:cNvSpPr txBox="1"/>
          <p:nvPr/>
        </p:nvSpPr>
        <p:spPr>
          <a:xfrm>
            <a:off x="1207008" y="28620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il-PH" sz="1600" b="1" dirty="0">
                <a:solidFill>
                  <a:schemeClr val="tx1"/>
                </a:solidFill>
              </a:rPr>
              <a:t>Dahan-dahan</a:t>
            </a:r>
            <a:endParaRPr lang="fil-PH" sz="1600" dirty="0"/>
          </a:p>
        </p:txBody>
      </p:sp>
      <p:sp>
        <p:nvSpPr>
          <p:cNvPr id="21" name="Go slowly text"/>
          <p:cNvSpPr txBox="1"/>
          <p:nvPr/>
        </p:nvSpPr>
        <p:spPr>
          <a:xfrm>
            <a:off x="640080" y="3410712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il-PH" sz="1400" dirty="0">
                <a:solidFill>
                  <a:schemeClr val="tx2"/>
                </a:solidFill>
              </a:rPr>
              <a:t>Isang bagong pagkain bawat 3 araw. Simulan sa 1–2 kutsarita ng lugaw, cereal, prutas o gulay.</a:t>
            </a:r>
            <a:endParaRPr lang="fil-PH" sz="1400" dirty="0"/>
          </a:p>
        </p:txBody>
      </p:sp>
      <p:sp>
        <p:nvSpPr>
          <p:cNvPr id="22" name="Card How often"/>
          <p:cNvSpPr/>
          <p:nvPr/>
        </p:nvSpPr>
        <p:spPr>
          <a:xfrm>
            <a:off x="3246120" y="2697480"/>
            <a:ext cx="2651760" cy="18288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F3D2B">
                <a:alpha val="14000"/>
              </a:srgbClr>
            </a:outerShdw>
          </a:effectLst>
        </p:spPr>
      </p:sp>
      <p:sp>
        <p:nvSpPr>
          <p:cNvPr id="23" name="How often circle"/>
          <p:cNvSpPr/>
          <p:nvPr/>
        </p:nvSpPr>
        <p:spPr>
          <a:xfrm>
            <a:off x="3429000" y="2862072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4" name="How often glyph" descr="How ofte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7872" y="2980944"/>
            <a:ext cx="219456" cy="219456"/>
          </a:xfrm>
          <a:prstGeom prst="rect">
            <a:avLst/>
          </a:prstGeom>
        </p:spPr>
      </p:pic>
      <p:sp>
        <p:nvSpPr>
          <p:cNvPr id="25" name="How often heading"/>
          <p:cNvSpPr txBox="1"/>
          <p:nvPr/>
        </p:nvSpPr>
        <p:spPr>
          <a:xfrm>
            <a:off x="3995928" y="28620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il-PH" sz="1600" b="1" dirty="0">
                <a:solidFill>
                  <a:schemeClr val="tx1"/>
                </a:solidFill>
              </a:rPr>
              <a:t>Gaano kadalas</a:t>
            </a:r>
            <a:endParaRPr lang="fil-PH" sz="1600" dirty="0"/>
          </a:p>
        </p:txBody>
      </p:sp>
      <p:sp>
        <p:nvSpPr>
          <p:cNvPr id="26" name="How often text"/>
          <p:cNvSpPr txBox="1"/>
          <p:nvPr/>
        </p:nvSpPr>
        <p:spPr>
          <a:xfrm>
            <a:off x="3429000" y="3410712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il-PH" sz="1400" dirty="0">
                <a:solidFill>
                  <a:schemeClr val="tx2"/>
                </a:solidFill>
              </a:rPr>
              <a:t>2–3 beses isang araw sa 6–8 buwan. 3–4 beses isang araw mula 9 hanggang 24 buwan.</a:t>
            </a:r>
            <a:endParaRPr lang="fil-PH" sz="1400" dirty="0"/>
          </a:p>
        </p:txBody>
      </p:sp>
      <p:pic>
        <p:nvPicPr>
          <p:cNvPr id="27" name="Boy with vegetables photo" descr="A smiling boy reaching into a bowl of colorful vegetable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0" y="2697480"/>
            <a:ext cx="2651760" cy="1828800"/>
          </a:xfrm>
          <a:prstGeom prst="rect">
            <a:avLst/>
          </a:prstGeom>
        </p:spPr>
      </p:pic>
      <p:sp>
        <p:nvSpPr>
          <p:cNvPr id="28" name="Back button">
            <a:hlinkClick r:id="rId7" action="ppaction://hlinksldjump" tooltip="Previous slide"/>
          </p:cNvPr>
          <p:cNvSpPr/>
          <p:nvPr/>
        </p:nvSpPr>
        <p:spPr>
          <a:xfrm>
            <a:off x="6446520" y="4636008"/>
            <a:ext cx="1051560" cy="3474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il-PH" sz="1400" b="1" dirty="0">
                <a:solidFill>
                  <a:schemeClr val="tx1"/>
                </a:solidFill>
              </a:rPr>
              <a:t>‹ Bumalik</a:t>
            </a:r>
            <a:endParaRPr lang="fil-PH" sz="1400" dirty="0"/>
          </a:p>
        </p:txBody>
      </p:sp>
      <p:sp>
        <p:nvSpPr>
          <p:cNvPr id="29" name="Next button">
            <a:hlinkClick r:id="rId8" action="ppaction://hlinksldjump" tooltip="Next slide"/>
          </p:cNvPr>
          <p:cNvSpPr/>
          <p:nvPr/>
        </p:nvSpPr>
        <p:spPr>
          <a:xfrm>
            <a:off x="7589520" y="4636008"/>
            <a:ext cx="1097280" cy="34747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il-PH" sz="1400" b="1" dirty="0">
                <a:solidFill>
                  <a:schemeClr val="bg1"/>
                </a:solidFill>
              </a:rPr>
              <a:t>Susunod ›</a:t>
            </a:r>
            <a:endParaRPr lang="fil-PH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il-PH" sz="3000" b="1" dirty="0">
                <a:solidFill>
                  <a:schemeClr val="tx1"/>
                </a:solidFill>
              </a:rPr>
              <a:t>Pagbibigay ng iron</a:t>
            </a:r>
            <a:endParaRPr lang="fil-PH" sz="3000" dirty="0"/>
          </a:p>
        </p:txBody>
      </p:sp>
      <p:sp>
        <p:nvSpPr>
          <p:cNvPr id="3" name="Menu button">
            <a:hlinkClick r:id="rId3" action="ppaction://hlinksldjump" tooltip="Back to the topic menu"/>
          </p:cNvPr>
          <p:cNvSpPr/>
          <p:nvPr/>
        </p:nvSpPr>
        <p:spPr>
          <a:xfrm>
            <a:off x="7635240" y="365760"/>
            <a:ext cx="1051560" cy="36576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il-PH" sz="1400" b="1" dirty="0">
                <a:solidFill>
                  <a:schemeClr val="bg1"/>
                </a:solidFill>
              </a:rPr>
              <a:t>Menu</a:t>
            </a:r>
            <a:endParaRPr lang="fil-PH" sz="1400" dirty="0"/>
          </a:p>
        </p:txBody>
      </p:sp>
      <p:graphicFrame>
        <p:nvGraphicFramePr>
          <p:cNvPr id="7" name="Ir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5760720" cy="333756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il-PH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Sino</a:t>
                      </a:r>
                      <a:endParaRPr lang="fil-PH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0" marB="0" anchor="ctr">
                    <a:lnL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il-PH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Anyo</a:t>
                      </a:r>
                      <a:endParaRPr lang="fil-PH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0" marB="0" anchor="ctr">
                    <a:lnL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il-PH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Dosis at tagal</a:t>
                      </a:r>
                      <a:endParaRPr lang="fil-PH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0" marB="0" anchor="ctr">
                    <a:lnL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il-PH" sz="1400" b="1" dirty="0">
                          <a:solidFill>
                            <a:srgbClr val="1F3D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Maliit na timbang sa pagsilang</a:t>
                      </a:r>
                      <a:endParaRPr lang="fil-PH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0" marB="0" anchor="ctr">
                    <a:lnL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il-PH" sz="1400" dirty="0">
                          <a:solidFill>
                            <a:srgbClr val="3A5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Patak: 15 mg iron sa bawat 0.6 mL</a:t>
                      </a:r>
                      <a:endParaRPr lang="fil-PH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0" marB="0" anchor="ctr">
                    <a:lnL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il-PH" sz="1400" dirty="0">
                          <a:solidFill>
                            <a:srgbClr val="3A5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 mL isang beses isang araw, mula 2 hanggang 6 buwang gulang</a:t>
                      </a:r>
                      <a:endParaRPr lang="fil-PH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0" marB="0" anchor="ctr">
                    <a:lnL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il-PH" sz="1400" b="1" dirty="0">
                          <a:solidFill>
                            <a:srgbClr val="1F3D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Sanggol 6–11 buwan</a:t>
                      </a:r>
                      <a:endParaRPr lang="fil-PH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0" marB="0" anchor="ctr">
                    <a:lnL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il-PH" sz="1400" dirty="0">
                          <a:solidFill>
                            <a:srgbClr val="3A5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Patak: 15 mg iron sa bawat 0.6 mL</a:t>
                      </a:r>
                      <a:endParaRPr lang="fil-PH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0" marB="0" anchor="ctr">
                    <a:lnL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il-PH" sz="1400" dirty="0">
                          <a:solidFill>
                            <a:srgbClr val="3A5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 mL isang beses isang araw sa loob ng 3 buwan</a:t>
                      </a:r>
                      <a:endParaRPr lang="fil-PH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0" marB="0" anchor="ctr">
                    <a:lnL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il-PH" sz="1400" b="1" dirty="0">
                          <a:solidFill>
                            <a:srgbClr val="1F3D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Batang 1–5 taon</a:t>
                      </a:r>
                      <a:endParaRPr lang="fil-PH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0" marB="0" anchor="ctr">
                    <a:lnL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il-PH" sz="1400" dirty="0">
                          <a:solidFill>
                            <a:srgbClr val="3A5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Syrup: 30 mg iron sa bawat 5 mL</a:t>
                      </a:r>
                      <a:endParaRPr lang="fil-PH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0" marB="0" anchor="ctr">
                    <a:lnL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il-PH" sz="1400" dirty="0">
                          <a:solidFill>
                            <a:srgbClr val="3A5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kutsarita araw-araw sa loob ng 3 buwan, o 30 mg lingguhan sa loob ng 6 buwan</a:t>
                      </a:r>
                      <a:endParaRPr lang="fil-PH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0" marB="0" anchor="ctr">
                    <a:lnL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il-PH" sz="1400" b="1" dirty="0">
                          <a:solidFill>
                            <a:srgbClr val="1F3D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Dalagita 10–19 taon</a:t>
                      </a:r>
                      <a:endParaRPr lang="fil-PH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0" marB="0" anchor="ctr">
                    <a:lnL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il-PH" sz="1400" dirty="0">
                          <a:solidFill>
                            <a:srgbClr val="3A5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Tableta (may coating): 60 mg iron at 400 mcg folic acid</a:t>
                      </a:r>
                      <a:endParaRPr lang="fil-PH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0" marB="0" anchor="ctr">
                    <a:lnL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il-PH" sz="1400" dirty="0">
                          <a:solidFill>
                            <a:srgbClr val="3A5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Isang tableta araw-araw</a:t>
                      </a:r>
                      <a:endParaRPr lang="fil-PH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0" marB="0" anchor="ctr">
                    <a:lnL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" name="Strong girl photo" descr="A little girl flexing her arms in front of a pile of fruit and vegetable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1143000"/>
            <a:ext cx="2240280" cy="1700784"/>
          </a:xfrm>
          <a:prstGeom prst="rect">
            <a:avLst/>
          </a:prstGeom>
        </p:spPr>
      </p:pic>
      <p:sp>
        <p:nvSpPr>
          <p:cNvPr id="6" name="Why card"/>
          <p:cNvSpPr/>
          <p:nvPr/>
        </p:nvSpPr>
        <p:spPr>
          <a:xfrm>
            <a:off x="6446520" y="2971800"/>
            <a:ext cx="224028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F3D2B">
                <a:alpha val="14000"/>
              </a:srgbClr>
            </a:outerShdw>
          </a:effectLst>
        </p:spPr>
      </p:sp>
      <p:sp>
        <p:nvSpPr>
          <p:cNvPr id="4" name="Why heading"/>
          <p:cNvSpPr txBox="1"/>
          <p:nvPr/>
        </p:nvSpPr>
        <p:spPr>
          <a:xfrm>
            <a:off x="6583680" y="30449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il-PH" sz="1600" b="1" dirty="0">
                <a:solidFill>
                  <a:schemeClr val="tx1"/>
                </a:solidFill>
              </a:rPr>
              <a:t>Bakit mahalaga</a:t>
            </a:r>
            <a:endParaRPr lang="fil-PH" sz="1600" dirty="0"/>
          </a:p>
        </p:txBody>
      </p:sp>
      <p:sp>
        <p:nvSpPr>
          <p:cNvPr id="8" name="Why text"/>
          <p:cNvSpPr txBox="1"/>
          <p:nvPr/>
        </p:nvSpPr>
        <p:spPr>
          <a:xfrm>
            <a:off x="6583680" y="34290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il-PH" sz="1400" dirty="0">
                <a:solidFill>
                  <a:schemeClr val="tx2"/>
                </a:solidFill>
              </a:rPr>
              <a:t>Ang kulang sa iron ay may kaugnayan sa problema sa pag-iisip at paggalaw.</a:t>
            </a:r>
            <a:endParaRPr lang="fil-PH" sz="1400" dirty="0"/>
          </a:p>
        </p:txBody>
      </p:sp>
      <p:sp>
        <p:nvSpPr>
          <p:cNvPr id="10" name="Back button">
            <a:hlinkClick r:id="rId5" action="ppaction://hlinksldjump" tooltip="Previous slide"/>
          </p:cNvPr>
          <p:cNvSpPr/>
          <p:nvPr/>
        </p:nvSpPr>
        <p:spPr>
          <a:xfrm>
            <a:off x="6446520" y="4636008"/>
            <a:ext cx="1051560" cy="3474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il-PH" sz="1400" b="1" dirty="0">
                <a:solidFill>
                  <a:schemeClr val="tx1"/>
                </a:solidFill>
              </a:rPr>
              <a:t>‹ Bumalik</a:t>
            </a:r>
            <a:endParaRPr lang="fil-PH" sz="1400" dirty="0"/>
          </a:p>
        </p:txBody>
      </p:sp>
      <p:sp>
        <p:nvSpPr>
          <p:cNvPr id="11" name="Next button">
            <a:hlinkClick r:id="rId6" action="ppaction://hlinksldjump" tooltip="Next slide"/>
          </p:cNvPr>
          <p:cNvSpPr/>
          <p:nvPr/>
        </p:nvSpPr>
        <p:spPr>
          <a:xfrm>
            <a:off x="7589520" y="4636008"/>
            <a:ext cx="1097280" cy="34747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il-PH" sz="1400" b="1" dirty="0">
                <a:solidFill>
                  <a:schemeClr val="bg1"/>
                </a:solidFill>
              </a:rPr>
              <a:t>Susunod ›</a:t>
            </a:r>
            <a:endParaRPr lang="fil-PH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il-PH" sz="3000" b="1" dirty="0">
                <a:solidFill>
                  <a:schemeClr val="tx1"/>
                </a:solidFill>
              </a:rPr>
              <a:t>Vitamin A at zinc</a:t>
            </a:r>
            <a:endParaRPr lang="fil-PH" sz="3000" dirty="0"/>
          </a:p>
        </p:txBody>
      </p:sp>
      <p:sp>
        <p:nvSpPr>
          <p:cNvPr id="3" name="Menu button">
            <a:hlinkClick r:id="rId3" action="ppaction://hlinksldjump" tooltip="Back to the topic menu"/>
          </p:cNvPr>
          <p:cNvSpPr/>
          <p:nvPr/>
        </p:nvSpPr>
        <p:spPr>
          <a:xfrm>
            <a:off x="7635240" y="365760"/>
            <a:ext cx="1051560" cy="36576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il-PH" sz="1400" b="1" dirty="0">
                <a:solidFill>
                  <a:schemeClr val="bg1"/>
                </a:solidFill>
              </a:rPr>
              <a:t>Menu</a:t>
            </a:r>
            <a:endParaRPr lang="fil-PH" sz="1400" dirty="0"/>
          </a:p>
        </p:txBody>
      </p:sp>
      <p:sp>
        <p:nvSpPr>
          <p:cNvPr id="4" name="Stat 100,000 IU"/>
          <p:cNvSpPr/>
          <p:nvPr/>
        </p:nvSpPr>
        <p:spPr>
          <a:xfrm>
            <a:off x="457200" y="1143000"/>
            <a:ext cx="4023360" cy="173736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F3D2B">
                <a:alpha val="14000"/>
              </a:srgbClr>
            </a:outerShdw>
          </a:effectLst>
        </p:spPr>
      </p:sp>
      <p:sp>
        <p:nvSpPr>
          <p:cNvPr id="5" name="100,000 IU stat"/>
          <p:cNvSpPr txBox="1"/>
          <p:nvPr/>
        </p:nvSpPr>
        <p:spPr>
          <a:xfrm>
            <a:off x="640080" y="1280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il-PH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100,000 IU</a:t>
            </a:r>
            <a:endParaRPr lang="fil-PH" sz="2400" dirty="0"/>
          </a:p>
        </p:txBody>
      </p:sp>
      <p:sp>
        <p:nvSpPr>
          <p:cNvPr id="6" name="100,000 IU text"/>
          <p:cNvSpPr txBox="1"/>
          <p:nvPr/>
        </p:nvSpPr>
        <p:spPr>
          <a:xfrm>
            <a:off x="640080" y="182880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il-PH" sz="1400" dirty="0">
                <a:solidFill>
                  <a:schemeClr val="tx2"/>
                </a:solidFill>
              </a:rPr>
              <a:t>Sanggol 6 hanggang 11 buwan. Isang dosis lang, karaniwang sa 9 buwan.</a:t>
            </a:r>
            <a:endParaRPr lang="fil-PH" sz="1400" dirty="0"/>
          </a:p>
        </p:txBody>
      </p:sp>
      <p:sp>
        <p:nvSpPr>
          <p:cNvPr id="7" name="Stat 200,000 IU"/>
          <p:cNvSpPr/>
          <p:nvPr/>
        </p:nvSpPr>
        <p:spPr>
          <a:xfrm>
            <a:off x="4663440" y="1143000"/>
            <a:ext cx="4023360" cy="173736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F3D2B">
                <a:alpha val="14000"/>
              </a:srgbClr>
            </a:outerShdw>
          </a:effectLst>
        </p:spPr>
      </p:sp>
      <p:sp>
        <p:nvSpPr>
          <p:cNvPr id="8" name="200,000 IU stat"/>
          <p:cNvSpPr txBox="1"/>
          <p:nvPr/>
        </p:nvSpPr>
        <p:spPr>
          <a:xfrm>
            <a:off x="4846320" y="1280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il-PH" sz="2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200,000 IU</a:t>
            </a:r>
            <a:endParaRPr lang="fil-PH" sz="2400" dirty="0"/>
          </a:p>
        </p:txBody>
      </p:sp>
      <p:sp>
        <p:nvSpPr>
          <p:cNvPr id="9" name="200,000 IU text"/>
          <p:cNvSpPr txBox="1"/>
          <p:nvPr/>
        </p:nvSpPr>
        <p:spPr>
          <a:xfrm>
            <a:off x="4846320" y="182880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il-PH" sz="1400" dirty="0">
                <a:solidFill>
                  <a:schemeClr val="tx2"/>
                </a:solidFill>
              </a:rPr>
              <a:t>Batang 12 hanggang 59 buwan. Isang kapsula kada 6 buwan.</a:t>
            </a:r>
            <a:endParaRPr lang="fil-PH" sz="1400" dirty="0"/>
          </a:p>
        </p:txBody>
      </p:sp>
      <p:sp>
        <p:nvSpPr>
          <p:cNvPr id="10" name="Card Zinc"/>
          <p:cNvSpPr/>
          <p:nvPr/>
        </p:nvSpPr>
        <p:spPr>
          <a:xfrm>
            <a:off x="457200" y="3063240"/>
            <a:ext cx="822960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F3D2B">
                <a:alpha val="14000"/>
              </a:srgbClr>
            </a:outerShdw>
          </a:effectLst>
        </p:spPr>
      </p:sp>
      <p:sp>
        <p:nvSpPr>
          <p:cNvPr id="11" name="Zinc circle"/>
          <p:cNvSpPr/>
          <p:nvPr/>
        </p:nvSpPr>
        <p:spPr>
          <a:xfrm>
            <a:off x="640080" y="3227832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2" name="Zinc glyph" descr="Zinc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3346704"/>
            <a:ext cx="219456" cy="219456"/>
          </a:xfrm>
          <a:prstGeom prst="rect">
            <a:avLst/>
          </a:prstGeom>
        </p:spPr>
      </p:pic>
      <p:sp>
        <p:nvSpPr>
          <p:cNvPr id="13" name="Zinc heading"/>
          <p:cNvSpPr txBox="1"/>
          <p:nvPr/>
        </p:nvSpPr>
        <p:spPr>
          <a:xfrm>
            <a:off x="1207008" y="32278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il-PH" sz="1600" b="1" dirty="0">
                <a:solidFill>
                  <a:schemeClr val="tx1"/>
                </a:solidFill>
              </a:rPr>
              <a:t>Zinc</a:t>
            </a:r>
            <a:endParaRPr lang="fil-PH" sz="1600" dirty="0"/>
          </a:p>
        </p:txBody>
      </p:sp>
      <p:sp>
        <p:nvSpPr>
          <p:cNvPr id="14" name="Zinc text"/>
          <p:cNvSpPr txBox="1"/>
          <p:nvPr/>
        </p:nvSpPr>
        <p:spPr>
          <a:xfrm>
            <a:off x="640080" y="3776472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il-PH" sz="1400" dirty="0">
                <a:solidFill>
                  <a:schemeClr val="tx2"/>
                </a:solidFill>
              </a:rPr>
              <a:t>Nakatutulong ang zinc supplement na maiwasan ang pulmonya at pagtatae.</a:t>
            </a:r>
            <a:endParaRPr lang="fil-PH" sz="1400" dirty="0"/>
          </a:p>
        </p:txBody>
      </p:sp>
      <p:sp>
        <p:nvSpPr>
          <p:cNvPr id="16" name="Back button">
            <a:hlinkClick r:id="rId5" action="ppaction://hlinksldjump" tooltip="Previous slide"/>
          </p:cNvPr>
          <p:cNvSpPr/>
          <p:nvPr/>
        </p:nvSpPr>
        <p:spPr>
          <a:xfrm>
            <a:off x="6446520" y="4636008"/>
            <a:ext cx="1051560" cy="3474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il-PH" sz="1400" b="1" dirty="0">
                <a:solidFill>
                  <a:schemeClr val="tx1"/>
                </a:solidFill>
              </a:rPr>
              <a:t>‹ Bumalik</a:t>
            </a:r>
            <a:endParaRPr lang="fil-PH" sz="1400" dirty="0"/>
          </a:p>
        </p:txBody>
      </p:sp>
      <p:sp>
        <p:nvSpPr>
          <p:cNvPr id="17" name="Next button">
            <a:hlinkClick r:id="rId6" action="ppaction://hlinksldjump" tooltip="Next slide"/>
          </p:cNvPr>
          <p:cNvSpPr/>
          <p:nvPr/>
        </p:nvSpPr>
        <p:spPr>
          <a:xfrm>
            <a:off x="7589520" y="4636008"/>
            <a:ext cx="1097280" cy="34747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il-PH" sz="1400" b="1" dirty="0">
                <a:solidFill>
                  <a:schemeClr val="bg1"/>
                </a:solidFill>
              </a:rPr>
              <a:t>Susunod ›</a:t>
            </a:r>
            <a:endParaRPr lang="fil-PH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il-PH" sz="3000" b="1" dirty="0">
                <a:solidFill>
                  <a:schemeClr val="tx1"/>
                </a:solidFill>
              </a:rPr>
              <a:t>Pagpupurga kada 6 buwan</a:t>
            </a:r>
            <a:endParaRPr lang="fil-PH" sz="3000" dirty="0"/>
          </a:p>
        </p:txBody>
      </p:sp>
      <p:sp>
        <p:nvSpPr>
          <p:cNvPr id="3" name="Menu button">
            <a:hlinkClick r:id="rId3" action="ppaction://hlinksldjump" tooltip="Back to the topic menu"/>
          </p:cNvPr>
          <p:cNvSpPr/>
          <p:nvPr/>
        </p:nvSpPr>
        <p:spPr>
          <a:xfrm>
            <a:off x="7635240" y="365760"/>
            <a:ext cx="1051560" cy="36576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il-PH" sz="1400" b="1" dirty="0">
                <a:solidFill>
                  <a:schemeClr val="bg1"/>
                </a:solidFill>
              </a:rPr>
              <a:t>Menu</a:t>
            </a:r>
            <a:endParaRPr lang="fil-PH" sz="1400" dirty="0"/>
          </a:p>
        </p:txBody>
      </p:sp>
      <p:sp>
        <p:nvSpPr>
          <p:cNvPr id="4" name="Stat Albendazole"/>
          <p:cNvSpPr/>
          <p:nvPr/>
        </p:nvSpPr>
        <p:spPr>
          <a:xfrm>
            <a:off x="457200" y="1143000"/>
            <a:ext cx="4023360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F3D2B">
                <a:alpha val="14000"/>
              </a:srgbClr>
            </a:outerShdw>
          </a:effectLst>
        </p:spPr>
      </p:sp>
      <p:sp>
        <p:nvSpPr>
          <p:cNvPr id="5" name="Albendazole stat"/>
          <p:cNvSpPr txBox="1"/>
          <p:nvPr/>
        </p:nvSpPr>
        <p:spPr>
          <a:xfrm>
            <a:off x="640080" y="1280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il-PH" sz="2400" b="1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Albendazole</a:t>
            </a:r>
            <a:endParaRPr lang="fil-PH" sz="2400" dirty="0"/>
          </a:p>
        </p:txBody>
      </p:sp>
      <p:sp>
        <p:nvSpPr>
          <p:cNvPr id="6" name="Albendazole text"/>
          <p:cNvSpPr txBox="1"/>
          <p:nvPr/>
        </p:nvSpPr>
        <p:spPr>
          <a:xfrm>
            <a:off x="640080" y="18288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il-PH" sz="1400" dirty="0">
                <a:solidFill>
                  <a:schemeClr val="tx2"/>
                </a:solidFill>
              </a:rPr>
              <a:t>200 mg para sa 12–23 buwang gulang. 400 mg para sa 24 buwan pataas.</a:t>
            </a:r>
            <a:endParaRPr lang="fil-PH" sz="1400" dirty="0"/>
          </a:p>
        </p:txBody>
      </p:sp>
      <p:sp>
        <p:nvSpPr>
          <p:cNvPr id="7" name="Stat Mebendazole"/>
          <p:cNvSpPr/>
          <p:nvPr/>
        </p:nvSpPr>
        <p:spPr>
          <a:xfrm>
            <a:off x="4663440" y="1143000"/>
            <a:ext cx="4023360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F3D2B">
                <a:alpha val="14000"/>
              </a:srgbClr>
            </a:outerShdw>
          </a:effectLst>
        </p:spPr>
      </p:sp>
      <p:sp>
        <p:nvSpPr>
          <p:cNvPr id="8" name="Mebendazole stat"/>
          <p:cNvSpPr txBox="1"/>
          <p:nvPr/>
        </p:nvSpPr>
        <p:spPr>
          <a:xfrm>
            <a:off x="4846320" y="1280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il-PH" sz="2400" b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Mebendazole</a:t>
            </a:r>
            <a:endParaRPr lang="fil-PH" sz="2400" dirty="0"/>
          </a:p>
        </p:txBody>
      </p:sp>
      <p:sp>
        <p:nvSpPr>
          <p:cNvPr id="9" name="Mebendazole text"/>
          <p:cNvSpPr txBox="1"/>
          <p:nvPr/>
        </p:nvSpPr>
        <p:spPr>
          <a:xfrm>
            <a:off x="4846320" y="18288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il-PH" sz="1400" dirty="0">
                <a:solidFill>
                  <a:schemeClr val="tx2"/>
                </a:solidFill>
              </a:rPr>
              <a:t>500 mg para sa 12 buwang gulang pataas.</a:t>
            </a:r>
            <a:endParaRPr lang="fil-PH" sz="1400" dirty="0"/>
          </a:p>
        </p:txBody>
      </p:sp>
      <p:sp>
        <p:nvSpPr>
          <p:cNvPr id="10" name="Card Who and when"/>
          <p:cNvSpPr/>
          <p:nvPr/>
        </p:nvSpPr>
        <p:spPr>
          <a:xfrm>
            <a:off x="457200" y="2926080"/>
            <a:ext cx="4023360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F3D2B">
                <a:alpha val="14000"/>
              </a:srgbClr>
            </a:outerShdw>
          </a:effectLst>
        </p:spPr>
      </p:sp>
      <p:sp>
        <p:nvSpPr>
          <p:cNvPr id="11" name="Who and when circle"/>
          <p:cNvSpPr/>
          <p:nvPr/>
        </p:nvSpPr>
        <p:spPr>
          <a:xfrm>
            <a:off x="640080" y="3090672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2" name="Who and when glyph" descr="Who and whe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3209544"/>
            <a:ext cx="219456" cy="219456"/>
          </a:xfrm>
          <a:prstGeom prst="rect">
            <a:avLst/>
          </a:prstGeom>
        </p:spPr>
      </p:pic>
      <p:sp>
        <p:nvSpPr>
          <p:cNvPr id="13" name="Who and when heading"/>
          <p:cNvSpPr txBox="1"/>
          <p:nvPr/>
        </p:nvSpPr>
        <p:spPr>
          <a:xfrm>
            <a:off x="1207008" y="309067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il-PH" sz="1600" b="1" dirty="0">
                <a:solidFill>
                  <a:schemeClr val="tx1"/>
                </a:solidFill>
              </a:rPr>
              <a:t>Sino at kailan</a:t>
            </a:r>
            <a:endParaRPr lang="fil-PH" sz="1600" dirty="0"/>
          </a:p>
        </p:txBody>
      </p:sp>
      <p:sp>
        <p:nvSpPr>
          <p:cNvPr id="14" name="Who and when text"/>
          <p:cNvSpPr txBox="1"/>
          <p:nvPr/>
        </p:nvSpPr>
        <p:spPr>
          <a:xfrm>
            <a:off x="640080" y="363931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il-PH" sz="1400" dirty="0">
                <a:solidFill>
                  <a:schemeClr val="tx2"/>
                </a:solidFill>
              </a:rPr>
              <a:t>Lahat ng batang 1 hanggang 12 taong gulang (DOH). Isang dosis kada 6 buwan, iniinom nang busog ang tiyan.</a:t>
            </a:r>
            <a:endParaRPr lang="fil-PH" sz="1400" dirty="0"/>
          </a:p>
        </p:txBody>
      </p:sp>
      <p:sp>
        <p:nvSpPr>
          <p:cNvPr id="15" name="Card Do not deworm if"/>
          <p:cNvSpPr/>
          <p:nvPr/>
        </p:nvSpPr>
        <p:spPr>
          <a:xfrm>
            <a:off x="4663440" y="2926080"/>
            <a:ext cx="4023360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F3D2B">
                <a:alpha val="14000"/>
              </a:srgbClr>
            </a:outerShdw>
          </a:effectLst>
        </p:spPr>
      </p:sp>
      <p:sp>
        <p:nvSpPr>
          <p:cNvPr id="16" name="Do not deworm if circle"/>
          <p:cNvSpPr/>
          <p:nvPr/>
        </p:nvSpPr>
        <p:spPr>
          <a:xfrm>
            <a:off x="4846320" y="3090672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Do not deworm if glyph" descr="Do not deworm 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5192" y="3209544"/>
            <a:ext cx="219456" cy="219456"/>
          </a:xfrm>
          <a:prstGeom prst="rect">
            <a:avLst/>
          </a:prstGeom>
        </p:spPr>
      </p:pic>
      <p:sp>
        <p:nvSpPr>
          <p:cNvPr id="18" name="Do not deworm if heading"/>
          <p:cNvSpPr txBox="1"/>
          <p:nvPr/>
        </p:nvSpPr>
        <p:spPr>
          <a:xfrm>
            <a:off x="5413248" y="309067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il-PH" sz="1600" b="1" dirty="0">
                <a:solidFill>
                  <a:schemeClr val="tx1"/>
                </a:solidFill>
              </a:rPr>
              <a:t>Huwag magpurga kung</a:t>
            </a:r>
            <a:endParaRPr lang="fil-PH" sz="1600" dirty="0"/>
          </a:p>
        </p:txBody>
      </p:sp>
      <p:sp>
        <p:nvSpPr>
          <p:cNvPr id="19" name="Do not deworm if text"/>
          <p:cNvSpPr txBox="1"/>
          <p:nvPr/>
        </p:nvSpPr>
        <p:spPr>
          <a:xfrm>
            <a:off x="4846320" y="363931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il-PH" sz="1400" dirty="0">
                <a:solidFill>
                  <a:schemeClr val="tx2"/>
                </a:solidFill>
              </a:rPr>
              <a:t>May mataas na lagnat, matinding pagtatae o pananakit ng tiyan ang bata.</a:t>
            </a:r>
            <a:endParaRPr lang="fil-PH" sz="1400" dirty="0"/>
          </a:p>
        </p:txBody>
      </p:sp>
      <p:sp>
        <p:nvSpPr>
          <p:cNvPr id="20" name="Back button">
            <a:hlinkClick r:id="rId6" action="ppaction://hlinksldjump" tooltip="Previous slide"/>
          </p:cNvPr>
          <p:cNvSpPr/>
          <p:nvPr/>
        </p:nvSpPr>
        <p:spPr>
          <a:xfrm>
            <a:off x="6446520" y="4636008"/>
            <a:ext cx="1051560" cy="3474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il-PH" sz="1400" b="1" dirty="0">
                <a:solidFill>
                  <a:schemeClr val="tx1"/>
                </a:solidFill>
              </a:rPr>
              <a:t>‹ Bumalik</a:t>
            </a:r>
            <a:endParaRPr lang="fil-PH" sz="1400" dirty="0"/>
          </a:p>
        </p:txBody>
      </p:sp>
      <p:sp>
        <p:nvSpPr>
          <p:cNvPr id="21" name="Next button">
            <a:hlinkClick r:id="rId7" action="ppaction://hlinksldjump" tooltip="Next slide"/>
          </p:cNvPr>
          <p:cNvSpPr/>
          <p:nvPr/>
        </p:nvSpPr>
        <p:spPr>
          <a:xfrm>
            <a:off x="7589520" y="4636008"/>
            <a:ext cx="1097280" cy="34747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il-PH" sz="1400" b="1" dirty="0">
                <a:solidFill>
                  <a:schemeClr val="bg1"/>
                </a:solidFill>
              </a:rPr>
              <a:t>Susunod ›</a:t>
            </a:r>
            <a:endParaRPr lang="fil-PH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il-PH" sz="3000" b="1" dirty="0">
                <a:solidFill>
                  <a:schemeClr val="tx1"/>
                </a:solidFill>
              </a:rPr>
              <a:t>Anemya sa iron</a:t>
            </a:r>
            <a:endParaRPr lang="fil-PH" sz="3000" dirty="0"/>
          </a:p>
        </p:txBody>
      </p:sp>
      <p:sp>
        <p:nvSpPr>
          <p:cNvPr id="3" name="Menu button">
            <a:hlinkClick r:id="rId3" action="ppaction://hlinksldjump" tooltip="Back to the topic menu"/>
          </p:cNvPr>
          <p:cNvSpPr/>
          <p:nvPr/>
        </p:nvSpPr>
        <p:spPr>
          <a:xfrm>
            <a:off x="7635240" y="365760"/>
            <a:ext cx="1051560" cy="36576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il-PH" sz="1400" b="1" dirty="0">
                <a:solidFill>
                  <a:schemeClr val="bg1"/>
                </a:solidFill>
              </a:rPr>
              <a:t>Menu</a:t>
            </a:r>
            <a:endParaRPr lang="fil-PH" sz="1400" dirty="0"/>
          </a:p>
        </p:txBody>
      </p:sp>
      <p:sp>
        <p:nvSpPr>
          <p:cNvPr id="4" name="Intro card"/>
          <p:cNvSpPr/>
          <p:nvPr/>
        </p:nvSpPr>
        <p:spPr>
          <a:xfrm>
            <a:off x="457200" y="1143000"/>
            <a:ext cx="8229600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F3D2B">
                <a:alpha val="14000"/>
              </a:srgbClr>
            </a:outerShdw>
          </a:effectLst>
        </p:spPr>
      </p:sp>
      <p:sp>
        <p:nvSpPr>
          <p:cNvPr id="5" name="Anemia circle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Anemia glyph" descr="Anemi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1490472"/>
            <a:ext cx="219456" cy="219456"/>
          </a:xfrm>
          <a:prstGeom prst="rect">
            <a:avLst/>
          </a:prstGeom>
        </p:spPr>
      </p:pic>
      <p:sp>
        <p:nvSpPr>
          <p:cNvPr id="7" name="Intro text"/>
          <p:cNvSpPr txBox="1"/>
          <p:nvPr/>
        </p:nvSpPr>
        <p:spPr>
          <a:xfrm>
            <a:off x="1280160" y="114300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il-PH" sz="1600" b="1" dirty="0">
                <a:solidFill>
                  <a:schemeClr val="tx1"/>
                </a:solidFill>
              </a:rPr>
              <a:t>Iniuugnay ito sa problema sa pag-iisip (cognitive) at paggalaw (psychomotor) ng mga bata.</a:t>
            </a:r>
            <a:endParaRPr lang="fil-PH" sz="1600" dirty="0"/>
          </a:p>
        </p:txBody>
      </p:sp>
      <p:sp>
        <p:nvSpPr>
          <p:cNvPr id="8" name="CBC label"/>
          <p:cNvSpPr txBox="1"/>
          <p:nvPr/>
        </p:nvSpPr>
        <p:spPr>
          <a:xfrm>
            <a:off x="457200" y="2194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il-PH" sz="1400" b="1" dirty="0">
                <a:solidFill>
                  <a:schemeClr val="tx2"/>
                </a:solidFill>
              </a:rPr>
              <a:t>Ang mga batang nasa panganib ay dapat magpa-complete blood count (CBC) kahit isang beses sa edad na:</a:t>
            </a:r>
            <a:endParaRPr lang="fil-PH" sz="1400" dirty="0"/>
          </a:p>
        </p:txBody>
      </p:sp>
      <p:sp>
        <p:nvSpPr>
          <p:cNvPr id="9" name="Age 6–24 months"/>
          <p:cNvSpPr/>
          <p:nvPr/>
        </p:nvSpPr>
        <p:spPr>
          <a:xfrm>
            <a:off x="457200" y="2606040"/>
            <a:ext cx="2651760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F3D2B">
                <a:alpha val="14000"/>
              </a:srgbClr>
            </a:outerShdw>
          </a:effectLst>
        </p:spPr>
      </p:sp>
      <p:sp>
        <p:nvSpPr>
          <p:cNvPr id="10" name="Age 6–24 months text"/>
          <p:cNvSpPr txBox="1"/>
          <p:nvPr/>
        </p:nvSpPr>
        <p:spPr>
          <a:xfrm>
            <a:off x="640080" y="26060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il-PH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6–24 buwan</a:t>
            </a:r>
            <a:endParaRPr lang="fil-PH" sz="2400" dirty="0"/>
          </a:p>
        </p:txBody>
      </p:sp>
      <p:sp>
        <p:nvSpPr>
          <p:cNvPr id="11" name="Age 2–6 years"/>
          <p:cNvSpPr/>
          <p:nvPr/>
        </p:nvSpPr>
        <p:spPr>
          <a:xfrm>
            <a:off x="3246120" y="2606040"/>
            <a:ext cx="2651760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F3D2B">
                <a:alpha val="14000"/>
              </a:srgbClr>
            </a:outerShdw>
          </a:effectLst>
        </p:spPr>
      </p:sp>
      <p:sp>
        <p:nvSpPr>
          <p:cNvPr id="12" name="Age 2–6 years text"/>
          <p:cNvSpPr txBox="1"/>
          <p:nvPr/>
        </p:nvSpPr>
        <p:spPr>
          <a:xfrm>
            <a:off x="3429000" y="26060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il-PH" sz="2400" b="1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2–6 taon</a:t>
            </a:r>
            <a:endParaRPr lang="fil-PH" sz="2400" dirty="0"/>
          </a:p>
        </p:txBody>
      </p:sp>
      <p:sp>
        <p:nvSpPr>
          <p:cNvPr id="13" name="Age 10–19 years"/>
          <p:cNvSpPr/>
          <p:nvPr/>
        </p:nvSpPr>
        <p:spPr>
          <a:xfrm>
            <a:off x="6035040" y="2606040"/>
            <a:ext cx="2651760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1F3D2B">
                <a:alpha val="14000"/>
              </a:srgbClr>
            </a:outerShdw>
          </a:effectLst>
        </p:spPr>
      </p:sp>
      <p:sp>
        <p:nvSpPr>
          <p:cNvPr id="14" name="Age 10–19 years text"/>
          <p:cNvSpPr txBox="1"/>
          <p:nvPr/>
        </p:nvSpPr>
        <p:spPr>
          <a:xfrm>
            <a:off x="6217920" y="26060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il-PH" sz="2400" b="1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10–19 taon</a:t>
            </a:r>
            <a:endParaRPr lang="fil-PH" sz="2400" dirty="0"/>
          </a:p>
        </p:txBody>
      </p:sp>
      <p:sp>
        <p:nvSpPr>
          <p:cNvPr id="15" name="Also at risk banner"/>
          <p:cNvSpPr/>
          <p:nvPr/>
        </p:nvSpPr>
        <p:spPr>
          <a:xfrm>
            <a:off x="457200" y="3703320"/>
            <a:ext cx="8229600" cy="82296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Also at risk text"/>
          <p:cNvSpPr txBox="1"/>
          <p:nvPr/>
        </p:nvSpPr>
        <p:spPr>
          <a:xfrm>
            <a:off x="640080" y="37033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il-PH" sz="1400" b="1" dirty="0">
                <a:solidFill>
                  <a:schemeClr val="accent3"/>
                </a:solidFill>
              </a:rPr>
              <a:t>Nasa panganib din: </a:t>
            </a:r>
            <a:r>
              <a:rPr lang="fil-PH" sz="1400" dirty="0">
                <a:solidFill>
                  <a:schemeClr val="bg1"/>
                </a:solidFill>
              </a:rPr>
              <a:t>mga dalagitang may regla at mga nagda-diet nang hindi wasto. Inirerekomenda ang CBC sa bawat yugto ng pagdadalaga/pagbibinata.</a:t>
            </a:r>
            <a:endParaRPr lang="fil-PH" sz="1400" dirty="0"/>
          </a:p>
        </p:txBody>
      </p:sp>
      <p:sp>
        <p:nvSpPr>
          <p:cNvPr id="17" name="Back button">
            <a:hlinkClick r:id="rId5" action="ppaction://hlinksldjump" tooltip="Previous slide"/>
          </p:cNvPr>
          <p:cNvSpPr/>
          <p:nvPr/>
        </p:nvSpPr>
        <p:spPr>
          <a:xfrm>
            <a:off x="6446520" y="4636008"/>
            <a:ext cx="1051560" cy="3474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il-PH" sz="1400" b="1" dirty="0">
                <a:solidFill>
                  <a:schemeClr val="tx1"/>
                </a:solidFill>
              </a:rPr>
              <a:t>‹ Bumalik</a:t>
            </a:r>
            <a:endParaRPr lang="fil-PH" sz="1400" dirty="0"/>
          </a:p>
        </p:txBody>
      </p:sp>
      <p:sp>
        <p:nvSpPr>
          <p:cNvPr id="18" name="Next button">
            <a:hlinkClick r:id="rId6" action="ppaction://hlinksldjump" tooltip="Next slide"/>
          </p:cNvPr>
          <p:cNvSpPr/>
          <p:nvPr/>
        </p:nvSpPr>
        <p:spPr>
          <a:xfrm>
            <a:off x="7589520" y="4636008"/>
            <a:ext cx="1097280" cy="34747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il-PH" sz="1400" b="1" dirty="0">
                <a:solidFill>
                  <a:schemeClr val="bg1"/>
                </a:solidFill>
              </a:rPr>
              <a:t>Quiz ›</a:t>
            </a:r>
            <a:endParaRPr lang="fil-PH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oy photo" descr="A smiling boy picking vegetables from a salad bow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0"/>
            <a:ext cx="4389120" cy="5143500"/>
          </a:xfrm>
          <a:prstGeom prst="rect">
            <a:avLst/>
          </a:prstGeom>
        </p:spPr>
      </p:pic>
      <p:sp>
        <p:nvSpPr>
          <p:cNvPr id="3" name="Eyebrow"/>
          <p:cNvSpPr txBox="1"/>
          <p:nvPr/>
        </p:nvSpPr>
        <p:spPr>
          <a:xfrm>
            <a:off x="54864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il-PH" sz="1400" b="1" kern="0" spc="400" dirty="0">
                <a:solidFill>
                  <a:schemeClr val="accent3"/>
                </a:solidFill>
              </a:rPr>
              <a:t>MABILIS NA QUIZ</a:t>
            </a:r>
            <a:endParaRPr lang="fil-PH" sz="1400" dirty="0"/>
          </a:p>
        </p:txBody>
      </p:sp>
      <p:sp>
        <p:nvSpPr>
          <p:cNvPr id="4" name="Quiz title"/>
          <p:cNvSpPr txBox="1"/>
          <p:nvPr/>
        </p:nvSpPr>
        <p:spPr>
          <a:xfrm>
            <a:off x="548640" y="150876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il-PH" sz="3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Subukan ang natutunan mo</a:t>
            </a:r>
            <a:endParaRPr lang="fil-PH" sz="3600" dirty="0"/>
          </a:p>
        </p:txBody>
      </p:sp>
      <p:sp>
        <p:nvSpPr>
          <p:cNvPr id="5" name="Quiz instructions"/>
          <p:cNvSpPr txBox="1"/>
          <p:nvPr/>
        </p:nvSpPr>
        <p:spPr>
          <a:xfrm>
            <a:off x="548640" y="29260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il-PH" sz="1600" dirty="0">
                <a:solidFill>
                  <a:schemeClr val="bg1"/>
                </a:solidFill>
              </a:rPr>
              <a:t>4 na tanong. Pindutin ang sagot para malaman kung tama ka. Mali? Puwede kang sumubok muli.</a:t>
            </a:r>
            <a:endParaRPr lang="fil-PH" sz="1600" dirty="0"/>
          </a:p>
        </p:txBody>
      </p:sp>
      <p:sp>
        <p:nvSpPr>
          <p:cNvPr id="6" name="Start quiz">
            <a:hlinkClick r:id="rId4" action="ppaction://hlinksldjump" tooltip="Go to question 1"/>
          </p:cNvPr>
          <p:cNvSpPr/>
          <p:nvPr/>
        </p:nvSpPr>
        <p:spPr>
          <a:xfrm>
            <a:off x="548640" y="3977640"/>
            <a:ext cx="1645920" cy="42062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il-PH" sz="1400" b="1" dirty="0">
                <a:solidFill>
                  <a:schemeClr val="tx1"/>
                </a:solidFill>
              </a:rPr>
              <a:t>Simulan ang quiz</a:t>
            </a:r>
            <a:endParaRPr lang="fil-PH" sz="1400" dirty="0"/>
          </a:p>
        </p:txBody>
      </p:sp>
      <p:sp>
        <p:nvSpPr>
          <p:cNvPr id="7" name="Menu button">
            <a:hlinkClick r:id="rId5" action="ppaction://hlinksldjump" tooltip="Back to the topic menu"/>
          </p:cNvPr>
          <p:cNvSpPr/>
          <p:nvPr/>
        </p:nvSpPr>
        <p:spPr>
          <a:xfrm>
            <a:off x="2377440" y="3977640"/>
            <a:ext cx="1280160" cy="420624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il-PH" sz="1400" b="1" dirty="0">
                <a:solidFill>
                  <a:schemeClr val="bg1"/>
                </a:solidFill>
              </a:rPr>
              <a:t>Menu</a:t>
            </a:r>
            <a:endParaRPr lang="fil-PH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il-PH" sz="3000" b="1" dirty="0">
                <a:solidFill>
                  <a:schemeClr val="tx1"/>
                </a:solidFill>
              </a:rPr>
              <a:t>Tanong 1 ng 4</a:t>
            </a:r>
            <a:endParaRPr lang="fil-PH" sz="3000" dirty="0"/>
          </a:p>
        </p:txBody>
      </p:sp>
      <p:sp>
        <p:nvSpPr>
          <p:cNvPr id="3" name="Menu button">
            <a:hlinkClick r:id="rId3" action="ppaction://hlinksldjump" tooltip="Back to the topic menu"/>
          </p:cNvPr>
          <p:cNvSpPr/>
          <p:nvPr/>
        </p:nvSpPr>
        <p:spPr>
          <a:xfrm>
            <a:off x="7635240" y="365760"/>
            <a:ext cx="1051560" cy="36576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il-PH" sz="1400" b="1" dirty="0">
                <a:solidFill>
                  <a:schemeClr val="bg1"/>
                </a:solidFill>
              </a:rPr>
              <a:t>Menu</a:t>
            </a:r>
            <a:endParaRPr lang="fil-PH" sz="1400" dirty="0"/>
          </a:p>
        </p:txBody>
      </p:sp>
      <p:sp>
        <p:nvSpPr>
          <p:cNvPr id="4" name="Topic label"/>
          <p:cNvSpPr txBox="1"/>
          <p:nvPr/>
        </p:nvSpPr>
        <p:spPr>
          <a:xfrm>
            <a:off x="457200" y="8961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il-PH" sz="1200" b="1" kern="0" spc="200" dirty="0">
                <a:solidFill>
                  <a:schemeClr val="accent1"/>
                </a:solidFill>
              </a:rPr>
              <a:t>PAGPAPASUSO</a:t>
            </a:r>
            <a:endParaRPr lang="fil-PH" sz="12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il-PH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Gaano katagal inirerekomenda ang eksklusibong pagpapasuso?</a:t>
            </a:r>
            <a:endParaRPr lang="fil-PH" sz="2200" dirty="0"/>
          </a:p>
        </p:txBody>
      </p:sp>
      <p:sp>
        <p:nvSpPr>
          <p:cNvPr id="6" name="Answer A">
            <a:hlinkClick r:id="rId4" action="ppaction://hlinksldjump" tooltip="Answer A"/>
          </p:cNvPr>
          <p:cNvSpPr/>
          <p:nvPr/>
        </p:nvSpPr>
        <p:spPr>
          <a:xfrm>
            <a:off x="457200" y="2148840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F3D2B">
                <a:alpha val="14000"/>
              </a:srgbClr>
            </a:outerShdw>
          </a:effectLst>
        </p:spPr>
        <p:txBody>
          <a:bodyPr wrap="square" lIns="228600" tIns="0" rIns="152400" bIns="0" rtlCol="0" anchor="ctr"/>
          <a:lstStyle/>
          <a:p>
            <a:pPr marL="0" indent="0" algn="l">
              <a:buNone/>
            </a:pPr>
            <a:r>
              <a:rPr lang="fil-PH" sz="2000" b="1" dirty="0">
                <a:solidFill>
                  <a:schemeClr val="accent1"/>
                </a:solidFill>
              </a:rPr>
              <a:t>A    </a:t>
            </a:r>
            <a:r>
              <a:rPr lang="fil-PH" sz="1600" dirty="0">
                <a:solidFill>
                  <a:schemeClr val="tx1"/>
                </a:solidFill>
              </a:rPr>
              <a:t>Hanggang 6 buwan</a:t>
            </a:r>
            <a:endParaRPr lang="fil-PH" sz="2000" dirty="0"/>
          </a:p>
        </p:txBody>
      </p:sp>
      <p:sp>
        <p:nvSpPr>
          <p:cNvPr id="7" name="Answer B">
            <a:hlinkClick r:id="rId5" action="ppaction://hlinksldjump" tooltip="Answer B"/>
          </p:cNvPr>
          <p:cNvSpPr/>
          <p:nvPr/>
        </p:nvSpPr>
        <p:spPr>
          <a:xfrm>
            <a:off x="457200" y="2953512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F3D2B">
                <a:alpha val="14000"/>
              </a:srgbClr>
            </a:outerShdw>
          </a:effectLst>
        </p:spPr>
        <p:txBody>
          <a:bodyPr wrap="square" lIns="228600" tIns="0" rIns="152400" bIns="0" rtlCol="0" anchor="ctr"/>
          <a:lstStyle/>
          <a:p>
            <a:pPr marL="0" indent="0" algn="l">
              <a:buNone/>
            </a:pPr>
            <a:r>
              <a:rPr lang="fil-PH" sz="2000" b="1" dirty="0">
                <a:solidFill>
                  <a:schemeClr val="accent1"/>
                </a:solidFill>
              </a:rPr>
              <a:t>B    </a:t>
            </a:r>
            <a:r>
              <a:rPr lang="fil-PH" sz="1600" dirty="0">
                <a:solidFill>
                  <a:schemeClr val="tx1"/>
                </a:solidFill>
              </a:rPr>
              <a:t>Hanggang 3 buwan</a:t>
            </a:r>
            <a:endParaRPr lang="fil-PH" sz="2000" dirty="0"/>
          </a:p>
        </p:txBody>
      </p:sp>
      <p:sp>
        <p:nvSpPr>
          <p:cNvPr id="8" name="Answer C">
            <a:hlinkClick r:id="rId5" action="ppaction://hlinksldjump" tooltip="Answer C"/>
          </p:cNvPr>
          <p:cNvSpPr/>
          <p:nvPr/>
        </p:nvSpPr>
        <p:spPr>
          <a:xfrm>
            <a:off x="457200" y="3758184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F3D2B">
                <a:alpha val="14000"/>
              </a:srgbClr>
            </a:outerShdw>
          </a:effectLst>
        </p:spPr>
        <p:txBody>
          <a:bodyPr wrap="square" lIns="228600" tIns="0" rIns="152400" bIns="0" rtlCol="0" anchor="ctr"/>
          <a:lstStyle/>
          <a:p>
            <a:pPr marL="0" indent="0" algn="l">
              <a:buNone/>
            </a:pPr>
            <a:r>
              <a:rPr lang="fil-PH" sz="2000" b="1" dirty="0">
                <a:solidFill>
                  <a:schemeClr val="accent1"/>
                </a:solidFill>
              </a:rPr>
              <a:t>C    </a:t>
            </a:r>
            <a:r>
              <a:rPr lang="fil-PH" sz="1600" dirty="0">
                <a:solidFill>
                  <a:schemeClr val="tx1"/>
                </a:solidFill>
              </a:rPr>
              <a:t>Hanggang 12 buwan</a:t>
            </a:r>
            <a:endParaRPr lang="fil-PH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il-PH" sz="3000" b="1" dirty="0">
                <a:solidFill>
                  <a:schemeClr val="tx1"/>
                </a:solidFill>
              </a:rPr>
              <a:t>Tama!</a:t>
            </a:r>
            <a:endParaRPr lang="fil-PH" sz="3000" dirty="0"/>
          </a:p>
        </p:txBody>
      </p:sp>
      <p:sp>
        <p:nvSpPr>
          <p:cNvPr id="3" name="Correct circle"/>
          <p:cNvSpPr/>
          <p:nvPr/>
        </p:nvSpPr>
        <p:spPr>
          <a:xfrm>
            <a:off x="640080" y="1554480"/>
            <a:ext cx="1371600" cy="13716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Correct glyph" descr="Correc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1911096"/>
            <a:ext cx="658368" cy="658368"/>
          </a:xfrm>
          <a:prstGeom prst="rect">
            <a:avLst/>
          </a:prstGeom>
        </p:spPr>
      </p:pic>
      <p:sp>
        <p:nvSpPr>
          <p:cNvPr id="5" name="Right answer"/>
          <p:cNvSpPr txBox="1"/>
          <p:nvPr/>
        </p:nvSpPr>
        <p:spPr>
          <a:xfrm>
            <a:off x="2377440" y="141732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il-PH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Hanggang 6 buwan</a:t>
            </a:r>
            <a:endParaRPr lang="fil-PH" sz="2200" dirty="0"/>
          </a:p>
        </p:txBody>
      </p:sp>
      <p:sp>
        <p:nvSpPr>
          <p:cNvPr id="6" name="Explanation"/>
          <p:cNvSpPr txBox="1"/>
          <p:nvPr/>
        </p:nvSpPr>
        <p:spPr>
          <a:xfrm>
            <a:off x="2377440" y="2377440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il-PH" sz="1800" dirty="0">
                <a:solidFill>
                  <a:schemeClr val="tx2"/>
                </a:solidFill>
              </a:rPr>
              <a:t>Eksklusibong pagpapasuso hanggang 6 buwan, saka ituloy hanggang 2 taon pataas kasabay ng pagkain.</a:t>
            </a:r>
            <a:endParaRPr lang="fil-PH" sz="1800" dirty="0"/>
          </a:p>
        </p:txBody>
      </p:sp>
      <p:sp>
        <p:nvSpPr>
          <p:cNvPr id="7" name="Continue button">
            <a:hlinkClick r:id="rId4" action="ppaction://hlinksldjump" tooltip="Continue"/>
          </p:cNvPr>
          <p:cNvSpPr/>
          <p:nvPr/>
        </p:nvSpPr>
        <p:spPr>
          <a:xfrm>
            <a:off x="6583680" y="3977640"/>
            <a:ext cx="2103120" cy="4572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il-PH" sz="1400" b="1" dirty="0">
                <a:solidFill>
                  <a:schemeClr val="bg1"/>
                </a:solidFill>
              </a:rPr>
              <a:t>Susunod na tanong ›</a:t>
            </a:r>
            <a:endParaRPr lang="fil-PH" sz="1400" dirty="0"/>
          </a:p>
        </p:txBody>
      </p:sp>
      <p:sp>
        <p:nvSpPr>
          <p:cNvPr id="8" name="Menu button">
            <a:hlinkClick r:id="rId5" action="ppaction://hlinksldjump" tooltip="Back to the topic menu"/>
          </p:cNvPr>
          <p:cNvSpPr/>
          <p:nvPr/>
        </p:nvSpPr>
        <p:spPr>
          <a:xfrm>
            <a:off x="457200" y="3977640"/>
            <a:ext cx="128016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il-PH" sz="1400" b="1" dirty="0">
                <a:solidFill>
                  <a:schemeClr val="tx1"/>
                </a:solidFill>
              </a:rPr>
              <a:t>Menu</a:t>
            </a:r>
            <a:endParaRPr lang="fil-PH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il-PH" sz="3000" b="1" dirty="0">
                <a:solidFill>
                  <a:schemeClr val="tx1"/>
                </a:solidFill>
              </a:rPr>
              <a:t>Hindi pa tama</a:t>
            </a:r>
            <a:endParaRPr lang="fil-PH" sz="3000" dirty="0"/>
          </a:p>
        </p:txBody>
      </p:sp>
      <p:sp>
        <p:nvSpPr>
          <p:cNvPr id="3" name="Try again circle"/>
          <p:cNvSpPr/>
          <p:nvPr/>
        </p:nvSpPr>
        <p:spPr>
          <a:xfrm>
            <a:off x="640080" y="1554480"/>
            <a:ext cx="1371600" cy="13716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Try again glyph" descr="Try agai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1911096"/>
            <a:ext cx="658368" cy="658368"/>
          </a:xfrm>
          <a:prstGeom prst="rect">
            <a:avLst/>
          </a:prstGeom>
        </p:spPr>
      </p:pic>
      <p:sp>
        <p:nvSpPr>
          <p:cNvPr id="5" name="Hint label"/>
          <p:cNvSpPr txBox="1"/>
          <p:nvPr/>
        </p:nvSpPr>
        <p:spPr>
          <a:xfrm>
            <a:off x="2377440" y="141732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il-PH" sz="1400" b="1" dirty="0">
                <a:solidFill>
                  <a:schemeClr val="accent2"/>
                </a:solidFill>
              </a:rPr>
              <a:t>Hint</a:t>
            </a:r>
            <a:endParaRPr lang="fil-PH" sz="1400" dirty="0"/>
          </a:p>
        </p:txBody>
      </p:sp>
      <p:sp>
        <p:nvSpPr>
          <p:cNvPr id="6" name="Hint text"/>
          <p:cNvSpPr txBox="1"/>
          <p:nvPr/>
        </p:nvSpPr>
        <p:spPr>
          <a:xfrm>
            <a:off x="2377440" y="1828800"/>
            <a:ext cx="6309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il-PH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Isipin kung kailan nagsisimula ang solidong pagkain.</a:t>
            </a:r>
            <a:endParaRPr lang="fil-PH" sz="2200" dirty="0"/>
          </a:p>
        </p:txBody>
      </p:sp>
      <p:sp>
        <p:nvSpPr>
          <p:cNvPr id="7" name="Try again button">
            <a:hlinkClick r:id="rId4" action="ppaction://hlinksldjump" tooltip="Back to the question"/>
          </p:cNvPr>
          <p:cNvSpPr/>
          <p:nvPr/>
        </p:nvSpPr>
        <p:spPr>
          <a:xfrm>
            <a:off x="6583680" y="3977640"/>
            <a:ext cx="2103120" cy="4572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il-PH" sz="1400" b="1" dirty="0">
                <a:solidFill>
                  <a:schemeClr val="bg1"/>
                </a:solidFill>
              </a:rPr>
              <a:t>Subukan muli</a:t>
            </a:r>
            <a:endParaRPr lang="fil-PH" sz="1400" dirty="0"/>
          </a:p>
        </p:txBody>
      </p:sp>
      <p:sp>
        <p:nvSpPr>
          <p:cNvPr id="8" name="Menu button">
            <a:hlinkClick r:id="rId5" action="ppaction://hlinksldjump" tooltip="Back to the topic menu"/>
          </p:cNvPr>
          <p:cNvSpPr/>
          <p:nvPr/>
        </p:nvSpPr>
        <p:spPr>
          <a:xfrm>
            <a:off x="457200" y="3977640"/>
            <a:ext cx="128016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il-PH" sz="1400" b="1" dirty="0">
                <a:solidFill>
                  <a:schemeClr val="tx1"/>
                </a:solidFill>
              </a:rPr>
              <a:t>Menu</a:t>
            </a:r>
            <a:endParaRPr lang="fil-PH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il-PH" sz="3000" b="1" dirty="0">
                <a:solidFill>
                  <a:schemeClr val="tx1"/>
                </a:solidFill>
              </a:rPr>
              <a:t>Tanong 2 ng 4</a:t>
            </a:r>
            <a:endParaRPr lang="fil-PH" sz="3000" dirty="0"/>
          </a:p>
        </p:txBody>
      </p:sp>
      <p:sp>
        <p:nvSpPr>
          <p:cNvPr id="3" name="Menu button">
            <a:hlinkClick r:id="rId3" action="ppaction://hlinksldjump" tooltip="Back to the topic menu"/>
          </p:cNvPr>
          <p:cNvSpPr/>
          <p:nvPr/>
        </p:nvSpPr>
        <p:spPr>
          <a:xfrm>
            <a:off x="7635240" y="365760"/>
            <a:ext cx="1051560" cy="36576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il-PH" sz="1400" b="1" dirty="0">
                <a:solidFill>
                  <a:schemeClr val="bg1"/>
                </a:solidFill>
              </a:rPr>
              <a:t>Menu</a:t>
            </a:r>
            <a:endParaRPr lang="fil-PH" sz="1400" dirty="0"/>
          </a:p>
        </p:txBody>
      </p:sp>
      <p:sp>
        <p:nvSpPr>
          <p:cNvPr id="4" name="Topic label"/>
          <p:cNvSpPr txBox="1"/>
          <p:nvPr/>
        </p:nvSpPr>
        <p:spPr>
          <a:xfrm>
            <a:off x="457200" y="8961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il-PH" sz="1200" b="1" kern="0" spc="200" dirty="0">
                <a:solidFill>
                  <a:schemeClr val="accent1"/>
                </a:solidFill>
              </a:rPr>
              <a:t>PAGSISIMULA NG SOLIDO</a:t>
            </a:r>
            <a:endParaRPr lang="fil-PH" sz="12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il-PH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Paano dapat ipakilala ang mga bagong pagkain sa 6 na buwang sanggol?</a:t>
            </a:r>
            <a:endParaRPr lang="fil-PH" sz="2200" dirty="0"/>
          </a:p>
        </p:txBody>
      </p:sp>
      <p:sp>
        <p:nvSpPr>
          <p:cNvPr id="6" name="Answer A">
            <a:hlinkClick r:id="rId4" action="ppaction://hlinksldjump" tooltip="Answer A"/>
          </p:cNvPr>
          <p:cNvSpPr/>
          <p:nvPr/>
        </p:nvSpPr>
        <p:spPr>
          <a:xfrm>
            <a:off x="457200" y="2148840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F3D2B">
                <a:alpha val="14000"/>
              </a:srgbClr>
            </a:outerShdw>
          </a:effectLst>
        </p:spPr>
        <p:txBody>
          <a:bodyPr wrap="square" lIns="228600" tIns="0" rIns="152400" bIns="0" rtlCol="0" anchor="ctr"/>
          <a:lstStyle/>
          <a:p>
            <a:pPr marL="0" indent="0" algn="l">
              <a:buNone/>
            </a:pPr>
            <a:r>
              <a:rPr lang="fil-PH" sz="2000" b="1" dirty="0">
                <a:solidFill>
                  <a:schemeClr val="accent1"/>
                </a:solidFill>
              </a:rPr>
              <a:t>A    </a:t>
            </a:r>
            <a:r>
              <a:rPr lang="fil-PH" sz="1600" dirty="0">
                <a:solidFill>
                  <a:schemeClr val="tx1"/>
                </a:solidFill>
              </a:rPr>
              <a:t>Ilang bagong pagkain nang sabay-sabay</a:t>
            </a:r>
            <a:endParaRPr lang="fil-PH" sz="2000" dirty="0"/>
          </a:p>
        </p:txBody>
      </p:sp>
      <p:sp>
        <p:nvSpPr>
          <p:cNvPr id="7" name="Answer B">
            <a:hlinkClick r:id="rId4" action="ppaction://hlinksldjump" tooltip="Answer B"/>
          </p:cNvPr>
          <p:cNvSpPr/>
          <p:nvPr/>
        </p:nvSpPr>
        <p:spPr>
          <a:xfrm>
            <a:off x="457200" y="2953512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F3D2B">
                <a:alpha val="14000"/>
              </a:srgbClr>
            </a:outerShdw>
          </a:effectLst>
        </p:spPr>
        <p:txBody>
          <a:bodyPr wrap="square" lIns="228600" tIns="0" rIns="152400" bIns="0" rtlCol="0" anchor="ctr"/>
          <a:lstStyle/>
          <a:p>
            <a:pPr marL="0" indent="0" algn="l">
              <a:buNone/>
            </a:pPr>
            <a:r>
              <a:rPr lang="fil-PH" sz="2000" b="1" dirty="0">
                <a:solidFill>
                  <a:schemeClr val="accent1"/>
                </a:solidFill>
              </a:rPr>
              <a:t>B    </a:t>
            </a:r>
            <a:r>
              <a:rPr lang="fil-PH" sz="1600" dirty="0">
                <a:solidFill>
                  <a:schemeClr val="tx1"/>
                </a:solidFill>
              </a:rPr>
              <a:t>Bagong pagkain sa bawat kain, araw-araw</a:t>
            </a:r>
            <a:endParaRPr lang="fil-PH" sz="2000" dirty="0"/>
          </a:p>
        </p:txBody>
      </p:sp>
      <p:sp>
        <p:nvSpPr>
          <p:cNvPr id="8" name="Answer C">
            <a:hlinkClick r:id="rId5" action="ppaction://hlinksldjump" tooltip="Answer C"/>
          </p:cNvPr>
          <p:cNvSpPr/>
          <p:nvPr/>
        </p:nvSpPr>
        <p:spPr>
          <a:xfrm>
            <a:off x="457200" y="3758184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F3D2B">
                <a:alpha val="14000"/>
              </a:srgbClr>
            </a:outerShdw>
          </a:effectLst>
        </p:spPr>
        <p:txBody>
          <a:bodyPr wrap="square" lIns="228600" tIns="0" rIns="152400" bIns="0" rtlCol="0" anchor="ctr"/>
          <a:lstStyle/>
          <a:p>
            <a:pPr marL="0" indent="0" algn="l">
              <a:buNone/>
            </a:pPr>
            <a:r>
              <a:rPr lang="fil-PH" sz="2000" b="1" dirty="0">
                <a:solidFill>
                  <a:schemeClr val="accent1"/>
                </a:solidFill>
              </a:rPr>
              <a:t>C    </a:t>
            </a:r>
            <a:r>
              <a:rPr lang="fil-PH" sz="1600" dirty="0">
                <a:solidFill>
                  <a:schemeClr val="tx1"/>
                </a:solidFill>
              </a:rPr>
              <a:t>Isang bagong pagkain lang, sa loob ng 3 araw</a:t>
            </a:r>
            <a:endParaRPr lang="fil-PH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il-PH" sz="3000" b="1" dirty="0">
                <a:solidFill>
                  <a:schemeClr val="tx1"/>
                </a:solidFill>
              </a:rPr>
              <a:t>Tama!</a:t>
            </a:r>
            <a:endParaRPr lang="fil-PH" sz="3000" dirty="0"/>
          </a:p>
        </p:txBody>
      </p:sp>
      <p:sp>
        <p:nvSpPr>
          <p:cNvPr id="3" name="Correct circle"/>
          <p:cNvSpPr/>
          <p:nvPr/>
        </p:nvSpPr>
        <p:spPr>
          <a:xfrm>
            <a:off x="640080" y="1554480"/>
            <a:ext cx="1371600" cy="13716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Correct glyph" descr="Correc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1911096"/>
            <a:ext cx="658368" cy="658368"/>
          </a:xfrm>
          <a:prstGeom prst="rect">
            <a:avLst/>
          </a:prstGeom>
        </p:spPr>
      </p:pic>
      <p:sp>
        <p:nvSpPr>
          <p:cNvPr id="5" name="Right answer"/>
          <p:cNvSpPr txBox="1"/>
          <p:nvPr/>
        </p:nvSpPr>
        <p:spPr>
          <a:xfrm>
            <a:off x="2377440" y="141732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il-PH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Isang bagong pagkain lang, sa loob ng 3 araw</a:t>
            </a:r>
            <a:endParaRPr lang="fil-PH" sz="2200" dirty="0"/>
          </a:p>
        </p:txBody>
      </p:sp>
      <p:sp>
        <p:nvSpPr>
          <p:cNvPr id="6" name="Explanation"/>
          <p:cNvSpPr txBox="1"/>
          <p:nvPr/>
        </p:nvSpPr>
        <p:spPr>
          <a:xfrm>
            <a:off x="2377440" y="2377440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il-PH" sz="1800" dirty="0">
                <a:solidFill>
                  <a:schemeClr val="tx2"/>
                </a:solidFill>
              </a:rPr>
              <a:t>Magpakilala ng isang bagong pagkain bawat 3 araw, simula sa 1 hanggang 2 kutsarita kada araw.</a:t>
            </a:r>
            <a:endParaRPr lang="fil-PH" sz="1800" dirty="0"/>
          </a:p>
        </p:txBody>
      </p:sp>
      <p:sp>
        <p:nvSpPr>
          <p:cNvPr id="7" name="Continue button">
            <a:hlinkClick r:id="rId4" action="ppaction://hlinksldjump" tooltip="Continue"/>
          </p:cNvPr>
          <p:cNvSpPr/>
          <p:nvPr/>
        </p:nvSpPr>
        <p:spPr>
          <a:xfrm>
            <a:off x="6583680" y="3977640"/>
            <a:ext cx="2103120" cy="4572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il-PH" sz="1400" b="1" dirty="0">
                <a:solidFill>
                  <a:schemeClr val="bg1"/>
                </a:solidFill>
              </a:rPr>
              <a:t>Susunod na tanong ›</a:t>
            </a:r>
            <a:endParaRPr lang="fil-PH" sz="1400" dirty="0"/>
          </a:p>
        </p:txBody>
      </p:sp>
      <p:sp>
        <p:nvSpPr>
          <p:cNvPr id="8" name="Menu button">
            <a:hlinkClick r:id="rId5" action="ppaction://hlinksldjump" tooltip="Back to the topic menu"/>
          </p:cNvPr>
          <p:cNvSpPr/>
          <p:nvPr/>
        </p:nvSpPr>
        <p:spPr>
          <a:xfrm>
            <a:off x="457200" y="3977640"/>
            <a:ext cx="128016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il-PH" sz="1400" b="1" dirty="0">
                <a:solidFill>
                  <a:schemeClr val="tx1"/>
                </a:solidFill>
              </a:rPr>
              <a:t>Menu</a:t>
            </a:r>
            <a:endParaRPr lang="fil-PH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il-PH" sz="3000" b="1" dirty="0">
                <a:solidFill>
                  <a:schemeClr val="tx1"/>
                </a:solidFill>
              </a:rPr>
              <a:t>Hindi pa tama</a:t>
            </a:r>
            <a:endParaRPr lang="fil-PH" sz="3000" dirty="0"/>
          </a:p>
        </p:txBody>
      </p:sp>
      <p:sp>
        <p:nvSpPr>
          <p:cNvPr id="3" name="Try again circle"/>
          <p:cNvSpPr/>
          <p:nvPr/>
        </p:nvSpPr>
        <p:spPr>
          <a:xfrm>
            <a:off x="640080" y="1554480"/>
            <a:ext cx="1371600" cy="13716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Try again glyph" descr="Try agai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1911096"/>
            <a:ext cx="658368" cy="658368"/>
          </a:xfrm>
          <a:prstGeom prst="rect">
            <a:avLst/>
          </a:prstGeom>
        </p:spPr>
      </p:pic>
      <p:sp>
        <p:nvSpPr>
          <p:cNvPr id="5" name="Hint label"/>
          <p:cNvSpPr txBox="1"/>
          <p:nvPr/>
        </p:nvSpPr>
        <p:spPr>
          <a:xfrm>
            <a:off x="2377440" y="141732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il-PH" sz="1400" b="1" dirty="0">
                <a:solidFill>
                  <a:schemeClr val="accent2"/>
                </a:solidFill>
              </a:rPr>
              <a:t>Hint</a:t>
            </a:r>
            <a:endParaRPr lang="fil-PH" sz="1400" dirty="0"/>
          </a:p>
        </p:txBody>
      </p:sp>
      <p:sp>
        <p:nvSpPr>
          <p:cNvPr id="6" name="Hint text"/>
          <p:cNvSpPr txBox="1"/>
          <p:nvPr/>
        </p:nvSpPr>
        <p:spPr>
          <a:xfrm>
            <a:off x="2377440" y="1828800"/>
            <a:ext cx="6309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il-PH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Dahan-dahan para malaman kung bagay sa sanggol ang bawat pagkain.</a:t>
            </a:r>
            <a:endParaRPr lang="fil-PH" sz="2200" dirty="0"/>
          </a:p>
        </p:txBody>
      </p:sp>
      <p:sp>
        <p:nvSpPr>
          <p:cNvPr id="7" name="Try again button">
            <a:hlinkClick r:id="rId4" action="ppaction://hlinksldjump" tooltip="Back to the question"/>
          </p:cNvPr>
          <p:cNvSpPr/>
          <p:nvPr/>
        </p:nvSpPr>
        <p:spPr>
          <a:xfrm>
            <a:off x="6583680" y="3977640"/>
            <a:ext cx="2103120" cy="4572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il-PH" sz="1400" b="1" dirty="0">
                <a:solidFill>
                  <a:schemeClr val="bg1"/>
                </a:solidFill>
              </a:rPr>
              <a:t>Subukan muli</a:t>
            </a:r>
            <a:endParaRPr lang="fil-PH" sz="1400" dirty="0"/>
          </a:p>
        </p:txBody>
      </p:sp>
      <p:sp>
        <p:nvSpPr>
          <p:cNvPr id="8" name="Menu button">
            <a:hlinkClick r:id="rId5" action="ppaction://hlinksldjump" tooltip="Back to the topic menu"/>
          </p:cNvPr>
          <p:cNvSpPr/>
          <p:nvPr/>
        </p:nvSpPr>
        <p:spPr>
          <a:xfrm>
            <a:off x="457200" y="3977640"/>
            <a:ext cx="128016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il-PH" sz="1400" b="1" dirty="0">
                <a:solidFill>
                  <a:schemeClr val="tx1"/>
                </a:solidFill>
              </a:rPr>
              <a:t>Menu</a:t>
            </a:r>
            <a:endParaRPr lang="fil-PH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il-PH" sz="3000" b="1" dirty="0">
                <a:solidFill>
                  <a:schemeClr val="tx1"/>
                </a:solidFill>
              </a:rPr>
              <a:t>Tanong 3 ng 4</a:t>
            </a:r>
            <a:endParaRPr lang="fil-PH" sz="3000" dirty="0"/>
          </a:p>
        </p:txBody>
      </p:sp>
      <p:sp>
        <p:nvSpPr>
          <p:cNvPr id="3" name="Menu button">
            <a:hlinkClick r:id="rId3" action="ppaction://hlinksldjump" tooltip="Back to the topic menu"/>
          </p:cNvPr>
          <p:cNvSpPr/>
          <p:nvPr/>
        </p:nvSpPr>
        <p:spPr>
          <a:xfrm>
            <a:off x="7635240" y="365760"/>
            <a:ext cx="1051560" cy="36576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il-PH" sz="1400" b="1" dirty="0">
                <a:solidFill>
                  <a:schemeClr val="bg1"/>
                </a:solidFill>
              </a:rPr>
              <a:t>Menu</a:t>
            </a:r>
            <a:endParaRPr lang="fil-PH" sz="1400" dirty="0"/>
          </a:p>
        </p:txBody>
      </p:sp>
      <p:sp>
        <p:nvSpPr>
          <p:cNvPr id="4" name="Topic label"/>
          <p:cNvSpPr txBox="1"/>
          <p:nvPr/>
        </p:nvSpPr>
        <p:spPr>
          <a:xfrm>
            <a:off x="457200" y="8961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il-PH" sz="1200" b="1" kern="0" spc="200" dirty="0">
                <a:solidFill>
                  <a:schemeClr val="accent1"/>
                </a:solidFill>
              </a:rPr>
              <a:t>TEKSTURA</a:t>
            </a:r>
            <a:endParaRPr lang="fil-PH" sz="12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il-PH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Sa anong edad ipinapakilala ang pagkain ng pamilya?</a:t>
            </a:r>
            <a:endParaRPr lang="fil-PH" sz="2200" dirty="0"/>
          </a:p>
        </p:txBody>
      </p:sp>
      <p:sp>
        <p:nvSpPr>
          <p:cNvPr id="6" name="Answer A">
            <a:hlinkClick r:id="rId4" action="ppaction://hlinksldjump" tooltip="Answer A"/>
          </p:cNvPr>
          <p:cNvSpPr/>
          <p:nvPr/>
        </p:nvSpPr>
        <p:spPr>
          <a:xfrm>
            <a:off x="457200" y="2148840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F3D2B">
                <a:alpha val="14000"/>
              </a:srgbClr>
            </a:outerShdw>
          </a:effectLst>
        </p:spPr>
        <p:txBody>
          <a:bodyPr wrap="square" lIns="228600" tIns="0" rIns="152400" bIns="0" rtlCol="0" anchor="ctr"/>
          <a:lstStyle/>
          <a:p>
            <a:pPr marL="0" indent="0" algn="l">
              <a:buNone/>
            </a:pPr>
            <a:r>
              <a:rPr lang="fil-PH" sz="2000" b="1" dirty="0">
                <a:solidFill>
                  <a:schemeClr val="accent1"/>
                </a:solidFill>
              </a:rPr>
              <a:t>A    </a:t>
            </a:r>
            <a:r>
              <a:rPr lang="fil-PH" sz="1600" dirty="0">
                <a:solidFill>
                  <a:schemeClr val="tx1"/>
                </a:solidFill>
              </a:rPr>
              <a:t>6 buwan</a:t>
            </a:r>
            <a:endParaRPr lang="fil-PH" sz="2000" dirty="0"/>
          </a:p>
        </p:txBody>
      </p:sp>
      <p:sp>
        <p:nvSpPr>
          <p:cNvPr id="7" name="Answer B">
            <a:hlinkClick r:id="rId5" action="ppaction://hlinksldjump" tooltip="Answer B"/>
          </p:cNvPr>
          <p:cNvSpPr/>
          <p:nvPr/>
        </p:nvSpPr>
        <p:spPr>
          <a:xfrm>
            <a:off x="457200" y="2953512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F3D2B">
                <a:alpha val="14000"/>
              </a:srgbClr>
            </a:outerShdw>
          </a:effectLst>
        </p:spPr>
        <p:txBody>
          <a:bodyPr wrap="square" lIns="228600" tIns="0" rIns="152400" bIns="0" rtlCol="0" anchor="ctr"/>
          <a:lstStyle/>
          <a:p>
            <a:pPr marL="0" indent="0" algn="l">
              <a:buNone/>
            </a:pPr>
            <a:r>
              <a:rPr lang="fil-PH" sz="2000" b="1" dirty="0">
                <a:solidFill>
                  <a:schemeClr val="accent1"/>
                </a:solidFill>
              </a:rPr>
              <a:t>B    </a:t>
            </a:r>
            <a:r>
              <a:rPr lang="fil-PH" sz="1600" dirty="0">
                <a:solidFill>
                  <a:schemeClr val="tx1"/>
                </a:solidFill>
              </a:rPr>
              <a:t>12 buwan</a:t>
            </a:r>
            <a:endParaRPr lang="fil-PH" sz="2000" dirty="0"/>
          </a:p>
        </p:txBody>
      </p:sp>
      <p:sp>
        <p:nvSpPr>
          <p:cNvPr id="8" name="Answer C">
            <a:hlinkClick r:id="rId4" action="ppaction://hlinksldjump" tooltip="Answer C"/>
          </p:cNvPr>
          <p:cNvSpPr/>
          <p:nvPr/>
        </p:nvSpPr>
        <p:spPr>
          <a:xfrm>
            <a:off x="457200" y="3758184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F3D2B">
                <a:alpha val="14000"/>
              </a:srgbClr>
            </a:outerShdw>
          </a:effectLst>
        </p:spPr>
        <p:txBody>
          <a:bodyPr wrap="square" lIns="228600" tIns="0" rIns="152400" bIns="0" rtlCol="0" anchor="ctr"/>
          <a:lstStyle/>
          <a:p>
            <a:pPr marL="0" indent="0" algn="l">
              <a:buNone/>
            </a:pPr>
            <a:r>
              <a:rPr lang="fil-PH" sz="2000" b="1" dirty="0">
                <a:solidFill>
                  <a:schemeClr val="accent1"/>
                </a:solidFill>
              </a:rPr>
              <a:t>C    </a:t>
            </a:r>
            <a:r>
              <a:rPr lang="fil-PH" sz="1600" dirty="0">
                <a:solidFill>
                  <a:schemeClr val="tx1"/>
                </a:solidFill>
              </a:rPr>
              <a:t>8 buwan</a:t>
            </a:r>
            <a:endParaRPr lang="fil-PH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il-PH" sz="3000" b="1" dirty="0">
                <a:solidFill>
                  <a:schemeClr val="tx1"/>
                </a:solidFill>
              </a:rPr>
              <a:t>Tama!</a:t>
            </a:r>
            <a:endParaRPr lang="fil-PH" sz="3000" dirty="0"/>
          </a:p>
        </p:txBody>
      </p:sp>
      <p:sp>
        <p:nvSpPr>
          <p:cNvPr id="3" name="Correct circle"/>
          <p:cNvSpPr/>
          <p:nvPr/>
        </p:nvSpPr>
        <p:spPr>
          <a:xfrm>
            <a:off x="640080" y="1554480"/>
            <a:ext cx="1371600" cy="13716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Correct glyph" descr="Correc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1911096"/>
            <a:ext cx="658368" cy="658368"/>
          </a:xfrm>
          <a:prstGeom prst="rect">
            <a:avLst/>
          </a:prstGeom>
        </p:spPr>
      </p:pic>
      <p:sp>
        <p:nvSpPr>
          <p:cNvPr id="5" name="Right answer"/>
          <p:cNvSpPr txBox="1"/>
          <p:nvPr/>
        </p:nvSpPr>
        <p:spPr>
          <a:xfrm>
            <a:off x="2377440" y="141732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il-PH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12 buwan</a:t>
            </a:r>
            <a:endParaRPr lang="fil-PH" sz="2200" dirty="0"/>
          </a:p>
        </p:txBody>
      </p:sp>
      <p:sp>
        <p:nvSpPr>
          <p:cNvPr id="6" name="Explanation"/>
          <p:cNvSpPr txBox="1"/>
          <p:nvPr/>
        </p:nvSpPr>
        <p:spPr>
          <a:xfrm>
            <a:off x="2377440" y="2377440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il-PH" sz="1800" dirty="0">
                <a:solidFill>
                  <a:schemeClr val="tx2"/>
                </a:solidFill>
              </a:rPr>
              <a:t>Minasa sa 6 buwan, finger food mga 8 buwan, magaspang o tinadtad sa 10 buwan, pagkain ng pamilya sa 12 buwan.</a:t>
            </a:r>
            <a:endParaRPr lang="fil-PH" sz="1800" dirty="0"/>
          </a:p>
        </p:txBody>
      </p:sp>
      <p:sp>
        <p:nvSpPr>
          <p:cNvPr id="7" name="Continue button">
            <a:hlinkClick r:id="rId4" action="ppaction://hlinksldjump" tooltip="Continue"/>
          </p:cNvPr>
          <p:cNvSpPr/>
          <p:nvPr/>
        </p:nvSpPr>
        <p:spPr>
          <a:xfrm>
            <a:off x="6583680" y="3977640"/>
            <a:ext cx="2103120" cy="4572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il-PH" sz="1400" b="1" dirty="0">
                <a:solidFill>
                  <a:schemeClr val="bg1"/>
                </a:solidFill>
              </a:rPr>
              <a:t>Susunod na tanong ›</a:t>
            </a:r>
            <a:endParaRPr lang="fil-PH" sz="1400" dirty="0"/>
          </a:p>
        </p:txBody>
      </p:sp>
      <p:sp>
        <p:nvSpPr>
          <p:cNvPr id="8" name="Menu button">
            <a:hlinkClick r:id="rId5" action="ppaction://hlinksldjump" tooltip="Back to the topic menu"/>
          </p:cNvPr>
          <p:cNvSpPr/>
          <p:nvPr/>
        </p:nvSpPr>
        <p:spPr>
          <a:xfrm>
            <a:off x="457200" y="3977640"/>
            <a:ext cx="128016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il-PH" sz="1400" b="1" dirty="0">
                <a:solidFill>
                  <a:schemeClr val="tx1"/>
                </a:solidFill>
              </a:rPr>
              <a:t>Menu</a:t>
            </a:r>
            <a:endParaRPr lang="fil-PH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il-PH" sz="3000" b="1" dirty="0">
                <a:solidFill>
                  <a:schemeClr val="tx1"/>
                </a:solidFill>
              </a:rPr>
              <a:t>Hindi pa tama</a:t>
            </a:r>
            <a:endParaRPr lang="fil-PH" sz="3000" dirty="0"/>
          </a:p>
        </p:txBody>
      </p:sp>
      <p:sp>
        <p:nvSpPr>
          <p:cNvPr id="3" name="Try again circle"/>
          <p:cNvSpPr/>
          <p:nvPr/>
        </p:nvSpPr>
        <p:spPr>
          <a:xfrm>
            <a:off x="640080" y="1554480"/>
            <a:ext cx="1371600" cy="13716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Try again glyph" descr="Try agai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1911096"/>
            <a:ext cx="658368" cy="658368"/>
          </a:xfrm>
          <a:prstGeom prst="rect">
            <a:avLst/>
          </a:prstGeom>
        </p:spPr>
      </p:pic>
      <p:sp>
        <p:nvSpPr>
          <p:cNvPr id="5" name="Hint label"/>
          <p:cNvSpPr txBox="1"/>
          <p:nvPr/>
        </p:nvSpPr>
        <p:spPr>
          <a:xfrm>
            <a:off x="2377440" y="141732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il-PH" sz="1400" b="1" dirty="0">
                <a:solidFill>
                  <a:schemeClr val="accent2"/>
                </a:solidFill>
              </a:rPr>
              <a:t>Hint</a:t>
            </a:r>
            <a:endParaRPr lang="fil-PH" sz="1400" dirty="0"/>
          </a:p>
        </p:txBody>
      </p:sp>
      <p:sp>
        <p:nvSpPr>
          <p:cNvPr id="6" name="Hint text"/>
          <p:cNvSpPr txBox="1"/>
          <p:nvPr/>
        </p:nvSpPr>
        <p:spPr>
          <a:xfrm>
            <a:off x="2377440" y="1828800"/>
            <a:ext cx="6309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il-PH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Ito ang huling hakbang sa timeline ng tekstura.</a:t>
            </a:r>
            <a:endParaRPr lang="fil-PH" sz="2200" dirty="0"/>
          </a:p>
        </p:txBody>
      </p:sp>
      <p:sp>
        <p:nvSpPr>
          <p:cNvPr id="7" name="Try again button">
            <a:hlinkClick r:id="rId4" action="ppaction://hlinksldjump" tooltip="Back to the question"/>
          </p:cNvPr>
          <p:cNvSpPr/>
          <p:nvPr/>
        </p:nvSpPr>
        <p:spPr>
          <a:xfrm>
            <a:off x="6583680" y="3977640"/>
            <a:ext cx="2103120" cy="4572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il-PH" sz="1400" b="1" dirty="0">
                <a:solidFill>
                  <a:schemeClr val="bg1"/>
                </a:solidFill>
              </a:rPr>
              <a:t>Subukan muli</a:t>
            </a:r>
            <a:endParaRPr lang="fil-PH" sz="1400" dirty="0"/>
          </a:p>
        </p:txBody>
      </p:sp>
      <p:sp>
        <p:nvSpPr>
          <p:cNvPr id="8" name="Menu button">
            <a:hlinkClick r:id="rId5" action="ppaction://hlinksldjump" tooltip="Back to the topic menu"/>
          </p:cNvPr>
          <p:cNvSpPr/>
          <p:nvPr/>
        </p:nvSpPr>
        <p:spPr>
          <a:xfrm>
            <a:off x="457200" y="3977640"/>
            <a:ext cx="128016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il-PH" sz="1400" b="1" dirty="0">
                <a:solidFill>
                  <a:schemeClr val="tx1"/>
                </a:solidFill>
              </a:rPr>
              <a:t>Menu</a:t>
            </a:r>
            <a:endParaRPr lang="fil-PH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il-PH" sz="3000" b="1" dirty="0">
                <a:solidFill>
                  <a:schemeClr val="tx1"/>
                </a:solidFill>
              </a:rPr>
              <a:t>Tanong 4 ng 4</a:t>
            </a:r>
            <a:endParaRPr lang="fil-PH" sz="3000" dirty="0"/>
          </a:p>
        </p:txBody>
      </p:sp>
      <p:sp>
        <p:nvSpPr>
          <p:cNvPr id="3" name="Menu button">
            <a:hlinkClick r:id="rId3" action="ppaction://hlinksldjump" tooltip="Back to the topic menu"/>
          </p:cNvPr>
          <p:cNvSpPr/>
          <p:nvPr/>
        </p:nvSpPr>
        <p:spPr>
          <a:xfrm>
            <a:off x="7635240" y="365760"/>
            <a:ext cx="1051560" cy="36576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il-PH" sz="1400" b="1" dirty="0">
                <a:solidFill>
                  <a:schemeClr val="bg1"/>
                </a:solidFill>
              </a:rPr>
              <a:t>Menu</a:t>
            </a:r>
            <a:endParaRPr lang="fil-PH" sz="1400" dirty="0"/>
          </a:p>
        </p:txBody>
      </p:sp>
      <p:sp>
        <p:nvSpPr>
          <p:cNvPr id="4" name="Topic label"/>
          <p:cNvSpPr txBox="1"/>
          <p:nvPr/>
        </p:nvSpPr>
        <p:spPr>
          <a:xfrm>
            <a:off x="457200" y="8961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il-PH" sz="1200" b="1" kern="0" spc="200" dirty="0">
                <a:solidFill>
                  <a:schemeClr val="accent1"/>
                </a:solidFill>
              </a:rPr>
              <a:t>PAGPUPURGA</a:t>
            </a:r>
            <a:endParaRPr lang="fil-PH" sz="12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il-PH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Kailan dapat laktawan ang pagpupurga?</a:t>
            </a:r>
            <a:endParaRPr lang="fil-PH" sz="2200" dirty="0"/>
          </a:p>
        </p:txBody>
      </p:sp>
      <p:sp>
        <p:nvSpPr>
          <p:cNvPr id="6" name="Answer A">
            <a:hlinkClick r:id="rId4" action="ppaction://hlinksldjump" tooltip="Answer A"/>
          </p:cNvPr>
          <p:cNvSpPr/>
          <p:nvPr/>
        </p:nvSpPr>
        <p:spPr>
          <a:xfrm>
            <a:off x="457200" y="2148840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F3D2B">
                <a:alpha val="14000"/>
              </a:srgbClr>
            </a:outerShdw>
          </a:effectLst>
        </p:spPr>
        <p:txBody>
          <a:bodyPr wrap="square" lIns="228600" tIns="0" rIns="152400" bIns="0" rtlCol="0" anchor="ctr"/>
          <a:lstStyle/>
          <a:p>
            <a:pPr marL="0" indent="0" algn="l">
              <a:buNone/>
            </a:pPr>
            <a:r>
              <a:rPr lang="fil-PH" sz="2000" b="1" dirty="0">
                <a:solidFill>
                  <a:schemeClr val="accent1"/>
                </a:solidFill>
              </a:rPr>
              <a:t>A    </a:t>
            </a:r>
            <a:r>
              <a:rPr lang="fil-PH" sz="1600" dirty="0">
                <a:solidFill>
                  <a:schemeClr val="tx1"/>
                </a:solidFill>
              </a:rPr>
              <a:t>Kapag kakakain pa lang ng bata</a:t>
            </a:r>
            <a:endParaRPr lang="fil-PH" sz="2000" dirty="0"/>
          </a:p>
        </p:txBody>
      </p:sp>
      <p:sp>
        <p:nvSpPr>
          <p:cNvPr id="7" name="Answer B">
            <a:hlinkClick r:id="rId4" action="ppaction://hlinksldjump" tooltip="Answer B"/>
          </p:cNvPr>
          <p:cNvSpPr/>
          <p:nvPr/>
        </p:nvSpPr>
        <p:spPr>
          <a:xfrm>
            <a:off x="457200" y="2953512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F3D2B">
                <a:alpha val="14000"/>
              </a:srgbClr>
            </a:outerShdw>
          </a:effectLst>
        </p:spPr>
        <p:txBody>
          <a:bodyPr wrap="square" lIns="228600" tIns="0" rIns="152400" bIns="0" rtlCol="0" anchor="ctr"/>
          <a:lstStyle/>
          <a:p>
            <a:pPr marL="0" indent="0" algn="l">
              <a:buNone/>
            </a:pPr>
            <a:r>
              <a:rPr lang="fil-PH" sz="2000" b="1" dirty="0">
                <a:solidFill>
                  <a:schemeClr val="accent1"/>
                </a:solidFill>
              </a:rPr>
              <a:t>B    </a:t>
            </a:r>
            <a:r>
              <a:rPr lang="fil-PH" sz="1600" dirty="0">
                <a:solidFill>
                  <a:schemeClr val="tx1"/>
                </a:solidFill>
              </a:rPr>
              <a:t>Kapag 5 taong gulang ang bata</a:t>
            </a:r>
            <a:endParaRPr lang="fil-PH" sz="2000" dirty="0"/>
          </a:p>
        </p:txBody>
      </p:sp>
      <p:sp>
        <p:nvSpPr>
          <p:cNvPr id="8" name="Answer C">
            <a:hlinkClick r:id="rId5" action="ppaction://hlinksldjump" tooltip="Answer C"/>
          </p:cNvPr>
          <p:cNvSpPr/>
          <p:nvPr/>
        </p:nvSpPr>
        <p:spPr>
          <a:xfrm>
            <a:off x="457200" y="3758184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F3D2B">
                <a:alpha val="14000"/>
              </a:srgbClr>
            </a:outerShdw>
          </a:effectLst>
        </p:spPr>
        <p:txBody>
          <a:bodyPr wrap="square" lIns="228600" tIns="0" rIns="152400" bIns="0" rtlCol="0" anchor="ctr"/>
          <a:lstStyle/>
          <a:p>
            <a:pPr marL="0" indent="0" algn="l">
              <a:buNone/>
            </a:pPr>
            <a:r>
              <a:rPr lang="fil-PH" sz="2000" b="1" dirty="0">
                <a:solidFill>
                  <a:schemeClr val="accent1"/>
                </a:solidFill>
              </a:rPr>
              <a:t>C    </a:t>
            </a:r>
            <a:r>
              <a:rPr lang="fil-PH" sz="1600" dirty="0">
                <a:solidFill>
                  <a:schemeClr val="tx1"/>
                </a:solidFill>
              </a:rPr>
              <a:t>Kapag may mataas na lagnat, matinding pagtatae o pananakit ng tiyan</a:t>
            </a:r>
            <a:endParaRPr lang="fil-PH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il-PH" sz="3000" b="1" dirty="0">
                <a:solidFill>
                  <a:schemeClr val="tx1"/>
                </a:solidFill>
              </a:rPr>
              <a:t>Tama!</a:t>
            </a:r>
            <a:endParaRPr lang="fil-PH" sz="3000" dirty="0"/>
          </a:p>
        </p:txBody>
      </p:sp>
      <p:sp>
        <p:nvSpPr>
          <p:cNvPr id="3" name="Correct circle"/>
          <p:cNvSpPr/>
          <p:nvPr/>
        </p:nvSpPr>
        <p:spPr>
          <a:xfrm>
            <a:off x="640080" y="1554480"/>
            <a:ext cx="1371600" cy="13716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Correct glyph" descr="Correc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1911096"/>
            <a:ext cx="658368" cy="658368"/>
          </a:xfrm>
          <a:prstGeom prst="rect">
            <a:avLst/>
          </a:prstGeom>
        </p:spPr>
      </p:pic>
      <p:sp>
        <p:nvSpPr>
          <p:cNvPr id="5" name="Right answer"/>
          <p:cNvSpPr txBox="1"/>
          <p:nvPr/>
        </p:nvSpPr>
        <p:spPr>
          <a:xfrm>
            <a:off x="2377440" y="141732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il-PH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Kapag may mataas na lagnat, matinding pagtatae o pananakit ng tiyan</a:t>
            </a:r>
            <a:endParaRPr lang="fil-PH" sz="2200" dirty="0"/>
          </a:p>
        </p:txBody>
      </p:sp>
      <p:sp>
        <p:nvSpPr>
          <p:cNvPr id="6" name="Explanation"/>
          <p:cNvSpPr txBox="1"/>
          <p:nvPr/>
        </p:nvSpPr>
        <p:spPr>
          <a:xfrm>
            <a:off x="2377440" y="2377440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il-PH" sz="1800" dirty="0">
                <a:solidFill>
                  <a:schemeClr val="tx2"/>
                </a:solidFill>
              </a:rPr>
              <a:t>Huwag magpurga kapag may mataas na lagnat, matinding pagtatae o pananakit ng tiyan. Kung hindi, isang dosis kada 6 buwan nang busog ang tiyan.</a:t>
            </a:r>
            <a:endParaRPr lang="fil-PH" sz="1800" dirty="0"/>
          </a:p>
        </p:txBody>
      </p:sp>
      <p:sp>
        <p:nvSpPr>
          <p:cNvPr id="7" name="Continue button">
            <a:hlinkClick r:id="rId4" action="ppaction://hlinksldjump" tooltip="Continue"/>
          </p:cNvPr>
          <p:cNvSpPr/>
          <p:nvPr/>
        </p:nvSpPr>
        <p:spPr>
          <a:xfrm>
            <a:off x="6583680" y="3977640"/>
            <a:ext cx="2103120" cy="4572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il-PH" sz="1400" b="1" dirty="0">
                <a:solidFill>
                  <a:schemeClr val="bg1"/>
                </a:solidFill>
              </a:rPr>
              <a:t>Tapusin ›</a:t>
            </a:r>
            <a:endParaRPr lang="fil-PH" sz="1400" dirty="0"/>
          </a:p>
        </p:txBody>
      </p:sp>
      <p:sp>
        <p:nvSpPr>
          <p:cNvPr id="8" name="Menu button">
            <a:hlinkClick r:id="rId5" action="ppaction://hlinksldjump" tooltip="Back to the topic menu"/>
          </p:cNvPr>
          <p:cNvSpPr/>
          <p:nvPr/>
        </p:nvSpPr>
        <p:spPr>
          <a:xfrm>
            <a:off x="457200" y="3977640"/>
            <a:ext cx="128016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il-PH" sz="1400" b="1" dirty="0">
                <a:solidFill>
                  <a:schemeClr val="tx1"/>
                </a:solidFill>
              </a:rPr>
              <a:t>Menu</a:t>
            </a:r>
            <a:endParaRPr lang="fil-PH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il-PH" sz="3000" b="1" dirty="0">
                <a:solidFill>
                  <a:schemeClr val="tx1"/>
                </a:solidFill>
              </a:rPr>
              <a:t>Hindi pa tama</a:t>
            </a:r>
            <a:endParaRPr lang="fil-PH" sz="3000" dirty="0"/>
          </a:p>
        </p:txBody>
      </p:sp>
      <p:sp>
        <p:nvSpPr>
          <p:cNvPr id="3" name="Try again circle"/>
          <p:cNvSpPr/>
          <p:nvPr/>
        </p:nvSpPr>
        <p:spPr>
          <a:xfrm>
            <a:off x="640080" y="1554480"/>
            <a:ext cx="1371600" cy="13716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Try again glyph" descr="Try agai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1911096"/>
            <a:ext cx="658368" cy="658368"/>
          </a:xfrm>
          <a:prstGeom prst="rect">
            <a:avLst/>
          </a:prstGeom>
        </p:spPr>
      </p:pic>
      <p:sp>
        <p:nvSpPr>
          <p:cNvPr id="5" name="Hint label"/>
          <p:cNvSpPr txBox="1"/>
          <p:nvPr/>
        </p:nvSpPr>
        <p:spPr>
          <a:xfrm>
            <a:off x="2377440" y="141732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il-PH" sz="1400" b="1" dirty="0">
                <a:solidFill>
                  <a:schemeClr val="accent2"/>
                </a:solidFill>
              </a:rPr>
              <a:t>Hint</a:t>
            </a:r>
            <a:endParaRPr lang="fil-PH" sz="1400" dirty="0"/>
          </a:p>
        </p:txBody>
      </p:sp>
      <p:sp>
        <p:nvSpPr>
          <p:cNvPr id="6" name="Hint text"/>
          <p:cNvSpPr txBox="1"/>
          <p:nvPr/>
        </p:nvSpPr>
        <p:spPr>
          <a:xfrm>
            <a:off x="2377440" y="1828800"/>
            <a:ext cx="6309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il-PH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Isipin ang mga senyales na may sakit na ang bata.</a:t>
            </a:r>
            <a:endParaRPr lang="fil-PH" sz="2200" dirty="0"/>
          </a:p>
        </p:txBody>
      </p:sp>
      <p:sp>
        <p:nvSpPr>
          <p:cNvPr id="7" name="Try again button">
            <a:hlinkClick r:id="rId4" action="ppaction://hlinksldjump" tooltip="Back to the question"/>
          </p:cNvPr>
          <p:cNvSpPr/>
          <p:nvPr/>
        </p:nvSpPr>
        <p:spPr>
          <a:xfrm>
            <a:off x="6583680" y="3977640"/>
            <a:ext cx="2103120" cy="4572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il-PH" sz="1400" b="1" dirty="0">
                <a:solidFill>
                  <a:schemeClr val="bg1"/>
                </a:solidFill>
              </a:rPr>
              <a:t>Subukan muli</a:t>
            </a:r>
            <a:endParaRPr lang="fil-PH" sz="1400" dirty="0"/>
          </a:p>
        </p:txBody>
      </p:sp>
      <p:sp>
        <p:nvSpPr>
          <p:cNvPr id="8" name="Menu button">
            <a:hlinkClick r:id="rId5" action="ppaction://hlinksldjump" tooltip="Back to the topic menu"/>
          </p:cNvPr>
          <p:cNvSpPr/>
          <p:nvPr/>
        </p:nvSpPr>
        <p:spPr>
          <a:xfrm>
            <a:off x="457200" y="3977640"/>
            <a:ext cx="128016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il-PH" sz="1400" b="1" dirty="0">
                <a:solidFill>
                  <a:schemeClr val="tx1"/>
                </a:solidFill>
              </a:rPr>
              <a:t>Menu</a:t>
            </a:r>
            <a:endParaRPr lang="fil-PH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oy with fruit photo" descr="A laughing boy at a table with fresh frui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0"/>
            <a:ext cx="4206240" cy="5143500"/>
          </a:xfrm>
          <a:prstGeom prst="rect">
            <a:avLst/>
          </a:prstGeom>
        </p:spPr>
      </p:pic>
      <p:sp>
        <p:nvSpPr>
          <p:cNvPr id="3" name="Eyebrow"/>
          <p:cNvSpPr txBox="1"/>
          <p:nvPr/>
        </p:nvSpPr>
        <p:spPr>
          <a:xfrm>
            <a:off x="548640" y="6400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il-PH" sz="1400" b="1" kern="0" spc="400" dirty="0">
                <a:solidFill>
                  <a:schemeClr val="accent3"/>
                </a:solidFill>
              </a:rPr>
              <a:t>MAHUSAY!</a:t>
            </a:r>
            <a:endParaRPr lang="fil-PH" sz="1400" dirty="0"/>
          </a:p>
        </p:txBody>
      </p:sp>
      <p:sp>
        <p:nvSpPr>
          <p:cNvPr id="4" name="Closing title"/>
          <p:cNvSpPr txBox="1"/>
          <p:nvPr/>
        </p:nvSpPr>
        <p:spPr>
          <a:xfrm>
            <a:off x="548640" y="100584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il-PH" sz="3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Masustansyang pagkain, magandang simula</a:t>
            </a:r>
            <a:endParaRPr lang="fil-PH" sz="3400" dirty="0"/>
          </a:p>
        </p:txBody>
      </p:sp>
      <p:sp>
        <p:nvSpPr>
          <p:cNvPr id="5" name="Takeaways"/>
          <p:cNvSpPr txBox="1"/>
          <p:nvPr/>
        </p:nvSpPr>
        <p:spPr>
          <a:xfrm>
            <a:off x="548640" y="2286000"/>
            <a:ext cx="4114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fil-PH" sz="1600" dirty="0">
                <a:solidFill>
                  <a:schemeClr val="bg1"/>
                </a:solidFill>
              </a:rPr>
              <a:t>Gatas ng ina lang hanggang 6 buwan, ituloy pagkatapos</a:t>
            </a:r>
            <a:endParaRPr lang="fil-PH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fil-PH" sz="1600" dirty="0">
                <a:solidFill>
                  <a:schemeClr val="bg1"/>
                </a:solidFill>
              </a:rPr>
              <a:t>Isang bagong pagkain lang, sa loob ng 3 araw</a:t>
            </a:r>
            <a:endParaRPr lang="fil-PH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fil-PH" sz="1600" dirty="0">
                <a:solidFill>
                  <a:schemeClr val="bg1"/>
                </a:solidFill>
              </a:rPr>
              <a:t>Walang asin bago mag-1 taon</a:t>
            </a:r>
            <a:endParaRPr lang="fil-PH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fil-PH" sz="1600" dirty="0">
                <a:solidFill>
                  <a:schemeClr val="bg1"/>
                </a:solidFill>
              </a:rPr>
              <a:t>Ituloy sa iskedyul ang iron, vitamin A at pagpupurga</a:t>
            </a:r>
            <a:endParaRPr lang="fil-PH" sz="1600" dirty="0"/>
          </a:p>
        </p:txBody>
      </p:sp>
      <p:sp>
        <p:nvSpPr>
          <p:cNvPr id="6" name="Menu button">
            <a:hlinkClick r:id="rId4" action="ppaction://hlinksldjump" tooltip="Open the topic menu"/>
          </p:cNvPr>
          <p:cNvSpPr/>
          <p:nvPr/>
        </p:nvSpPr>
        <p:spPr>
          <a:xfrm>
            <a:off x="548640" y="4160520"/>
            <a:ext cx="1828800" cy="42062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il-PH" sz="1400" b="1" dirty="0">
                <a:solidFill>
                  <a:schemeClr val="tx1"/>
                </a:solidFill>
              </a:rPr>
              <a:t>Bumalik sa menu</a:t>
            </a:r>
            <a:endParaRPr lang="fil-PH" sz="1400" dirty="0"/>
          </a:p>
        </p:txBody>
      </p:sp>
      <p:sp>
        <p:nvSpPr>
          <p:cNvPr id="7" name="Retake button">
            <a:hlinkClick r:id="rId5" action="ppaction://hlinksldjump" tooltip="Restart the quiz"/>
          </p:cNvPr>
          <p:cNvSpPr/>
          <p:nvPr/>
        </p:nvSpPr>
        <p:spPr>
          <a:xfrm>
            <a:off x="2560320" y="4160520"/>
            <a:ext cx="1645920" cy="420624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il-PH" sz="1400" b="1" dirty="0">
                <a:solidFill>
                  <a:schemeClr val="bg1"/>
                </a:solidFill>
              </a:rPr>
              <a:t>Ulitin ang quiz</a:t>
            </a:r>
            <a:endParaRPr lang="fil-PH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resh Harvest">
  <a:themeElements>
    <a:clrScheme name="Fresh Harvest">
      <a:dk1>
        <a:srgbClr val="1F3D2B"/>
      </a:dk1>
      <a:lt1>
        <a:srgbClr val="FFFFFF"/>
      </a:lt1>
      <a:dk2>
        <a:srgbClr val="3A5A45"/>
      </a:dk2>
      <a:lt2>
        <a:srgbClr val="F2F7F0"/>
      </a:lt2>
      <a:accent1>
        <a:srgbClr val="D9661B"/>
      </a:accent1>
      <a:accent2>
        <a:srgbClr val="D6455D"/>
      </a:accent2>
      <a:accent3>
        <a:srgbClr val="F6B93B"/>
      </a:accent3>
      <a:accent4>
        <a:srgbClr val="237F73"/>
      </a:accent4>
      <a:accent5>
        <a:srgbClr val="6556B8"/>
      </a:accent5>
      <a:accent6>
        <a:srgbClr val="3B78C4"/>
      </a:accent6>
      <a:hlink>
        <a:srgbClr val="3B78C4"/>
      </a:hlink>
      <a:folHlink>
        <a:srgbClr val="6556B8"/>
      </a:folHlink>
    </a:clrScheme>
    <a:fontScheme name="Fresh Harves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1212</Words>
  <Application>Microsoft Office PowerPoint</Application>
  <PresentationFormat>On-screen Show (16:9)</PresentationFormat>
  <Paragraphs>230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Cambria</vt:lpstr>
      <vt:lpstr>Fresh Harvest</vt:lpstr>
      <vt:lpstr>PowerPoint Presentation</vt:lpstr>
      <vt:lpstr>Pick a topic to explore</vt:lpstr>
      <vt:lpstr>Breastfeeding: how long and why</vt:lpstr>
      <vt:lpstr>Starting solids at 6 months</vt:lpstr>
      <vt:lpstr>Textures and how often</vt:lpstr>
      <vt:lpstr>Iron supplementation</vt:lpstr>
      <vt:lpstr>Vitamin A and zinc</vt:lpstr>
      <vt:lpstr>Deworming every 6 months</vt:lpstr>
      <vt:lpstr>Iron deficiency anemia</vt:lpstr>
      <vt:lpstr>PowerPoint Presentation</vt:lpstr>
      <vt:lpstr>Question 1 of 4</vt:lpstr>
      <vt:lpstr>Correct!</vt:lpstr>
      <vt:lpstr>Not quite</vt:lpstr>
      <vt:lpstr>Question 2 of 4</vt:lpstr>
      <vt:lpstr>Correct!</vt:lpstr>
      <vt:lpstr>Not quite</vt:lpstr>
      <vt:lpstr>Question 3 of 4</vt:lpstr>
      <vt:lpstr>Correct!</vt:lpstr>
      <vt:lpstr>Not quite</vt:lpstr>
      <vt:lpstr>Question 4 of 4</vt:lpstr>
      <vt:lpstr>Correct!</vt:lpstr>
      <vt:lpstr>Not quite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Gabay sa Nutrisyon</dc:title>
  <dc:subject>Interactive nutrition guide based on REdbook notes</dc:subject>
  <dc:creator>Justine Miguel F. Aguilos</dc:creator>
  <cp:lastModifiedBy>Jm Aguilos</cp:lastModifiedBy>
  <cp:revision>3</cp:revision>
  <dcterms:created xsi:type="dcterms:W3CDTF">2026-10-10T02:49:06Z</dcterms:created>
  <dcterms:modified xsi:type="dcterms:W3CDTF">2026-10-10T04:53:20Z</dcterms:modified>
</cp:coreProperties>
</file>