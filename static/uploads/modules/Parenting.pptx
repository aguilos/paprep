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3.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300" r:id="rId40"/>
    <p:sldId id="261"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173CCF9B-F17B-5201-E2CB-806758DA6DD4}">
          <p14:sldIdLst>
            <p14:sldId id="256"/>
            <p14:sldId id="257"/>
          </p14:sldIdLst>
        </p14:section>
        <p14:section name="Topics" id="{A5F8A46F-E918-37A0-C5BA-C87059C064FC}">
          <p14:sldIdLst>
            <p14:sldId id="258"/>
            <p14:sldId id="259"/>
            <p14:sldId id="260"/>
            <p14:sldId id="261"/>
            <p14:sldId id="262"/>
            <p14:sldId id="263"/>
          </p14:sldIdLst>
        </p14:section>
        <p14:section name="Quiz" id="{0CBD4C80-D572-FAEE-2B5C-9B88E890B7EB}">
          <p14:sldIdLst>
            <p14:sldId id="265"/>
            <p14:sldId id="266"/>
            <p14:sldId id="267"/>
            <p14:sldId id="268"/>
            <p14:sldId id="269"/>
            <p14:sldId id="270"/>
            <p14:sldId id="271"/>
            <p14:sldId id="272"/>
            <p14:sldId id="273"/>
            <p14:sldId id="274"/>
            <p14:sldId id="275"/>
            <p14:sldId id="276"/>
            <p14:sldId id="277"/>
          </p14:sldIdLst>
        </p14:section>
        <p14:section name="Quiz" id="{95846BDA-B7A4-3D77-B505-810CA93C67A1}">
          <p14:sldIdLst/>
        </p14:section>
        <p14:section name="Wrap-up" id="{03C2262A-353F-6B08-D55C-12F3CB48E5F1}">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4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2877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deck in Slide Show mode so the cards, buttons and quiz answers are clickable. Based on the REdbook notes (Parenting section).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card jumps to a topic. Every topic slide has a Menu button to come back.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time-bound interventions. Prenatal counseling also includes exclusive breastfeeding up to 6 months, continued up to 2 years and beyond, and starting or continuing tetanus toxoid immunization during pregnancy.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Pediatricians should advise parents about the importance of reading aloud during the first years of life. The notes flag the milestone chart wording as worth verifying against the page.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risk factor predicts child maltreatment, and no single characteristic defines a child’s resilience to traumatic experiences.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B. Early-discharge babies need a definite appointment and an exam within 48 hours of discharge.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C. Refrigerator (4°C): up to 8 days. Room temperature below 25°C: 4 hours. Freezer of a 2-door fridge: 3 months.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A. Baby’s head, back and hips are aligned and facing the breast: face to face, chest to chest, tummy to tummy.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B. Believe the child, thank them, let them talk without leading questions, and seek professional help.</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Source: REdbook notes (Parenting section).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p:nvPr/>
        </p:nvSpPr>
        <p:spPr>
          <a:xfrm>
            <a:off x="457200" y="4663440"/>
            <a:ext cx="1737360" cy="329184"/>
          </a:xfrm>
          <a:prstGeom prst="rect">
            <a:avLst/>
          </a:prstGeom>
          <a:noFill/>
          <a:ln/>
        </p:spPr>
        <p:txBody>
          <a:bodyPr wrap="square" lIns="0" tIns="0" rIns="0" bIns="0" rtlCol="0" anchor="ctr"/>
          <a:lstStyle/>
          <a:p>
            <a:pPr marL="0" indent="0">
              <a:buNone/>
            </a:pPr>
            <a:r>
              <a:rPr lang="en-US" sz="1000" dirty="0">
                <a:solidFill>
                  <a:schemeClr val="tx2"/>
                </a:solidFill>
              </a:rPr>
              <a:t>Parenting Guide</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slide" Target="slide9.xml"/><Relationship Id="rId4" Type="http://schemas.openxmlformats.org/officeDocument/2006/relationships/slide" Target="slide2.xml"/></Relationships>
</file>

<file path=ppt/slides/_rels/slide2.xml.rels><?xml version="1.0" encoding="UTF-8" standalone="yes"?>
<Relationships xmlns="http://schemas.openxmlformats.org/package/2006/relationships"><Relationship Id="rId8" Type="http://schemas.openxmlformats.org/officeDocument/2006/relationships/slide" Target="slide5.xml"/><Relationship Id="rId13" Type="http://schemas.openxmlformats.org/officeDocument/2006/relationships/image" Target="../media/image6.png"/><Relationship Id="rId3" Type="http://schemas.openxmlformats.org/officeDocument/2006/relationships/slide" Target="slide9.xml"/><Relationship Id="rId7" Type="http://schemas.openxmlformats.org/officeDocument/2006/relationships/image" Target="../media/image3.png"/><Relationship Id="rId12" Type="http://schemas.openxmlformats.org/officeDocument/2006/relationships/slide" Target="slide8.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slide" Target="slide4.xml"/><Relationship Id="rId11" Type="http://schemas.openxmlformats.org/officeDocument/2006/relationships/image" Target="../media/image5.png"/><Relationship Id="rId5" Type="http://schemas.openxmlformats.org/officeDocument/2006/relationships/image" Target="../media/image2.png"/><Relationship Id="rId10" Type="http://schemas.openxmlformats.org/officeDocument/2006/relationships/slide" Target="slide7.xml"/><Relationship Id="rId4" Type="http://schemas.openxmlformats.org/officeDocument/2006/relationships/slide" Target="slide3.xml"/><Relationship Id="rId9" Type="http://schemas.openxmlformats.org/officeDocument/2006/relationships/image" Target="../media/image4.png"/><Relationship Id="rId1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slide" Target="slide4.xml"/><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5.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slide" Target="slide3.xml"/><Relationship Id="rId5" Type="http://schemas.openxmlformats.org/officeDocument/2006/relationships/image" Target="../media/image9.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slide" Target="slide6.xml"/><Relationship Id="rId5" Type="http://schemas.openxmlformats.org/officeDocument/2006/relationships/slide" Target="slide4.xml"/><Relationship Id="rId4" Type="http://schemas.openxmlformats.org/officeDocument/2006/relationships/image" Target="../media/image10.png"/><Relationship Id="rId7" Type="http://schemas.openxmlformats.org/officeDocument/2006/relationships/slide" Target="slide23.xml"/></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slide" Target="slide7.xml"/><Relationship Id="rId5" Type="http://schemas.openxmlformats.org/officeDocument/2006/relationships/slide" Target="slide5.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slide" Target="slide8.xml"/><Relationship Id="rId5" Type="http://schemas.openxmlformats.org/officeDocument/2006/relationships/slide" Target="slide6.xml"/><Relationship Id="rId4" Type="http://schemas.openxmlformats.org/officeDocument/2006/relationships/image" Target="../media/image12.jpg"/></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slide" Target="slide9.xml"/><Relationship Id="rId4" Type="http://schemas.openxmlformats.org/officeDocument/2006/relationships/slide" Target="slide7.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slide" Target="slide10.xml"/></Relationships>
</file>

<file path=ppt/slides/_rels/slide1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slide" Target="slide11.xml"/><Relationship Id="rId4" Type="http://schemas.openxmlformats.org/officeDocument/2006/relationships/slide" Target="slide1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1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10.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slide" Target="slide14.xml"/><Relationship Id="rId4" Type="http://schemas.openxmlformats.org/officeDocument/2006/relationships/slide" Target="slide15.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16.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13.xml"/></Relationships>
</file>

<file path=ppt/slides/_rels/slide1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6.xml"/><Relationship Id="rId1" Type="http://schemas.openxmlformats.org/officeDocument/2006/relationships/slideLayout" Target="../slideLayouts/slideLayout3.xml"/><Relationship Id="rId5" Type="http://schemas.openxmlformats.org/officeDocument/2006/relationships/slide" Target="slide18.xml"/><Relationship Id="rId4" Type="http://schemas.openxmlformats.org/officeDocument/2006/relationships/slide" Target="slide17.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19.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16.xml"/></Relationships>
</file>

<file path=ppt/slides/_rels/slide1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slide" Target="slide20.xml"/><Relationship Id="rId4" Type="http://schemas.openxmlformats.org/officeDocument/2006/relationships/slide" Target="slide2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2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slide" Target="slide2.xml"/><Relationship Id="rId4" Type="http://schemas.openxmlformats.org/officeDocument/2006/relationships/slide" Target="slide19.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slide" Target="slide10.xml"/><Relationship Id="rId4" Type="http://schemas.openxmlformats.org/officeDocument/2006/relationships/slide" Target="slid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 Target="slide2.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video" Target="https://www.youtube.com/embed/GaX03lxP5CA" TargetMode="External"/><Relationship Id="rId6" Type="http://schemas.openxmlformats.org/officeDocument/2006/relationships/image" Target="../media/latch_video_poster.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background photo" descr="Silhouette of a mother and father lifting a baby against a sunset sky"/>
          <p:cNvPicPr>
            <a:picLocks noChangeAspect="1"/>
          </p:cNvPicPr>
          <p:nvPr/>
        </p:nvPicPr>
        <p:blipFill>
          <a:blip r:embed="rId3"/>
          <a:stretch>
            <a:fillRect/>
          </a:stretch>
        </p:blipFill>
        <p:spPr>
          <a:xfrm>
            <a:off x="0" y="0"/>
            <a:ext cx="9144000" cy="5143500"/>
          </a:xfrm>
          <a:prstGeom prst="rect">
            <a:avLst/>
          </a:prstGeom>
        </p:spPr>
      </p:pic>
      <p:sp>
        <p:nvSpPr>
          <p:cNvPr id="3" name="Eyebrow"/>
          <p:cNvSpPr txBox="1"/>
          <p:nvPr/>
        </p:nvSpPr>
        <p:spPr>
          <a:xfrm>
            <a:off x="548640" y="914400"/>
            <a:ext cx="4572000" cy="320040"/>
          </a:xfrm>
          <a:prstGeom prst="rect">
            <a:avLst/>
          </a:prstGeom>
          <a:noFill/>
          <a:ln/>
        </p:spPr>
        <p:txBody>
          <a:bodyPr wrap="square" lIns="0" tIns="0" rIns="0" bIns="0" rtlCol="0" anchor="ctr"/>
          <a:lstStyle/>
          <a:p>
            <a:pPr marL="0" indent="0">
              <a:buNone/>
            </a:pPr>
            <a:r>
              <a:rPr lang="en-US" sz="1400" b="1" kern="0" spc="400" dirty="0">
                <a:solidFill>
                  <a:schemeClr val="accent3"/>
                </a:solidFill>
              </a:rPr>
              <a:t>PARENTING GUIDE</a:t>
            </a:r>
            <a:endParaRPr lang="en-US" sz="1400" dirty="0"/>
          </a:p>
        </p:txBody>
      </p:sp>
      <p:sp>
        <p:nvSpPr>
          <p:cNvPr id="4" name="Deck title"/>
          <p:cNvSpPr txBox="1"/>
          <p:nvPr/>
        </p:nvSpPr>
        <p:spPr>
          <a:xfrm>
            <a:off x="548640" y="1325880"/>
            <a:ext cx="4846320" cy="1920240"/>
          </a:xfrm>
          <a:prstGeom prst="rect">
            <a:avLst/>
          </a:prstGeom>
          <a:noFill/>
          <a:ln/>
        </p:spPr>
        <p:txBody>
          <a:bodyPr wrap="square" lIns="0" tIns="0" rIns="0" bIns="0" rtlCol="0" anchor="t"/>
          <a:lstStyle/>
          <a:p>
            <a:pPr marL="0" indent="0">
              <a:buNone/>
            </a:pPr>
            <a:r>
              <a:rPr lang="en-US" sz="3800" b="1" dirty="0">
                <a:solidFill>
                  <a:schemeClr val="bg1"/>
                </a:solidFill>
                <a:latin typeface="+mj-lt" pitchFamily="34" charset="0"/>
                <a:ea typeface="+mj-lt" pitchFamily="34" charset="-122"/>
                <a:cs typeface="+mj-lt" pitchFamily="34" charset="-120"/>
              </a:rPr>
              <a:t>Raising healthy children, from newborn</a:t>
            </a:r>
            <a:endParaRPr lang="en-US" sz="3800" dirty="0"/>
          </a:p>
        </p:txBody>
      </p:sp>
      <p:sp>
        <p:nvSpPr>
          <p:cNvPr id="5" name="Subtitle"/>
          <p:cNvSpPr txBox="1"/>
          <p:nvPr/>
        </p:nvSpPr>
        <p:spPr>
          <a:xfrm>
            <a:off x="548640" y="3337560"/>
            <a:ext cx="4572000" cy="685800"/>
          </a:xfrm>
          <a:prstGeom prst="rect">
            <a:avLst/>
          </a:prstGeom>
          <a:noFill/>
          <a:ln/>
        </p:spPr>
        <p:txBody>
          <a:bodyPr wrap="square" lIns="0" tIns="0" rIns="0" bIns="0" rtlCol="0" anchor="t"/>
          <a:lstStyle/>
          <a:p>
            <a:pPr marL="0" indent="0">
              <a:buNone/>
            </a:pPr>
            <a:r>
              <a:rPr lang="en-US" sz="1600" dirty="0">
                <a:solidFill>
                  <a:schemeClr val="bg1"/>
                </a:solidFill>
              </a:rPr>
              <a:t>An interactive guide for parents. Tap any card to explore a topic, then test yourself with a short quiz.</a:t>
            </a:r>
            <a:endParaRPr lang="en-US" sz="1600" dirty="0"/>
          </a:p>
        </p:txBody>
      </p:sp>
      <p:sp>
        <p:nvSpPr>
          <p:cNvPr id="6" name="Start button">
            <a:hlinkClick r:id="rId4" action="ppaction://hlinksldjump" tooltip="Open the topic menu"/>
          </p:cNvPr>
          <p:cNvSpPr/>
          <p:nvPr/>
        </p:nvSpPr>
        <p:spPr>
          <a:xfrm>
            <a:off x="548640" y="4206240"/>
            <a:ext cx="1828800" cy="420624"/>
          </a:xfrm>
          <a:prstGeom prst="roundRect">
            <a:avLst>
              <a:gd name="adj" fmla="val 50000"/>
            </a:avLst>
          </a:prstGeom>
          <a:solidFill>
            <a:schemeClr val="accent3"/>
          </a:solidFill>
          <a:ln/>
        </p:spPr>
        <p:txBody>
          <a:bodyPr wrap="square" lIns="0" tIns="0" rIns="0" bIns="0" rtlCol="0" anchor="ctr"/>
          <a:lstStyle/>
          <a:p>
            <a:pPr marL="0" indent="0" algn="ctr">
              <a:buNone/>
            </a:pPr>
            <a:r>
              <a:rPr lang="en-US" sz="1400" b="1" dirty="0">
                <a:solidFill>
                  <a:schemeClr val="tx1"/>
                </a:solidFill>
              </a:rPr>
              <a:t>Start exploring</a:t>
            </a:r>
            <a:endParaRPr lang="en-US" sz="1400" dirty="0"/>
          </a:p>
        </p:txBody>
      </p:sp>
      <p:sp>
        <p:nvSpPr>
          <p:cNvPr id="7" name="Quiz button">
            <a:hlinkClick r:id="rId5" action="ppaction://hlinksldjump" tooltip="Jump to the quiz"/>
          </p:cNvPr>
          <p:cNvSpPr/>
          <p:nvPr/>
        </p:nvSpPr>
        <p:spPr>
          <a:xfrm>
            <a:off x="2560320" y="4206240"/>
            <a:ext cx="1645920" cy="420624"/>
          </a:xfrm>
          <a:prstGeom prst="roundRect">
            <a:avLst>
              <a:gd name="adj" fmla="val 50000"/>
            </a:avLst>
          </a:prstGeom>
          <a:solidFill>
            <a:schemeClr val="tx2"/>
          </a:solidFill>
          <a:ln/>
        </p:spPr>
        <p:txBody>
          <a:bodyPr wrap="square" lIns="0" tIns="0" rIns="0" bIns="0" rtlCol="0" anchor="ctr"/>
          <a:lstStyle/>
          <a:p>
            <a:pPr marL="0" indent="0" algn="ctr">
              <a:buNone/>
            </a:pPr>
            <a:r>
              <a:rPr lang="en-US" sz="1400" b="1" dirty="0">
                <a:solidFill>
                  <a:schemeClr val="bg1"/>
                </a:solidFill>
              </a:rPr>
              <a:t>Take the quiz</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Pick a topic to explore</a:t>
            </a:r>
            <a:endParaRPr lang="en-US" sz="3000" dirty="0"/>
          </a:p>
        </p:txBody>
      </p:sp>
      <p:sp>
        <p:nvSpPr>
          <p:cNvPr id="3" name="Quiz shortcut">
            <a:hlinkClick r:id="rId3" action="ppaction://hlinksldjump" tooltip="Jump to the quiz"/>
          </p:cNvPr>
          <p:cNvSpPr/>
          <p:nvPr/>
        </p:nvSpPr>
        <p:spPr>
          <a:xfrm>
            <a:off x="6812280" y="365760"/>
            <a:ext cx="187452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Take the quiz ›</a:t>
            </a:r>
            <a:endParaRPr lang="en-US" sz="1400" dirty="0"/>
          </a:p>
        </p:txBody>
      </p:sp>
      <p:sp>
        <p:nvSpPr>
          <p:cNvPr id="4" name="Menu card Newborn care">
            <a:hlinkClick r:id="rId4" action="ppaction://hlinksldjump" tooltip="Open Newborn care"/>
          </p:cNvPr>
          <p:cNvSpPr/>
          <p:nvPr/>
        </p:nvSpPr>
        <p:spPr>
          <a:xfrm>
            <a:off x="457200" y="1188720"/>
            <a:ext cx="2560320" cy="1600200"/>
          </a:xfrm>
          <a:prstGeom prst="roundRect">
            <a:avLst>
              <a:gd name="adj" fmla="val 6857"/>
            </a:avLst>
          </a:prstGeom>
          <a:solidFill>
            <a:schemeClr val="bg1"/>
          </a:solidFill>
          <a:ln/>
          <a:effectLst>
            <a:outerShdw blurRad="101600" dist="25400" dir="5400000" algn="bl" rotWithShape="0">
              <a:srgbClr val="1B2540">
                <a:alpha val="14000"/>
              </a:srgbClr>
            </a:outerShdw>
          </a:effectLst>
        </p:spPr>
        <p:txBody>
          <a:bodyPr wrap="square" lIns="177800" tIns="0" rIns="152400" bIns="177800" rtlCol="0" anchor="b"/>
          <a:lstStyle/>
          <a:p>
            <a:pPr marL="0" indent="0" algn="l">
              <a:buNone/>
            </a:pPr>
            <a:r>
              <a:rPr lang="en-US" sz="1800" b="1" dirty="0">
                <a:solidFill>
                  <a:schemeClr val="tx1"/>
                </a:solidFill>
              </a:rPr>
              <a:t>Newborn care</a:t>
            </a:r>
            <a:endParaRPr lang="en-US" sz="1800" dirty="0"/>
          </a:p>
          <a:p>
            <a:pPr marL="0" indent="0" algn="l">
              <a:buNone/>
            </a:pPr>
            <a:r>
              <a:rPr lang="en-US" sz="1400" dirty="0">
                <a:solidFill>
                  <a:schemeClr val="tx2"/>
                </a:solidFill>
              </a:rPr>
              <a:t>The first hour</a:t>
            </a:r>
            <a:endParaRPr lang="en-US" sz="1800" dirty="0"/>
          </a:p>
        </p:txBody>
      </p:sp>
      <p:sp>
        <p:nvSpPr>
          <p:cNvPr id="5" name="Newborn care circle">
            <a:hlinkClick r:id="rId4" action="ppaction://hlinksldjump" tooltip="Open Newborn care"/>
          </p:cNvPr>
          <p:cNvSpPr/>
          <p:nvPr/>
        </p:nvSpPr>
        <p:spPr>
          <a:xfrm>
            <a:off x="640080" y="1371600"/>
            <a:ext cx="594360" cy="594360"/>
          </a:xfrm>
          <a:prstGeom prst="ellipse">
            <a:avLst/>
          </a:prstGeom>
          <a:solidFill>
            <a:schemeClr val="accent1"/>
          </a:solidFill>
          <a:ln w="12700">
            <a:solidFill>
              <a:schemeClr val="accent1"/>
            </a:solidFill>
            <a:prstDash val="solid"/>
          </a:ln>
        </p:spPr>
      </p:sp>
      <p:pic>
        <p:nvPicPr>
          <p:cNvPr id="6" name="Newborn care glyph" descr="Newborn care">
            <a:hlinkClick r:id="rId4" action="ppaction://hlinksldjump" tooltip="Open Newborn care"/>
          </p:cNvPr>
          <p:cNvPicPr>
            <a:picLocks noChangeAspect="1"/>
          </p:cNvPicPr>
          <p:nvPr/>
        </p:nvPicPr>
        <p:blipFill>
          <a:blip r:embed="rId5"/>
          <a:stretch>
            <a:fillRect/>
          </a:stretch>
        </p:blipFill>
        <p:spPr>
          <a:xfrm>
            <a:off x="794614" y="1526134"/>
            <a:ext cx="285293" cy="285293"/>
          </a:xfrm>
          <a:prstGeom prst="rect">
            <a:avLst/>
          </a:prstGeom>
        </p:spPr>
      </p:pic>
      <p:sp>
        <p:nvSpPr>
          <p:cNvPr id="7" name="Menu card Going home early">
            <a:hlinkClick r:id="rId6" action="ppaction://hlinksldjump" tooltip="Open Going home early"/>
          </p:cNvPr>
          <p:cNvSpPr/>
          <p:nvPr/>
        </p:nvSpPr>
        <p:spPr>
          <a:xfrm>
            <a:off x="3291840" y="1188720"/>
            <a:ext cx="2560320" cy="1600200"/>
          </a:xfrm>
          <a:prstGeom prst="roundRect">
            <a:avLst>
              <a:gd name="adj" fmla="val 6857"/>
            </a:avLst>
          </a:prstGeom>
          <a:solidFill>
            <a:schemeClr val="bg1"/>
          </a:solidFill>
          <a:ln/>
          <a:effectLst>
            <a:outerShdw blurRad="101600" dist="25400" dir="5400000" algn="bl" rotWithShape="0">
              <a:srgbClr val="1B2540">
                <a:alpha val="14000"/>
              </a:srgbClr>
            </a:outerShdw>
          </a:effectLst>
        </p:spPr>
        <p:txBody>
          <a:bodyPr wrap="square" lIns="177800" tIns="0" rIns="152400" bIns="177800" rtlCol="0" anchor="b"/>
          <a:lstStyle/>
          <a:p>
            <a:pPr marL="0" indent="0" algn="l">
              <a:buNone/>
            </a:pPr>
            <a:r>
              <a:rPr lang="en-US" sz="1800" b="1" dirty="0">
                <a:solidFill>
                  <a:schemeClr val="tx1"/>
                </a:solidFill>
              </a:rPr>
              <a:t>Going home early</a:t>
            </a:r>
            <a:endParaRPr lang="en-US" sz="1800" dirty="0"/>
          </a:p>
          <a:p>
            <a:pPr marL="0" indent="0" algn="l">
              <a:buNone/>
            </a:pPr>
            <a:r>
              <a:rPr lang="en-US" sz="1400" dirty="0">
                <a:solidFill>
                  <a:schemeClr val="tx2"/>
                </a:solidFill>
              </a:rPr>
              <a:t>Discharge and follow-up</a:t>
            </a:r>
            <a:endParaRPr lang="en-US" sz="1800" dirty="0"/>
          </a:p>
        </p:txBody>
      </p:sp>
      <p:sp>
        <p:nvSpPr>
          <p:cNvPr id="8" name="Going home early circle">
            <a:hlinkClick r:id="rId6" action="ppaction://hlinksldjump" tooltip="Open Going home early"/>
          </p:cNvPr>
          <p:cNvSpPr/>
          <p:nvPr/>
        </p:nvSpPr>
        <p:spPr>
          <a:xfrm>
            <a:off x="3474720" y="1371600"/>
            <a:ext cx="594360" cy="594360"/>
          </a:xfrm>
          <a:prstGeom prst="ellipse">
            <a:avLst/>
          </a:prstGeom>
          <a:solidFill>
            <a:schemeClr val="accent4"/>
          </a:solidFill>
          <a:ln w="12700">
            <a:solidFill>
              <a:schemeClr val="accent4"/>
            </a:solidFill>
            <a:prstDash val="solid"/>
          </a:ln>
        </p:spPr>
      </p:sp>
      <p:pic>
        <p:nvPicPr>
          <p:cNvPr id="9" name="Going home early glyph" descr="Going home early">
            <a:hlinkClick r:id="rId6" action="ppaction://hlinksldjump" tooltip="Open Going home early"/>
          </p:cNvPr>
          <p:cNvPicPr>
            <a:picLocks noChangeAspect="1"/>
          </p:cNvPicPr>
          <p:nvPr/>
        </p:nvPicPr>
        <p:blipFill>
          <a:blip r:embed="rId7"/>
          <a:stretch>
            <a:fillRect/>
          </a:stretch>
        </p:blipFill>
        <p:spPr>
          <a:xfrm>
            <a:off x="3629254" y="1526134"/>
            <a:ext cx="285293" cy="285293"/>
          </a:xfrm>
          <a:prstGeom prst="rect">
            <a:avLst/>
          </a:prstGeom>
        </p:spPr>
      </p:pic>
      <p:sp>
        <p:nvSpPr>
          <p:cNvPr id="10" name="Menu card Breastfeeding">
            <a:hlinkClick r:id="rId8" action="ppaction://hlinksldjump" tooltip="Open Breastfeeding"/>
          </p:cNvPr>
          <p:cNvSpPr/>
          <p:nvPr/>
        </p:nvSpPr>
        <p:spPr>
          <a:xfrm>
            <a:off x="6126480" y="1188720"/>
            <a:ext cx="2560320" cy="1600200"/>
          </a:xfrm>
          <a:prstGeom prst="roundRect">
            <a:avLst>
              <a:gd name="adj" fmla="val 6857"/>
            </a:avLst>
          </a:prstGeom>
          <a:solidFill>
            <a:schemeClr val="bg1"/>
          </a:solidFill>
          <a:ln/>
          <a:effectLst>
            <a:outerShdw blurRad="101600" dist="25400" dir="5400000" algn="bl" rotWithShape="0">
              <a:srgbClr val="1B2540">
                <a:alpha val="14000"/>
              </a:srgbClr>
            </a:outerShdw>
          </a:effectLst>
        </p:spPr>
        <p:txBody>
          <a:bodyPr wrap="square" lIns="177800" tIns="0" rIns="152400" bIns="177800" rtlCol="0" anchor="b"/>
          <a:lstStyle/>
          <a:p>
            <a:pPr marL="0" indent="0" algn="l">
              <a:buNone/>
            </a:pPr>
            <a:r>
              <a:rPr lang="en-US" sz="1800" b="1" dirty="0">
                <a:solidFill>
                  <a:schemeClr val="tx1"/>
                </a:solidFill>
              </a:rPr>
              <a:t>Breastfeeding</a:t>
            </a:r>
            <a:endParaRPr lang="en-US" sz="1800" dirty="0"/>
          </a:p>
          <a:p>
            <a:pPr marL="0" indent="0" algn="l">
              <a:buNone/>
            </a:pPr>
            <a:r>
              <a:rPr lang="en-US" sz="1400" dirty="0">
                <a:solidFill>
                  <a:schemeClr val="tx2"/>
                </a:solidFill>
              </a:rPr>
              <a:t>Latch and milk storage</a:t>
            </a:r>
            <a:endParaRPr lang="en-US" sz="1800" dirty="0"/>
          </a:p>
        </p:txBody>
      </p:sp>
      <p:sp>
        <p:nvSpPr>
          <p:cNvPr id="11" name="Breastfeeding circle">
            <a:hlinkClick r:id="rId8" action="ppaction://hlinksldjump" tooltip="Open Breastfeeding"/>
          </p:cNvPr>
          <p:cNvSpPr/>
          <p:nvPr/>
        </p:nvSpPr>
        <p:spPr>
          <a:xfrm>
            <a:off x="6309360" y="1371600"/>
            <a:ext cx="594360" cy="594360"/>
          </a:xfrm>
          <a:prstGeom prst="ellipse">
            <a:avLst/>
          </a:prstGeom>
          <a:solidFill>
            <a:schemeClr val="accent2"/>
          </a:solidFill>
          <a:ln w="12700">
            <a:solidFill>
              <a:schemeClr val="accent2"/>
            </a:solidFill>
            <a:prstDash val="solid"/>
          </a:ln>
        </p:spPr>
      </p:sp>
      <p:pic>
        <p:nvPicPr>
          <p:cNvPr id="12" name="Breastfeeding glyph" descr="Breastfeeding">
            <a:hlinkClick r:id="rId8" action="ppaction://hlinksldjump" tooltip="Open Breastfeeding"/>
          </p:cNvPr>
          <p:cNvPicPr>
            <a:picLocks noChangeAspect="1"/>
          </p:cNvPicPr>
          <p:nvPr/>
        </p:nvPicPr>
        <p:blipFill>
          <a:blip r:embed="rId9"/>
          <a:stretch>
            <a:fillRect/>
          </a:stretch>
        </p:blipFill>
        <p:spPr>
          <a:xfrm>
            <a:off x="6463894" y="1526134"/>
            <a:ext cx="285293" cy="285293"/>
          </a:xfrm>
          <a:prstGeom prst="rect">
            <a:avLst/>
          </a:prstGeom>
        </p:spPr>
      </p:pic>
      <p:sp>
        <p:nvSpPr>
          <p:cNvPr id="13" name="Menu card Reading aloud">
            <a:hlinkClick r:id="rId10" action="ppaction://hlinksldjump" tooltip="Open Reading aloud"/>
          </p:cNvPr>
          <p:cNvSpPr/>
          <p:nvPr/>
        </p:nvSpPr>
        <p:spPr>
          <a:xfrm>
            <a:off x="457200" y="2926080"/>
            <a:ext cx="2560320" cy="1600200"/>
          </a:xfrm>
          <a:prstGeom prst="roundRect">
            <a:avLst>
              <a:gd name="adj" fmla="val 6857"/>
            </a:avLst>
          </a:prstGeom>
          <a:solidFill>
            <a:schemeClr val="bg1"/>
          </a:solidFill>
          <a:ln/>
          <a:effectLst>
            <a:outerShdw blurRad="101600" dist="25400" dir="5400000" algn="bl" rotWithShape="0">
              <a:srgbClr val="1B2540">
                <a:alpha val="14000"/>
              </a:srgbClr>
            </a:outerShdw>
          </a:effectLst>
        </p:spPr>
        <p:txBody>
          <a:bodyPr wrap="square" lIns="177800" tIns="0" rIns="152400" bIns="177800" rtlCol="0" anchor="b"/>
          <a:lstStyle/>
          <a:p>
            <a:pPr marL="0" indent="0" algn="l">
              <a:buNone/>
            </a:pPr>
            <a:r>
              <a:rPr lang="en-US" sz="1800" b="1" dirty="0">
                <a:solidFill>
                  <a:schemeClr val="tx1"/>
                </a:solidFill>
              </a:rPr>
              <a:t>Reading aloud</a:t>
            </a:r>
            <a:endParaRPr lang="en-US" sz="1800" dirty="0"/>
          </a:p>
          <a:p>
            <a:pPr marL="0" indent="0" algn="l">
              <a:buNone/>
            </a:pPr>
            <a:r>
              <a:rPr lang="en-US" sz="1400" dirty="0">
                <a:solidFill>
                  <a:schemeClr val="tx2"/>
                </a:solidFill>
              </a:rPr>
              <a:t>Milestones from 6 months</a:t>
            </a:r>
            <a:endParaRPr lang="en-US" sz="1800" dirty="0"/>
          </a:p>
        </p:txBody>
      </p:sp>
      <p:sp>
        <p:nvSpPr>
          <p:cNvPr id="14" name="Reading aloud circle">
            <a:hlinkClick r:id="rId10" action="ppaction://hlinksldjump" tooltip="Open Reading aloud"/>
          </p:cNvPr>
          <p:cNvSpPr/>
          <p:nvPr/>
        </p:nvSpPr>
        <p:spPr>
          <a:xfrm>
            <a:off x="640080" y="3108960"/>
            <a:ext cx="594360" cy="594360"/>
          </a:xfrm>
          <a:prstGeom prst="ellipse">
            <a:avLst/>
          </a:prstGeom>
          <a:solidFill>
            <a:schemeClr val="accent5"/>
          </a:solidFill>
          <a:ln w="12700">
            <a:solidFill>
              <a:schemeClr val="accent5"/>
            </a:solidFill>
            <a:prstDash val="solid"/>
          </a:ln>
        </p:spPr>
      </p:sp>
      <p:pic>
        <p:nvPicPr>
          <p:cNvPr id="15" name="Reading aloud glyph" descr="Reading aloud">
            <a:hlinkClick r:id="rId10" action="ppaction://hlinksldjump" tooltip="Open Reading aloud"/>
          </p:cNvPr>
          <p:cNvPicPr>
            <a:picLocks noChangeAspect="1"/>
          </p:cNvPicPr>
          <p:nvPr/>
        </p:nvPicPr>
        <p:blipFill>
          <a:blip r:embed="rId11"/>
          <a:stretch>
            <a:fillRect/>
          </a:stretch>
        </p:blipFill>
        <p:spPr>
          <a:xfrm>
            <a:off x="794614" y="3263494"/>
            <a:ext cx="285293" cy="285293"/>
          </a:xfrm>
          <a:prstGeom prst="rect">
            <a:avLst/>
          </a:prstGeom>
        </p:spPr>
      </p:pic>
      <p:sp>
        <p:nvSpPr>
          <p:cNvPr id="16" name="Menu card Child protection">
            <a:hlinkClick r:id="rId12" action="ppaction://hlinksldjump" tooltip="Open Child protection"/>
          </p:cNvPr>
          <p:cNvSpPr/>
          <p:nvPr/>
        </p:nvSpPr>
        <p:spPr>
          <a:xfrm>
            <a:off x="3291840" y="2926080"/>
            <a:ext cx="2560320" cy="1600200"/>
          </a:xfrm>
          <a:prstGeom prst="roundRect">
            <a:avLst>
              <a:gd name="adj" fmla="val 6857"/>
            </a:avLst>
          </a:prstGeom>
          <a:solidFill>
            <a:schemeClr val="bg1"/>
          </a:solidFill>
          <a:ln/>
          <a:effectLst>
            <a:outerShdw blurRad="101600" dist="25400" dir="5400000" algn="bl" rotWithShape="0">
              <a:srgbClr val="1B2540">
                <a:alpha val="14000"/>
              </a:srgbClr>
            </a:outerShdw>
          </a:effectLst>
        </p:spPr>
        <p:txBody>
          <a:bodyPr wrap="square" lIns="177800" tIns="0" rIns="152400" bIns="177800" rtlCol="0" anchor="b"/>
          <a:lstStyle/>
          <a:p>
            <a:pPr marL="0" indent="0" algn="l">
              <a:buNone/>
            </a:pPr>
            <a:r>
              <a:rPr lang="en-US" sz="1800" b="1" dirty="0">
                <a:solidFill>
                  <a:schemeClr val="tx1"/>
                </a:solidFill>
              </a:rPr>
              <a:t>Child protection</a:t>
            </a:r>
            <a:endParaRPr lang="en-US" sz="1800" dirty="0"/>
          </a:p>
          <a:p>
            <a:pPr marL="0" indent="0" algn="l">
              <a:buNone/>
            </a:pPr>
            <a:r>
              <a:rPr lang="en-US" sz="1400" dirty="0">
                <a:solidFill>
                  <a:schemeClr val="tx2"/>
                </a:solidFill>
              </a:rPr>
              <a:t>Spot signs, respond well</a:t>
            </a:r>
            <a:endParaRPr lang="en-US" sz="1800" dirty="0"/>
          </a:p>
        </p:txBody>
      </p:sp>
      <p:sp>
        <p:nvSpPr>
          <p:cNvPr id="17" name="Child protection circle">
            <a:hlinkClick r:id="rId12" action="ppaction://hlinksldjump" tooltip="Open Child protection"/>
          </p:cNvPr>
          <p:cNvSpPr/>
          <p:nvPr/>
        </p:nvSpPr>
        <p:spPr>
          <a:xfrm>
            <a:off x="3474720" y="3108960"/>
            <a:ext cx="594360" cy="594360"/>
          </a:xfrm>
          <a:prstGeom prst="ellipse">
            <a:avLst/>
          </a:prstGeom>
          <a:solidFill>
            <a:schemeClr val="accent6"/>
          </a:solidFill>
          <a:ln w="12700">
            <a:solidFill>
              <a:schemeClr val="accent6"/>
            </a:solidFill>
            <a:prstDash val="solid"/>
          </a:ln>
        </p:spPr>
      </p:sp>
      <p:pic>
        <p:nvPicPr>
          <p:cNvPr id="18" name="Child protection glyph" descr="Child protection">
            <a:hlinkClick r:id="rId12" action="ppaction://hlinksldjump" tooltip="Open Child protection"/>
          </p:cNvPr>
          <p:cNvPicPr>
            <a:picLocks noChangeAspect="1"/>
          </p:cNvPicPr>
          <p:nvPr/>
        </p:nvPicPr>
        <p:blipFill>
          <a:blip r:embed="rId13"/>
          <a:stretch>
            <a:fillRect/>
          </a:stretch>
        </p:blipFill>
        <p:spPr>
          <a:xfrm>
            <a:off x="3629254" y="3263494"/>
            <a:ext cx="285293" cy="285293"/>
          </a:xfrm>
          <a:prstGeom prst="rect">
            <a:avLst/>
          </a:prstGeom>
        </p:spPr>
      </p:pic>
      <p:pic>
        <p:nvPicPr>
          <p:cNvPr id="21" name="Teen guidance glyph" descr="Teen guidance">
            <a:hlinkClick r:id="rId3" action="ppaction://hlinksldjump" tooltip="Open Teen guidance"/>
          </p:cNvPr>
          <p:cNvPicPr>
            <a:picLocks noChangeAspect="1"/>
          </p:cNvPicPr>
          <p:nvPr/>
        </p:nvPicPr>
        <p:blipFill>
          <a:blip r:embed="rId14"/>
          <a:stretch>
            <a:fillRect/>
          </a:stretch>
        </p:blipFill>
        <p:spPr>
          <a:xfrm>
            <a:off x="6463894" y="3263494"/>
            <a:ext cx="285293" cy="285293"/>
          </a:xfrm>
          <a:prstGeom prst="rect">
            <a:avLst/>
          </a:prstGeom>
        </p:spPr>
      </p:pic>
      <p:sp>
        <p:nvSpPr>
          <p:cNvPr id="22" name="Tip"/>
          <p:cNvSpPr txBox="1"/>
          <p:nvPr/>
        </p:nvSpPr>
        <p:spPr>
          <a:xfrm>
            <a:off x="2286000" y="4663440"/>
            <a:ext cx="4023360" cy="329184"/>
          </a:xfrm>
          <a:prstGeom prst="rect">
            <a:avLst/>
          </a:prstGeom>
          <a:noFill/>
          <a:ln/>
        </p:spPr>
        <p:txBody>
          <a:bodyPr wrap="square" lIns="0" tIns="0" rIns="0" bIns="0" rtlCol="0" anchor="ctr"/>
          <a:lstStyle/>
          <a:p>
            <a:pPr marL="0" indent="0">
              <a:buNone/>
            </a:pPr>
            <a:r>
              <a:rPr lang="en-US" sz="1000" dirty="0">
                <a:solidFill>
                  <a:schemeClr val="tx2"/>
                </a:solidFill>
              </a:rPr>
              <a:t>Tip: use Slide Show mode so every card is clickable.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The first hour matters</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sp>
        <p:nvSpPr>
          <p:cNvPr id="4" name="Step 1"/>
          <p:cNvSpPr/>
          <p:nvPr/>
        </p:nvSpPr>
        <p:spPr>
          <a:xfrm>
            <a:off x="457200" y="1143000"/>
            <a:ext cx="2468880" cy="1188720"/>
          </a:xfrm>
          <a:prstGeom prst="roundRect">
            <a:avLst>
              <a:gd name="adj" fmla="val 9231"/>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5" name="Step 1 badge"/>
          <p:cNvSpPr/>
          <p:nvPr/>
        </p:nvSpPr>
        <p:spPr>
          <a:xfrm>
            <a:off x="621792" y="1280160"/>
            <a:ext cx="420624" cy="420624"/>
          </a:xfrm>
          <a:prstGeom prst="ellipse">
            <a:avLst/>
          </a:prstGeom>
          <a:solidFill>
            <a:schemeClr val="accent1"/>
          </a:solidFill>
          <a:ln w="12700">
            <a:solidFill>
              <a:schemeClr val="accent1"/>
            </a:solidFill>
            <a:prstDash val="solid"/>
          </a:ln>
        </p:spPr>
      </p:sp>
      <p:sp>
        <p:nvSpPr>
          <p:cNvPr id="6" name="Step 1 number"/>
          <p:cNvSpPr txBox="1"/>
          <p:nvPr/>
        </p:nvSpPr>
        <p:spPr>
          <a:xfrm>
            <a:off x="621792" y="1280160"/>
            <a:ext cx="420624" cy="420624"/>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Step 1 heading"/>
          <p:cNvSpPr txBox="1"/>
          <p:nvPr/>
        </p:nvSpPr>
        <p:spPr>
          <a:xfrm>
            <a:off x="1152144" y="1280160"/>
            <a:ext cx="1645920" cy="420624"/>
          </a:xfrm>
          <a:prstGeom prst="rect">
            <a:avLst/>
          </a:prstGeom>
          <a:noFill/>
          <a:ln/>
        </p:spPr>
        <p:txBody>
          <a:bodyPr wrap="square" lIns="0" tIns="0" rIns="0" bIns="0" rtlCol="0" anchor="ctr"/>
          <a:lstStyle/>
          <a:p>
            <a:pPr marL="0" indent="0">
              <a:buNone/>
            </a:pPr>
            <a:r>
              <a:rPr lang="en-US" sz="1600" b="1" dirty="0">
                <a:solidFill>
                  <a:schemeClr val="tx1"/>
                </a:solidFill>
              </a:rPr>
              <a:t>Dry thoroughly</a:t>
            </a:r>
            <a:endParaRPr lang="en-US" sz="1600" dirty="0"/>
          </a:p>
        </p:txBody>
      </p:sp>
      <p:sp>
        <p:nvSpPr>
          <p:cNvPr id="8" name="Step 1 text"/>
          <p:cNvSpPr txBox="1"/>
          <p:nvPr/>
        </p:nvSpPr>
        <p:spPr>
          <a:xfrm>
            <a:off x="621792" y="1764792"/>
            <a:ext cx="2139696" cy="502920"/>
          </a:xfrm>
          <a:prstGeom prst="rect">
            <a:avLst/>
          </a:prstGeom>
          <a:noFill/>
          <a:ln/>
        </p:spPr>
        <p:txBody>
          <a:bodyPr wrap="square" lIns="0" tIns="0" rIns="0" bIns="0" rtlCol="0" anchor="t"/>
          <a:lstStyle/>
          <a:p>
            <a:pPr marL="0" indent="0">
              <a:buNone/>
            </a:pPr>
            <a:r>
              <a:rPr lang="en-US" sz="1400" dirty="0">
                <a:solidFill>
                  <a:schemeClr val="tx2"/>
                </a:solidFill>
              </a:rPr>
              <a:t>Immediate and thorough drying of the newborn</a:t>
            </a:r>
            <a:endParaRPr lang="en-US" sz="1400" dirty="0"/>
          </a:p>
        </p:txBody>
      </p:sp>
      <p:sp>
        <p:nvSpPr>
          <p:cNvPr id="9" name="Step 2"/>
          <p:cNvSpPr/>
          <p:nvPr/>
        </p:nvSpPr>
        <p:spPr>
          <a:xfrm>
            <a:off x="3154680" y="1143000"/>
            <a:ext cx="2468880" cy="1188720"/>
          </a:xfrm>
          <a:prstGeom prst="roundRect">
            <a:avLst>
              <a:gd name="adj" fmla="val 9231"/>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0" name="Step 2 badge"/>
          <p:cNvSpPr/>
          <p:nvPr/>
        </p:nvSpPr>
        <p:spPr>
          <a:xfrm>
            <a:off x="3319272" y="1280160"/>
            <a:ext cx="420624" cy="420624"/>
          </a:xfrm>
          <a:prstGeom prst="ellipse">
            <a:avLst/>
          </a:prstGeom>
          <a:solidFill>
            <a:schemeClr val="accent2"/>
          </a:solidFill>
          <a:ln w="12700">
            <a:solidFill>
              <a:schemeClr val="accent2"/>
            </a:solidFill>
            <a:prstDash val="solid"/>
          </a:ln>
        </p:spPr>
      </p:sp>
      <p:sp>
        <p:nvSpPr>
          <p:cNvPr id="11" name="Step 2 number"/>
          <p:cNvSpPr txBox="1"/>
          <p:nvPr/>
        </p:nvSpPr>
        <p:spPr>
          <a:xfrm>
            <a:off x="3319272" y="1280160"/>
            <a:ext cx="420624" cy="420624"/>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2" name="Step 2 heading"/>
          <p:cNvSpPr txBox="1"/>
          <p:nvPr/>
        </p:nvSpPr>
        <p:spPr>
          <a:xfrm>
            <a:off x="3849624" y="1280160"/>
            <a:ext cx="1645920" cy="420624"/>
          </a:xfrm>
          <a:prstGeom prst="rect">
            <a:avLst/>
          </a:prstGeom>
          <a:noFill/>
          <a:ln/>
        </p:spPr>
        <p:txBody>
          <a:bodyPr wrap="square" lIns="0" tIns="0" rIns="0" bIns="0" rtlCol="0" anchor="ctr"/>
          <a:lstStyle/>
          <a:p>
            <a:pPr marL="0" indent="0">
              <a:buNone/>
            </a:pPr>
            <a:r>
              <a:rPr lang="en-US" sz="1600" b="1" dirty="0">
                <a:solidFill>
                  <a:schemeClr val="tx1"/>
                </a:solidFill>
              </a:rPr>
              <a:t>Skin to skin</a:t>
            </a:r>
            <a:endParaRPr lang="en-US" sz="1600" dirty="0"/>
          </a:p>
        </p:txBody>
      </p:sp>
      <p:sp>
        <p:nvSpPr>
          <p:cNvPr id="13" name="Step 2 text"/>
          <p:cNvSpPr txBox="1"/>
          <p:nvPr/>
        </p:nvSpPr>
        <p:spPr>
          <a:xfrm>
            <a:off x="3319272" y="1764792"/>
            <a:ext cx="2139696" cy="502920"/>
          </a:xfrm>
          <a:prstGeom prst="rect">
            <a:avLst/>
          </a:prstGeom>
          <a:noFill/>
          <a:ln/>
        </p:spPr>
        <p:txBody>
          <a:bodyPr wrap="square" lIns="0" tIns="0" rIns="0" bIns="0" rtlCol="0" anchor="t"/>
          <a:lstStyle/>
          <a:p>
            <a:pPr marL="0" indent="0">
              <a:buNone/>
            </a:pPr>
            <a:r>
              <a:rPr lang="en-US" sz="1400" dirty="0">
                <a:solidFill>
                  <a:schemeClr val="tx2"/>
                </a:solidFill>
              </a:rPr>
              <a:t>Early skin-to-skin contact between mother and baby</a:t>
            </a:r>
            <a:endParaRPr lang="en-US" sz="1400" dirty="0"/>
          </a:p>
        </p:txBody>
      </p:sp>
      <p:sp>
        <p:nvSpPr>
          <p:cNvPr id="14" name="Step 3"/>
          <p:cNvSpPr/>
          <p:nvPr/>
        </p:nvSpPr>
        <p:spPr>
          <a:xfrm>
            <a:off x="457200" y="2468880"/>
            <a:ext cx="2468880" cy="1188720"/>
          </a:xfrm>
          <a:prstGeom prst="roundRect">
            <a:avLst>
              <a:gd name="adj" fmla="val 9231"/>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5" name="Step 3 badge"/>
          <p:cNvSpPr/>
          <p:nvPr/>
        </p:nvSpPr>
        <p:spPr>
          <a:xfrm>
            <a:off x="621792" y="2606040"/>
            <a:ext cx="420624" cy="420624"/>
          </a:xfrm>
          <a:prstGeom prst="ellipse">
            <a:avLst/>
          </a:prstGeom>
          <a:solidFill>
            <a:schemeClr val="accent4"/>
          </a:solidFill>
          <a:ln w="12700">
            <a:solidFill>
              <a:schemeClr val="accent4"/>
            </a:solidFill>
            <a:prstDash val="solid"/>
          </a:ln>
        </p:spPr>
      </p:sp>
      <p:sp>
        <p:nvSpPr>
          <p:cNvPr id="16" name="Step 3 number"/>
          <p:cNvSpPr txBox="1"/>
          <p:nvPr/>
        </p:nvSpPr>
        <p:spPr>
          <a:xfrm>
            <a:off x="621792" y="2606040"/>
            <a:ext cx="420624" cy="420624"/>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7" name="Step 3 heading"/>
          <p:cNvSpPr txBox="1"/>
          <p:nvPr/>
        </p:nvSpPr>
        <p:spPr>
          <a:xfrm>
            <a:off x="1152144" y="2606040"/>
            <a:ext cx="1645920" cy="420624"/>
          </a:xfrm>
          <a:prstGeom prst="rect">
            <a:avLst/>
          </a:prstGeom>
          <a:noFill/>
          <a:ln/>
        </p:spPr>
        <p:txBody>
          <a:bodyPr wrap="square" lIns="0" tIns="0" rIns="0" bIns="0" rtlCol="0" anchor="ctr"/>
          <a:lstStyle/>
          <a:p>
            <a:pPr marL="0" indent="0">
              <a:buNone/>
            </a:pPr>
            <a:r>
              <a:rPr lang="en-US" sz="1600" b="1" dirty="0">
                <a:solidFill>
                  <a:schemeClr val="tx1"/>
                </a:solidFill>
              </a:rPr>
              <a:t>Time the cord</a:t>
            </a:r>
            <a:endParaRPr lang="en-US" sz="1600" dirty="0"/>
          </a:p>
        </p:txBody>
      </p:sp>
      <p:sp>
        <p:nvSpPr>
          <p:cNvPr id="18" name="Step 3 text"/>
          <p:cNvSpPr txBox="1"/>
          <p:nvPr/>
        </p:nvSpPr>
        <p:spPr>
          <a:xfrm>
            <a:off x="621792" y="3090672"/>
            <a:ext cx="2139696" cy="502920"/>
          </a:xfrm>
          <a:prstGeom prst="rect">
            <a:avLst/>
          </a:prstGeom>
          <a:noFill/>
          <a:ln/>
        </p:spPr>
        <p:txBody>
          <a:bodyPr wrap="square" lIns="0" tIns="0" rIns="0" bIns="0" rtlCol="0" anchor="t"/>
          <a:lstStyle/>
          <a:p>
            <a:pPr marL="0" indent="0">
              <a:buNone/>
            </a:pPr>
            <a:r>
              <a:rPr lang="en-US" sz="1400" dirty="0">
                <a:solidFill>
                  <a:schemeClr val="tx2"/>
                </a:solidFill>
              </a:rPr>
              <a:t>Properly timed cord clamping and cutting</a:t>
            </a:r>
            <a:endParaRPr lang="en-US" sz="1400" dirty="0"/>
          </a:p>
        </p:txBody>
      </p:sp>
      <p:sp>
        <p:nvSpPr>
          <p:cNvPr id="19" name="Step 4"/>
          <p:cNvSpPr/>
          <p:nvPr/>
        </p:nvSpPr>
        <p:spPr>
          <a:xfrm>
            <a:off x="3154680" y="2468880"/>
            <a:ext cx="2468880" cy="1188720"/>
          </a:xfrm>
          <a:prstGeom prst="roundRect">
            <a:avLst>
              <a:gd name="adj" fmla="val 9231"/>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20" name="Step 4 badge"/>
          <p:cNvSpPr/>
          <p:nvPr/>
        </p:nvSpPr>
        <p:spPr>
          <a:xfrm>
            <a:off x="3319272" y="2606040"/>
            <a:ext cx="420624" cy="420624"/>
          </a:xfrm>
          <a:prstGeom prst="ellipse">
            <a:avLst/>
          </a:prstGeom>
          <a:solidFill>
            <a:schemeClr val="accent5"/>
          </a:solidFill>
          <a:ln w="12700">
            <a:solidFill>
              <a:schemeClr val="accent5"/>
            </a:solidFill>
            <a:prstDash val="solid"/>
          </a:ln>
        </p:spPr>
      </p:sp>
      <p:sp>
        <p:nvSpPr>
          <p:cNvPr id="21" name="Step 4 number"/>
          <p:cNvSpPr txBox="1"/>
          <p:nvPr/>
        </p:nvSpPr>
        <p:spPr>
          <a:xfrm>
            <a:off x="3319272" y="2606040"/>
            <a:ext cx="420624" cy="420624"/>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2" name="Step 4 heading"/>
          <p:cNvSpPr txBox="1"/>
          <p:nvPr/>
        </p:nvSpPr>
        <p:spPr>
          <a:xfrm>
            <a:off x="3849624" y="2606040"/>
            <a:ext cx="1645920" cy="420624"/>
          </a:xfrm>
          <a:prstGeom prst="rect">
            <a:avLst/>
          </a:prstGeom>
          <a:noFill/>
          <a:ln/>
        </p:spPr>
        <p:txBody>
          <a:bodyPr wrap="square" lIns="0" tIns="0" rIns="0" bIns="0" rtlCol="0" anchor="ctr"/>
          <a:lstStyle/>
          <a:p>
            <a:pPr marL="0" indent="0">
              <a:buNone/>
            </a:pPr>
            <a:r>
              <a:rPr lang="en-US" sz="1600" b="1" dirty="0">
                <a:solidFill>
                  <a:schemeClr val="tx1"/>
                </a:solidFill>
              </a:rPr>
              <a:t>Stay together</a:t>
            </a:r>
            <a:endParaRPr lang="en-US" sz="1600" dirty="0"/>
          </a:p>
        </p:txBody>
      </p:sp>
      <p:sp>
        <p:nvSpPr>
          <p:cNvPr id="23" name="Step 4 text"/>
          <p:cNvSpPr txBox="1"/>
          <p:nvPr/>
        </p:nvSpPr>
        <p:spPr>
          <a:xfrm>
            <a:off x="3319272" y="3090672"/>
            <a:ext cx="2139696" cy="502920"/>
          </a:xfrm>
          <a:prstGeom prst="rect">
            <a:avLst/>
          </a:prstGeom>
          <a:noFill/>
          <a:ln/>
        </p:spPr>
        <p:txBody>
          <a:bodyPr wrap="square" lIns="0" tIns="0" rIns="0" bIns="0" rtlCol="0" anchor="t"/>
          <a:lstStyle/>
          <a:p>
            <a:pPr marL="0" indent="0">
              <a:buNone/>
            </a:pPr>
            <a:r>
              <a:rPr lang="en-US" sz="1400" dirty="0">
                <a:solidFill>
                  <a:schemeClr val="tx2"/>
                </a:solidFill>
              </a:rPr>
              <a:t>No separation of mother and baby, for early breastfeeding</a:t>
            </a:r>
            <a:endParaRPr lang="en-US" sz="1400" dirty="0"/>
          </a:p>
        </p:txBody>
      </p:sp>
      <p:sp>
        <p:nvSpPr>
          <p:cNvPr id="24" name="Prenatal banner"/>
          <p:cNvSpPr/>
          <p:nvPr/>
        </p:nvSpPr>
        <p:spPr>
          <a:xfrm>
            <a:off x="457200" y="3840480"/>
            <a:ext cx="5166360" cy="731520"/>
          </a:xfrm>
          <a:prstGeom prst="roundRect">
            <a:avLst>
              <a:gd name="adj" fmla="val 12500"/>
            </a:avLst>
          </a:prstGeom>
          <a:solidFill>
            <a:schemeClr val="tx1"/>
          </a:solidFill>
          <a:ln w="12700">
            <a:solidFill>
              <a:schemeClr val="tx1"/>
            </a:solidFill>
            <a:prstDash val="solid"/>
          </a:ln>
        </p:spPr>
      </p:sp>
      <p:sp>
        <p:nvSpPr>
          <p:cNvPr id="25" name="Prenatal text"/>
          <p:cNvSpPr txBox="1"/>
          <p:nvPr/>
        </p:nvSpPr>
        <p:spPr>
          <a:xfrm>
            <a:off x="621792" y="3840480"/>
            <a:ext cx="4846320" cy="731520"/>
          </a:xfrm>
          <a:prstGeom prst="rect">
            <a:avLst/>
          </a:prstGeom>
          <a:noFill/>
          <a:ln/>
        </p:spPr>
        <p:txBody>
          <a:bodyPr wrap="square" lIns="0" tIns="0" rIns="0" bIns="0" rtlCol="0" anchor="ctr"/>
          <a:lstStyle/>
          <a:p>
            <a:pPr marL="0" indent="0">
              <a:buNone/>
            </a:pPr>
            <a:r>
              <a:rPr lang="en-US" sz="1400" b="1" dirty="0">
                <a:solidFill>
                  <a:schemeClr val="accent3"/>
                </a:solidFill>
              </a:rPr>
              <a:t>Also covered before birth: </a:t>
            </a:r>
            <a:r>
              <a:rPr lang="en-US" sz="1400" dirty="0">
                <a:solidFill>
                  <a:schemeClr val="bg1"/>
                </a:solidFill>
              </a:rPr>
              <a:t>rooming-in, Kangaroo Mother Care, newborn and hearing screening, Hepatitis B and BCG vaccines.</a:t>
            </a:r>
            <a:endParaRPr lang="en-US" sz="1400" dirty="0"/>
          </a:p>
        </p:txBody>
      </p:sp>
      <p:pic>
        <p:nvPicPr>
          <p:cNvPr id="26" name="Family photo" descr="Parents lifting a baby into the sky at sunset"/>
          <p:cNvPicPr>
            <a:picLocks noChangeAspect="1"/>
          </p:cNvPicPr>
          <p:nvPr/>
        </p:nvPicPr>
        <p:blipFill>
          <a:blip r:embed="rId4"/>
          <a:stretch>
            <a:fillRect/>
          </a:stretch>
        </p:blipFill>
        <p:spPr>
          <a:xfrm>
            <a:off x="5852160" y="1143000"/>
            <a:ext cx="2834640" cy="3429000"/>
          </a:xfrm>
          <a:prstGeom prst="rect">
            <a:avLst/>
          </a:prstGeom>
        </p:spPr>
      </p:pic>
      <p:sp>
        <p:nvSpPr>
          <p:cNvPr id="27" name="Back button">
            <a:hlinkClick r:id="rId3"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 Back</a:t>
            </a:r>
            <a:endParaRPr lang="en-US" sz="1400" dirty="0"/>
          </a:p>
        </p:txBody>
      </p:sp>
      <p:sp>
        <p:nvSpPr>
          <p:cNvPr id="28" name="Next button">
            <a:hlinkClick r:id="rId5"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Next ›</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Going home early</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sp>
        <p:nvSpPr>
          <p:cNvPr id="4" name="Follow-up card"/>
          <p:cNvSpPr/>
          <p:nvPr/>
        </p:nvSpPr>
        <p:spPr>
          <a:xfrm>
            <a:off x="457200" y="1143000"/>
            <a:ext cx="2560320" cy="3383280"/>
          </a:xfrm>
          <a:prstGeom prst="roundRect">
            <a:avLst>
              <a:gd name="adj" fmla="val 4286"/>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5" name="Clock circle"/>
          <p:cNvSpPr/>
          <p:nvPr/>
        </p:nvSpPr>
        <p:spPr>
          <a:xfrm>
            <a:off x="640080" y="1325880"/>
            <a:ext cx="548640" cy="548640"/>
          </a:xfrm>
          <a:prstGeom prst="ellipse">
            <a:avLst/>
          </a:prstGeom>
          <a:solidFill>
            <a:schemeClr val="accent1"/>
          </a:solidFill>
          <a:ln w="12700">
            <a:solidFill>
              <a:schemeClr val="accent1"/>
            </a:solidFill>
            <a:prstDash val="solid"/>
          </a:ln>
        </p:spPr>
      </p:sp>
      <p:pic>
        <p:nvPicPr>
          <p:cNvPr id="6" name="Clock glyph" descr="Clock"/>
          <p:cNvPicPr>
            <a:picLocks noChangeAspect="1"/>
          </p:cNvPicPr>
          <p:nvPr/>
        </p:nvPicPr>
        <p:blipFill>
          <a:blip r:embed="rId4"/>
          <a:stretch>
            <a:fillRect/>
          </a:stretch>
        </p:blipFill>
        <p:spPr>
          <a:xfrm>
            <a:off x="782726" y="1468526"/>
            <a:ext cx="263347" cy="263347"/>
          </a:xfrm>
          <a:prstGeom prst="rect">
            <a:avLst/>
          </a:prstGeom>
        </p:spPr>
      </p:pic>
      <p:sp>
        <p:nvSpPr>
          <p:cNvPr id="7" name="Follow-up stat"/>
          <p:cNvSpPr txBox="1"/>
          <p:nvPr/>
        </p:nvSpPr>
        <p:spPr>
          <a:xfrm>
            <a:off x="640080" y="2011680"/>
            <a:ext cx="2194560" cy="594360"/>
          </a:xfrm>
          <a:prstGeom prst="rect">
            <a:avLst/>
          </a:prstGeom>
          <a:noFill/>
          <a:ln/>
        </p:spPr>
        <p:txBody>
          <a:bodyPr wrap="square" lIns="0" tIns="0" rIns="0" bIns="0" rtlCol="0" anchor="ctr"/>
          <a:lstStyle/>
          <a:p>
            <a:pPr marL="0" indent="0">
              <a:buNone/>
            </a:pPr>
            <a:r>
              <a:rPr lang="en-US" sz="3000" b="1" dirty="0">
                <a:solidFill>
                  <a:schemeClr val="accent1"/>
                </a:solidFill>
                <a:latin typeface="+mj-lt" pitchFamily="34" charset="0"/>
                <a:ea typeface="+mj-lt" pitchFamily="34" charset="-122"/>
                <a:cs typeface="+mj-lt" pitchFamily="34" charset="-120"/>
              </a:rPr>
              <a:t>48 hours</a:t>
            </a:r>
            <a:endParaRPr lang="en-US" sz="3000" dirty="0"/>
          </a:p>
        </p:txBody>
      </p:sp>
      <p:sp>
        <p:nvSpPr>
          <p:cNvPr id="8" name="Follow-up text"/>
          <p:cNvSpPr txBox="1"/>
          <p:nvPr/>
        </p:nvSpPr>
        <p:spPr>
          <a:xfrm>
            <a:off x="640080" y="2697480"/>
            <a:ext cx="2194560" cy="1737360"/>
          </a:xfrm>
          <a:prstGeom prst="rect">
            <a:avLst/>
          </a:prstGeom>
          <a:noFill/>
          <a:ln/>
        </p:spPr>
        <p:txBody>
          <a:bodyPr wrap="square" lIns="0" tIns="0" rIns="0" bIns="0" rtlCol="0" anchor="t"/>
          <a:lstStyle/>
          <a:p>
            <a:pPr marL="0" indent="0">
              <a:buNone/>
            </a:pPr>
            <a:r>
              <a:rPr lang="en-US" sz="1400" dirty="0">
                <a:solidFill>
                  <a:schemeClr val="tx2"/>
                </a:solidFill>
              </a:rPr>
              <a:t>A newborn sent home before 48 hours needs a definite appointment, and an exam within 48 hours of discharge.</a:t>
            </a:r>
            <a:endParaRPr lang="en-US" sz="1400" dirty="0"/>
          </a:p>
        </p:txBody>
      </p:sp>
      <p:sp>
        <p:nvSpPr>
          <p:cNvPr id="9" name="Criteria label"/>
          <p:cNvSpPr txBox="1"/>
          <p:nvPr/>
        </p:nvSpPr>
        <p:spPr>
          <a:xfrm>
            <a:off x="3246120" y="1097280"/>
            <a:ext cx="5394960" cy="274320"/>
          </a:xfrm>
          <a:prstGeom prst="rect">
            <a:avLst/>
          </a:prstGeom>
          <a:noFill/>
          <a:ln/>
        </p:spPr>
        <p:txBody>
          <a:bodyPr wrap="square" lIns="0" tIns="0" rIns="0" bIns="0" rtlCol="0" anchor="ctr"/>
          <a:lstStyle/>
          <a:p>
            <a:pPr marL="0" indent="0">
              <a:buNone/>
            </a:pPr>
            <a:r>
              <a:rPr lang="en-US" sz="1200" b="1" dirty="0">
                <a:solidFill>
                  <a:schemeClr val="tx2"/>
                </a:solidFill>
              </a:rPr>
              <a:t>Minimum discharge criteria</a:t>
            </a:r>
            <a:endParaRPr lang="en-US" sz="1200" dirty="0"/>
          </a:p>
        </p:txBody>
      </p:sp>
      <p:sp>
        <p:nvSpPr>
          <p:cNvPr id="10" name="Criterion 1"/>
          <p:cNvSpPr/>
          <p:nvPr/>
        </p:nvSpPr>
        <p:spPr>
          <a:xfrm>
            <a:off x="3246120" y="1417320"/>
            <a:ext cx="2651760" cy="960120"/>
          </a:xfrm>
          <a:prstGeom prst="roundRect">
            <a:avLst>
              <a:gd name="adj" fmla="val 11429"/>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1" name="Criterion 1 circle"/>
          <p:cNvSpPr/>
          <p:nvPr/>
        </p:nvSpPr>
        <p:spPr>
          <a:xfrm>
            <a:off x="3383280" y="1691640"/>
            <a:ext cx="411480" cy="411480"/>
          </a:xfrm>
          <a:prstGeom prst="ellipse">
            <a:avLst/>
          </a:prstGeom>
          <a:solidFill>
            <a:schemeClr val="accent4"/>
          </a:solidFill>
          <a:ln w="12700">
            <a:solidFill>
              <a:schemeClr val="accent4"/>
            </a:solidFill>
            <a:prstDash val="solid"/>
          </a:ln>
        </p:spPr>
      </p:sp>
      <p:pic>
        <p:nvPicPr>
          <p:cNvPr id="12" name="Criterion 1 glyph" descr="Criterion 1"/>
          <p:cNvPicPr>
            <a:picLocks noChangeAspect="1"/>
          </p:cNvPicPr>
          <p:nvPr/>
        </p:nvPicPr>
        <p:blipFill>
          <a:blip r:embed="rId5"/>
          <a:stretch>
            <a:fillRect/>
          </a:stretch>
        </p:blipFill>
        <p:spPr>
          <a:xfrm>
            <a:off x="3490265" y="1798625"/>
            <a:ext cx="197510" cy="197510"/>
          </a:xfrm>
          <a:prstGeom prst="rect">
            <a:avLst/>
          </a:prstGeom>
        </p:spPr>
      </p:pic>
      <p:sp>
        <p:nvSpPr>
          <p:cNvPr id="13" name="Criterion 1 text"/>
          <p:cNvSpPr txBox="1"/>
          <p:nvPr/>
        </p:nvSpPr>
        <p:spPr>
          <a:xfrm>
            <a:off x="3904488" y="1463040"/>
            <a:ext cx="1920240" cy="868680"/>
          </a:xfrm>
          <a:prstGeom prst="rect">
            <a:avLst/>
          </a:prstGeom>
          <a:noFill/>
          <a:ln/>
        </p:spPr>
        <p:txBody>
          <a:bodyPr wrap="square" lIns="0" tIns="0" rIns="0" bIns="0" rtlCol="0" anchor="ctr"/>
          <a:lstStyle/>
          <a:p>
            <a:pPr marL="0" indent="0">
              <a:buNone/>
            </a:pPr>
            <a:r>
              <a:rPr lang="en-US" sz="1400" dirty="0">
                <a:solidFill>
                  <a:schemeClr val="tx1"/>
                </a:solidFill>
              </a:rPr>
              <a:t>Uncomplicated pregnancy, birth and postpartum course</a:t>
            </a:r>
            <a:endParaRPr lang="en-US" sz="1400" dirty="0"/>
          </a:p>
        </p:txBody>
      </p:sp>
      <p:sp>
        <p:nvSpPr>
          <p:cNvPr id="14" name="Criterion 2"/>
          <p:cNvSpPr/>
          <p:nvPr/>
        </p:nvSpPr>
        <p:spPr>
          <a:xfrm>
            <a:off x="6035040" y="1417320"/>
            <a:ext cx="2651760" cy="960120"/>
          </a:xfrm>
          <a:prstGeom prst="roundRect">
            <a:avLst>
              <a:gd name="adj" fmla="val 11429"/>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5" name="Criterion 2 circle"/>
          <p:cNvSpPr/>
          <p:nvPr/>
        </p:nvSpPr>
        <p:spPr>
          <a:xfrm>
            <a:off x="6172200" y="1691640"/>
            <a:ext cx="411480" cy="411480"/>
          </a:xfrm>
          <a:prstGeom prst="ellipse">
            <a:avLst/>
          </a:prstGeom>
          <a:solidFill>
            <a:schemeClr val="accent4"/>
          </a:solidFill>
          <a:ln w="12700">
            <a:solidFill>
              <a:schemeClr val="accent4"/>
            </a:solidFill>
            <a:prstDash val="solid"/>
          </a:ln>
        </p:spPr>
      </p:sp>
      <p:pic>
        <p:nvPicPr>
          <p:cNvPr id="16" name="Criterion 2 glyph" descr="Criterion 2"/>
          <p:cNvPicPr>
            <a:picLocks noChangeAspect="1"/>
          </p:cNvPicPr>
          <p:nvPr/>
        </p:nvPicPr>
        <p:blipFill>
          <a:blip r:embed="rId5"/>
          <a:stretch>
            <a:fillRect/>
          </a:stretch>
        </p:blipFill>
        <p:spPr>
          <a:xfrm>
            <a:off x="6279185" y="1798625"/>
            <a:ext cx="197510" cy="197510"/>
          </a:xfrm>
          <a:prstGeom prst="rect">
            <a:avLst/>
          </a:prstGeom>
        </p:spPr>
      </p:pic>
      <p:sp>
        <p:nvSpPr>
          <p:cNvPr id="17" name="Criterion 2 text"/>
          <p:cNvSpPr txBox="1"/>
          <p:nvPr/>
        </p:nvSpPr>
        <p:spPr>
          <a:xfrm>
            <a:off x="6693408" y="1463040"/>
            <a:ext cx="1920240" cy="868680"/>
          </a:xfrm>
          <a:prstGeom prst="rect">
            <a:avLst/>
          </a:prstGeom>
          <a:noFill/>
          <a:ln/>
        </p:spPr>
        <p:txBody>
          <a:bodyPr wrap="square" lIns="0" tIns="0" rIns="0" bIns="0" rtlCol="0" anchor="ctr"/>
          <a:lstStyle/>
          <a:p>
            <a:pPr marL="0" indent="0">
              <a:buNone/>
            </a:pPr>
            <a:r>
              <a:rPr lang="en-US" sz="1400" dirty="0">
                <a:solidFill>
                  <a:schemeClr val="tx1"/>
                </a:solidFill>
              </a:rPr>
              <a:t>Vaginal single birth at 37 weeks, stable vital signs for 12 hours</a:t>
            </a:r>
            <a:endParaRPr lang="en-US" sz="1400" dirty="0"/>
          </a:p>
        </p:txBody>
      </p:sp>
      <p:sp>
        <p:nvSpPr>
          <p:cNvPr id="18" name="Criterion 3"/>
          <p:cNvSpPr/>
          <p:nvPr/>
        </p:nvSpPr>
        <p:spPr>
          <a:xfrm>
            <a:off x="3246120" y="2468880"/>
            <a:ext cx="2651760" cy="960120"/>
          </a:xfrm>
          <a:prstGeom prst="roundRect">
            <a:avLst>
              <a:gd name="adj" fmla="val 11429"/>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9" name="Criterion 3 circle"/>
          <p:cNvSpPr/>
          <p:nvPr/>
        </p:nvSpPr>
        <p:spPr>
          <a:xfrm>
            <a:off x="3383280" y="2743200"/>
            <a:ext cx="411480" cy="411480"/>
          </a:xfrm>
          <a:prstGeom prst="ellipse">
            <a:avLst/>
          </a:prstGeom>
          <a:solidFill>
            <a:schemeClr val="accent4"/>
          </a:solidFill>
          <a:ln w="12700">
            <a:solidFill>
              <a:schemeClr val="accent4"/>
            </a:solidFill>
            <a:prstDash val="solid"/>
          </a:ln>
        </p:spPr>
      </p:sp>
      <p:pic>
        <p:nvPicPr>
          <p:cNvPr id="20" name="Criterion 3 glyph" descr="Criterion 3"/>
          <p:cNvPicPr>
            <a:picLocks noChangeAspect="1"/>
          </p:cNvPicPr>
          <p:nvPr/>
        </p:nvPicPr>
        <p:blipFill>
          <a:blip r:embed="rId5"/>
          <a:stretch>
            <a:fillRect/>
          </a:stretch>
        </p:blipFill>
        <p:spPr>
          <a:xfrm>
            <a:off x="3490265" y="2850185"/>
            <a:ext cx="197510" cy="197510"/>
          </a:xfrm>
          <a:prstGeom prst="rect">
            <a:avLst/>
          </a:prstGeom>
        </p:spPr>
      </p:pic>
      <p:sp>
        <p:nvSpPr>
          <p:cNvPr id="21" name="Criterion 3 text"/>
          <p:cNvSpPr txBox="1"/>
          <p:nvPr/>
        </p:nvSpPr>
        <p:spPr>
          <a:xfrm>
            <a:off x="3904488" y="2514600"/>
            <a:ext cx="1920240" cy="868680"/>
          </a:xfrm>
          <a:prstGeom prst="rect">
            <a:avLst/>
          </a:prstGeom>
          <a:noFill/>
          <a:ln/>
        </p:spPr>
        <p:txBody>
          <a:bodyPr wrap="square" lIns="0" tIns="0" rIns="0" bIns="0" rtlCol="0" anchor="ctr"/>
          <a:lstStyle/>
          <a:p>
            <a:pPr marL="0" indent="0">
              <a:buNone/>
            </a:pPr>
            <a:r>
              <a:rPr lang="en-US" sz="1400" dirty="0">
                <a:solidFill>
                  <a:schemeClr val="tx1"/>
                </a:solidFill>
              </a:rPr>
              <a:t>Has urinated and passed at least one stool</a:t>
            </a:r>
            <a:endParaRPr lang="en-US" sz="1400" dirty="0"/>
          </a:p>
        </p:txBody>
      </p:sp>
      <p:sp>
        <p:nvSpPr>
          <p:cNvPr id="22" name="Criterion 4"/>
          <p:cNvSpPr/>
          <p:nvPr/>
        </p:nvSpPr>
        <p:spPr>
          <a:xfrm>
            <a:off x="6035040" y="2468880"/>
            <a:ext cx="2651760" cy="960120"/>
          </a:xfrm>
          <a:prstGeom prst="roundRect">
            <a:avLst>
              <a:gd name="adj" fmla="val 11429"/>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23" name="Criterion 4 circle"/>
          <p:cNvSpPr/>
          <p:nvPr/>
        </p:nvSpPr>
        <p:spPr>
          <a:xfrm>
            <a:off x="6172200" y="2743200"/>
            <a:ext cx="411480" cy="411480"/>
          </a:xfrm>
          <a:prstGeom prst="ellipse">
            <a:avLst/>
          </a:prstGeom>
          <a:solidFill>
            <a:schemeClr val="accent4"/>
          </a:solidFill>
          <a:ln w="12700">
            <a:solidFill>
              <a:schemeClr val="accent4"/>
            </a:solidFill>
            <a:prstDash val="solid"/>
          </a:ln>
        </p:spPr>
      </p:sp>
      <p:pic>
        <p:nvPicPr>
          <p:cNvPr id="24" name="Criterion 4 glyph" descr="Criterion 4"/>
          <p:cNvPicPr>
            <a:picLocks noChangeAspect="1"/>
          </p:cNvPicPr>
          <p:nvPr/>
        </p:nvPicPr>
        <p:blipFill>
          <a:blip r:embed="rId5"/>
          <a:stretch>
            <a:fillRect/>
          </a:stretch>
        </p:blipFill>
        <p:spPr>
          <a:xfrm>
            <a:off x="6279185" y="2850185"/>
            <a:ext cx="197510" cy="197510"/>
          </a:xfrm>
          <a:prstGeom prst="rect">
            <a:avLst/>
          </a:prstGeom>
        </p:spPr>
      </p:pic>
      <p:sp>
        <p:nvSpPr>
          <p:cNvPr id="25" name="Criterion 4 text"/>
          <p:cNvSpPr txBox="1"/>
          <p:nvPr/>
        </p:nvSpPr>
        <p:spPr>
          <a:xfrm>
            <a:off x="6693408" y="2514600"/>
            <a:ext cx="1920240" cy="868680"/>
          </a:xfrm>
          <a:prstGeom prst="rect">
            <a:avLst/>
          </a:prstGeom>
          <a:noFill/>
          <a:ln/>
        </p:spPr>
        <p:txBody>
          <a:bodyPr wrap="square" lIns="0" tIns="0" rIns="0" bIns="0" rtlCol="0" anchor="ctr"/>
          <a:lstStyle/>
          <a:p>
            <a:pPr marL="0" indent="0">
              <a:buNone/>
            </a:pPr>
            <a:r>
              <a:rPr lang="en-US" sz="1400" dirty="0">
                <a:solidFill>
                  <a:schemeClr val="tx1"/>
                </a:solidFill>
              </a:rPr>
              <a:t>Good latch, milk transfer, swallowing and satiety</a:t>
            </a:r>
            <a:endParaRPr lang="en-US" sz="1400" dirty="0"/>
          </a:p>
        </p:txBody>
      </p:sp>
      <p:sp>
        <p:nvSpPr>
          <p:cNvPr id="26" name="Criterion 5"/>
          <p:cNvSpPr/>
          <p:nvPr/>
        </p:nvSpPr>
        <p:spPr>
          <a:xfrm>
            <a:off x="3246120" y="3520440"/>
            <a:ext cx="2651760" cy="960120"/>
          </a:xfrm>
          <a:prstGeom prst="roundRect">
            <a:avLst>
              <a:gd name="adj" fmla="val 11429"/>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27" name="Criterion 5 circle"/>
          <p:cNvSpPr/>
          <p:nvPr/>
        </p:nvSpPr>
        <p:spPr>
          <a:xfrm>
            <a:off x="3383280" y="3794760"/>
            <a:ext cx="411480" cy="411480"/>
          </a:xfrm>
          <a:prstGeom prst="ellipse">
            <a:avLst/>
          </a:prstGeom>
          <a:solidFill>
            <a:schemeClr val="accent4"/>
          </a:solidFill>
          <a:ln w="12700">
            <a:solidFill>
              <a:schemeClr val="accent4"/>
            </a:solidFill>
            <a:prstDash val="solid"/>
          </a:ln>
        </p:spPr>
      </p:sp>
      <p:pic>
        <p:nvPicPr>
          <p:cNvPr id="28" name="Criterion 5 glyph" descr="Criterion 5"/>
          <p:cNvPicPr>
            <a:picLocks noChangeAspect="1"/>
          </p:cNvPicPr>
          <p:nvPr/>
        </p:nvPicPr>
        <p:blipFill>
          <a:blip r:embed="rId5"/>
          <a:stretch>
            <a:fillRect/>
          </a:stretch>
        </p:blipFill>
        <p:spPr>
          <a:xfrm>
            <a:off x="3490265" y="3901745"/>
            <a:ext cx="197510" cy="197510"/>
          </a:xfrm>
          <a:prstGeom prst="rect">
            <a:avLst/>
          </a:prstGeom>
        </p:spPr>
      </p:pic>
      <p:sp>
        <p:nvSpPr>
          <p:cNvPr id="29" name="Criterion 5 text"/>
          <p:cNvSpPr txBox="1"/>
          <p:nvPr/>
        </p:nvSpPr>
        <p:spPr>
          <a:xfrm>
            <a:off x="3904488" y="3566160"/>
            <a:ext cx="1920240" cy="868680"/>
          </a:xfrm>
          <a:prstGeom prst="rect">
            <a:avLst/>
          </a:prstGeom>
          <a:noFill/>
          <a:ln/>
        </p:spPr>
        <p:txBody>
          <a:bodyPr wrap="square" lIns="0" tIns="0" rIns="0" bIns="0" rtlCol="0" anchor="ctr"/>
          <a:lstStyle/>
          <a:p>
            <a:pPr marL="0" indent="0">
              <a:buNone/>
            </a:pPr>
            <a:r>
              <a:rPr lang="en-US" sz="1400" dirty="0">
                <a:solidFill>
                  <a:schemeClr val="tx1"/>
                </a:solidFill>
              </a:rPr>
              <a:t>No significant jaundice in the first 24 hours</a:t>
            </a:r>
            <a:endParaRPr lang="en-US" sz="1400" dirty="0"/>
          </a:p>
        </p:txBody>
      </p:sp>
      <p:sp>
        <p:nvSpPr>
          <p:cNvPr id="30" name="Criterion 6"/>
          <p:cNvSpPr/>
          <p:nvPr/>
        </p:nvSpPr>
        <p:spPr>
          <a:xfrm>
            <a:off x="6035040" y="3520440"/>
            <a:ext cx="2651760" cy="960120"/>
          </a:xfrm>
          <a:prstGeom prst="roundRect">
            <a:avLst>
              <a:gd name="adj" fmla="val 11429"/>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31" name="Criterion 6 circle"/>
          <p:cNvSpPr/>
          <p:nvPr/>
        </p:nvSpPr>
        <p:spPr>
          <a:xfrm>
            <a:off x="6172200" y="3794760"/>
            <a:ext cx="411480" cy="411480"/>
          </a:xfrm>
          <a:prstGeom prst="ellipse">
            <a:avLst/>
          </a:prstGeom>
          <a:solidFill>
            <a:schemeClr val="accent4"/>
          </a:solidFill>
          <a:ln w="12700">
            <a:solidFill>
              <a:schemeClr val="accent4"/>
            </a:solidFill>
            <a:prstDash val="solid"/>
          </a:ln>
        </p:spPr>
      </p:sp>
      <p:pic>
        <p:nvPicPr>
          <p:cNvPr id="32" name="Criterion 6 glyph" descr="Criterion 6"/>
          <p:cNvPicPr>
            <a:picLocks noChangeAspect="1"/>
          </p:cNvPicPr>
          <p:nvPr/>
        </p:nvPicPr>
        <p:blipFill>
          <a:blip r:embed="rId5"/>
          <a:stretch>
            <a:fillRect/>
          </a:stretch>
        </p:blipFill>
        <p:spPr>
          <a:xfrm>
            <a:off x="6279185" y="3901745"/>
            <a:ext cx="197510" cy="197510"/>
          </a:xfrm>
          <a:prstGeom prst="rect">
            <a:avLst/>
          </a:prstGeom>
        </p:spPr>
      </p:pic>
      <p:sp>
        <p:nvSpPr>
          <p:cNvPr id="33" name="Criterion 6 text"/>
          <p:cNvSpPr txBox="1"/>
          <p:nvPr/>
        </p:nvSpPr>
        <p:spPr>
          <a:xfrm>
            <a:off x="6693408" y="3566160"/>
            <a:ext cx="1920240" cy="868680"/>
          </a:xfrm>
          <a:prstGeom prst="rect">
            <a:avLst/>
          </a:prstGeom>
          <a:noFill/>
          <a:ln/>
        </p:spPr>
        <p:txBody>
          <a:bodyPr wrap="square" lIns="0" tIns="0" rIns="0" bIns="0" rtlCol="0" anchor="ctr"/>
          <a:lstStyle/>
          <a:p>
            <a:pPr marL="0" indent="0">
              <a:buNone/>
            </a:pPr>
            <a:r>
              <a:rPr lang="en-US" sz="1400" dirty="0">
                <a:solidFill>
                  <a:schemeClr val="tx1"/>
                </a:solidFill>
              </a:rPr>
              <a:t>Parents able to care for baby; feeding education reinforced</a:t>
            </a:r>
            <a:endParaRPr lang="en-US" sz="1400" dirty="0"/>
          </a:p>
        </p:txBody>
      </p:sp>
      <p:sp>
        <p:nvSpPr>
          <p:cNvPr id="34" name="Back button">
            <a:hlinkClick r:id="rId6"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 Back</a:t>
            </a:r>
            <a:endParaRPr lang="en-US" sz="1400" dirty="0"/>
          </a:p>
        </p:txBody>
      </p:sp>
      <p:sp>
        <p:nvSpPr>
          <p:cNvPr id="35" name="Next button">
            <a:hlinkClick r:id="rId7"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Next ›</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Breastfeeding: position and latch</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sp>
        <p:nvSpPr>
          <p:cNvPr id="4" name="Latch card"/>
          <p:cNvSpPr/>
          <p:nvPr/>
        </p:nvSpPr>
        <p:spPr>
          <a:xfrm>
            <a:off x="457200" y="1143000"/>
            <a:ext cx="4206240" cy="3383280"/>
          </a:xfrm>
          <a:prstGeom prst="roundRect">
            <a:avLst>
              <a:gd name="adj" fmla="val 3243"/>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5" name="Latch circle"/>
          <p:cNvSpPr/>
          <p:nvPr/>
        </p:nvSpPr>
        <p:spPr>
          <a:xfrm>
            <a:off x="640080" y="1307592"/>
            <a:ext cx="457200" cy="457200"/>
          </a:xfrm>
          <a:prstGeom prst="ellipse">
            <a:avLst/>
          </a:prstGeom>
          <a:solidFill>
            <a:schemeClr val="accent2"/>
          </a:solidFill>
          <a:ln w="12700">
            <a:solidFill>
              <a:schemeClr val="accent2"/>
            </a:solidFill>
            <a:prstDash val="solid"/>
          </a:ln>
        </p:spPr>
      </p:sp>
      <p:pic>
        <p:nvPicPr>
          <p:cNvPr id="6" name="Latch glyph" descr="Latch"/>
          <p:cNvPicPr>
            <a:picLocks noChangeAspect="1"/>
          </p:cNvPicPr>
          <p:nvPr/>
        </p:nvPicPr>
        <p:blipFill>
          <a:blip r:embed="rId4"/>
          <a:stretch>
            <a:fillRect/>
          </a:stretch>
        </p:blipFill>
        <p:spPr>
          <a:xfrm>
            <a:off x="758952" y="1426464"/>
            <a:ext cx="219456" cy="219456"/>
          </a:xfrm>
          <a:prstGeom prst="rect">
            <a:avLst/>
          </a:prstGeom>
        </p:spPr>
      </p:pic>
      <p:sp>
        <p:nvSpPr>
          <p:cNvPr id="7" name="Latch heading"/>
          <p:cNvSpPr txBox="1"/>
          <p:nvPr/>
        </p:nvSpPr>
        <p:spPr>
          <a:xfrm>
            <a:off x="1207008" y="1307592"/>
            <a:ext cx="3291840" cy="457200"/>
          </a:xfrm>
          <a:prstGeom prst="rect">
            <a:avLst/>
          </a:prstGeom>
          <a:noFill/>
          <a:ln/>
        </p:spPr>
        <p:txBody>
          <a:bodyPr wrap="square" lIns="0" tIns="0" rIns="0" bIns="0" rtlCol="0" anchor="ctr"/>
          <a:lstStyle/>
          <a:p>
            <a:pPr marL="0" indent="0">
              <a:buNone/>
            </a:pPr>
            <a:r>
              <a:rPr lang="en-US" sz="1800" b="1" dirty="0">
                <a:solidFill>
                  <a:schemeClr val="tx1"/>
                </a:solidFill>
              </a:rPr>
              <a:t>A good latch</a:t>
            </a:r>
            <a:endParaRPr lang="en-US" sz="1800" dirty="0"/>
          </a:p>
        </p:txBody>
      </p:sp>
      <p:sp>
        <p:nvSpPr>
          <p:cNvPr id="8" name="Latch list"/>
          <p:cNvSpPr txBox="1"/>
          <p:nvPr/>
        </p:nvSpPr>
        <p:spPr>
          <a:xfrm>
            <a:off x="640080" y="1920240"/>
            <a:ext cx="3840480" cy="251460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2"/>
                </a:solidFill>
              </a:rPr>
              <a:t>Baby’s head, back and hips in a straight line, facing the breast</a:t>
            </a:r>
            <a:endParaRPr lang="en-US" sz="1500" dirty="0"/>
          </a:p>
          <a:p>
            <a:pPr marL="177800" indent="-177800">
              <a:spcAft>
                <a:spcPts val="600"/>
              </a:spcAft>
              <a:buSzPct val="100000"/>
              <a:buChar char="•"/>
            </a:pPr>
            <a:r>
              <a:rPr lang="en-US" sz="1500" dirty="0">
                <a:solidFill>
                  <a:schemeClr val="tx2"/>
                </a:solidFill>
              </a:rPr>
              <a:t>Face to face, chest to chest, tummy to tummy</a:t>
            </a:r>
            <a:endParaRPr lang="en-US" sz="1500" dirty="0"/>
          </a:p>
          <a:p>
            <a:pPr marL="177800" indent="-177800">
              <a:spcAft>
                <a:spcPts val="600"/>
              </a:spcAft>
              <a:buSzPct val="100000"/>
              <a:buChar char="•"/>
            </a:pPr>
            <a:r>
              <a:rPr lang="en-US" sz="1500" dirty="0">
                <a:solidFill>
                  <a:schemeClr val="tx2"/>
                </a:solidFill>
              </a:rPr>
              <a:t>Support the breast with a C-hold</a:t>
            </a:r>
            <a:endParaRPr lang="en-US" sz="1500" dirty="0"/>
          </a:p>
          <a:p>
            <a:pPr marL="177800" indent="-177800">
              <a:spcAft>
                <a:spcPts val="600"/>
              </a:spcAft>
              <a:buSzPct val="100000"/>
              <a:buChar char="•"/>
            </a:pPr>
            <a:r>
              <a:rPr lang="en-US" sz="1500" dirty="0">
                <a:solidFill>
                  <a:schemeClr val="tx2"/>
                </a:solidFill>
              </a:rPr>
              <a:t>Chin touches the breast, lower lip turned outward</a:t>
            </a:r>
            <a:endParaRPr lang="en-US" sz="1500" dirty="0"/>
          </a:p>
          <a:p>
            <a:pPr marL="177800" indent="-177800">
              <a:spcAft>
                <a:spcPts val="600"/>
              </a:spcAft>
              <a:buSzPct val="100000"/>
              <a:buChar char="•"/>
            </a:pPr>
            <a:r>
              <a:rPr lang="en-US" sz="1500" dirty="0">
                <a:solidFill>
                  <a:schemeClr val="tx2"/>
                </a:solidFill>
              </a:rPr>
              <a:t>Baby takes the nipple plus about 1 inch of areola</a:t>
            </a:r>
            <a:endParaRPr lang="en-US" sz="1500" dirty="0"/>
          </a:p>
        </p:txBody>
      </p:sp>
      <p:sp>
        <p:nvSpPr>
          <p:cNvPr id="9" name="Stat 6 months"/>
          <p:cNvSpPr/>
          <p:nvPr/>
        </p:nvSpPr>
        <p:spPr>
          <a:xfrm>
            <a:off x="4937760" y="1143000"/>
            <a:ext cx="182880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0" name="6 months stat"/>
          <p:cNvSpPr txBox="1"/>
          <p:nvPr/>
        </p:nvSpPr>
        <p:spPr>
          <a:xfrm>
            <a:off x="5120640" y="1280160"/>
            <a:ext cx="1463040" cy="502920"/>
          </a:xfrm>
          <a:prstGeom prst="rect">
            <a:avLst/>
          </a:prstGeom>
          <a:noFill/>
          <a:ln/>
        </p:spPr>
        <p:txBody>
          <a:bodyPr wrap="square" lIns="0" tIns="0" rIns="0" bIns="0" rtlCol="0" anchor="ctr"/>
          <a:lstStyle/>
          <a:p>
            <a:pPr marL="0" indent="0">
              <a:buNone/>
            </a:pPr>
            <a:r>
              <a:rPr lang="en-US" sz="2400" b="1" dirty="0">
                <a:solidFill>
                  <a:schemeClr val="accent1"/>
                </a:solidFill>
                <a:latin typeface="+mj-lt" pitchFamily="34" charset="0"/>
                <a:ea typeface="+mj-lt" pitchFamily="34" charset="-122"/>
                <a:cs typeface="+mj-lt" pitchFamily="34" charset="-120"/>
              </a:rPr>
              <a:t>6 months</a:t>
            </a:r>
            <a:endParaRPr lang="en-US" sz="2400" dirty="0"/>
          </a:p>
        </p:txBody>
      </p:sp>
      <p:sp>
        <p:nvSpPr>
          <p:cNvPr id="11" name="6 months text"/>
          <p:cNvSpPr txBox="1"/>
          <p:nvPr/>
        </p:nvSpPr>
        <p:spPr>
          <a:xfrm>
            <a:off x="5120640" y="1828800"/>
            <a:ext cx="1463040" cy="868680"/>
          </a:xfrm>
          <a:prstGeom prst="rect">
            <a:avLst/>
          </a:prstGeom>
          <a:noFill/>
          <a:ln/>
        </p:spPr>
        <p:txBody>
          <a:bodyPr wrap="square" lIns="0" tIns="0" rIns="0" bIns="0" rtlCol="0" anchor="t"/>
          <a:lstStyle/>
          <a:p>
            <a:pPr marL="0" indent="0">
              <a:buNone/>
            </a:pPr>
            <a:r>
              <a:rPr lang="en-US" sz="1400" dirty="0">
                <a:solidFill>
                  <a:schemeClr val="tx2"/>
                </a:solidFill>
              </a:rPr>
              <a:t>Exclusive breastfeeding</a:t>
            </a:r>
            <a:endParaRPr lang="en-US" sz="1400" dirty="0"/>
          </a:p>
        </p:txBody>
      </p:sp>
      <p:sp>
        <p:nvSpPr>
          <p:cNvPr id="12" name="Stat 2 years+"/>
          <p:cNvSpPr/>
          <p:nvPr/>
        </p:nvSpPr>
        <p:spPr>
          <a:xfrm>
            <a:off x="6858000" y="1143000"/>
            <a:ext cx="182880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3" name="2 years+ stat"/>
          <p:cNvSpPr txBox="1"/>
          <p:nvPr/>
        </p:nvSpPr>
        <p:spPr>
          <a:xfrm>
            <a:off x="7040880" y="1280160"/>
            <a:ext cx="1463040" cy="502920"/>
          </a:xfrm>
          <a:prstGeom prst="rect">
            <a:avLst/>
          </a:prstGeom>
          <a:noFill/>
          <a:ln/>
        </p:spPr>
        <p:txBody>
          <a:bodyPr wrap="square" lIns="0" tIns="0" rIns="0" bIns="0" rtlCol="0" anchor="ctr"/>
          <a:lstStyle/>
          <a:p>
            <a:pPr marL="0" indent="0">
              <a:buNone/>
            </a:pPr>
            <a:r>
              <a:rPr lang="en-US" sz="2400" b="1" dirty="0">
                <a:solidFill>
                  <a:schemeClr val="accent2"/>
                </a:solidFill>
                <a:latin typeface="+mj-lt" pitchFamily="34" charset="0"/>
                <a:ea typeface="+mj-lt" pitchFamily="34" charset="-122"/>
                <a:cs typeface="+mj-lt" pitchFamily="34" charset="-120"/>
              </a:rPr>
              <a:t>2 years+</a:t>
            </a:r>
            <a:endParaRPr lang="en-US" sz="2400" dirty="0"/>
          </a:p>
        </p:txBody>
      </p:sp>
      <p:sp>
        <p:nvSpPr>
          <p:cNvPr id="14" name="2 years+ text"/>
          <p:cNvSpPr txBox="1"/>
          <p:nvPr/>
        </p:nvSpPr>
        <p:spPr>
          <a:xfrm>
            <a:off x="7040880" y="1828800"/>
            <a:ext cx="1463040" cy="868680"/>
          </a:xfrm>
          <a:prstGeom prst="rect">
            <a:avLst/>
          </a:prstGeom>
          <a:noFill/>
          <a:ln/>
        </p:spPr>
        <p:txBody>
          <a:bodyPr wrap="square" lIns="0" tIns="0" rIns="0" bIns="0" rtlCol="0" anchor="t"/>
          <a:lstStyle/>
          <a:p>
            <a:pPr marL="0" indent="0">
              <a:buNone/>
            </a:pPr>
            <a:r>
              <a:rPr lang="en-US" sz="1400" dirty="0">
                <a:solidFill>
                  <a:schemeClr val="tx2"/>
                </a:solidFill>
              </a:rPr>
              <a:t>Keep breastfeeding, and beyond</a:t>
            </a:r>
            <a:endParaRPr lang="en-US" sz="1400" dirty="0"/>
          </a:p>
        </p:txBody>
      </p:sp>
      <p:sp>
        <p:nvSpPr>
          <p:cNvPr id="15" name="Stat 15–30"/>
          <p:cNvSpPr/>
          <p:nvPr/>
        </p:nvSpPr>
        <p:spPr>
          <a:xfrm>
            <a:off x="4937760" y="2880360"/>
            <a:ext cx="182880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6" name="15–30 stat"/>
          <p:cNvSpPr txBox="1"/>
          <p:nvPr/>
        </p:nvSpPr>
        <p:spPr>
          <a:xfrm>
            <a:off x="5120640" y="3017520"/>
            <a:ext cx="1463040" cy="502920"/>
          </a:xfrm>
          <a:prstGeom prst="rect">
            <a:avLst/>
          </a:prstGeom>
          <a:noFill/>
          <a:ln/>
        </p:spPr>
        <p:txBody>
          <a:bodyPr wrap="square" lIns="0" tIns="0" rIns="0" bIns="0" rtlCol="0" anchor="ctr"/>
          <a:lstStyle/>
          <a:p>
            <a:pPr marL="0" indent="0">
              <a:buNone/>
            </a:pPr>
            <a:r>
              <a:rPr lang="en-US" sz="2400" b="1" dirty="0">
                <a:solidFill>
                  <a:schemeClr val="accent4"/>
                </a:solidFill>
                <a:latin typeface="+mj-lt" pitchFamily="34" charset="0"/>
                <a:ea typeface="+mj-lt" pitchFamily="34" charset="-122"/>
                <a:cs typeface="+mj-lt" pitchFamily="34" charset="-120"/>
              </a:rPr>
              <a:t>15–30</a:t>
            </a:r>
            <a:endParaRPr lang="en-US" sz="2400" dirty="0"/>
          </a:p>
        </p:txBody>
      </p:sp>
      <p:sp>
        <p:nvSpPr>
          <p:cNvPr id="17" name="15–30 text"/>
          <p:cNvSpPr txBox="1"/>
          <p:nvPr/>
        </p:nvSpPr>
        <p:spPr>
          <a:xfrm>
            <a:off x="5120640" y="3566160"/>
            <a:ext cx="1463040" cy="868680"/>
          </a:xfrm>
          <a:prstGeom prst="rect">
            <a:avLst/>
          </a:prstGeom>
          <a:noFill/>
          <a:ln/>
        </p:spPr>
        <p:txBody>
          <a:bodyPr wrap="square" lIns="0" tIns="0" rIns="0" bIns="0" rtlCol="0" anchor="t"/>
          <a:lstStyle/>
          <a:p>
            <a:pPr marL="0" indent="0">
              <a:buNone/>
            </a:pPr>
            <a:r>
              <a:rPr lang="en-US" sz="1400" dirty="0">
                <a:solidFill>
                  <a:schemeClr val="tx2"/>
                </a:solidFill>
              </a:rPr>
              <a:t>Minutes of sucking per breast</a:t>
            </a:r>
            <a:endParaRPr lang="en-US" sz="1400" dirty="0"/>
          </a:p>
        </p:txBody>
      </p:sp>
      <p:sp>
        <p:nvSpPr>
          <p:cNvPr id="18" name="Stat 8–10+"/>
          <p:cNvSpPr/>
          <p:nvPr/>
        </p:nvSpPr>
        <p:spPr>
          <a:xfrm>
            <a:off x="6858000" y="2880360"/>
            <a:ext cx="182880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9" name="8–10+ stat"/>
          <p:cNvSpPr txBox="1"/>
          <p:nvPr/>
        </p:nvSpPr>
        <p:spPr>
          <a:xfrm>
            <a:off x="7040880" y="3017520"/>
            <a:ext cx="1463040" cy="502920"/>
          </a:xfrm>
          <a:prstGeom prst="rect">
            <a:avLst/>
          </a:prstGeom>
          <a:noFill/>
          <a:ln/>
        </p:spPr>
        <p:txBody>
          <a:bodyPr wrap="square" lIns="0" tIns="0" rIns="0" bIns="0" rtlCol="0" anchor="ctr"/>
          <a:lstStyle/>
          <a:p>
            <a:pPr marL="0" indent="0">
              <a:buNone/>
            </a:pPr>
            <a:r>
              <a:rPr lang="en-US" sz="2400" b="1" dirty="0">
                <a:solidFill>
                  <a:schemeClr val="accent5"/>
                </a:solidFill>
                <a:latin typeface="+mj-lt" pitchFamily="34" charset="0"/>
                <a:ea typeface="+mj-lt" pitchFamily="34" charset="-122"/>
                <a:cs typeface="+mj-lt" pitchFamily="34" charset="-120"/>
              </a:rPr>
              <a:t>8–10+</a:t>
            </a:r>
            <a:endParaRPr lang="en-US" sz="2400" dirty="0"/>
          </a:p>
        </p:txBody>
      </p:sp>
      <p:sp>
        <p:nvSpPr>
          <p:cNvPr id="20" name="8–10+ text"/>
          <p:cNvSpPr txBox="1"/>
          <p:nvPr/>
        </p:nvSpPr>
        <p:spPr>
          <a:xfrm>
            <a:off x="7040880" y="3566160"/>
            <a:ext cx="1463040" cy="868680"/>
          </a:xfrm>
          <a:prstGeom prst="rect">
            <a:avLst/>
          </a:prstGeom>
          <a:noFill/>
          <a:ln/>
        </p:spPr>
        <p:txBody>
          <a:bodyPr wrap="square" lIns="0" tIns="0" rIns="0" bIns="0" rtlCol="0" anchor="t"/>
          <a:lstStyle/>
          <a:p>
            <a:pPr marL="0" indent="0">
              <a:buNone/>
            </a:pPr>
            <a:r>
              <a:rPr lang="en-US" sz="1400" dirty="0">
                <a:solidFill>
                  <a:schemeClr val="tx2"/>
                </a:solidFill>
              </a:rPr>
              <a:t>Feeds a day to keep milk supply up</a:t>
            </a:r>
            <a:endParaRPr lang="en-US" sz="1400" dirty="0"/>
          </a:p>
        </p:txBody>
      </p:sp>
      <p:sp>
        <p:nvSpPr>
          <p:cNvPr id="21" name="Back button">
            <a:hlinkClick r:id="rId5" action="ppaction://hlinksldjump" tooltip="Previous slide"/>
          </p:cNvPr>
          <p:cNvSpPr/>
          <p:nvPr/>
        </p:nvSpPr>
        <p:spPr>
          <a:xfrm>
            <a:off x="59893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 Back</a:t>
            </a:r>
            <a:endParaRPr lang="en-US" sz="1400" dirty="0"/>
          </a:p>
        </p:txBody>
      </p:sp>
      <p:sp>
        <p:nvSpPr>
          <p:cNvPr id="22" name="Next button">
            <a:hlinkClick r:id="rId6" action="ppaction://hlinksldjump" tooltip="Next slide"/>
          </p:cNvPr>
          <p:cNvSpPr/>
          <p:nvPr/>
        </p:nvSpPr>
        <p:spPr>
          <a:xfrm>
            <a:off x="7132320" y="4636008"/>
            <a:ext cx="1554480" cy="347472"/>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Milk storage ›</a:t>
            </a:r>
            <a:endParaRPr lang="en-US" sz="1400" dirty="0"/>
          </a:p>
        </p:txBody>
      </p:sp>
      <p:sp>
        <p:nvSpPr>
          <p:cNvPr id="30" name="Watch video button">
            <a:hlinkClick r:id="rId7" action="ppaction://hlinksldjump" tooltip="Watch video ›"/>
          </p:cNvPr>
          <p:cNvSpPr/>
          <p:nvPr/>
        </p:nvSpPr>
        <p:spPr>
          <a:xfrm>
            <a:off x="3017520" y="1371600"/>
            <a:ext cx="1371600" cy="329184"/>
          </a:xfrm>
          <a:prstGeom prst="roundRect">
            <a:avLst>
              <a:gd name="adj" fmla="val 50000"/>
            </a:avLst>
          </a:prstGeom>
          <a:solidFill>
            <a:schemeClr val="tx1"/>
          </a:solidFill>
          <a:ln/>
        </p:spPr>
        <p:txBody>
          <a:bodyPr wrap="square" lIns="0" tIns="0" rIns="0" bIns="0" rtlCol="0" anchor="ctr"/>
          <a:lstStyle/>
          <a:p>
            <a:pPr marL="0" indent="0" algn="ctr">
              <a:buNone/>
            </a:pPr>
            <a:r>
              <a:rPr lang="en-US" sz="1200" b="1" dirty="0">
                <a:solidFill>
                  <a:schemeClr val="bg1"/>
                </a:solidFill>
              </a:rPr>
              <a:t>Watch video ›</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How long can expressed milk keep?</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graphicFrame>
        <p:nvGraphicFramePr>
          <p:cNvPr id="7" name="Milk storage table"/>
          <p:cNvGraphicFramePr>
            <a:graphicFrameLocks noGrp="1"/>
          </p:cNvGraphicFramePr>
          <p:nvPr>
            <p:extLst>
              <p:ext uri="{D42A27DB-BD31-4B8C-83A1-F6EECF244321}">
                <p14:modId xmlns:p14="http://schemas.microsoft.com/office/powerpoint/2010/main" val="1579011935"/>
              </p:ext>
            </p:extLst>
          </p:nvPr>
        </p:nvGraphicFramePr>
        <p:xfrm>
          <a:off x="457200" y="1143000"/>
          <a:ext cx="5394960" cy="3200400"/>
        </p:xfrm>
        <a:graphic>
          <a:graphicData uri="http://schemas.openxmlformats.org/drawingml/2006/table">
            <a:tbl>
              <a:tblPr/>
              <a:tblGrid>
                <a:gridCol w="35661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45720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Where it is stored</a:t>
                      </a:r>
                      <a:endParaRPr lang="en-US"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1B2540"/>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Maximum time</a:t>
                      </a:r>
                      <a:endParaRPr lang="en-US"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1B2540"/>
                    </a:solidFill>
                  </a:tcPr>
                </a:tc>
                <a:extLst>
                  <a:ext uri="{0D108BD9-81ED-4DB2-BD59-A6C34878D82A}">
                    <a16:rowId xmlns:a16="http://schemas.microsoft.com/office/drawing/2014/main" val="10000"/>
                  </a:ext>
                </a:extLst>
              </a:tr>
              <a:tr h="457200">
                <a:tc>
                  <a:txBody>
                    <a:bodyPr/>
                    <a:lstStyle/>
                    <a:p>
                      <a:pPr marL="0" indent="0">
                        <a:buNone/>
                      </a:pPr>
                      <a:r>
                        <a:rPr lang="en-US" sz="1400" dirty="0">
                          <a:solidFill>
                            <a:srgbClr val="1B2540"/>
                          </a:solidFill>
                          <a:latin typeface="Calibri" pitchFamily="34" charset="0"/>
                          <a:ea typeface="Calibri" pitchFamily="34" charset="-122"/>
                          <a:cs typeface="Calibri" pitchFamily="34" charset="-120"/>
                        </a:rPr>
                        <a:t>Room temperature, below 25°C</a:t>
                      </a:r>
                      <a:endParaRPr lang="en-US"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FFFFFF"/>
                    </a:solidFill>
                  </a:tcPr>
                </a:tc>
                <a:tc>
                  <a:txBody>
                    <a:bodyPr/>
                    <a:lstStyle/>
                    <a:p>
                      <a:pPr marL="0" indent="0">
                        <a:buNone/>
                      </a:pPr>
                      <a:r>
                        <a:rPr lang="en-US" sz="1400" b="1" dirty="0">
                          <a:solidFill>
                            <a:srgbClr val="D9661B"/>
                          </a:solidFill>
                          <a:latin typeface="Calibri" pitchFamily="34" charset="0"/>
                          <a:ea typeface="Calibri" pitchFamily="34" charset="-122"/>
                          <a:cs typeface="Calibri" pitchFamily="34" charset="-120"/>
                        </a:rPr>
                        <a:t>4 hours</a:t>
                      </a:r>
                      <a:endParaRPr lang="en-US"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400" dirty="0">
                          <a:solidFill>
                            <a:srgbClr val="1B2540"/>
                          </a:solidFill>
                          <a:latin typeface="Calibri" pitchFamily="34" charset="0"/>
                          <a:ea typeface="Calibri" pitchFamily="34" charset="-122"/>
                          <a:cs typeface="Calibri" pitchFamily="34" charset="-120"/>
                        </a:rPr>
                        <a:t>Room temperature, above 25°C</a:t>
                      </a:r>
                      <a:endParaRPr lang="en-US"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F2F5FA"/>
                    </a:solidFill>
                  </a:tcPr>
                </a:tc>
                <a:tc>
                  <a:txBody>
                    <a:bodyPr/>
                    <a:lstStyle/>
                    <a:p>
                      <a:pPr marL="0" indent="0">
                        <a:buNone/>
                      </a:pPr>
                      <a:r>
                        <a:rPr lang="en-US" sz="1400" b="1" dirty="0">
                          <a:solidFill>
                            <a:srgbClr val="D9661B"/>
                          </a:solidFill>
                          <a:latin typeface="Calibri" pitchFamily="34" charset="0"/>
                          <a:ea typeface="Calibri" pitchFamily="34" charset="-122"/>
                          <a:cs typeface="Calibri" pitchFamily="34" charset="-120"/>
                        </a:rPr>
                        <a:t>1 hour</a:t>
                      </a:r>
                      <a:endParaRPr lang="en-US"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F2F5FA"/>
                    </a:solidFill>
                  </a:tcPr>
                </a:tc>
                <a:extLst>
                  <a:ext uri="{0D108BD9-81ED-4DB2-BD59-A6C34878D82A}">
                    <a16:rowId xmlns:a16="http://schemas.microsoft.com/office/drawing/2014/main" val="10002"/>
                  </a:ext>
                </a:extLst>
              </a:tr>
              <a:tr h="457200">
                <a:tc>
                  <a:txBody>
                    <a:bodyPr/>
                    <a:lstStyle/>
                    <a:p>
                      <a:pPr marL="0" indent="0">
                        <a:buNone/>
                      </a:pPr>
                      <a:r>
                        <a:rPr lang="en-US" sz="1400" dirty="0">
                          <a:solidFill>
                            <a:srgbClr val="1B2540"/>
                          </a:solidFill>
                          <a:latin typeface="Calibri" pitchFamily="34" charset="0"/>
                          <a:ea typeface="Calibri" pitchFamily="34" charset="-122"/>
                          <a:cs typeface="Calibri" pitchFamily="34" charset="-120"/>
                        </a:rPr>
                        <a:t>Refrigerator, 4°C</a:t>
                      </a:r>
                      <a:endParaRPr lang="en-US"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FFFFFF"/>
                    </a:solidFill>
                  </a:tcPr>
                </a:tc>
                <a:tc>
                  <a:txBody>
                    <a:bodyPr/>
                    <a:lstStyle/>
                    <a:p>
                      <a:pPr marL="0" indent="0">
                        <a:buNone/>
                      </a:pPr>
                      <a:r>
                        <a:rPr lang="en-US" sz="1400" b="1" dirty="0">
                          <a:solidFill>
                            <a:srgbClr val="D9661B"/>
                          </a:solidFill>
                          <a:latin typeface="Calibri" pitchFamily="34" charset="0"/>
                          <a:ea typeface="Calibri" pitchFamily="34" charset="-122"/>
                          <a:cs typeface="Calibri" pitchFamily="34" charset="-120"/>
                        </a:rPr>
                        <a:t>8 days</a:t>
                      </a:r>
                      <a:endParaRPr lang="en-US"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400" dirty="0">
                          <a:solidFill>
                            <a:srgbClr val="1B2540"/>
                          </a:solidFill>
                          <a:latin typeface="Calibri" pitchFamily="34" charset="0"/>
                          <a:ea typeface="Calibri" pitchFamily="34" charset="-122"/>
                          <a:cs typeface="Calibri" pitchFamily="34" charset="-120"/>
                        </a:rPr>
                        <a:t>Freezer of a 1-door refrigerator</a:t>
                      </a:r>
                      <a:endParaRPr lang="en-US"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F2F5FA"/>
                    </a:solidFill>
                  </a:tcPr>
                </a:tc>
                <a:tc>
                  <a:txBody>
                    <a:bodyPr/>
                    <a:lstStyle/>
                    <a:p>
                      <a:pPr marL="0" indent="0">
                        <a:buNone/>
                      </a:pPr>
                      <a:r>
                        <a:rPr lang="en-US" sz="1400" b="1" dirty="0">
                          <a:solidFill>
                            <a:srgbClr val="D9661B"/>
                          </a:solidFill>
                          <a:latin typeface="Calibri" pitchFamily="34" charset="0"/>
                          <a:ea typeface="Calibri" pitchFamily="34" charset="-122"/>
                          <a:cs typeface="Calibri" pitchFamily="34" charset="-120"/>
                        </a:rPr>
                        <a:t>2 weeks</a:t>
                      </a:r>
                      <a:endParaRPr lang="en-US"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F2F5FA"/>
                    </a:solidFill>
                  </a:tcPr>
                </a:tc>
                <a:extLst>
                  <a:ext uri="{0D108BD9-81ED-4DB2-BD59-A6C34878D82A}">
                    <a16:rowId xmlns:a16="http://schemas.microsoft.com/office/drawing/2014/main" val="10004"/>
                  </a:ext>
                </a:extLst>
              </a:tr>
              <a:tr h="457200">
                <a:tc>
                  <a:txBody>
                    <a:bodyPr/>
                    <a:lstStyle/>
                    <a:p>
                      <a:pPr marL="0" indent="0">
                        <a:buNone/>
                      </a:pPr>
                      <a:r>
                        <a:rPr lang="en-US" sz="1400" dirty="0">
                          <a:solidFill>
                            <a:srgbClr val="1B2540"/>
                          </a:solidFill>
                          <a:latin typeface="Calibri" pitchFamily="34" charset="0"/>
                          <a:ea typeface="Calibri" pitchFamily="34" charset="-122"/>
                          <a:cs typeface="Calibri" pitchFamily="34" charset="-120"/>
                        </a:rPr>
                        <a:t>Freezer of a 2-door refrigerator</a:t>
                      </a:r>
                      <a:endParaRPr lang="en-US"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FFFFFF"/>
                    </a:solidFill>
                  </a:tcPr>
                </a:tc>
                <a:tc>
                  <a:txBody>
                    <a:bodyPr/>
                    <a:lstStyle/>
                    <a:p>
                      <a:pPr marL="0" indent="0">
                        <a:buNone/>
                      </a:pPr>
                      <a:r>
                        <a:rPr lang="en-US" sz="1400" b="1" dirty="0">
                          <a:solidFill>
                            <a:srgbClr val="D9661B"/>
                          </a:solidFill>
                          <a:latin typeface="Calibri" pitchFamily="34" charset="0"/>
                          <a:ea typeface="Calibri" pitchFamily="34" charset="-122"/>
                          <a:cs typeface="Calibri" pitchFamily="34" charset="-120"/>
                        </a:rPr>
                        <a:t>3 months</a:t>
                      </a:r>
                      <a:endParaRPr lang="en-US"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400" dirty="0">
                          <a:solidFill>
                            <a:srgbClr val="1B2540"/>
                          </a:solidFill>
                          <a:latin typeface="Calibri" pitchFamily="34" charset="0"/>
                          <a:ea typeface="Calibri" pitchFamily="34" charset="-122"/>
                          <a:cs typeface="Calibri" pitchFamily="34" charset="-120"/>
                        </a:rPr>
                        <a:t>Deep freezer, constant −20°C</a:t>
                      </a:r>
                      <a:endParaRPr lang="en-US"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F2F5FA"/>
                    </a:solidFill>
                  </a:tcPr>
                </a:tc>
                <a:tc>
                  <a:txBody>
                    <a:bodyPr/>
                    <a:lstStyle/>
                    <a:p>
                      <a:pPr marL="0" indent="0">
                        <a:buNone/>
                      </a:pPr>
                      <a:r>
                        <a:rPr lang="en-US" sz="1400" b="1" dirty="0">
                          <a:solidFill>
                            <a:srgbClr val="D9661B"/>
                          </a:solidFill>
                          <a:latin typeface="Calibri" pitchFamily="34" charset="0"/>
                          <a:ea typeface="Calibri" pitchFamily="34" charset="-122"/>
                          <a:cs typeface="Calibri" pitchFamily="34" charset="-120"/>
                        </a:rPr>
                        <a:t>6 months</a:t>
                      </a:r>
                      <a:endParaRPr lang="en-US" sz="1400" dirty="0">
                        <a:latin typeface="Calibri" charset="0"/>
                        <a:ea typeface="Calibri" charset="0"/>
                        <a:cs typeface="Calibri" charset="0"/>
                      </a:endParaRPr>
                    </a:p>
                  </a:txBody>
                  <a:tcPr marL="137160" marT="0" marB="0" anchor="ctr">
                    <a:lnL w="6350" cap="flat" cmpd="sng" algn="ctr">
                      <a:solidFill>
                        <a:srgbClr val="DCE2EE"/>
                      </a:solidFill>
                      <a:prstDash val="solid"/>
                      <a:round/>
                      <a:headEnd type="none" w="med" len="med"/>
                      <a:tailEnd type="none" w="med" len="med"/>
                    </a:lnL>
                    <a:lnR w="6350" cap="flat" cmpd="sng" algn="ctr">
                      <a:solidFill>
                        <a:srgbClr val="DCE2EE"/>
                      </a:solidFill>
                      <a:prstDash val="solid"/>
                      <a:round/>
                      <a:headEnd type="none" w="med" len="med"/>
                      <a:tailEnd type="none" w="med" len="med"/>
                    </a:lnR>
                    <a:lnT w="6350" cap="flat" cmpd="sng" algn="ctr">
                      <a:solidFill>
                        <a:srgbClr val="DCE2EE"/>
                      </a:solidFill>
                      <a:prstDash val="solid"/>
                      <a:round/>
                      <a:headEnd type="none" w="med" len="med"/>
                      <a:tailEnd type="none" w="med" len="med"/>
                    </a:lnT>
                    <a:lnB w="6350" cap="flat" cmpd="sng" algn="ctr">
                      <a:solidFill>
                        <a:srgbClr val="DCE2EE"/>
                      </a:solidFill>
                      <a:prstDash val="solid"/>
                      <a:round/>
                      <a:headEnd type="none" w="med" len="med"/>
                      <a:tailEnd type="none" w="med" len="med"/>
                    </a:lnB>
                    <a:solidFill>
                      <a:srgbClr val="F2F5FA"/>
                    </a:solidFill>
                  </a:tcPr>
                </a:tc>
                <a:extLst>
                  <a:ext uri="{0D108BD9-81ED-4DB2-BD59-A6C34878D82A}">
                    <a16:rowId xmlns:a16="http://schemas.microsoft.com/office/drawing/2014/main" val="10006"/>
                  </a:ext>
                </a:extLst>
              </a:tr>
            </a:tbl>
          </a:graphicData>
        </a:graphic>
      </p:graphicFrame>
      <p:sp>
        <p:nvSpPr>
          <p:cNvPr id="5" name="Container tip card"/>
          <p:cNvSpPr/>
          <p:nvPr/>
        </p:nvSpPr>
        <p:spPr>
          <a:xfrm>
            <a:off x="6126480" y="1143000"/>
            <a:ext cx="2560320" cy="3200400"/>
          </a:xfrm>
          <a:prstGeom prst="roundRect">
            <a:avLst>
              <a:gd name="adj" fmla="val 4286"/>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6" name="Container circle"/>
          <p:cNvSpPr/>
          <p:nvPr/>
        </p:nvSpPr>
        <p:spPr>
          <a:xfrm>
            <a:off x="6309360" y="1325880"/>
            <a:ext cx="548640" cy="548640"/>
          </a:xfrm>
          <a:prstGeom prst="ellipse">
            <a:avLst/>
          </a:prstGeom>
          <a:solidFill>
            <a:schemeClr val="accent4"/>
          </a:solidFill>
          <a:ln w="12700">
            <a:solidFill>
              <a:schemeClr val="accent4"/>
            </a:solidFill>
            <a:prstDash val="solid"/>
          </a:ln>
        </p:spPr>
      </p:sp>
      <p:pic>
        <p:nvPicPr>
          <p:cNvPr id="4" name="Container glyph" descr="Container"/>
          <p:cNvPicPr>
            <a:picLocks noChangeAspect="1"/>
          </p:cNvPicPr>
          <p:nvPr/>
        </p:nvPicPr>
        <p:blipFill>
          <a:blip r:embed="rId4"/>
          <a:stretch>
            <a:fillRect/>
          </a:stretch>
        </p:blipFill>
        <p:spPr>
          <a:xfrm>
            <a:off x="6452006" y="1468526"/>
            <a:ext cx="263347" cy="263347"/>
          </a:xfrm>
          <a:prstGeom prst="rect">
            <a:avLst/>
          </a:prstGeom>
        </p:spPr>
      </p:pic>
      <p:sp>
        <p:nvSpPr>
          <p:cNvPr id="8" name="Tip heading"/>
          <p:cNvSpPr txBox="1"/>
          <p:nvPr/>
        </p:nvSpPr>
        <p:spPr>
          <a:xfrm>
            <a:off x="6309360" y="2011680"/>
            <a:ext cx="2194560" cy="594360"/>
          </a:xfrm>
          <a:prstGeom prst="rect">
            <a:avLst/>
          </a:prstGeom>
          <a:noFill/>
          <a:ln/>
        </p:spPr>
        <p:txBody>
          <a:bodyPr wrap="square" lIns="0" tIns="0" rIns="0" bIns="0" rtlCol="0" anchor="t"/>
          <a:lstStyle/>
          <a:p>
            <a:pPr marL="0" indent="0">
              <a:buNone/>
            </a:pPr>
            <a:r>
              <a:rPr lang="en-US" sz="1600" b="1" dirty="0">
                <a:solidFill>
                  <a:schemeClr val="tx1"/>
                </a:solidFill>
              </a:rPr>
              <a:t>Choose the right container</a:t>
            </a:r>
            <a:endParaRPr lang="en-US" sz="1600" dirty="0"/>
          </a:p>
        </p:txBody>
      </p:sp>
      <p:sp>
        <p:nvSpPr>
          <p:cNvPr id="9" name="Tip text"/>
          <p:cNvSpPr txBox="1"/>
          <p:nvPr/>
        </p:nvSpPr>
        <p:spPr>
          <a:xfrm>
            <a:off x="6309360" y="2697480"/>
            <a:ext cx="2194560" cy="1554480"/>
          </a:xfrm>
          <a:prstGeom prst="rect">
            <a:avLst/>
          </a:prstGeom>
          <a:noFill/>
          <a:ln/>
        </p:spPr>
        <p:txBody>
          <a:bodyPr wrap="square" lIns="0" tIns="0" rIns="0" bIns="0" rtlCol="0" anchor="t"/>
          <a:lstStyle/>
          <a:p>
            <a:pPr marL="0" indent="0">
              <a:buNone/>
            </a:pPr>
            <a:r>
              <a:rPr lang="en-US" sz="1400" dirty="0">
                <a:solidFill>
                  <a:schemeClr val="tx2"/>
                </a:solidFill>
              </a:rPr>
              <a:t>Use sterile polypropylene containers (cloudy, hard plastic). Label each one with the date and time.</a:t>
            </a:r>
            <a:endParaRPr lang="en-US" sz="1400" dirty="0"/>
          </a:p>
        </p:txBody>
      </p:sp>
      <p:sp>
        <p:nvSpPr>
          <p:cNvPr id="10" name="Back button">
            <a:hlinkClick r:id="rId5"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 Back</a:t>
            </a:r>
            <a:endParaRPr lang="en-US" sz="1400" dirty="0"/>
          </a:p>
        </p:txBody>
      </p:sp>
      <p:sp>
        <p:nvSpPr>
          <p:cNvPr id="11" name="Next button">
            <a:hlinkClick r:id="rId6"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Next ›</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Read aloud, every day</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pic>
        <p:nvPicPr>
          <p:cNvPr id="4" name="Father and child photo" descr="Father crouching on the beach giving a high five to his toddler at sunset"/>
          <p:cNvPicPr>
            <a:picLocks noChangeAspect="1"/>
          </p:cNvPicPr>
          <p:nvPr/>
        </p:nvPicPr>
        <p:blipFill>
          <a:blip r:embed="rId4"/>
          <a:stretch>
            <a:fillRect/>
          </a:stretch>
        </p:blipFill>
        <p:spPr>
          <a:xfrm>
            <a:off x="457200" y="1143000"/>
            <a:ext cx="2468880" cy="1600200"/>
          </a:xfrm>
          <a:prstGeom prst="rect">
            <a:avLst/>
          </a:prstGeom>
        </p:spPr>
      </p:pic>
      <p:sp>
        <p:nvSpPr>
          <p:cNvPr id="5" name="Why read card"/>
          <p:cNvSpPr/>
          <p:nvPr/>
        </p:nvSpPr>
        <p:spPr>
          <a:xfrm>
            <a:off x="457200" y="2880360"/>
            <a:ext cx="2468880" cy="1645920"/>
          </a:xfrm>
          <a:prstGeom prst="roundRect">
            <a:avLst>
              <a:gd name="adj" fmla="val 6667"/>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6" name="Why heading"/>
          <p:cNvSpPr txBox="1"/>
          <p:nvPr/>
        </p:nvSpPr>
        <p:spPr>
          <a:xfrm>
            <a:off x="621792" y="2971800"/>
            <a:ext cx="2194560" cy="347472"/>
          </a:xfrm>
          <a:prstGeom prst="rect">
            <a:avLst/>
          </a:prstGeom>
          <a:noFill/>
          <a:ln/>
        </p:spPr>
        <p:txBody>
          <a:bodyPr wrap="square" lIns="0" tIns="0" rIns="0" bIns="0" rtlCol="0" anchor="ctr"/>
          <a:lstStyle/>
          <a:p>
            <a:pPr marL="0" indent="0">
              <a:buNone/>
            </a:pPr>
            <a:r>
              <a:rPr lang="en-US" sz="1600" b="1" dirty="0">
                <a:solidFill>
                  <a:schemeClr val="tx1"/>
                </a:solidFill>
              </a:rPr>
              <a:t>Why it matters</a:t>
            </a:r>
            <a:endParaRPr lang="en-US" sz="1600" dirty="0"/>
          </a:p>
        </p:txBody>
      </p:sp>
      <p:sp>
        <p:nvSpPr>
          <p:cNvPr id="7" name="Why text"/>
          <p:cNvSpPr txBox="1"/>
          <p:nvPr/>
        </p:nvSpPr>
        <p:spPr>
          <a:xfrm>
            <a:off x="621792" y="3364992"/>
            <a:ext cx="2157984" cy="1097280"/>
          </a:xfrm>
          <a:prstGeom prst="rect">
            <a:avLst/>
          </a:prstGeom>
          <a:noFill/>
          <a:ln/>
        </p:spPr>
        <p:txBody>
          <a:bodyPr wrap="square" lIns="0" tIns="0" rIns="0" bIns="0" rtlCol="0" anchor="t"/>
          <a:lstStyle/>
          <a:p>
            <a:pPr marL="0" indent="0">
              <a:buNone/>
            </a:pPr>
            <a:r>
              <a:rPr lang="en-US" sz="1400" dirty="0">
                <a:solidFill>
                  <a:schemeClr val="tx2"/>
                </a:solidFill>
              </a:rPr>
              <a:t>Reading aloud builds language and literacy, so children are ready to learn and read in school.</a:t>
            </a:r>
            <a:endParaRPr lang="en-US" sz="1400" dirty="0"/>
          </a:p>
        </p:txBody>
      </p:sp>
      <p:sp>
        <p:nvSpPr>
          <p:cNvPr id="8" name="Col age"/>
          <p:cNvSpPr txBox="1"/>
          <p:nvPr/>
        </p:nvSpPr>
        <p:spPr>
          <a:xfrm>
            <a:off x="3154680" y="1097280"/>
            <a:ext cx="914400" cy="274320"/>
          </a:xfrm>
          <a:prstGeom prst="rect">
            <a:avLst/>
          </a:prstGeom>
          <a:noFill/>
          <a:ln/>
        </p:spPr>
        <p:txBody>
          <a:bodyPr wrap="square" lIns="0" tIns="0" rIns="0" bIns="0" rtlCol="0" anchor="ctr"/>
          <a:lstStyle/>
          <a:p>
            <a:pPr marL="0" indent="0">
              <a:buNone/>
            </a:pPr>
            <a:r>
              <a:rPr lang="en-US" sz="1200" b="1" dirty="0">
                <a:solidFill>
                  <a:schemeClr val="tx2"/>
                </a:solidFill>
              </a:rPr>
              <a:t>Age</a:t>
            </a:r>
            <a:endParaRPr lang="en-US" sz="1200" dirty="0"/>
          </a:p>
        </p:txBody>
      </p:sp>
      <p:sp>
        <p:nvSpPr>
          <p:cNvPr id="9" name="Col child"/>
          <p:cNvSpPr txBox="1"/>
          <p:nvPr/>
        </p:nvSpPr>
        <p:spPr>
          <a:xfrm>
            <a:off x="4206240" y="1097280"/>
            <a:ext cx="2011680" cy="274320"/>
          </a:xfrm>
          <a:prstGeom prst="rect">
            <a:avLst/>
          </a:prstGeom>
          <a:noFill/>
          <a:ln/>
        </p:spPr>
        <p:txBody>
          <a:bodyPr wrap="square" lIns="0" tIns="0" rIns="0" bIns="0" rtlCol="0" anchor="ctr"/>
          <a:lstStyle/>
          <a:p>
            <a:pPr marL="0" indent="0">
              <a:buNone/>
            </a:pPr>
            <a:r>
              <a:rPr lang="en-US" sz="1200" b="1" dirty="0">
                <a:solidFill>
                  <a:schemeClr val="tx2"/>
                </a:solidFill>
              </a:rPr>
              <a:t>Your child</a:t>
            </a:r>
            <a:endParaRPr lang="en-US" sz="1200" dirty="0"/>
          </a:p>
        </p:txBody>
      </p:sp>
      <p:sp>
        <p:nvSpPr>
          <p:cNvPr id="10" name="Col parent"/>
          <p:cNvSpPr txBox="1"/>
          <p:nvPr/>
        </p:nvSpPr>
        <p:spPr>
          <a:xfrm>
            <a:off x="6400800" y="1097280"/>
            <a:ext cx="2194560" cy="274320"/>
          </a:xfrm>
          <a:prstGeom prst="rect">
            <a:avLst/>
          </a:prstGeom>
          <a:noFill/>
          <a:ln/>
        </p:spPr>
        <p:txBody>
          <a:bodyPr wrap="square" lIns="0" tIns="0" rIns="0" bIns="0" rtlCol="0" anchor="ctr"/>
          <a:lstStyle/>
          <a:p>
            <a:pPr marL="0" indent="0">
              <a:buNone/>
            </a:pPr>
            <a:r>
              <a:rPr lang="en-US" sz="1200" b="1" dirty="0">
                <a:solidFill>
                  <a:schemeClr val="tx2"/>
                </a:solidFill>
              </a:rPr>
              <a:t>You can</a:t>
            </a:r>
            <a:endParaRPr lang="en-US" sz="1200" dirty="0"/>
          </a:p>
        </p:txBody>
      </p:sp>
      <p:sp>
        <p:nvSpPr>
          <p:cNvPr id="11" name="Row 6–12 mo"/>
          <p:cNvSpPr/>
          <p:nvPr/>
        </p:nvSpPr>
        <p:spPr>
          <a:xfrm>
            <a:off x="3154680" y="1417320"/>
            <a:ext cx="5532120" cy="704088"/>
          </a:xfrm>
          <a:prstGeom prst="roundRect">
            <a:avLst>
              <a:gd name="adj" fmla="val 15584"/>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2" name="Age 6–12 mo"/>
          <p:cNvSpPr/>
          <p:nvPr/>
        </p:nvSpPr>
        <p:spPr>
          <a:xfrm>
            <a:off x="3264408" y="1572768"/>
            <a:ext cx="914400" cy="393192"/>
          </a:xfrm>
          <a:prstGeom prst="roundRect">
            <a:avLst>
              <a:gd name="adj" fmla="val 18605"/>
            </a:avLst>
          </a:prstGeom>
          <a:solidFill>
            <a:schemeClr val="accent1"/>
          </a:solidFill>
          <a:ln/>
        </p:spPr>
        <p:txBody>
          <a:bodyPr wrap="square" lIns="0" tIns="0" rIns="0" bIns="0" rtlCol="0" anchor="ctr"/>
          <a:lstStyle/>
          <a:p>
            <a:pPr marL="0" indent="0" algn="ctr">
              <a:buNone/>
            </a:pPr>
            <a:r>
              <a:rPr lang="en-US" sz="1400" b="1" dirty="0">
                <a:solidFill>
                  <a:schemeClr val="bg1"/>
                </a:solidFill>
              </a:rPr>
              <a:t>6–12 mo</a:t>
            </a:r>
            <a:endParaRPr lang="en-US" sz="1400" dirty="0"/>
          </a:p>
        </p:txBody>
      </p:sp>
      <p:sp>
        <p:nvSpPr>
          <p:cNvPr id="13" name="Child 6–12 mo"/>
          <p:cNvSpPr txBox="1"/>
          <p:nvPr/>
        </p:nvSpPr>
        <p:spPr>
          <a:xfrm>
            <a:off x="4297680" y="1453896"/>
            <a:ext cx="2011680" cy="630936"/>
          </a:xfrm>
          <a:prstGeom prst="rect">
            <a:avLst/>
          </a:prstGeom>
          <a:noFill/>
          <a:ln/>
        </p:spPr>
        <p:txBody>
          <a:bodyPr wrap="square" lIns="0" tIns="0" rIns="0" bIns="0" rtlCol="0" anchor="ctr"/>
          <a:lstStyle/>
          <a:p>
            <a:pPr marL="0" indent="0">
              <a:buNone/>
            </a:pPr>
            <a:r>
              <a:rPr lang="en-US" sz="1400" dirty="0">
                <a:solidFill>
                  <a:schemeClr val="tx1"/>
                </a:solidFill>
              </a:rPr>
              <a:t>Turns pages with help</a:t>
            </a:r>
            <a:endParaRPr lang="en-US" sz="1400" dirty="0"/>
          </a:p>
        </p:txBody>
      </p:sp>
      <p:sp>
        <p:nvSpPr>
          <p:cNvPr id="14" name="Parent 6–12 mo"/>
          <p:cNvSpPr txBox="1"/>
          <p:nvPr/>
        </p:nvSpPr>
        <p:spPr>
          <a:xfrm>
            <a:off x="6400800" y="1453896"/>
            <a:ext cx="2194560" cy="630936"/>
          </a:xfrm>
          <a:prstGeom prst="rect">
            <a:avLst/>
          </a:prstGeom>
          <a:noFill/>
          <a:ln/>
        </p:spPr>
        <p:txBody>
          <a:bodyPr wrap="square" lIns="0" tIns="0" rIns="0" bIns="0" rtlCol="0" anchor="ctr"/>
          <a:lstStyle/>
          <a:p>
            <a:pPr marL="0" indent="0">
              <a:buNone/>
            </a:pPr>
            <a:r>
              <a:rPr lang="en-US" sz="1400" dirty="0">
                <a:solidFill>
                  <a:schemeClr val="tx2"/>
                </a:solidFill>
              </a:rPr>
              <a:t>Point to and name pictures</a:t>
            </a:r>
            <a:endParaRPr lang="en-US" sz="1400" dirty="0"/>
          </a:p>
        </p:txBody>
      </p:sp>
      <p:sp>
        <p:nvSpPr>
          <p:cNvPr id="15" name="Row 12–18 mo"/>
          <p:cNvSpPr/>
          <p:nvPr/>
        </p:nvSpPr>
        <p:spPr>
          <a:xfrm>
            <a:off x="3154680" y="2194560"/>
            <a:ext cx="5532120" cy="704088"/>
          </a:xfrm>
          <a:prstGeom prst="roundRect">
            <a:avLst>
              <a:gd name="adj" fmla="val 15584"/>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6" name="Age 12–18 mo"/>
          <p:cNvSpPr/>
          <p:nvPr/>
        </p:nvSpPr>
        <p:spPr>
          <a:xfrm>
            <a:off x="3264408" y="2350008"/>
            <a:ext cx="914400" cy="393192"/>
          </a:xfrm>
          <a:prstGeom prst="roundRect">
            <a:avLst>
              <a:gd name="adj" fmla="val 18605"/>
            </a:avLst>
          </a:prstGeom>
          <a:solidFill>
            <a:schemeClr val="accent2"/>
          </a:solidFill>
          <a:ln/>
        </p:spPr>
        <p:txBody>
          <a:bodyPr wrap="square" lIns="0" tIns="0" rIns="0" bIns="0" rtlCol="0" anchor="ctr"/>
          <a:lstStyle/>
          <a:p>
            <a:pPr marL="0" indent="0" algn="ctr">
              <a:buNone/>
            </a:pPr>
            <a:r>
              <a:rPr lang="en-US" sz="1400" b="1" dirty="0">
                <a:solidFill>
                  <a:schemeClr val="bg1"/>
                </a:solidFill>
              </a:rPr>
              <a:t>12–18 mo</a:t>
            </a:r>
            <a:endParaRPr lang="en-US" sz="1400" dirty="0"/>
          </a:p>
        </p:txBody>
      </p:sp>
      <p:sp>
        <p:nvSpPr>
          <p:cNvPr id="17" name="Child 12–18 mo"/>
          <p:cNvSpPr txBox="1"/>
          <p:nvPr/>
        </p:nvSpPr>
        <p:spPr>
          <a:xfrm>
            <a:off x="4297680" y="2231136"/>
            <a:ext cx="2011680" cy="630936"/>
          </a:xfrm>
          <a:prstGeom prst="rect">
            <a:avLst/>
          </a:prstGeom>
          <a:noFill/>
          <a:ln/>
        </p:spPr>
        <p:txBody>
          <a:bodyPr wrap="square" lIns="0" tIns="0" rIns="0" bIns="0" rtlCol="0" anchor="ctr"/>
          <a:lstStyle/>
          <a:p>
            <a:pPr marL="0" indent="0">
              <a:buNone/>
            </a:pPr>
            <a:r>
              <a:rPr lang="en-US" sz="1400" dirty="0">
                <a:solidFill>
                  <a:schemeClr val="tx1"/>
                </a:solidFill>
              </a:rPr>
              <a:t>Sits without support; stops mouthing books</a:t>
            </a:r>
            <a:endParaRPr lang="en-US" sz="1400" dirty="0"/>
          </a:p>
        </p:txBody>
      </p:sp>
      <p:sp>
        <p:nvSpPr>
          <p:cNvPr id="18" name="Parent 12–18 mo"/>
          <p:cNvSpPr txBox="1"/>
          <p:nvPr/>
        </p:nvSpPr>
        <p:spPr>
          <a:xfrm>
            <a:off x="6400800" y="2231136"/>
            <a:ext cx="2194560" cy="630936"/>
          </a:xfrm>
          <a:prstGeom prst="rect">
            <a:avLst/>
          </a:prstGeom>
          <a:noFill/>
          <a:ln/>
        </p:spPr>
        <p:txBody>
          <a:bodyPr wrap="square" lIns="0" tIns="0" rIns="0" bIns="0" rtlCol="0" anchor="ctr"/>
          <a:lstStyle/>
          <a:p>
            <a:pPr marL="0" indent="0">
              <a:buNone/>
            </a:pPr>
            <a:r>
              <a:rPr lang="en-US" sz="1400" dirty="0">
                <a:solidFill>
                  <a:schemeClr val="tx2"/>
                </a:solidFill>
              </a:rPr>
              <a:t>Respond when your child asks to read</a:t>
            </a:r>
            <a:endParaRPr lang="en-US" sz="1400" dirty="0"/>
          </a:p>
        </p:txBody>
      </p:sp>
      <p:sp>
        <p:nvSpPr>
          <p:cNvPr id="19" name="Row 18–24 mo"/>
          <p:cNvSpPr/>
          <p:nvPr/>
        </p:nvSpPr>
        <p:spPr>
          <a:xfrm>
            <a:off x="3154680" y="2971800"/>
            <a:ext cx="5532120" cy="704088"/>
          </a:xfrm>
          <a:prstGeom prst="roundRect">
            <a:avLst>
              <a:gd name="adj" fmla="val 15584"/>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20" name="Age 18–24 mo"/>
          <p:cNvSpPr/>
          <p:nvPr/>
        </p:nvSpPr>
        <p:spPr>
          <a:xfrm>
            <a:off x="3264408" y="3127248"/>
            <a:ext cx="914400" cy="393192"/>
          </a:xfrm>
          <a:prstGeom prst="roundRect">
            <a:avLst>
              <a:gd name="adj" fmla="val 18605"/>
            </a:avLst>
          </a:prstGeom>
          <a:solidFill>
            <a:schemeClr val="accent4"/>
          </a:solidFill>
          <a:ln/>
        </p:spPr>
        <p:txBody>
          <a:bodyPr wrap="square" lIns="0" tIns="0" rIns="0" bIns="0" rtlCol="0" anchor="ctr"/>
          <a:lstStyle/>
          <a:p>
            <a:pPr marL="0" indent="0" algn="ctr">
              <a:buNone/>
            </a:pPr>
            <a:r>
              <a:rPr lang="en-US" sz="1400" b="1" dirty="0">
                <a:solidFill>
                  <a:schemeClr val="bg1"/>
                </a:solidFill>
              </a:rPr>
              <a:t>18–24 mo</a:t>
            </a:r>
            <a:endParaRPr lang="en-US" sz="1400" dirty="0"/>
          </a:p>
        </p:txBody>
      </p:sp>
      <p:sp>
        <p:nvSpPr>
          <p:cNvPr id="21" name="Child 18–24 mo"/>
          <p:cNvSpPr txBox="1"/>
          <p:nvPr/>
        </p:nvSpPr>
        <p:spPr>
          <a:xfrm>
            <a:off x="4297680" y="3008376"/>
            <a:ext cx="2011680" cy="630936"/>
          </a:xfrm>
          <a:prstGeom prst="rect">
            <a:avLst/>
          </a:prstGeom>
          <a:noFill/>
          <a:ln/>
        </p:spPr>
        <p:txBody>
          <a:bodyPr wrap="square" lIns="0" tIns="0" rIns="0" bIns="0" rtlCol="0" anchor="ctr"/>
          <a:lstStyle/>
          <a:p>
            <a:pPr marL="0" indent="0">
              <a:buNone/>
            </a:pPr>
            <a:r>
              <a:rPr lang="en-US" sz="1400" dirty="0">
                <a:solidFill>
                  <a:schemeClr val="tx1"/>
                </a:solidFill>
              </a:rPr>
              <a:t>Turns board-book pages; names pictures</a:t>
            </a:r>
            <a:endParaRPr lang="en-US" sz="1400" dirty="0"/>
          </a:p>
        </p:txBody>
      </p:sp>
      <p:sp>
        <p:nvSpPr>
          <p:cNvPr id="22" name="Parent 18–24 mo"/>
          <p:cNvSpPr txBox="1"/>
          <p:nvPr/>
        </p:nvSpPr>
        <p:spPr>
          <a:xfrm>
            <a:off x="6400800" y="3008376"/>
            <a:ext cx="2194560" cy="630936"/>
          </a:xfrm>
          <a:prstGeom prst="rect">
            <a:avLst/>
          </a:prstGeom>
          <a:noFill/>
          <a:ln/>
        </p:spPr>
        <p:txBody>
          <a:bodyPr wrap="square" lIns="0" tIns="0" rIns="0" bIns="0" rtlCol="0" anchor="ctr"/>
          <a:lstStyle/>
          <a:p>
            <a:pPr marL="0" indent="0">
              <a:buNone/>
            </a:pPr>
            <a:r>
              <a:rPr lang="en-US" sz="1400" dirty="0">
                <a:solidFill>
                  <a:schemeClr val="tx2"/>
                </a:solidFill>
              </a:rPr>
              <a:t>Link books to daily life; offer crayons and paper</a:t>
            </a:r>
            <a:endParaRPr lang="en-US" sz="1400" dirty="0"/>
          </a:p>
        </p:txBody>
      </p:sp>
      <p:sp>
        <p:nvSpPr>
          <p:cNvPr id="23" name="Row 3 yrs+"/>
          <p:cNvSpPr/>
          <p:nvPr/>
        </p:nvSpPr>
        <p:spPr>
          <a:xfrm>
            <a:off x="3154680" y="3749040"/>
            <a:ext cx="5532120" cy="704088"/>
          </a:xfrm>
          <a:prstGeom prst="roundRect">
            <a:avLst>
              <a:gd name="adj" fmla="val 15584"/>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24" name="Age 3 yrs+"/>
          <p:cNvSpPr/>
          <p:nvPr/>
        </p:nvSpPr>
        <p:spPr>
          <a:xfrm>
            <a:off x="3264408" y="3904488"/>
            <a:ext cx="914400" cy="393192"/>
          </a:xfrm>
          <a:prstGeom prst="roundRect">
            <a:avLst>
              <a:gd name="adj" fmla="val 18605"/>
            </a:avLst>
          </a:prstGeom>
          <a:solidFill>
            <a:schemeClr val="accent5"/>
          </a:solidFill>
          <a:ln/>
        </p:spPr>
        <p:txBody>
          <a:bodyPr wrap="square" lIns="0" tIns="0" rIns="0" bIns="0" rtlCol="0" anchor="ctr"/>
          <a:lstStyle/>
          <a:p>
            <a:pPr marL="0" indent="0" algn="ctr">
              <a:buNone/>
            </a:pPr>
            <a:r>
              <a:rPr lang="en-US" sz="1400" b="1" dirty="0">
                <a:solidFill>
                  <a:schemeClr val="bg1"/>
                </a:solidFill>
              </a:rPr>
              <a:t>3 yrs+</a:t>
            </a:r>
            <a:endParaRPr lang="en-US" sz="1400" dirty="0"/>
          </a:p>
        </p:txBody>
      </p:sp>
      <p:sp>
        <p:nvSpPr>
          <p:cNvPr id="25" name="Child 3 yrs+"/>
          <p:cNvSpPr txBox="1"/>
          <p:nvPr/>
        </p:nvSpPr>
        <p:spPr>
          <a:xfrm>
            <a:off x="4297680" y="3785616"/>
            <a:ext cx="2011680" cy="630936"/>
          </a:xfrm>
          <a:prstGeom prst="rect">
            <a:avLst/>
          </a:prstGeom>
          <a:noFill/>
          <a:ln/>
        </p:spPr>
        <p:txBody>
          <a:bodyPr wrap="square" lIns="0" tIns="0" rIns="0" bIns="0" rtlCol="0" anchor="ctr"/>
          <a:lstStyle/>
          <a:p>
            <a:pPr marL="0" indent="0">
              <a:buNone/>
            </a:pPr>
            <a:r>
              <a:rPr lang="en-US" sz="1400" dirty="0">
                <a:solidFill>
                  <a:schemeClr val="tx1"/>
                </a:solidFill>
              </a:rPr>
              <a:t>Handles books well; enjoys longer stories</a:t>
            </a:r>
            <a:endParaRPr lang="en-US" sz="1400" dirty="0"/>
          </a:p>
        </p:txBody>
      </p:sp>
      <p:sp>
        <p:nvSpPr>
          <p:cNvPr id="26" name="Parent 3 yrs+"/>
          <p:cNvSpPr txBox="1"/>
          <p:nvPr/>
        </p:nvSpPr>
        <p:spPr>
          <a:xfrm>
            <a:off x="6400800" y="3785616"/>
            <a:ext cx="2194560" cy="630936"/>
          </a:xfrm>
          <a:prstGeom prst="rect">
            <a:avLst/>
          </a:prstGeom>
          <a:noFill/>
          <a:ln/>
        </p:spPr>
        <p:txBody>
          <a:bodyPr wrap="square" lIns="0" tIns="0" rIns="0" bIns="0" rtlCol="0" anchor="ctr"/>
          <a:lstStyle/>
          <a:p>
            <a:pPr marL="0" indent="0">
              <a:buNone/>
            </a:pPr>
            <a:r>
              <a:rPr lang="en-US" sz="1400" dirty="0">
                <a:solidFill>
                  <a:schemeClr val="tx2"/>
                </a:solidFill>
              </a:rPr>
              <a:t>Ask “What’s happening?”</a:t>
            </a:r>
            <a:endParaRPr lang="en-US" sz="1400" dirty="0"/>
          </a:p>
        </p:txBody>
      </p:sp>
      <p:sp>
        <p:nvSpPr>
          <p:cNvPr id="27" name="Back button">
            <a:hlinkClick r:id="rId5"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 Back</a:t>
            </a:r>
            <a:endParaRPr lang="en-US" sz="1400" dirty="0"/>
          </a:p>
        </p:txBody>
      </p:sp>
      <p:sp>
        <p:nvSpPr>
          <p:cNvPr id="28" name="Next button">
            <a:hlinkClick r:id="rId6"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Next ›</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Protecting children from harm</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sp>
        <p:nvSpPr>
          <p:cNvPr id="4" name="Safety step 1"/>
          <p:cNvSpPr/>
          <p:nvPr/>
        </p:nvSpPr>
        <p:spPr>
          <a:xfrm>
            <a:off x="457200" y="1143000"/>
            <a:ext cx="1920240" cy="2423160"/>
          </a:xfrm>
          <a:prstGeom prst="roundRect">
            <a:avLst>
              <a:gd name="adj" fmla="val 5714"/>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5" name="Safety 1 badge"/>
          <p:cNvSpPr/>
          <p:nvPr/>
        </p:nvSpPr>
        <p:spPr>
          <a:xfrm>
            <a:off x="621792" y="1307592"/>
            <a:ext cx="457200" cy="457200"/>
          </a:xfrm>
          <a:prstGeom prst="ellipse">
            <a:avLst/>
          </a:prstGeom>
          <a:solidFill>
            <a:schemeClr val="accent1"/>
          </a:solidFill>
          <a:ln w="12700">
            <a:solidFill>
              <a:schemeClr val="accent1"/>
            </a:solidFill>
            <a:prstDash val="solid"/>
          </a:ln>
        </p:spPr>
      </p:sp>
      <p:sp>
        <p:nvSpPr>
          <p:cNvPr id="6" name="Safety 1 number"/>
          <p:cNvSpPr txBox="1"/>
          <p:nvPr/>
        </p:nvSpPr>
        <p:spPr>
          <a:xfrm>
            <a:off x="621792" y="1307592"/>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Safety 1 heading"/>
          <p:cNvSpPr txBox="1"/>
          <p:nvPr/>
        </p:nvSpPr>
        <p:spPr>
          <a:xfrm>
            <a:off x="621792" y="1856232"/>
            <a:ext cx="1600200" cy="457200"/>
          </a:xfrm>
          <a:prstGeom prst="rect">
            <a:avLst/>
          </a:prstGeom>
          <a:noFill/>
          <a:ln/>
        </p:spPr>
        <p:txBody>
          <a:bodyPr wrap="square" lIns="0" tIns="0" rIns="0" bIns="0" rtlCol="0" anchor="t"/>
          <a:lstStyle/>
          <a:p>
            <a:pPr marL="0" indent="0">
              <a:buNone/>
            </a:pPr>
            <a:r>
              <a:rPr lang="en-US" sz="1600" b="1" dirty="0">
                <a:solidFill>
                  <a:schemeClr val="tx1"/>
                </a:solidFill>
              </a:rPr>
              <a:t>Learn the facts</a:t>
            </a:r>
            <a:endParaRPr lang="en-US" sz="1600" dirty="0"/>
          </a:p>
        </p:txBody>
      </p:sp>
      <p:sp>
        <p:nvSpPr>
          <p:cNvPr id="8" name="Safety 1 text"/>
          <p:cNvSpPr txBox="1"/>
          <p:nvPr/>
        </p:nvSpPr>
        <p:spPr>
          <a:xfrm>
            <a:off x="621792" y="2331720"/>
            <a:ext cx="1627632" cy="1188720"/>
          </a:xfrm>
          <a:prstGeom prst="rect">
            <a:avLst/>
          </a:prstGeom>
          <a:noFill/>
          <a:ln/>
        </p:spPr>
        <p:txBody>
          <a:bodyPr wrap="square" lIns="0" tIns="0" rIns="0" bIns="0" rtlCol="0" anchor="t"/>
          <a:lstStyle/>
          <a:p>
            <a:pPr marL="0" indent="0">
              <a:buNone/>
            </a:pPr>
            <a:r>
              <a:rPr lang="en-US" sz="1400" dirty="0">
                <a:solidFill>
                  <a:schemeClr val="tx2"/>
                </a:solidFill>
              </a:rPr>
              <a:t>Most offenders are family, friends or neighbors. Boys are abused almost as often as girls.</a:t>
            </a:r>
            <a:endParaRPr lang="en-US" sz="1400" dirty="0"/>
          </a:p>
        </p:txBody>
      </p:sp>
      <p:sp>
        <p:nvSpPr>
          <p:cNvPr id="9" name="Safety step 2"/>
          <p:cNvSpPr/>
          <p:nvPr/>
        </p:nvSpPr>
        <p:spPr>
          <a:xfrm>
            <a:off x="2560320" y="1143000"/>
            <a:ext cx="1920240" cy="2423160"/>
          </a:xfrm>
          <a:prstGeom prst="roundRect">
            <a:avLst>
              <a:gd name="adj" fmla="val 5714"/>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0" name="Safety 2 badge"/>
          <p:cNvSpPr/>
          <p:nvPr/>
        </p:nvSpPr>
        <p:spPr>
          <a:xfrm>
            <a:off x="2724912" y="1307592"/>
            <a:ext cx="457200" cy="457200"/>
          </a:xfrm>
          <a:prstGeom prst="ellipse">
            <a:avLst/>
          </a:prstGeom>
          <a:solidFill>
            <a:schemeClr val="accent2"/>
          </a:solidFill>
          <a:ln w="12700">
            <a:solidFill>
              <a:schemeClr val="accent2"/>
            </a:solidFill>
            <a:prstDash val="solid"/>
          </a:ln>
        </p:spPr>
      </p:sp>
      <p:sp>
        <p:nvSpPr>
          <p:cNvPr id="11" name="Safety 2 number"/>
          <p:cNvSpPr txBox="1"/>
          <p:nvPr/>
        </p:nvSpPr>
        <p:spPr>
          <a:xfrm>
            <a:off x="2724912" y="1307592"/>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Safety 2 heading"/>
          <p:cNvSpPr txBox="1"/>
          <p:nvPr/>
        </p:nvSpPr>
        <p:spPr>
          <a:xfrm>
            <a:off x="2724912" y="1856232"/>
            <a:ext cx="1600200" cy="457200"/>
          </a:xfrm>
          <a:prstGeom prst="rect">
            <a:avLst/>
          </a:prstGeom>
          <a:noFill/>
          <a:ln/>
        </p:spPr>
        <p:txBody>
          <a:bodyPr wrap="square" lIns="0" tIns="0" rIns="0" bIns="0" rtlCol="0" anchor="t"/>
          <a:lstStyle/>
          <a:p>
            <a:pPr marL="0" indent="0">
              <a:buNone/>
            </a:pPr>
            <a:r>
              <a:rPr lang="en-US" sz="1600" b="1" dirty="0">
                <a:solidFill>
                  <a:schemeClr val="tx1"/>
                </a:solidFill>
              </a:rPr>
              <a:t>Reduce risk</a:t>
            </a:r>
            <a:endParaRPr lang="en-US" sz="1600" dirty="0"/>
          </a:p>
        </p:txBody>
      </p:sp>
      <p:sp>
        <p:nvSpPr>
          <p:cNvPr id="13" name="Safety 2 text"/>
          <p:cNvSpPr txBox="1"/>
          <p:nvPr/>
        </p:nvSpPr>
        <p:spPr>
          <a:xfrm>
            <a:off x="2724912" y="2331720"/>
            <a:ext cx="1627632" cy="1188720"/>
          </a:xfrm>
          <a:prstGeom prst="rect">
            <a:avLst/>
          </a:prstGeom>
          <a:noFill/>
          <a:ln/>
        </p:spPr>
        <p:txBody>
          <a:bodyPr wrap="square" lIns="0" tIns="0" rIns="0" bIns="0" rtlCol="0" anchor="t"/>
          <a:lstStyle/>
          <a:p>
            <a:pPr marL="0" indent="0">
              <a:buNone/>
            </a:pPr>
            <a:r>
              <a:rPr lang="en-US" sz="1400" dirty="0">
                <a:solidFill>
                  <a:schemeClr val="tx2"/>
                </a:solidFill>
              </a:rPr>
              <a:t>Limit one-adult, one-child situations, where over 80% of cases happen.</a:t>
            </a:r>
            <a:endParaRPr lang="en-US" sz="1400" dirty="0"/>
          </a:p>
        </p:txBody>
      </p:sp>
      <p:sp>
        <p:nvSpPr>
          <p:cNvPr id="14" name="Safety step 3"/>
          <p:cNvSpPr/>
          <p:nvPr/>
        </p:nvSpPr>
        <p:spPr>
          <a:xfrm>
            <a:off x="4663440" y="1143000"/>
            <a:ext cx="1920240" cy="2423160"/>
          </a:xfrm>
          <a:prstGeom prst="roundRect">
            <a:avLst>
              <a:gd name="adj" fmla="val 5714"/>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15" name="Safety 3 badge"/>
          <p:cNvSpPr/>
          <p:nvPr/>
        </p:nvSpPr>
        <p:spPr>
          <a:xfrm>
            <a:off x="4828032" y="1307592"/>
            <a:ext cx="457200" cy="457200"/>
          </a:xfrm>
          <a:prstGeom prst="ellipse">
            <a:avLst/>
          </a:prstGeom>
          <a:solidFill>
            <a:schemeClr val="accent4"/>
          </a:solidFill>
          <a:ln w="12700">
            <a:solidFill>
              <a:schemeClr val="accent4"/>
            </a:solidFill>
            <a:prstDash val="solid"/>
          </a:ln>
        </p:spPr>
      </p:sp>
      <p:sp>
        <p:nvSpPr>
          <p:cNvPr id="16" name="Safety 3 number"/>
          <p:cNvSpPr txBox="1"/>
          <p:nvPr/>
        </p:nvSpPr>
        <p:spPr>
          <a:xfrm>
            <a:off x="4828032" y="1307592"/>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7" name="Safety 3 heading"/>
          <p:cNvSpPr txBox="1"/>
          <p:nvPr/>
        </p:nvSpPr>
        <p:spPr>
          <a:xfrm>
            <a:off x="4828032" y="1856232"/>
            <a:ext cx="1600200" cy="457200"/>
          </a:xfrm>
          <a:prstGeom prst="rect">
            <a:avLst/>
          </a:prstGeom>
          <a:noFill/>
          <a:ln/>
        </p:spPr>
        <p:txBody>
          <a:bodyPr wrap="square" lIns="0" tIns="0" rIns="0" bIns="0" rtlCol="0" anchor="t"/>
          <a:lstStyle/>
          <a:p>
            <a:pPr marL="0" indent="0">
              <a:buNone/>
            </a:pPr>
            <a:r>
              <a:rPr lang="en-US" sz="1600" b="1" dirty="0">
                <a:solidFill>
                  <a:schemeClr val="tx1"/>
                </a:solidFill>
              </a:rPr>
              <a:t>Talk about it</a:t>
            </a:r>
            <a:endParaRPr lang="en-US" sz="1600" dirty="0"/>
          </a:p>
        </p:txBody>
      </p:sp>
      <p:sp>
        <p:nvSpPr>
          <p:cNvPr id="18" name="Safety 3 text"/>
          <p:cNvSpPr txBox="1"/>
          <p:nvPr/>
        </p:nvSpPr>
        <p:spPr>
          <a:xfrm>
            <a:off x="4828032" y="2331720"/>
            <a:ext cx="1627632" cy="1188720"/>
          </a:xfrm>
          <a:prstGeom prst="rect">
            <a:avLst/>
          </a:prstGeom>
          <a:noFill/>
          <a:ln/>
        </p:spPr>
        <p:txBody>
          <a:bodyPr wrap="square" lIns="0" tIns="0" rIns="0" bIns="0" rtlCol="0" anchor="t"/>
          <a:lstStyle/>
          <a:p>
            <a:pPr marL="0" indent="0">
              <a:buNone/>
            </a:pPr>
            <a:r>
              <a:rPr lang="en-US" sz="1400" dirty="0">
                <a:solidFill>
                  <a:schemeClr val="tx2"/>
                </a:solidFill>
              </a:rPr>
              <a:t>Teach children which parts of their body others should not touch.</a:t>
            </a:r>
            <a:endParaRPr lang="en-US" sz="1400" dirty="0"/>
          </a:p>
        </p:txBody>
      </p:sp>
      <p:sp>
        <p:nvSpPr>
          <p:cNvPr id="19" name="Safety step 4"/>
          <p:cNvSpPr/>
          <p:nvPr/>
        </p:nvSpPr>
        <p:spPr>
          <a:xfrm>
            <a:off x="6766560" y="1143000"/>
            <a:ext cx="1920240" cy="2423160"/>
          </a:xfrm>
          <a:prstGeom prst="roundRect">
            <a:avLst>
              <a:gd name="adj" fmla="val 5714"/>
            </a:avLst>
          </a:prstGeom>
          <a:solidFill>
            <a:schemeClr val="bg1"/>
          </a:solidFill>
          <a:ln w="12700">
            <a:solidFill>
              <a:schemeClr val="bg1"/>
            </a:solidFill>
            <a:prstDash val="solid"/>
          </a:ln>
          <a:effectLst>
            <a:outerShdw blurRad="101600" dist="25400" dir="5400000" algn="bl" rotWithShape="0">
              <a:srgbClr val="1B2540">
                <a:alpha val="14000"/>
              </a:srgbClr>
            </a:outerShdw>
          </a:effectLst>
        </p:spPr>
      </p:sp>
      <p:sp>
        <p:nvSpPr>
          <p:cNvPr id="20" name="Safety 4 badge"/>
          <p:cNvSpPr/>
          <p:nvPr/>
        </p:nvSpPr>
        <p:spPr>
          <a:xfrm>
            <a:off x="6931152" y="1307592"/>
            <a:ext cx="457200" cy="457200"/>
          </a:xfrm>
          <a:prstGeom prst="ellipse">
            <a:avLst/>
          </a:prstGeom>
          <a:solidFill>
            <a:schemeClr val="accent5"/>
          </a:solidFill>
          <a:ln w="12700">
            <a:solidFill>
              <a:schemeClr val="accent5"/>
            </a:solidFill>
            <a:prstDash val="solid"/>
          </a:ln>
        </p:spPr>
      </p:sp>
      <p:sp>
        <p:nvSpPr>
          <p:cNvPr id="21" name="Safety 4 number"/>
          <p:cNvSpPr txBox="1"/>
          <p:nvPr/>
        </p:nvSpPr>
        <p:spPr>
          <a:xfrm>
            <a:off x="6931152" y="1307592"/>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2" name="Safety 4 heading"/>
          <p:cNvSpPr txBox="1"/>
          <p:nvPr/>
        </p:nvSpPr>
        <p:spPr>
          <a:xfrm>
            <a:off x="6931152" y="1856232"/>
            <a:ext cx="1600200" cy="457200"/>
          </a:xfrm>
          <a:prstGeom prst="rect">
            <a:avLst/>
          </a:prstGeom>
          <a:noFill/>
          <a:ln/>
        </p:spPr>
        <p:txBody>
          <a:bodyPr wrap="square" lIns="0" tIns="0" rIns="0" bIns="0" rtlCol="0" anchor="t"/>
          <a:lstStyle/>
          <a:p>
            <a:pPr marL="0" indent="0">
              <a:buNone/>
            </a:pPr>
            <a:r>
              <a:rPr lang="en-US" sz="1600" b="1" dirty="0">
                <a:solidFill>
                  <a:schemeClr val="tx1"/>
                </a:solidFill>
              </a:rPr>
              <a:t>Know the signs</a:t>
            </a:r>
            <a:endParaRPr lang="en-US" sz="1600" dirty="0"/>
          </a:p>
        </p:txBody>
      </p:sp>
      <p:sp>
        <p:nvSpPr>
          <p:cNvPr id="23" name="Safety 4 text"/>
          <p:cNvSpPr txBox="1"/>
          <p:nvPr/>
        </p:nvSpPr>
        <p:spPr>
          <a:xfrm>
            <a:off x="6931152" y="2331720"/>
            <a:ext cx="1627632" cy="1188720"/>
          </a:xfrm>
          <a:prstGeom prst="rect">
            <a:avLst/>
          </a:prstGeom>
          <a:noFill/>
          <a:ln/>
        </p:spPr>
        <p:txBody>
          <a:bodyPr wrap="square" lIns="0" tIns="0" rIns="0" bIns="0" rtlCol="0" anchor="t"/>
          <a:lstStyle/>
          <a:p>
            <a:pPr marL="0" indent="0">
              <a:buNone/>
            </a:pPr>
            <a:r>
              <a:rPr lang="en-US" sz="1400" dirty="0">
                <a:solidFill>
                  <a:schemeClr val="tx2"/>
                </a:solidFill>
              </a:rPr>
              <a:t>Withdrawal, unexplained anger, fear of a person, or a sudden drop in school.</a:t>
            </a:r>
            <a:endParaRPr lang="en-US" sz="1400" dirty="0"/>
          </a:p>
        </p:txBody>
      </p:sp>
      <p:sp>
        <p:nvSpPr>
          <p:cNvPr id="24" name="If a child tells you banner"/>
          <p:cNvSpPr/>
          <p:nvPr/>
        </p:nvSpPr>
        <p:spPr>
          <a:xfrm>
            <a:off x="457200" y="3703320"/>
            <a:ext cx="8229600" cy="868680"/>
          </a:xfrm>
          <a:prstGeom prst="roundRect">
            <a:avLst>
              <a:gd name="adj" fmla="val 12632"/>
            </a:avLst>
          </a:prstGeom>
          <a:solidFill>
            <a:schemeClr val="tx1"/>
          </a:solidFill>
          <a:ln w="12700">
            <a:solidFill>
              <a:schemeClr val="tx1"/>
            </a:solidFill>
            <a:prstDash val="solid"/>
          </a:ln>
        </p:spPr>
      </p:sp>
      <p:sp>
        <p:nvSpPr>
          <p:cNvPr id="25" name="If a child tells you text"/>
          <p:cNvSpPr txBox="1"/>
          <p:nvPr/>
        </p:nvSpPr>
        <p:spPr>
          <a:xfrm>
            <a:off x="640080" y="3703320"/>
            <a:ext cx="7863840" cy="868680"/>
          </a:xfrm>
          <a:prstGeom prst="rect">
            <a:avLst/>
          </a:prstGeom>
          <a:noFill/>
          <a:ln/>
        </p:spPr>
        <p:txBody>
          <a:bodyPr wrap="square" lIns="0" tIns="0" rIns="0" bIns="0" rtlCol="0" anchor="ctr"/>
          <a:lstStyle/>
          <a:p>
            <a:pPr marL="0" indent="0">
              <a:buNone/>
            </a:pPr>
            <a:r>
              <a:rPr lang="en-US" sz="1400" b="1" dirty="0">
                <a:solidFill>
                  <a:schemeClr val="accent3"/>
                </a:solidFill>
              </a:rPr>
              <a:t>If a child tells you: </a:t>
            </a:r>
            <a:r>
              <a:rPr lang="en-US" sz="1400" dirty="0">
                <a:solidFill>
                  <a:schemeClr val="bg1"/>
                </a:solidFill>
              </a:rPr>
              <a:t>believe them, thank them for the courage to tell, let them talk without leading questions, and seek professional help. Child Protection Units are at PGH, PCMC and East Avenue Medical Center.</a:t>
            </a:r>
            <a:endParaRPr lang="en-US" sz="1400" dirty="0"/>
          </a:p>
        </p:txBody>
      </p:sp>
      <p:sp>
        <p:nvSpPr>
          <p:cNvPr id="26" name="Back button">
            <a:hlinkClick r:id="rId4" action="ppaction://hlinksldjump" tooltip="Previous slide"/>
          </p:cNvPr>
          <p:cNvSpPr/>
          <p:nvPr/>
        </p:nvSpPr>
        <p:spPr>
          <a:xfrm>
            <a:off x="64465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 Back</a:t>
            </a:r>
            <a:endParaRPr lang="en-US" sz="1400" dirty="0"/>
          </a:p>
        </p:txBody>
      </p:sp>
      <p:sp>
        <p:nvSpPr>
          <p:cNvPr id="27" name="Next button">
            <a:hlinkClick r:id="rId5" action="ppaction://hlinksldjump" tooltip="Next slide"/>
          </p:cNvPr>
          <p:cNvSpPr/>
          <p:nvPr/>
        </p:nvSpPr>
        <p:spPr>
          <a:xfrm>
            <a:off x="7589520" y="4636008"/>
            <a:ext cx="1097280" cy="347472"/>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Next ›</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High five photo" descr="A father and his toddler high-five at sunset on the beach"/>
          <p:cNvPicPr>
            <a:picLocks noChangeAspect="1"/>
          </p:cNvPicPr>
          <p:nvPr/>
        </p:nvPicPr>
        <p:blipFill>
          <a:blip r:embed="rId3"/>
          <a:stretch>
            <a:fillRect/>
          </a:stretch>
        </p:blipFill>
        <p:spPr>
          <a:xfrm>
            <a:off x="4754880" y="0"/>
            <a:ext cx="4389120" cy="5143500"/>
          </a:xfrm>
          <a:prstGeom prst="rect">
            <a:avLst/>
          </a:prstGeom>
        </p:spPr>
      </p:pic>
      <p:sp>
        <p:nvSpPr>
          <p:cNvPr id="3" name="Eyebrow"/>
          <p:cNvSpPr txBox="1"/>
          <p:nvPr/>
        </p:nvSpPr>
        <p:spPr>
          <a:xfrm>
            <a:off x="548640" y="1097280"/>
            <a:ext cx="3931920" cy="320040"/>
          </a:xfrm>
          <a:prstGeom prst="rect">
            <a:avLst/>
          </a:prstGeom>
          <a:noFill/>
          <a:ln/>
        </p:spPr>
        <p:txBody>
          <a:bodyPr wrap="square" lIns="0" tIns="0" rIns="0" bIns="0" rtlCol="0" anchor="ctr"/>
          <a:lstStyle/>
          <a:p>
            <a:pPr marL="0" indent="0">
              <a:buNone/>
            </a:pPr>
            <a:r>
              <a:rPr lang="en-US" sz="1400" b="1" kern="0" spc="400" dirty="0">
                <a:solidFill>
                  <a:schemeClr val="accent3"/>
                </a:solidFill>
              </a:rPr>
              <a:t>QUICK QUIZ</a:t>
            </a:r>
            <a:endParaRPr lang="en-US" sz="1400" dirty="0"/>
          </a:p>
        </p:txBody>
      </p:sp>
      <p:sp>
        <p:nvSpPr>
          <p:cNvPr id="4" name="Quiz title"/>
          <p:cNvSpPr txBox="1"/>
          <p:nvPr/>
        </p:nvSpPr>
        <p:spPr>
          <a:xfrm>
            <a:off x="548640" y="1508760"/>
            <a:ext cx="3931920" cy="1280160"/>
          </a:xfrm>
          <a:prstGeom prst="rect">
            <a:avLst/>
          </a:prstGeom>
          <a:noFill/>
          <a:ln/>
        </p:spPr>
        <p:txBody>
          <a:bodyPr wrap="square" lIns="0" tIns="0" rIns="0" bIns="0" rtlCol="0" anchor="t"/>
          <a:lstStyle/>
          <a:p>
            <a:pPr marL="0" indent="0">
              <a:buNone/>
            </a:pPr>
            <a:r>
              <a:rPr lang="en-US" sz="3600" b="1" dirty="0">
                <a:solidFill>
                  <a:schemeClr val="bg1"/>
                </a:solidFill>
                <a:latin typeface="+mj-lt" pitchFamily="34" charset="0"/>
                <a:ea typeface="+mj-lt" pitchFamily="34" charset="-122"/>
                <a:cs typeface="+mj-lt" pitchFamily="34" charset="-120"/>
              </a:rPr>
              <a:t>Test what you learned</a:t>
            </a:r>
            <a:endParaRPr lang="en-US" sz="3600" dirty="0"/>
          </a:p>
        </p:txBody>
      </p:sp>
      <p:sp>
        <p:nvSpPr>
          <p:cNvPr id="5" name="Quiz instructions"/>
          <p:cNvSpPr txBox="1"/>
          <p:nvPr/>
        </p:nvSpPr>
        <p:spPr>
          <a:xfrm>
            <a:off x="548640" y="2926080"/>
            <a:ext cx="3840480" cy="822960"/>
          </a:xfrm>
          <a:prstGeom prst="rect">
            <a:avLst/>
          </a:prstGeom>
          <a:noFill/>
          <a:ln/>
        </p:spPr>
        <p:txBody>
          <a:bodyPr wrap="square" lIns="0" tIns="0" rIns="0" bIns="0" rtlCol="0" anchor="t"/>
          <a:lstStyle/>
          <a:p>
            <a:pPr marL="0" indent="0">
              <a:buNone/>
            </a:pPr>
            <a:r>
              <a:rPr lang="en-US" sz="1600" dirty="0">
                <a:solidFill>
                  <a:schemeClr val="bg1"/>
                </a:solidFill>
              </a:rPr>
              <a:t>4 questions. Tap an answer to see if you got it right. Wrong answer? You can try again.</a:t>
            </a:r>
            <a:endParaRPr lang="en-US" sz="1600" dirty="0"/>
          </a:p>
        </p:txBody>
      </p:sp>
      <p:sp>
        <p:nvSpPr>
          <p:cNvPr id="6" name="Start quiz">
            <a:hlinkClick r:id="rId4" action="ppaction://hlinksldjump" tooltip="Go to question 1"/>
          </p:cNvPr>
          <p:cNvSpPr/>
          <p:nvPr/>
        </p:nvSpPr>
        <p:spPr>
          <a:xfrm>
            <a:off x="548640" y="3977640"/>
            <a:ext cx="1645920" cy="420624"/>
          </a:xfrm>
          <a:prstGeom prst="roundRect">
            <a:avLst>
              <a:gd name="adj" fmla="val 50000"/>
            </a:avLst>
          </a:prstGeom>
          <a:solidFill>
            <a:schemeClr val="accent3"/>
          </a:solidFill>
          <a:ln/>
        </p:spPr>
        <p:txBody>
          <a:bodyPr wrap="square" lIns="0" tIns="0" rIns="0" bIns="0" rtlCol="0" anchor="ctr"/>
          <a:lstStyle/>
          <a:p>
            <a:pPr marL="0" indent="0" algn="ctr">
              <a:buNone/>
            </a:pPr>
            <a:r>
              <a:rPr lang="en-US" sz="1400" b="1" dirty="0">
                <a:solidFill>
                  <a:schemeClr val="tx1"/>
                </a:solidFill>
              </a:rPr>
              <a:t>Start quiz</a:t>
            </a:r>
            <a:endParaRPr lang="en-US" sz="1400" dirty="0"/>
          </a:p>
        </p:txBody>
      </p:sp>
      <p:sp>
        <p:nvSpPr>
          <p:cNvPr id="7" name="Menu button">
            <a:hlinkClick r:id="rId5" action="ppaction://hlinksldjump" tooltip="Back to the topic menu"/>
          </p:cNvPr>
          <p:cNvSpPr/>
          <p:nvPr/>
        </p:nvSpPr>
        <p:spPr>
          <a:xfrm>
            <a:off x="2377440" y="3977640"/>
            <a:ext cx="1280160" cy="420624"/>
          </a:xfrm>
          <a:prstGeom prst="roundRect">
            <a:avLst>
              <a:gd name="adj" fmla="val 50000"/>
            </a:avLst>
          </a:prstGeom>
          <a:solidFill>
            <a:schemeClr val="tx2"/>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Question 1 of 4</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sp>
        <p:nvSpPr>
          <p:cNvPr id="4" name="Topic label"/>
          <p:cNvSpPr txBox="1"/>
          <p:nvPr/>
        </p:nvSpPr>
        <p:spPr>
          <a:xfrm>
            <a:off x="457200" y="896112"/>
            <a:ext cx="54864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EARLY DISCHARGE</a:t>
            </a:r>
            <a:endParaRPr lang="en-US" sz="1200" dirty="0"/>
          </a:p>
        </p:txBody>
      </p:sp>
      <p:sp>
        <p:nvSpPr>
          <p:cNvPr id="5" name="Question"/>
          <p:cNvSpPr txBox="1"/>
          <p:nvPr/>
        </p:nvSpPr>
        <p:spPr>
          <a:xfrm>
            <a:off x="457200" y="1188720"/>
            <a:ext cx="8229600" cy="822960"/>
          </a:xfrm>
          <a:prstGeom prst="rect">
            <a:avLst/>
          </a:prstGeom>
          <a:noFill/>
          <a:ln/>
        </p:spPr>
        <p:txBody>
          <a:bodyPr wrap="square" lIns="0" tIns="0" rIns="0" bIns="0" rtlCol="0" anchor="t"/>
          <a:lstStyle/>
          <a:p>
            <a:pPr marL="0" indent="0">
              <a:buNone/>
            </a:pPr>
            <a:r>
              <a:rPr lang="en-US" sz="2200" b="1" dirty="0">
                <a:solidFill>
                  <a:schemeClr val="tx1"/>
                </a:solidFill>
                <a:latin typeface="+mj-lt" pitchFamily="34" charset="0"/>
                <a:ea typeface="+mj-lt" pitchFamily="34" charset="-122"/>
                <a:cs typeface="+mj-lt" pitchFamily="34" charset="-120"/>
              </a:rPr>
              <a:t>A newborn is discharged less than 48 hours after delivery. What should happen next?</a:t>
            </a:r>
            <a:endParaRPr lang="en-US" sz="2200" dirty="0"/>
          </a:p>
        </p:txBody>
      </p:sp>
      <p:sp>
        <p:nvSpPr>
          <p:cNvPr id="6" name="Answer A">
            <a:hlinkClick r:id="rId4" action="ppaction://hlinksldjump" tooltip="Answer A"/>
          </p:cNvPr>
          <p:cNvSpPr/>
          <p:nvPr/>
        </p:nvSpPr>
        <p:spPr>
          <a:xfrm>
            <a:off x="457200" y="2148840"/>
            <a:ext cx="8229600" cy="694944"/>
          </a:xfrm>
          <a:prstGeom prst="roundRect">
            <a:avLst>
              <a:gd name="adj" fmla="val 15789"/>
            </a:avLst>
          </a:prstGeom>
          <a:solidFill>
            <a:schemeClr val="bg1"/>
          </a:solidFill>
          <a:ln/>
          <a:effectLst>
            <a:outerShdw blurRad="101600" dist="25400" dir="5400000" algn="bl" rotWithShape="0">
              <a:srgbClr val="1B2540">
                <a:alpha val="14000"/>
              </a:srgbClr>
            </a:outerShdw>
          </a:effectLst>
        </p:spPr>
        <p:txBody>
          <a:bodyPr wrap="square" lIns="228600" tIns="0" rIns="152400" bIns="0" rtlCol="0" anchor="ctr"/>
          <a:lstStyle/>
          <a:p>
            <a:pPr marL="0" indent="0" algn="l">
              <a:buNone/>
            </a:pPr>
            <a:r>
              <a:rPr lang="en-US" sz="2000" b="1" dirty="0">
                <a:solidFill>
                  <a:schemeClr val="accent1"/>
                </a:solidFill>
              </a:rPr>
              <a:t>A    </a:t>
            </a:r>
            <a:r>
              <a:rPr lang="en-US" sz="1600" dirty="0">
                <a:solidFill>
                  <a:schemeClr val="tx1"/>
                </a:solidFill>
              </a:rPr>
              <a:t>No visit is needed until the 6-week check</a:t>
            </a:r>
            <a:endParaRPr lang="en-US" sz="2000" dirty="0"/>
          </a:p>
        </p:txBody>
      </p:sp>
      <p:sp>
        <p:nvSpPr>
          <p:cNvPr id="7" name="Answer B">
            <a:hlinkClick r:id="rId5" action="ppaction://hlinksldjump" tooltip="Answer B"/>
          </p:cNvPr>
          <p:cNvSpPr/>
          <p:nvPr/>
        </p:nvSpPr>
        <p:spPr>
          <a:xfrm>
            <a:off x="457200" y="2953512"/>
            <a:ext cx="8229600" cy="694944"/>
          </a:xfrm>
          <a:prstGeom prst="roundRect">
            <a:avLst>
              <a:gd name="adj" fmla="val 15789"/>
            </a:avLst>
          </a:prstGeom>
          <a:solidFill>
            <a:schemeClr val="bg1"/>
          </a:solidFill>
          <a:ln/>
          <a:effectLst>
            <a:outerShdw blurRad="101600" dist="25400" dir="5400000" algn="bl" rotWithShape="0">
              <a:srgbClr val="1B2540">
                <a:alpha val="14000"/>
              </a:srgbClr>
            </a:outerShdw>
          </a:effectLst>
        </p:spPr>
        <p:txBody>
          <a:bodyPr wrap="square" lIns="228600" tIns="0" rIns="152400" bIns="0" rtlCol="0" anchor="ctr"/>
          <a:lstStyle/>
          <a:p>
            <a:pPr marL="0" indent="0" algn="l">
              <a:buNone/>
            </a:pPr>
            <a:r>
              <a:rPr lang="en-US" sz="2000" b="1" dirty="0">
                <a:solidFill>
                  <a:schemeClr val="accent1"/>
                </a:solidFill>
              </a:rPr>
              <a:t>B    </a:t>
            </a:r>
            <a:r>
              <a:rPr lang="en-US" sz="1600" dirty="0">
                <a:solidFill>
                  <a:schemeClr val="tx1"/>
                </a:solidFill>
              </a:rPr>
              <a:t>A check-up within 48 hours of discharge</a:t>
            </a:r>
            <a:endParaRPr lang="en-US" sz="2000" dirty="0"/>
          </a:p>
        </p:txBody>
      </p:sp>
      <p:sp>
        <p:nvSpPr>
          <p:cNvPr id="8" name="Answer C">
            <a:hlinkClick r:id="rId4" action="ppaction://hlinksldjump" tooltip="Answer C"/>
          </p:cNvPr>
          <p:cNvSpPr/>
          <p:nvPr/>
        </p:nvSpPr>
        <p:spPr>
          <a:xfrm>
            <a:off x="457200" y="3758184"/>
            <a:ext cx="8229600" cy="694944"/>
          </a:xfrm>
          <a:prstGeom prst="roundRect">
            <a:avLst>
              <a:gd name="adj" fmla="val 15789"/>
            </a:avLst>
          </a:prstGeom>
          <a:solidFill>
            <a:schemeClr val="bg1"/>
          </a:solidFill>
          <a:ln/>
          <a:effectLst>
            <a:outerShdw blurRad="101600" dist="25400" dir="5400000" algn="bl" rotWithShape="0">
              <a:srgbClr val="1B2540">
                <a:alpha val="14000"/>
              </a:srgbClr>
            </a:outerShdw>
          </a:effectLst>
        </p:spPr>
        <p:txBody>
          <a:bodyPr wrap="square" lIns="228600" tIns="0" rIns="152400" bIns="0" rtlCol="0" anchor="ctr"/>
          <a:lstStyle/>
          <a:p>
            <a:pPr marL="0" indent="0" algn="l">
              <a:buNone/>
            </a:pPr>
            <a:r>
              <a:rPr lang="en-US" sz="2000" b="1" dirty="0">
                <a:solidFill>
                  <a:schemeClr val="accent1"/>
                </a:solidFill>
              </a:rPr>
              <a:t>C    </a:t>
            </a:r>
            <a:r>
              <a:rPr lang="en-US" sz="1600" dirty="0">
                <a:solidFill>
                  <a:schemeClr val="tx1"/>
                </a:solidFill>
              </a:rPr>
              <a:t>A visit after one month</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Correct!</a:t>
            </a:r>
            <a:endParaRPr lang="en-US" sz="3000" dirty="0"/>
          </a:p>
        </p:txBody>
      </p:sp>
      <p:sp>
        <p:nvSpPr>
          <p:cNvPr id="3" name="Correct circle"/>
          <p:cNvSpPr/>
          <p:nvPr/>
        </p:nvSpPr>
        <p:spPr>
          <a:xfrm>
            <a:off x="640080" y="1554480"/>
            <a:ext cx="1371600" cy="1371600"/>
          </a:xfrm>
          <a:prstGeom prst="ellipse">
            <a:avLst/>
          </a:prstGeom>
          <a:solidFill>
            <a:schemeClr val="accent4"/>
          </a:solidFill>
          <a:ln w="12700">
            <a:solidFill>
              <a:schemeClr val="accent4"/>
            </a:solidFill>
            <a:prstDash val="solid"/>
          </a:ln>
        </p:spPr>
      </p:sp>
      <p:pic>
        <p:nvPicPr>
          <p:cNvPr id="4" name="Correct glyph" descr="Correct"/>
          <p:cNvPicPr>
            <a:picLocks noChangeAspect="1"/>
          </p:cNvPicPr>
          <p:nvPr/>
        </p:nvPicPr>
        <p:blipFill>
          <a:blip r:embed="rId3"/>
          <a:stretch>
            <a:fillRect/>
          </a:stretch>
        </p:blipFill>
        <p:spPr>
          <a:xfrm>
            <a:off x="996696" y="1911096"/>
            <a:ext cx="658368" cy="658368"/>
          </a:xfrm>
          <a:prstGeom prst="rect">
            <a:avLst/>
          </a:prstGeom>
        </p:spPr>
      </p:pic>
      <p:sp>
        <p:nvSpPr>
          <p:cNvPr id="5" name="Right answer"/>
          <p:cNvSpPr txBox="1"/>
          <p:nvPr/>
        </p:nvSpPr>
        <p:spPr>
          <a:xfrm>
            <a:off x="2377440" y="1417320"/>
            <a:ext cx="6309360" cy="822960"/>
          </a:xfrm>
          <a:prstGeom prst="rect">
            <a:avLst/>
          </a:prstGeom>
          <a:noFill/>
          <a:ln/>
        </p:spPr>
        <p:txBody>
          <a:bodyPr wrap="square" lIns="0" tIns="0" rIns="0" bIns="0" rtlCol="0" anchor="t"/>
          <a:lstStyle/>
          <a:p>
            <a:pPr marL="0" indent="0">
              <a:buNone/>
            </a:pPr>
            <a:r>
              <a:rPr lang="en-US" sz="2200" b="1" dirty="0">
                <a:solidFill>
                  <a:schemeClr val="tx1"/>
                </a:solidFill>
                <a:latin typeface="+mj-lt" pitchFamily="34" charset="0"/>
                <a:ea typeface="+mj-lt" pitchFamily="34" charset="-122"/>
                <a:cs typeface="+mj-lt" pitchFamily="34" charset="-120"/>
              </a:rPr>
              <a:t>A check-up within 48 hours of discharge</a:t>
            </a:r>
            <a:endParaRPr lang="en-US" sz="2200" dirty="0"/>
          </a:p>
        </p:txBody>
      </p:sp>
      <p:sp>
        <p:nvSpPr>
          <p:cNvPr id="6" name="Explanation"/>
          <p:cNvSpPr txBox="1"/>
          <p:nvPr/>
        </p:nvSpPr>
        <p:spPr>
          <a:xfrm>
            <a:off x="2377440" y="2377440"/>
            <a:ext cx="6309360" cy="1097280"/>
          </a:xfrm>
          <a:prstGeom prst="rect">
            <a:avLst/>
          </a:prstGeom>
          <a:noFill/>
          <a:ln/>
        </p:spPr>
        <p:txBody>
          <a:bodyPr wrap="square" lIns="0" tIns="0" rIns="0" bIns="0" rtlCol="0" anchor="t"/>
          <a:lstStyle/>
          <a:p>
            <a:pPr marL="0" indent="0">
              <a:buNone/>
            </a:pPr>
            <a:r>
              <a:rPr lang="en-US" sz="1800" dirty="0">
                <a:solidFill>
                  <a:schemeClr val="tx2"/>
                </a:solidFill>
              </a:rPr>
              <a:t>Early-discharge babies need a definite appointment and an exam within 48 hours of discharge.</a:t>
            </a:r>
            <a:endParaRPr lang="en-US" sz="1800" dirty="0"/>
          </a:p>
        </p:txBody>
      </p:sp>
      <p:sp>
        <p:nvSpPr>
          <p:cNvPr id="7" name="Continue button">
            <a:hlinkClick r:id="rId4" action="ppaction://hlinksldjump" tooltip="Continue"/>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Next question ›</a:t>
            </a:r>
            <a:endParaRPr lang="en-US"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Menu</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Not quite</a:t>
            </a:r>
            <a:endParaRPr lang="en-US" sz="3000" dirty="0"/>
          </a:p>
        </p:txBody>
      </p:sp>
      <p:sp>
        <p:nvSpPr>
          <p:cNvPr id="3" name="Try again circle"/>
          <p:cNvSpPr/>
          <p:nvPr/>
        </p:nvSpPr>
        <p:spPr>
          <a:xfrm>
            <a:off x="640080" y="1554480"/>
            <a:ext cx="1371600" cy="1371600"/>
          </a:xfrm>
          <a:prstGeom prst="ellipse">
            <a:avLst/>
          </a:prstGeom>
          <a:solidFill>
            <a:schemeClr val="accent2"/>
          </a:solidFill>
          <a:ln w="12700">
            <a:solidFill>
              <a:schemeClr val="accent2"/>
            </a:solidFill>
            <a:prstDash val="solid"/>
          </a:ln>
        </p:spPr>
      </p:sp>
      <p:pic>
        <p:nvPicPr>
          <p:cNvPr id="4" name="Try again glyph" descr="Try again"/>
          <p:cNvPicPr>
            <a:picLocks noChangeAspect="1"/>
          </p:cNvPicPr>
          <p:nvPr/>
        </p:nvPicPr>
        <p:blipFill>
          <a:blip r:embed="rId3"/>
          <a:stretch>
            <a:fillRect/>
          </a:stretch>
        </p:blipFill>
        <p:spPr>
          <a:xfrm>
            <a:off x="996696" y="1911096"/>
            <a:ext cx="658368" cy="658368"/>
          </a:xfrm>
          <a:prstGeom prst="rect">
            <a:avLst/>
          </a:prstGeom>
        </p:spPr>
      </p:pic>
      <p:sp>
        <p:nvSpPr>
          <p:cNvPr id="5" name="Hint label"/>
          <p:cNvSpPr txBox="1"/>
          <p:nvPr/>
        </p:nvSpPr>
        <p:spPr>
          <a:xfrm>
            <a:off x="2377440" y="1417320"/>
            <a:ext cx="6309360" cy="365760"/>
          </a:xfrm>
          <a:prstGeom prst="rect">
            <a:avLst/>
          </a:prstGeom>
          <a:noFill/>
          <a:ln/>
        </p:spPr>
        <p:txBody>
          <a:bodyPr wrap="square" lIns="0" tIns="0" rIns="0" bIns="0" rtlCol="0" anchor="t"/>
          <a:lstStyle/>
          <a:p>
            <a:pPr marL="0" indent="0">
              <a:buNone/>
            </a:pPr>
            <a:r>
              <a:rPr lang="en-US" sz="1400" b="1" dirty="0">
                <a:solidFill>
                  <a:schemeClr val="accent2"/>
                </a:solidFill>
              </a:rPr>
              <a:t>Hint</a:t>
            </a:r>
            <a:endParaRPr lang="en-US" sz="1400" dirty="0"/>
          </a:p>
        </p:txBody>
      </p:sp>
      <p:sp>
        <p:nvSpPr>
          <p:cNvPr id="6" name="Hint text"/>
          <p:cNvSpPr txBox="1"/>
          <p:nvPr/>
        </p:nvSpPr>
        <p:spPr>
          <a:xfrm>
            <a:off x="2377440" y="1828800"/>
            <a:ext cx="6309360" cy="1280160"/>
          </a:xfrm>
          <a:prstGeom prst="rect">
            <a:avLst/>
          </a:prstGeom>
          <a:noFill/>
          <a:ln/>
        </p:spPr>
        <p:txBody>
          <a:bodyPr wrap="square" lIns="0" tIns="0" rIns="0" bIns="0" rtlCol="0" anchor="t"/>
          <a:lstStyle/>
          <a:p>
            <a:pPr marL="0" indent="0">
              <a:buNone/>
            </a:pPr>
            <a:r>
              <a:rPr lang="en-US" sz="2200" b="1" dirty="0">
                <a:solidFill>
                  <a:schemeClr val="tx1"/>
                </a:solidFill>
                <a:latin typeface="+mj-lt" pitchFamily="34" charset="0"/>
                <a:ea typeface="+mj-lt" pitchFamily="34" charset="-122"/>
                <a:cs typeface="+mj-lt" pitchFamily="34" charset="-120"/>
              </a:rPr>
              <a:t>Think about how soon an early-discharged baby needs to be seen again.</a:t>
            </a:r>
            <a:endParaRPr lang="en-US" sz="2200" dirty="0"/>
          </a:p>
        </p:txBody>
      </p:sp>
      <p:sp>
        <p:nvSpPr>
          <p:cNvPr id="7" name="Try again button">
            <a:hlinkClick r:id="rId4" action="ppaction://hlinksldjump" tooltip="Back to the question"/>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Try again</a:t>
            </a:r>
            <a:endParaRPr lang="en-US"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Menu</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Question 2 of 4</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sp>
        <p:nvSpPr>
          <p:cNvPr id="4" name="Topic label"/>
          <p:cNvSpPr txBox="1"/>
          <p:nvPr/>
        </p:nvSpPr>
        <p:spPr>
          <a:xfrm>
            <a:off x="457200" y="896112"/>
            <a:ext cx="54864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BREASTFEEDING</a:t>
            </a:r>
            <a:endParaRPr lang="en-US" sz="1200" dirty="0"/>
          </a:p>
        </p:txBody>
      </p:sp>
      <p:sp>
        <p:nvSpPr>
          <p:cNvPr id="5" name="Question"/>
          <p:cNvSpPr txBox="1"/>
          <p:nvPr/>
        </p:nvSpPr>
        <p:spPr>
          <a:xfrm>
            <a:off x="457200" y="1188720"/>
            <a:ext cx="8229600" cy="822960"/>
          </a:xfrm>
          <a:prstGeom prst="rect">
            <a:avLst/>
          </a:prstGeom>
          <a:noFill/>
          <a:ln/>
        </p:spPr>
        <p:txBody>
          <a:bodyPr wrap="square" lIns="0" tIns="0" rIns="0" bIns="0" rtlCol="0" anchor="t"/>
          <a:lstStyle/>
          <a:p>
            <a:pPr marL="0" indent="0">
              <a:buNone/>
            </a:pPr>
            <a:r>
              <a:rPr lang="en-US" sz="2200" b="1" dirty="0">
                <a:solidFill>
                  <a:schemeClr val="tx1"/>
                </a:solidFill>
                <a:latin typeface="+mj-lt" pitchFamily="34" charset="0"/>
                <a:ea typeface="+mj-lt" pitchFamily="34" charset="-122"/>
                <a:cs typeface="+mj-lt" pitchFamily="34" charset="-120"/>
              </a:rPr>
              <a:t>How long can expressed breast milk be kept in a refrigerator at 4°C?</a:t>
            </a:r>
            <a:endParaRPr lang="en-US" sz="2200" dirty="0"/>
          </a:p>
        </p:txBody>
      </p:sp>
      <p:sp>
        <p:nvSpPr>
          <p:cNvPr id="6" name="Answer A">
            <a:hlinkClick r:id="rId4" action="ppaction://hlinksldjump" tooltip="Answer A"/>
          </p:cNvPr>
          <p:cNvSpPr/>
          <p:nvPr/>
        </p:nvSpPr>
        <p:spPr>
          <a:xfrm>
            <a:off x="457200" y="2148840"/>
            <a:ext cx="8229600" cy="694944"/>
          </a:xfrm>
          <a:prstGeom prst="roundRect">
            <a:avLst>
              <a:gd name="adj" fmla="val 15789"/>
            </a:avLst>
          </a:prstGeom>
          <a:solidFill>
            <a:schemeClr val="bg1"/>
          </a:solidFill>
          <a:ln/>
          <a:effectLst>
            <a:outerShdw blurRad="101600" dist="25400" dir="5400000" algn="bl" rotWithShape="0">
              <a:srgbClr val="1B2540">
                <a:alpha val="14000"/>
              </a:srgbClr>
            </a:outerShdw>
          </a:effectLst>
        </p:spPr>
        <p:txBody>
          <a:bodyPr wrap="square" lIns="228600" tIns="0" rIns="152400" bIns="0" rtlCol="0" anchor="ctr"/>
          <a:lstStyle/>
          <a:p>
            <a:pPr marL="0" indent="0" algn="l">
              <a:buNone/>
            </a:pPr>
            <a:r>
              <a:rPr lang="en-US" sz="2000" b="1" dirty="0">
                <a:solidFill>
                  <a:schemeClr val="accent1"/>
                </a:solidFill>
              </a:rPr>
              <a:t>A    </a:t>
            </a:r>
            <a:r>
              <a:rPr lang="en-US" sz="1600" dirty="0">
                <a:solidFill>
                  <a:schemeClr val="tx1"/>
                </a:solidFill>
              </a:rPr>
              <a:t>4 hours</a:t>
            </a:r>
            <a:endParaRPr lang="en-US" sz="2000" dirty="0"/>
          </a:p>
        </p:txBody>
      </p:sp>
      <p:sp>
        <p:nvSpPr>
          <p:cNvPr id="7" name="Answer B">
            <a:hlinkClick r:id="rId4" action="ppaction://hlinksldjump" tooltip="Answer B"/>
          </p:cNvPr>
          <p:cNvSpPr/>
          <p:nvPr/>
        </p:nvSpPr>
        <p:spPr>
          <a:xfrm>
            <a:off x="457200" y="2953512"/>
            <a:ext cx="8229600" cy="694944"/>
          </a:xfrm>
          <a:prstGeom prst="roundRect">
            <a:avLst>
              <a:gd name="adj" fmla="val 15789"/>
            </a:avLst>
          </a:prstGeom>
          <a:solidFill>
            <a:schemeClr val="bg1"/>
          </a:solidFill>
          <a:ln/>
          <a:effectLst>
            <a:outerShdw blurRad="101600" dist="25400" dir="5400000" algn="bl" rotWithShape="0">
              <a:srgbClr val="1B2540">
                <a:alpha val="14000"/>
              </a:srgbClr>
            </a:outerShdw>
          </a:effectLst>
        </p:spPr>
        <p:txBody>
          <a:bodyPr wrap="square" lIns="228600" tIns="0" rIns="152400" bIns="0" rtlCol="0" anchor="ctr"/>
          <a:lstStyle/>
          <a:p>
            <a:pPr marL="0" indent="0" algn="l">
              <a:buNone/>
            </a:pPr>
            <a:r>
              <a:rPr lang="en-US" sz="2000" b="1" dirty="0">
                <a:solidFill>
                  <a:schemeClr val="accent1"/>
                </a:solidFill>
              </a:rPr>
              <a:t>B    </a:t>
            </a:r>
            <a:r>
              <a:rPr lang="en-US" sz="1600" dirty="0">
                <a:solidFill>
                  <a:schemeClr val="tx1"/>
                </a:solidFill>
              </a:rPr>
              <a:t>3 months</a:t>
            </a:r>
            <a:endParaRPr lang="en-US" sz="2000" dirty="0"/>
          </a:p>
        </p:txBody>
      </p:sp>
      <p:sp>
        <p:nvSpPr>
          <p:cNvPr id="8" name="Answer C">
            <a:hlinkClick r:id="rId5" action="ppaction://hlinksldjump" tooltip="Answer C"/>
          </p:cNvPr>
          <p:cNvSpPr/>
          <p:nvPr/>
        </p:nvSpPr>
        <p:spPr>
          <a:xfrm>
            <a:off x="457200" y="3758184"/>
            <a:ext cx="8229600" cy="694944"/>
          </a:xfrm>
          <a:prstGeom prst="roundRect">
            <a:avLst>
              <a:gd name="adj" fmla="val 15789"/>
            </a:avLst>
          </a:prstGeom>
          <a:solidFill>
            <a:schemeClr val="bg1"/>
          </a:solidFill>
          <a:ln/>
          <a:effectLst>
            <a:outerShdw blurRad="101600" dist="25400" dir="5400000" algn="bl" rotWithShape="0">
              <a:srgbClr val="1B2540">
                <a:alpha val="14000"/>
              </a:srgbClr>
            </a:outerShdw>
          </a:effectLst>
        </p:spPr>
        <p:txBody>
          <a:bodyPr wrap="square" lIns="228600" tIns="0" rIns="152400" bIns="0" rtlCol="0" anchor="ctr"/>
          <a:lstStyle/>
          <a:p>
            <a:pPr marL="0" indent="0" algn="l">
              <a:buNone/>
            </a:pPr>
            <a:r>
              <a:rPr lang="en-US" sz="2000" b="1" dirty="0">
                <a:solidFill>
                  <a:schemeClr val="accent1"/>
                </a:solidFill>
              </a:rPr>
              <a:t>C    </a:t>
            </a:r>
            <a:r>
              <a:rPr lang="en-US" sz="1600" dirty="0">
                <a:solidFill>
                  <a:schemeClr val="tx1"/>
                </a:solidFill>
              </a:rPr>
              <a:t>8 days</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Correct!</a:t>
            </a:r>
            <a:endParaRPr lang="en-US" sz="3000" dirty="0"/>
          </a:p>
        </p:txBody>
      </p:sp>
      <p:sp>
        <p:nvSpPr>
          <p:cNvPr id="3" name="Correct circle"/>
          <p:cNvSpPr/>
          <p:nvPr/>
        </p:nvSpPr>
        <p:spPr>
          <a:xfrm>
            <a:off x="640080" y="1554480"/>
            <a:ext cx="1371600" cy="1371600"/>
          </a:xfrm>
          <a:prstGeom prst="ellipse">
            <a:avLst/>
          </a:prstGeom>
          <a:solidFill>
            <a:schemeClr val="accent4"/>
          </a:solidFill>
          <a:ln w="12700">
            <a:solidFill>
              <a:schemeClr val="accent4"/>
            </a:solidFill>
            <a:prstDash val="solid"/>
          </a:ln>
        </p:spPr>
      </p:sp>
      <p:pic>
        <p:nvPicPr>
          <p:cNvPr id="4" name="Correct glyph" descr="Correct"/>
          <p:cNvPicPr>
            <a:picLocks noChangeAspect="1"/>
          </p:cNvPicPr>
          <p:nvPr/>
        </p:nvPicPr>
        <p:blipFill>
          <a:blip r:embed="rId3"/>
          <a:stretch>
            <a:fillRect/>
          </a:stretch>
        </p:blipFill>
        <p:spPr>
          <a:xfrm>
            <a:off x="996696" y="1911096"/>
            <a:ext cx="658368" cy="658368"/>
          </a:xfrm>
          <a:prstGeom prst="rect">
            <a:avLst/>
          </a:prstGeom>
        </p:spPr>
      </p:pic>
      <p:sp>
        <p:nvSpPr>
          <p:cNvPr id="5" name="Right answer"/>
          <p:cNvSpPr txBox="1"/>
          <p:nvPr/>
        </p:nvSpPr>
        <p:spPr>
          <a:xfrm>
            <a:off x="2377440" y="1417320"/>
            <a:ext cx="6309360" cy="822960"/>
          </a:xfrm>
          <a:prstGeom prst="rect">
            <a:avLst/>
          </a:prstGeom>
          <a:noFill/>
          <a:ln/>
        </p:spPr>
        <p:txBody>
          <a:bodyPr wrap="square" lIns="0" tIns="0" rIns="0" bIns="0" rtlCol="0" anchor="t"/>
          <a:lstStyle/>
          <a:p>
            <a:pPr marL="0" indent="0">
              <a:buNone/>
            </a:pPr>
            <a:r>
              <a:rPr lang="en-US" sz="2200" b="1" dirty="0">
                <a:solidFill>
                  <a:schemeClr val="tx1"/>
                </a:solidFill>
                <a:latin typeface="+mj-lt" pitchFamily="34" charset="0"/>
                <a:ea typeface="+mj-lt" pitchFamily="34" charset="-122"/>
                <a:cs typeface="+mj-lt" pitchFamily="34" charset="-120"/>
              </a:rPr>
              <a:t>8 days</a:t>
            </a:r>
            <a:endParaRPr lang="en-US" sz="2200" dirty="0"/>
          </a:p>
        </p:txBody>
      </p:sp>
      <p:sp>
        <p:nvSpPr>
          <p:cNvPr id="6" name="Explanation"/>
          <p:cNvSpPr txBox="1"/>
          <p:nvPr/>
        </p:nvSpPr>
        <p:spPr>
          <a:xfrm>
            <a:off x="2377440" y="2377440"/>
            <a:ext cx="6309360" cy="1097280"/>
          </a:xfrm>
          <a:prstGeom prst="rect">
            <a:avLst/>
          </a:prstGeom>
          <a:noFill/>
          <a:ln/>
        </p:spPr>
        <p:txBody>
          <a:bodyPr wrap="square" lIns="0" tIns="0" rIns="0" bIns="0" rtlCol="0" anchor="t"/>
          <a:lstStyle/>
          <a:p>
            <a:pPr marL="0" indent="0">
              <a:buNone/>
            </a:pPr>
            <a:r>
              <a:rPr lang="en-US" sz="1800" dirty="0">
                <a:solidFill>
                  <a:schemeClr val="tx2"/>
                </a:solidFill>
              </a:rPr>
              <a:t>Refrigerator (4°C): up to 8 days. Room temperature below 25°C: 4 hours. Freezer of a 2-door fridge: 3 months.</a:t>
            </a:r>
            <a:endParaRPr lang="en-US" sz="1800" dirty="0"/>
          </a:p>
        </p:txBody>
      </p:sp>
      <p:sp>
        <p:nvSpPr>
          <p:cNvPr id="7" name="Continue button">
            <a:hlinkClick r:id="rId4" action="ppaction://hlinksldjump" tooltip="Continue"/>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Next question ›</a:t>
            </a:r>
            <a:endParaRPr lang="en-US"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Menu</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Not quite</a:t>
            </a:r>
            <a:endParaRPr lang="en-US" sz="3000" dirty="0"/>
          </a:p>
        </p:txBody>
      </p:sp>
      <p:sp>
        <p:nvSpPr>
          <p:cNvPr id="3" name="Try again circle"/>
          <p:cNvSpPr/>
          <p:nvPr/>
        </p:nvSpPr>
        <p:spPr>
          <a:xfrm>
            <a:off x="640080" y="1554480"/>
            <a:ext cx="1371600" cy="1371600"/>
          </a:xfrm>
          <a:prstGeom prst="ellipse">
            <a:avLst/>
          </a:prstGeom>
          <a:solidFill>
            <a:schemeClr val="accent2"/>
          </a:solidFill>
          <a:ln w="12700">
            <a:solidFill>
              <a:schemeClr val="accent2"/>
            </a:solidFill>
            <a:prstDash val="solid"/>
          </a:ln>
        </p:spPr>
      </p:sp>
      <p:pic>
        <p:nvPicPr>
          <p:cNvPr id="4" name="Try again glyph" descr="Try again"/>
          <p:cNvPicPr>
            <a:picLocks noChangeAspect="1"/>
          </p:cNvPicPr>
          <p:nvPr/>
        </p:nvPicPr>
        <p:blipFill>
          <a:blip r:embed="rId3"/>
          <a:stretch>
            <a:fillRect/>
          </a:stretch>
        </p:blipFill>
        <p:spPr>
          <a:xfrm>
            <a:off x="996696" y="1911096"/>
            <a:ext cx="658368" cy="658368"/>
          </a:xfrm>
          <a:prstGeom prst="rect">
            <a:avLst/>
          </a:prstGeom>
        </p:spPr>
      </p:pic>
      <p:sp>
        <p:nvSpPr>
          <p:cNvPr id="5" name="Hint label"/>
          <p:cNvSpPr txBox="1"/>
          <p:nvPr/>
        </p:nvSpPr>
        <p:spPr>
          <a:xfrm>
            <a:off x="2377440" y="1417320"/>
            <a:ext cx="6309360" cy="365760"/>
          </a:xfrm>
          <a:prstGeom prst="rect">
            <a:avLst/>
          </a:prstGeom>
          <a:noFill/>
          <a:ln/>
        </p:spPr>
        <p:txBody>
          <a:bodyPr wrap="square" lIns="0" tIns="0" rIns="0" bIns="0" rtlCol="0" anchor="t"/>
          <a:lstStyle/>
          <a:p>
            <a:pPr marL="0" indent="0">
              <a:buNone/>
            </a:pPr>
            <a:r>
              <a:rPr lang="en-US" sz="1400" b="1" dirty="0">
                <a:solidFill>
                  <a:schemeClr val="accent2"/>
                </a:solidFill>
              </a:rPr>
              <a:t>Hint</a:t>
            </a:r>
            <a:endParaRPr lang="en-US" sz="1400" dirty="0"/>
          </a:p>
        </p:txBody>
      </p:sp>
      <p:sp>
        <p:nvSpPr>
          <p:cNvPr id="6" name="Hint text"/>
          <p:cNvSpPr txBox="1"/>
          <p:nvPr/>
        </p:nvSpPr>
        <p:spPr>
          <a:xfrm>
            <a:off x="2377440" y="1828800"/>
            <a:ext cx="6309360" cy="1280160"/>
          </a:xfrm>
          <a:prstGeom prst="rect">
            <a:avLst/>
          </a:prstGeom>
          <a:noFill/>
          <a:ln/>
        </p:spPr>
        <p:txBody>
          <a:bodyPr wrap="square" lIns="0" tIns="0" rIns="0" bIns="0" rtlCol="0" anchor="t"/>
          <a:lstStyle/>
          <a:p>
            <a:pPr marL="0" indent="0">
              <a:buNone/>
            </a:pPr>
            <a:r>
              <a:rPr lang="en-US" sz="2200" b="1" dirty="0">
                <a:solidFill>
                  <a:schemeClr val="tx1"/>
                </a:solidFill>
                <a:latin typeface="+mj-lt" pitchFamily="34" charset="0"/>
                <a:ea typeface="+mj-lt" pitchFamily="34" charset="-122"/>
                <a:cs typeface="+mj-lt" pitchFamily="34" charset="-120"/>
              </a:rPr>
              <a:t>Fridge storage is measured in days, not hours or months.</a:t>
            </a:r>
            <a:endParaRPr lang="en-US" sz="2200" dirty="0"/>
          </a:p>
        </p:txBody>
      </p:sp>
      <p:sp>
        <p:nvSpPr>
          <p:cNvPr id="7" name="Try again button">
            <a:hlinkClick r:id="rId4" action="ppaction://hlinksldjump" tooltip="Back to the question"/>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Try again</a:t>
            </a:r>
            <a:endParaRPr lang="en-US"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Menu</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Question 3 of 4</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sp>
        <p:nvSpPr>
          <p:cNvPr id="4" name="Topic label"/>
          <p:cNvSpPr txBox="1"/>
          <p:nvPr/>
        </p:nvSpPr>
        <p:spPr>
          <a:xfrm>
            <a:off x="457200" y="896112"/>
            <a:ext cx="54864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BREASTFEEDING</a:t>
            </a:r>
            <a:endParaRPr lang="en-US" sz="1200" dirty="0"/>
          </a:p>
        </p:txBody>
      </p:sp>
      <p:sp>
        <p:nvSpPr>
          <p:cNvPr id="5" name="Question"/>
          <p:cNvSpPr txBox="1"/>
          <p:nvPr/>
        </p:nvSpPr>
        <p:spPr>
          <a:xfrm>
            <a:off x="457200" y="1188720"/>
            <a:ext cx="8229600" cy="822960"/>
          </a:xfrm>
          <a:prstGeom prst="rect">
            <a:avLst/>
          </a:prstGeom>
          <a:noFill/>
          <a:ln/>
        </p:spPr>
        <p:txBody>
          <a:bodyPr wrap="square" lIns="0" tIns="0" rIns="0" bIns="0" rtlCol="0" anchor="t"/>
          <a:lstStyle/>
          <a:p>
            <a:pPr marL="0" indent="0">
              <a:buNone/>
            </a:pPr>
            <a:r>
              <a:rPr lang="en-US" sz="2200" b="1" dirty="0">
                <a:solidFill>
                  <a:schemeClr val="tx1"/>
                </a:solidFill>
                <a:latin typeface="+mj-lt" pitchFamily="34" charset="0"/>
                <a:ea typeface="+mj-lt" pitchFamily="34" charset="-122"/>
                <a:cs typeface="+mj-lt" pitchFamily="34" charset="-120"/>
              </a:rPr>
              <a:t>Which describes a good breastfeeding position?</a:t>
            </a:r>
            <a:endParaRPr lang="en-US" sz="2200" dirty="0"/>
          </a:p>
        </p:txBody>
      </p:sp>
      <p:sp>
        <p:nvSpPr>
          <p:cNvPr id="6" name="Answer A">
            <a:hlinkClick r:id="rId4" action="ppaction://hlinksldjump" tooltip="Answer A"/>
          </p:cNvPr>
          <p:cNvSpPr/>
          <p:nvPr/>
        </p:nvSpPr>
        <p:spPr>
          <a:xfrm>
            <a:off x="457200" y="2148840"/>
            <a:ext cx="8229600" cy="694944"/>
          </a:xfrm>
          <a:prstGeom prst="roundRect">
            <a:avLst>
              <a:gd name="adj" fmla="val 15789"/>
            </a:avLst>
          </a:prstGeom>
          <a:solidFill>
            <a:schemeClr val="bg1"/>
          </a:solidFill>
          <a:ln/>
          <a:effectLst>
            <a:outerShdw blurRad="101600" dist="25400" dir="5400000" algn="bl" rotWithShape="0">
              <a:srgbClr val="1B2540">
                <a:alpha val="14000"/>
              </a:srgbClr>
            </a:outerShdw>
          </a:effectLst>
        </p:spPr>
        <p:txBody>
          <a:bodyPr wrap="square" lIns="228600" tIns="0" rIns="152400" bIns="0" rtlCol="0" anchor="ctr"/>
          <a:lstStyle/>
          <a:p>
            <a:pPr marL="0" indent="0" algn="l">
              <a:buNone/>
            </a:pPr>
            <a:r>
              <a:rPr lang="en-US" sz="2000" b="1" dirty="0">
                <a:solidFill>
                  <a:schemeClr val="accent1"/>
                </a:solidFill>
              </a:rPr>
              <a:t>A    </a:t>
            </a:r>
            <a:r>
              <a:rPr lang="en-US" sz="1600" dirty="0">
                <a:solidFill>
                  <a:schemeClr val="tx1"/>
                </a:solidFill>
              </a:rPr>
              <a:t>Tummy to tummy, chest to chest, face to face</a:t>
            </a:r>
            <a:endParaRPr lang="en-US" sz="2000" dirty="0"/>
          </a:p>
        </p:txBody>
      </p:sp>
      <p:sp>
        <p:nvSpPr>
          <p:cNvPr id="7" name="Answer B">
            <a:hlinkClick r:id="rId5" action="ppaction://hlinksldjump" tooltip="Answer B"/>
          </p:cNvPr>
          <p:cNvSpPr/>
          <p:nvPr/>
        </p:nvSpPr>
        <p:spPr>
          <a:xfrm>
            <a:off x="457200" y="2953512"/>
            <a:ext cx="8229600" cy="694944"/>
          </a:xfrm>
          <a:prstGeom prst="roundRect">
            <a:avLst>
              <a:gd name="adj" fmla="val 15789"/>
            </a:avLst>
          </a:prstGeom>
          <a:solidFill>
            <a:schemeClr val="bg1"/>
          </a:solidFill>
          <a:ln/>
          <a:effectLst>
            <a:outerShdw blurRad="101600" dist="25400" dir="5400000" algn="bl" rotWithShape="0">
              <a:srgbClr val="1B2540">
                <a:alpha val="14000"/>
              </a:srgbClr>
            </a:outerShdw>
          </a:effectLst>
        </p:spPr>
        <p:txBody>
          <a:bodyPr wrap="square" lIns="228600" tIns="0" rIns="152400" bIns="0" rtlCol="0" anchor="ctr"/>
          <a:lstStyle/>
          <a:p>
            <a:pPr marL="0" indent="0" algn="l">
              <a:buNone/>
            </a:pPr>
            <a:r>
              <a:rPr lang="en-US" sz="2000" b="1" dirty="0">
                <a:solidFill>
                  <a:schemeClr val="accent1"/>
                </a:solidFill>
              </a:rPr>
              <a:t>B    </a:t>
            </a:r>
            <a:r>
              <a:rPr lang="en-US" sz="1600" dirty="0">
                <a:solidFill>
                  <a:schemeClr val="tx1"/>
                </a:solidFill>
              </a:rPr>
              <a:t>Baby on their back, head turned away</a:t>
            </a:r>
            <a:endParaRPr lang="en-US" sz="2000" dirty="0"/>
          </a:p>
        </p:txBody>
      </p:sp>
      <p:sp>
        <p:nvSpPr>
          <p:cNvPr id="8" name="Answer C">
            <a:hlinkClick r:id="rId5" action="ppaction://hlinksldjump" tooltip="Answer C"/>
          </p:cNvPr>
          <p:cNvSpPr/>
          <p:nvPr/>
        </p:nvSpPr>
        <p:spPr>
          <a:xfrm>
            <a:off x="457200" y="3758184"/>
            <a:ext cx="8229600" cy="694944"/>
          </a:xfrm>
          <a:prstGeom prst="roundRect">
            <a:avLst>
              <a:gd name="adj" fmla="val 15789"/>
            </a:avLst>
          </a:prstGeom>
          <a:solidFill>
            <a:schemeClr val="bg1"/>
          </a:solidFill>
          <a:ln/>
          <a:effectLst>
            <a:outerShdw blurRad="101600" dist="25400" dir="5400000" algn="bl" rotWithShape="0">
              <a:srgbClr val="1B2540">
                <a:alpha val="14000"/>
              </a:srgbClr>
            </a:outerShdw>
          </a:effectLst>
        </p:spPr>
        <p:txBody>
          <a:bodyPr wrap="square" lIns="228600" tIns="0" rIns="152400" bIns="0" rtlCol="0" anchor="ctr"/>
          <a:lstStyle/>
          <a:p>
            <a:pPr marL="0" indent="0" algn="l">
              <a:buNone/>
            </a:pPr>
            <a:r>
              <a:rPr lang="en-US" sz="2000" b="1" dirty="0">
                <a:solidFill>
                  <a:schemeClr val="accent1"/>
                </a:solidFill>
              </a:rPr>
              <a:t>C    </a:t>
            </a:r>
            <a:r>
              <a:rPr lang="en-US" sz="1600" dirty="0">
                <a:solidFill>
                  <a:schemeClr val="tx1"/>
                </a:solidFill>
              </a:rPr>
              <a:t>Only the tip of the nipple in the mouth</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Correct!</a:t>
            </a:r>
            <a:endParaRPr lang="en-US" sz="3000" dirty="0"/>
          </a:p>
        </p:txBody>
      </p:sp>
      <p:sp>
        <p:nvSpPr>
          <p:cNvPr id="3" name="Correct circle"/>
          <p:cNvSpPr/>
          <p:nvPr/>
        </p:nvSpPr>
        <p:spPr>
          <a:xfrm>
            <a:off x="640080" y="1554480"/>
            <a:ext cx="1371600" cy="1371600"/>
          </a:xfrm>
          <a:prstGeom prst="ellipse">
            <a:avLst/>
          </a:prstGeom>
          <a:solidFill>
            <a:schemeClr val="accent4"/>
          </a:solidFill>
          <a:ln w="12700">
            <a:solidFill>
              <a:schemeClr val="accent4"/>
            </a:solidFill>
            <a:prstDash val="solid"/>
          </a:ln>
        </p:spPr>
      </p:sp>
      <p:pic>
        <p:nvPicPr>
          <p:cNvPr id="4" name="Correct glyph" descr="Correct"/>
          <p:cNvPicPr>
            <a:picLocks noChangeAspect="1"/>
          </p:cNvPicPr>
          <p:nvPr/>
        </p:nvPicPr>
        <p:blipFill>
          <a:blip r:embed="rId3"/>
          <a:stretch>
            <a:fillRect/>
          </a:stretch>
        </p:blipFill>
        <p:spPr>
          <a:xfrm>
            <a:off x="996696" y="1911096"/>
            <a:ext cx="658368" cy="658368"/>
          </a:xfrm>
          <a:prstGeom prst="rect">
            <a:avLst/>
          </a:prstGeom>
        </p:spPr>
      </p:pic>
      <p:sp>
        <p:nvSpPr>
          <p:cNvPr id="5" name="Right answer"/>
          <p:cNvSpPr txBox="1"/>
          <p:nvPr/>
        </p:nvSpPr>
        <p:spPr>
          <a:xfrm>
            <a:off x="2377440" y="1417320"/>
            <a:ext cx="6309360" cy="822960"/>
          </a:xfrm>
          <a:prstGeom prst="rect">
            <a:avLst/>
          </a:prstGeom>
          <a:noFill/>
          <a:ln/>
        </p:spPr>
        <p:txBody>
          <a:bodyPr wrap="square" lIns="0" tIns="0" rIns="0" bIns="0" rtlCol="0" anchor="t"/>
          <a:lstStyle/>
          <a:p>
            <a:pPr marL="0" indent="0">
              <a:buNone/>
            </a:pPr>
            <a:r>
              <a:rPr lang="en-US" sz="2200" b="1" dirty="0">
                <a:solidFill>
                  <a:schemeClr val="tx1"/>
                </a:solidFill>
                <a:latin typeface="+mj-lt" pitchFamily="34" charset="0"/>
                <a:ea typeface="+mj-lt" pitchFamily="34" charset="-122"/>
                <a:cs typeface="+mj-lt" pitchFamily="34" charset="-120"/>
              </a:rPr>
              <a:t>Tummy to tummy, chest to chest, face to face</a:t>
            </a:r>
            <a:endParaRPr lang="en-US" sz="2200" dirty="0"/>
          </a:p>
        </p:txBody>
      </p:sp>
      <p:sp>
        <p:nvSpPr>
          <p:cNvPr id="6" name="Explanation"/>
          <p:cNvSpPr txBox="1"/>
          <p:nvPr/>
        </p:nvSpPr>
        <p:spPr>
          <a:xfrm>
            <a:off x="2377440" y="2377440"/>
            <a:ext cx="6309360" cy="1097280"/>
          </a:xfrm>
          <a:prstGeom prst="rect">
            <a:avLst/>
          </a:prstGeom>
          <a:noFill/>
          <a:ln/>
        </p:spPr>
        <p:txBody>
          <a:bodyPr wrap="square" lIns="0" tIns="0" rIns="0" bIns="0" rtlCol="0" anchor="t"/>
          <a:lstStyle/>
          <a:p>
            <a:pPr marL="0" indent="0">
              <a:buNone/>
            </a:pPr>
            <a:r>
              <a:rPr lang="en-US" sz="1800" dirty="0">
                <a:solidFill>
                  <a:schemeClr val="tx2"/>
                </a:solidFill>
              </a:rPr>
              <a:t>Baby’s head, back and hips are aligned and facing the breast: face to face, chest to chest, tummy to tummy.</a:t>
            </a:r>
            <a:endParaRPr lang="en-US" sz="1800" dirty="0"/>
          </a:p>
        </p:txBody>
      </p:sp>
      <p:sp>
        <p:nvSpPr>
          <p:cNvPr id="7" name="Continue button">
            <a:hlinkClick r:id="rId4" action="ppaction://hlinksldjump" tooltip="Continue"/>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Next question ›</a:t>
            </a:r>
            <a:endParaRPr lang="en-US"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Menu</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Not quite</a:t>
            </a:r>
            <a:endParaRPr lang="en-US" sz="3000" dirty="0"/>
          </a:p>
        </p:txBody>
      </p:sp>
      <p:sp>
        <p:nvSpPr>
          <p:cNvPr id="3" name="Try again circle"/>
          <p:cNvSpPr/>
          <p:nvPr/>
        </p:nvSpPr>
        <p:spPr>
          <a:xfrm>
            <a:off x="640080" y="1554480"/>
            <a:ext cx="1371600" cy="1371600"/>
          </a:xfrm>
          <a:prstGeom prst="ellipse">
            <a:avLst/>
          </a:prstGeom>
          <a:solidFill>
            <a:schemeClr val="accent2"/>
          </a:solidFill>
          <a:ln w="12700">
            <a:solidFill>
              <a:schemeClr val="accent2"/>
            </a:solidFill>
            <a:prstDash val="solid"/>
          </a:ln>
        </p:spPr>
      </p:sp>
      <p:pic>
        <p:nvPicPr>
          <p:cNvPr id="4" name="Try again glyph" descr="Try again"/>
          <p:cNvPicPr>
            <a:picLocks noChangeAspect="1"/>
          </p:cNvPicPr>
          <p:nvPr/>
        </p:nvPicPr>
        <p:blipFill>
          <a:blip r:embed="rId3"/>
          <a:stretch>
            <a:fillRect/>
          </a:stretch>
        </p:blipFill>
        <p:spPr>
          <a:xfrm>
            <a:off x="996696" y="1911096"/>
            <a:ext cx="658368" cy="658368"/>
          </a:xfrm>
          <a:prstGeom prst="rect">
            <a:avLst/>
          </a:prstGeom>
        </p:spPr>
      </p:pic>
      <p:sp>
        <p:nvSpPr>
          <p:cNvPr id="5" name="Hint label"/>
          <p:cNvSpPr txBox="1"/>
          <p:nvPr/>
        </p:nvSpPr>
        <p:spPr>
          <a:xfrm>
            <a:off x="2377440" y="1417320"/>
            <a:ext cx="6309360" cy="365760"/>
          </a:xfrm>
          <a:prstGeom prst="rect">
            <a:avLst/>
          </a:prstGeom>
          <a:noFill/>
          <a:ln/>
        </p:spPr>
        <p:txBody>
          <a:bodyPr wrap="square" lIns="0" tIns="0" rIns="0" bIns="0" rtlCol="0" anchor="t"/>
          <a:lstStyle/>
          <a:p>
            <a:pPr marL="0" indent="0">
              <a:buNone/>
            </a:pPr>
            <a:r>
              <a:rPr lang="en-US" sz="1400" b="1" dirty="0">
                <a:solidFill>
                  <a:schemeClr val="accent2"/>
                </a:solidFill>
              </a:rPr>
              <a:t>Hint</a:t>
            </a:r>
            <a:endParaRPr lang="en-US" sz="1400" dirty="0"/>
          </a:p>
        </p:txBody>
      </p:sp>
      <p:sp>
        <p:nvSpPr>
          <p:cNvPr id="6" name="Hint text"/>
          <p:cNvSpPr txBox="1"/>
          <p:nvPr/>
        </p:nvSpPr>
        <p:spPr>
          <a:xfrm>
            <a:off x="2377440" y="1828800"/>
            <a:ext cx="6309360" cy="1280160"/>
          </a:xfrm>
          <a:prstGeom prst="rect">
            <a:avLst/>
          </a:prstGeom>
          <a:noFill/>
          <a:ln/>
        </p:spPr>
        <p:txBody>
          <a:bodyPr wrap="square" lIns="0" tIns="0" rIns="0" bIns="0" rtlCol="0" anchor="t"/>
          <a:lstStyle/>
          <a:p>
            <a:pPr marL="0" indent="0">
              <a:buNone/>
            </a:pPr>
            <a:r>
              <a:rPr lang="en-US" sz="2200" b="1" dirty="0">
                <a:solidFill>
                  <a:schemeClr val="tx1"/>
                </a:solidFill>
                <a:latin typeface="+mj-lt" pitchFamily="34" charset="0"/>
                <a:ea typeface="+mj-lt" pitchFamily="34" charset="-122"/>
                <a:cs typeface="+mj-lt" pitchFamily="34" charset="-120"/>
              </a:rPr>
              <a:t>Baby should face the breast, fully turned toward the mother.</a:t>
            </a:r>
            <a:endParaRPr lang="en-US" sz="2200" dirty="0"/>
          </a:p>
        </p:txBody>
      </p:sp>
      <p:sp>
        <p:nvSpPr>
          <p:cNvPr id="7" name="Try again button">
            <a:hlinkClick r:id="rId4" action="ppaction://hlinksldjump" tooltip="Back to the question"/>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Try again</a:t>
            </a:r>
            <a:endParaRPr lang="en-US"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Menu</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Question 4 of 4</a:t>
            </a:r>
            <a:endParaRPr lang="en-US" sz="3000" dirty="0"/>
          </a:p>
        </p:txBody>
      </p:sp>
      <p:sp>
        <p:nvSpPr>
          <p:cNvPr id="3" name="Menu button">
            <a:hlinkClick r:id="rId3"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sp>
        <p:nvSpPr>
          <p:cNvPr id="4" name="Topic label"/>
          <p:cNvSpPr txBox="1"/>
          <p:nvPr/>
        </p:nvSpPr>
        <p:spPr>
          <a:xfrm>
            <a:off x="457200" y="896112"/>
            <a:ext cx="548640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CHILD PROTECTION</a:t>
            </a:r>
            <a:endParaRPr lang="en-US" sz="1200" dirty="0"/>
          </a:p>
        </p:txBody>
      </p:sp>
      <p:sp>
        <p:nvSpPr>
          <p:cNvPr id="5" name="Question"/>
          <p:cNvSpPr txBox="1"/>
          <p:nvPr/>
        </p:nvSpPr>
        <p:spPr>
          <a:xfrm>
            <a:off x="457200" y="1188720"/>
            <a:ext cx="8229600" cy="822960"/>
          </a:xfrm>
          <a:prstGeom prst="rect">
            <a:avLst/>
          </a:prstGeom>
          <a:noFill/>
          <a:ln/>
        </p:spPr>
        <p:txBody>
          <a:bodyPr wrap="square" lIns="0" tIns="0" rIns="0" bIns="0" rtlCol="0" anchor="t"/>
          <a:lstStyle/>
          <a:p>
            <a:pPr marL="0" indent="0">
              <a:buNone/>
            </a:pPr>
            <a:r>
              <a:rPr lang="en-US" sz="2200" b="1" dirty="0">
                <a:solidFill>
                  <a:schemeClr val="tx1"/>
                </a:solidFill>
                <a:latin typeface="+mj-lt" pitchFamily="34" charset="0"/>
                <a:ea typeface="+mj-lt" pitchFamily="34" charset="-122"/>
                <a:cs typeface="+mj-lt" pitchFamily="34" charset="-120"/>
              </a:rPr>
              <a:t>A child tells you that someone has been hurting them. What do you do first?</a:t>
            </a:r>
            <a:endParaRPr lang="en-US" sz="2200" dirty="0"/>
          </a:p>
        </p:txBody>
      </p:sp>
      <p:sp>
        <p:nvSpPr>
          <p:cNvPr id="6" name="Answer A">
            <a:hlinkClick r:id="rId4" action="ppaction://hlinksldjump" tooltip="Answer A"/>
          </p:cNvPr>
          <p:cNvSpPr/>
          <p:nvPr/>
        </p:nvSpPr>
        <p:spPr>
          <a:xfrm>
            <a:off x="457200" y="2148840"/>
            <a:ext cx="8229600" cy="694944"/>
          </a:xfrm>
          <a:prstGeom prst="roundRect">
            <a:avLst>
              <a:gd name="adj" fmla="val 15789"/>
            </a:avLst>
          </a:prstGeom>
          <a:solidFill>
            <a:schemeClr val="bg1"/>
          </a:solidFill>
          <a:ln/>
          <a:effectLst>
            <a:outerShdw blurRad="101600" dist="25400" dir="5400000" algn="bl" rotWithShape="0">
              <a:srgbClr val="1B2540">
                <a:alpha val="14000"/>
              </a:srgbClr>
            </a:outerShdw>
          </a:effectLst>
        </p:spPr>
        <p:txBody>
          <a:bodyPr wrap="square" lIns="228600" tIns="0" rIns="152400" bIns="0" rtlCol="0" anchor="ctr"/>
          <a:lstStyle/>
          <a:p>
            <a:pPr marL="0" indent="0" algn="l">
              <a:buNone/>
            </a:pPr>
            <a:r>
              <a:rPr lang="en-US" sz="2000" b="1" dirty="0">
                <a:solidFill>
                  <a:schemeClr val="accent1"/>
                </a:solidFill>
              </a:rPr>
              <a:t>A    </a:t>
            </a:r>
            <a:r>
              <a:rPr lang="en-US" sz="1600" dirty="0">
                <a:solidFill>
                  <a:schemeClr val="tx1"/>
                </a:solidFill>
              </a:rPr>
              <a:t>Wait and see if it happens again</a:t>
            </a:r>
            <a:endParaRPr lang="en-US" sz="2000" dirty="0"/>
          </a:p>
        </p:txBody>
      </p:sp>
      <p:sp>
        <p:nvSpPr>
          <p:cNvPr id="7" name="Answer B">
            <a:hlinkClick r:id="rId5" action="ppaction://hlinksldjump" tooltip="Answer B"/>
          </p:cNvPr>
          <p:cNvSpPr/>
          <p:nvPr/>
        </p:nvSpPr>
        <p:spPr>
          <a:xfrm>
            <a:off x="457200" y="2953512"/>
            <a:ext cx="8229600" cy="694944"/>
          </a:xfrm>
          <a:prstGeom prst="roundRect">
            <a:avLst>
              <a:gd name="adj" fmla="val 15789"/>
            </a:avLst>
          </a:prstGeom>
          <a:solidFill>
            <a:schemeClr val="bg1"/>
          </a:solidFill>
          <a:ln/>
          <a:effectLst>
            <a:outerShdw blurRad="101600" dist="25400" dir="5400000" algn="bl" rotWithShape="0">
              <a:srgbClr val="1B2540">
                <a:alpha val="14000"/>
              </a:srgbClr>
            </a:outerShdw>
          </a:effectLst>
        </p:spPr>
        <p:txBody>
          <a:bodyPr wrap="square" lIns="228600" tIns="0" rIns="152400" bIns="0" rtlCol="0" anchor="ctr"/>
          <a:lstStyle/>
          <a:p>
            <a:pPr marL="0" indent="0" algn="l">
              <a:buNone/>
            </a:pPr>
            <a:r>
              <a:rPr lang="en-US" sz="2000" b="1" dirty="0">
                <a:solidFill>
                  <a:schemeClr val="accent1"/>
                </a:solidFill>
              </a:rPr>
              <a:t>B    </a:t>
            </a:r>
            <a:r>
              <a:rPr lang="en-US" sz="1600" dirty="0">
                <a:solidFill>
                  <a:schemeClr val="tx1"/>
                </a:solidFill>
              </a:rPr>
              <a:t>Believe the child and thank them for the courage to tell</a:t>
            </a:r>
            <a:endParaRPr lang="en-US" sz="2000" dirty="0"/>
          </a:p>
        </p:txBody>
      </p:sp>
      <p:sp>
        <p:nvSpPr>
          <p:cNvPr id="8" name="Answer C">
            <a:hlinkClick r:id="rId4" action="ppaction://hlinksldjump" tooltip="Answer C"/>
          </p:cNvPr>
          <p:cNvSpPr/>
          <p:nvPr/>
        </p:nvSpPr>
        <p:spPr>
          <a:xfrm>
            <a:off x="457200" y="3758184"/>
            <a:ext cx="8229600" cy="694944"/>
          </a:xfrm>
          <a:prstGeom prst="roundRect">
            <a:avLst>
              <a:gd name="adj" fmla="val 15789"/>
            </a:avLst>
          </a:prstGeom>
          <a:solidFill>
            <a:schemeClr val="bg1"/>
          </a:solidFill>
          <a:ln/>
          <a:effectLst>
            <a:outerShdw blurRad="101600" dist="25400" dir="5400000" algn="bl" rotWithShape="0">
              <a:srgbClr val="1B2540">
                <a:alpha val="14000"/>
              </a:srgbClr>
            </a:outerShdw>
          </a:effectLst>
        </p:spPr>
        <p:txBody>
          <a:bodyPr wrap="square" lIns="228600" tIns="0" rIns="152400" bIns="0" rtlCol="0" anchor="ctr"/>
          <a:lstStyle/>
          <a:p>
            <a:pPr marL="0" indent="0" algn="l">
              <a:buNone/>
            </a:pPr>
            <a:r>
              <a:rPr lang="en-US" sz="2000" b="1" dirty="0">
                <a:solidFill>
                  <a:schemeClr val="accent1"/>
                </a:solidFill>
              </a:rPr>
              <a:t>C    </a:t>
            </a:r>
            <a:r>
              <a:rPr lang="en-US" sz="1600" dirty="0">
                <a:solidFill>
                  <a:schemeClr val="tx1"/>
                </a:solidFill>
              </a:rPr>
              <a:t>Ask many detailed questions to confirm the story</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Correct!</a:t>
            </a:r>
            <a:endParaRPr lang="en-US" sz="3000" dirty="0"/>
          </a:p>
        </p:txBody>
      </p:sp>
      <p:sp>
        <p:nvSpPr>
          <p:cNvPr id="3" name="Correct circle"/>
          <p:cNvSpPr/>
          <p:nvPr/>
        </p:nvSpPr>
        <p:spPr>
          <a:xfrm>
            <a:off x="640080" y="1554480"/>
            <a:ext cx="1371600" cy="1371600"/>
          </a:xfrm>
          <a:prstGeom prst="ellipse">
            <a:avLst/>
          </a:prstGeom>
          <a:solidFill>
            <a:schemeClr val="accent4"/>
          </a:solidFill>
          <a:ln w="12700">
            <a:solidFill>
              <a:schemeClr val="accent4"/>
            </a:solidFill>
            <a:prstDash val="solid"/>
          </a:ln>
        </p:spPr>
      </p:sp>
      <p:pic>
        <p:nvPicPr>
          <p:cNvPr id="4" name="Correct glyph" descr="Correct"/>
          <p:cNvPicPr>
            <a:picLocks noChangeAspect="1"/>
          </p:cNvPicPr>
          <p:nvPr/>
        </p:nvPicPr>
        <p:blipFill>
          <a:blip r:embed="rId3"/>
          <a:stretch>
            <a:fillRect/>
          </a:stretch>
        </p:blipFill>
        <p:spPr>
          <a:xfrm>
            <a:off x="996696" y="1911096"/>
            <a:ext cx="658368" cy="658368"/>
          </a:xfrm>
          <a:prstGeom prst="rect">
            <a:avLst/>
          </a:prstGeom>
        </p:spPr>
      </p:pic>
      <p:sp>
        <p:nvSpPr>
          <p:cNvPr id="5" name="Right answer"/>
          <p:cNvSpPr txBox="1"/>
          <p:nvPr/>
        </p:nvSpPr>
        <p:spPr>
          <a:xfrm>
            <a:off x="2377440" y="1417320"/>
            <a:ext cx="6309360" cy="822960"/>
          </a:xfrm>
          <a:prstGeom prst="rect">
            <a:avLst/>
          </a:prstGeom>
          <a:noFill/>
          <a:ln/>
        </p:spPr>
        <p:txBody>
          <a:bodyPr wrap="square" lIns="0" tIns="0" rIns="0" bIns="0" rtlCol="0" anchor="t"/>
          <a:lstStyle/>
          <a:p>
            <a:pPr marL="0" indent="0">
              <a:buNone/>
            </a:pPr>
            <a:r>
              <a:rPr lang="en-US" sz="2200" b="1" dirty="0">
                <a:solidFill>
                  <a:schemeClr val="tx1"/>
                </a:solidFill>
                <a:latin typeface="+mj-lt" pitchFamily="34" charset="0"/>
                <a:ea typeface="+mj-lt" pitchFamily="34" charset="-122"/>
                <a:cs typeface="+mj-lt" pitchFamily="34" charset="-120"/>
              </a:rPr>
              <a:t>Believe the child and thank them for the courage to tell</a:t>
            </a:r>
            <a:endParaRPr lang="en-US" sz="2200" dirty="0"/>
          </a:p>
        </p:txBody>
      </p:sp>
      <p:sp>
        <p:nvSpPr>
          <p:cNvPr id="6" name="Explanation"/>
          <p:cNvSpPr txBox="1"/>
          <p:nvPr/>
        </p:nvSpPr>
        <p:spPr>
          <a:xfrm>
            <a:off x="2377440" y="2377440"/>
            <a:ext cx="6309360" cy="1097280"/>
          </a:xfrm>
          <a:prstGeom prst="rect">
            <a:avLst/>
          </a:prstGeom>
          <a:noFill/>
          <a:ln/>
        </p:spPr>
        <p:txBody>
          <a:bodyPr wrap="square" lIns="0" tIns="0" rIns="0" bIns="0" rtlCol="0" anchor="t"/>
          <a:lstStyle/>
          <a:p>
            <a:pPr marL="0" indent="0">
              <a:buNone/>
            </a:pPr>
            <a:r>
              <a:rPr lang="en-US" sz="1800" dirty="0">
                <a:solidFill>
                  <a:schemeClr val="tx2"/>
                </a:solidFill>
              </a:rPr>
              <a:t>Believe the child, thank them, let them talk without leading questions, and seek professional help.</a:t>
            </a:r>
            <a:endParaRPr lang="en-US" sz="1800" dirty="0"/>
          </a:p>
        </p:txBody>
      </p:sp>
      <p:sp>
        <p:nvSpPr>
          <p:cNvPr id="7" name="Continue button">
            <a:hlinkClick r:id="rId4" action="ppaction://hlinksldjump" tooltip="Continue"/>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Finish ›</a:t>
            </a:r>
            <a:endParaRPr lang="en-US"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Menu</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Not quite</a:t>
            </a:r>
            <a:endParaRPr lang="en-US" sz="3000" dirty="0"/>
          </a:p>
        </p:txBody>
      </p:sp>
      <p:sp>
        <p:nvSpPr>
          <p:cNvPr id="3" name="Try again circle"/>
          <p:cNvSpPr/>
          <p:nvPr/>
        </p:nvSpPr>
        <p:spPr>
          <a:xfrm>
            <a:off x="640080" y="1554480"/>
            <a:ext cx="1371600" cy="1371600"/>
          </a:xfrm>
          <a:prstGeom prst="ellipse">
            <a:avLst/>
          </a:prstGeom>
          <a:solidFill>
            <a:schemeClr val="accent2"/>
          </a:solidFill>
          <a:ln w="12700">
            <a:solidFill>
              <a:schemeClr val="accent2"/>
            </a:solidFill>
            <a:prstDash val="solid"/>
          </a:ln>
        </p:spPr>
      </p:sp>
      <p:pic>
        <p:nvPicPr>
          <p:cNvPr id="4" name="Try again glyph" descr="Try again"/>
          <p:cNvPicPr>
            <a:picLocks noChangeAspect="1"/>
          </p:cNvPicPr>
          <p:nvPr/>
        </p:nvPicPr>
        <p:blipFill>
          <a:blip r:embed="rId3"/>
          <a:stretch>
            <a:fillRect/>
          </a:stretch>
        </p:blipFill>
        <p:spPr>
          <a:xfrm>
            <a:off x="996696" y="1911096"/>
            <a:ext cx="658368" cy="658368"/>
          </a:xfrm>
          <a:prstGeom prst="rect">
            <a:avLst/>
          </a:prstGeom>
        </p:spPr>
      </p:pic>
      <p:sp>
        <p:nvSpPr>
          <p:cNvPr id="5" name="Hint label"/>
          <p:cNvSpPr txBox="1"/>
          <p:nvPr/>
        </p:nvSpPr>
        <p:spPr>
          <a:xfrm>
            <a:off x="2377440" y="1417320"/>
            <a:ext cx="6309360" cy="365760"/>
          </a:xfrm>
          <a:prstGeom prst="rect">
            <a:avLst/>
          </a:prstGeom>
          <a:noFill/>
          <a:ln/>
        </p:spPr>
        <p:txBody>
          <a:bodyPr wrap="square" lIns="0" tIns="0" rIns="0" bIns="0" rtlCol="0" anchor="t"/>
          <a:lstStyle/>
          <a:p>
            <a:pPr marL="0" indent="0">
              <a:buNone/>
            </a:pPr>
            <a:r>
              <a:rPr lang="en-US" sz="1400" b="1" dirty="0">
                <a:solidFill>
                  <a:schemeClr val="accent2"/>
                </a:solidFill>
              </a:rPr>
              <a:t>Hint</a:t>
            </a:r>
            <a:endParaRPr lang="en-US" sz="1400" dirty="0"/>
          </a:p>
        </p:txBody>
      </p:sp>
      <p:sp>
        <p:nvSpPr>
          <p:cNvPr id="6" name="Hint text"/>
          <p:cNvSpPr txBox="1"/>
          <p:nvPr/>
        </p:nvSpPr>
        <p:spPr>
          <a:xfrm>
            <a:off x="2377440" y="1828800"/>
            <a:ext cx="6309360" cy="1280160"/>
          </a:xfrm>
          <a:prstGeom prst="rect">
            <a:avLst/>
          </a:prstGeom>
          <a:noFill/>
          <a:ln/>
        </p:spPr>
        <p:txBody>
          <a:bodyPr wrap="square" lIns="0" tIns="0" rIns="0" bIns="0" rtlCol="0" anchor="t"/>
          <a:lstStyle/>
          <a:p>
            <a:pPr marL="0" indent="0">
              <a:buNone/>
            </a:pPr>
            <a:r>
              <a:rPr lang="en-US" sz="2200" b="1" dirty="0">
                <a:solidFill>
                  <a:schemeClr val="tx1"/>
                </a:solidFill>
                <a:latin typeface="+mj-lt" pitchFamily="34" charset="0"/>
                <a:ea typeface="+mj-lt" pitchFamily="34" charset="-122"/>
                <a:cs typeface="+mj-lt" pitchFamily="34" charset="-120"/>
              </a:rPr>
              <a:t>Start with trust and gratitude. Avoid leading questions.</a:t>
            </a:r>
            <a:endParaRPr lang="en-US" sz="2200" dirty="0"/>
          </a:p>
        </p:txBody>
      </p:sp>
      <p:sp>
        <p:nvSpPr>
          <p:cNvPr id="7" name="Try again button">
            <a:hlinkClick r:id="rId4" action="ppaction://hlinksldjump" tooltip="Back to the question"/>
          </p:cNvPr>
          <p:cNvSpPr/>
          <p:nvPr/>
        </p:nvSpPr>
        <p:spPr>
          <a:xfrm>
            <a:off x="6583680" y="3977640"/>
            <a:ext cx="2103120" cy="45720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Try again</a:t>
            </a:r>
            <a:endParaRPr lang="en-US" sz="1400" dirty="0"/>
          </a:p>
        </p:txBody>
      </p:sp>
      <p:sp>
        <p:nvSpPr>
          <p:cNvPr id="8" name="Menu button">
            <a:hlinkClick r:id="rId5" action="ppaction://hlinksldjump" tooltip="Back to the topic menu"/>
          </p:cNvPr>
          <p:cNvSpPr/>
          <p:nvPr/>
        </p:nvSpPr>
        <p:spPr>
          <a:xfrm>
            <a:off x="457200" y="3977640"/>
            <a:ext cx="1280160" cy="457200"/>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Menu</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Family photo" descr="Silhouette of two parents swinging a child between them in a sunny field"/>
          <p:cNvPicPr>
            <a:picLocks noChangeAspect="1"/>
          </p:cNvPicPr>
          <p:nvPr/>
        </p:nvPicPr>
        <p:blipFill>
          <a:blip r:embed="rId3"/>
          <a:stretch>
            <a:fillRect/>
          </a:stretch>
        </p:blipFill>
        <p:spPr>
          <a:xfrm>
            <a:off x="4937760" y="0"/>
            <a:ext cx="4206240" cy="5143500"/>
          </a:xfrm>
          <a:prstGeom prst="rect">
            <a:avLst/>
          </a:prstGeom>
        </p:spPr>
      </p:pic>
      <p:sp>
        <p:nvSpPr>
          <p:cNvPr id="3" name="Eyebrow"/>
          <p:cNvSpPr txBox="1"/>
          <p:nvPr/>
        </p:nvSpPr>
        <p:spPr>
          <a:xfrm>
            <a:off x="548640" y="640080"/>
            <a:ext cx="4023360" cy="320040"/>
          </a:xfrm>
          <a:prstGeom prst="rect">
            <a:avLst/>
          </a:prstGeom>
          <a:noFill/>
          <a:ln/>
        </p:spPr>
        <p:txBody>
          <a:bodyPr wrap="square" lIns="0" tIns="0" rIns="0" bIns="0" rtlCol="0" anchor="ctr"/>
          <a:lstStyle/>
          <a:p>
            <a:pPr marL="0" indent="0">
              <a:buNone/>
            </a:pPr>
            <a:r>
              <a:rPr lang="en-US" sz="1400" b="1" kern="0" spc="400" dirty="0">
                <a:solidFill>
                  <a:schemeClr val="accent3"/>
                </a:solidFill>
              </a:rPr>
              <a:t>WELL DONE</a:t>
            </a:r>
            <a:endParaRPr lang="en-US" sz="1400" dirty="0"/>
          </a:p>
        </p:txBody>
      </p:sp>
      <p:sp>
        <p:nvSpPr>
          <p:cNvPr id="4" name="Closing title"/>
          <p:cNvSpPr txBox="1"/>
          <p:nvPr/>
        </p:nvSpPr>
        <p:spPr>
          <a:xfrm>
            <a:off x="548640" y="1005840"/>
            <a:ext cx="4114800" cy="1188720"/>
          </a:xfrm>
          <a:prstGeom prst="rect">
            <a:avLst/>
          </a:prstGeom>
          <a:noFill/>
          <a:ln/>
        </p:spPr>
        <p:txBody>
          <a:bodyPr wrap="square" lIns="0" tIns="0" rIns="0" bIns="0" rtlCol="0" anchor="t"/>
          <a:lstStyle/>
          <a:p>
            <a:pPr marL="0" indent="0">
              <a:buNone/>
            </a:pPr>
            <a:r>
              <a:rPr lang="en-US" sz="3400" b="1" dirty="0">
                <a:solidFill>
                  <a:schemeClr val="bg1"/>
                </a:solidFill>
                <a:latin typeface="+mj-lt" pitchFamily="34" charset="0"/>
                <a:ea typeface="+mj-lt" pitchFamily="34" charset="-122"/>
                <a:cs typeface="+mj-lt" pitchFamily="34" charset="-120"/>
              </a:rPr>
              <a:t>Small habits, big futures</a:t>
            </a:r>
            <a:endParaRPr lang="en-US" sz="3400" dirty="0"/>
          </a:p>
        </p:txBody>
      </p:sp>
      <p:sp>
        <p:nvSpPr>
          <p:cNvPr id="5" name="Takeaways"/>
          <p:cNvSpPr txBox="1"/>
          <p:nvPr/>
        </p:nvSpPr>
        <p:spPr>
          <a:xfrm>
            <a:off x="548640" y="2286000"/>
            <a:ext cx="4114800" cy="1645920"/>
          </a:xfrm>
          <a:prstGeom prst="rect">
            <a:avLst/>
          </a:prstGeom>
          <a:noFill/>
          <a:ln/>
        </p:spPr>
        <p:txBody>
          <a:bodyPr wrap="square" lIns="0" tIns="0" rIns="0" bIns="0" rtlCol="0" anchor="t"/>
          <a:lstStyle/>
          <a:p>
            <a:pPr marL="177800" indent="-177800">
              <a:spcAft>
                <a:spcPts val="800"/>
              </a:spcAft>
              <a:buSzPct val="100000"/>
              <a:buChar char="•"/>
            </a:pPr>
            <a:r>
              <a:rPr lang="en-US" sz="1600" dirty="0">
                <a:solidFill>
                  <a:schemeClr val="bg1"/>
                </a:solidFill>
              </a:rPr>
              <a:t>Start strong: dry, skin to skin, stay together</a:t>
            </a:r>
            <a:endParaRPr lang="en-US" sz="1600" dirty="0"/>
          </a:p>
          <a:p>
            <a:pPr marL="177800" indent="-177800">
              <a:spcAft>
                <a:spcPts val="800"/>
              </a:spcAft>
              <a:buSzPct val="100000"/>
              <a:buChar char="•"/>
            </a:pPr>
            <a:r>
              <a:rPr lang="en-US" sz="1600" dirty="0">
                <a:solidFill>
                  <a:schemeClr val="bg1"/>
                </a:solidFill>
              </a:rPr>
              <a:t>Use a good latch, store milk safely</a:t>
            </a:r>
            <a:endParaRPr lang="en-US" sz="1600" dirty="0"/>
          </a:p>
          <a:p>
            <a:pPr marL="177800" indent="-177800">
              <a:spcAft>
                <a:spcPts val="800"/>
              </a:spcAft>
              <a:buSzPct val="100000"/>
              <a:buChar char="•"/>
            </a:pPr>
            <a:r>
              <a:rPr lang="en-US" sz="1600" dirty="0">
                <a:solidFill>
                  <a:schemeClr val="bg1"/>
                </a:solidFill>
              </a:rPr>
              <a:t>Read aloud every day</a:t>
            </a:r>
            <a:endParaRPr lang="en-US" sz="1600" dirty="0"/>
          </a:p>
          <a:p>
            <a:pPr marL="177800" indent="-177800">
              <a:spcAft>
                <a:spcPts val="800"/>
              </a:spcAft>
              <a:buSzPct val="100000"/>
              <a:buChar char="•"/>
            </a:pPr>
            <a:r>
              <a:rPr lang="en-US" sz="1600" dirty="0">
                <a:solidFill>
                  <a:schemeClr val="bg1"/>
                </a:solidFill>
              </a:rPr>
              <a:t>Always believe a child who tells you</a:t>
            </a:r>
            <a:endParaRPr lang="en-US" sz="1600" dirty="0"/>
          </a:p>
        </p:txBody>
      </p:sp>
      <p:sp>
        <p:nvSpPr>
          <p:cNvPr id="6" name="Menu button">
            <a:hlinkClick r:id="rId4" action="ppaction://hlinksldjump" tooltip="Open the topic menu"/>
          </p:cNvPr>
          <p:cNvSpPr/>
          <p:nvPr/>
        </p:nvSpPr>
        <p:spPr>
          <a:xfrm>
            <a:off x="548640" y="4160520"/>
            <a:ext cx="1828800" cy="420624"/>
          </a:xfrm>
          <a:prstGeom prst="roundRect">
            <a:avLst>
              <a:gd name="adj" fmla="val 50000"/>
            </a:avLst>
          </a:prstGeom>
          <a:solidFill>
            <a:schemeClr val="accent3"/>
          </a:solidFill>
          <a:ln/>
        </p:spPr>
        <p:txBody>
          <a:bodyPr wrap="square" lIns="0" tIns="0" rIns="0" bIns="0" rtlCol="0" anchor="ctr"/>
          <a:lstStyle/>
          <a:p>
            <a:pPr marL="0" indent="0" algn="ctr">
              <a:buNone/>
            </a:pPr>
            <a:r>
              <a:rPr lang="en-US" sz="1400" b="1" dirty="0">
                <a:solidFill>
                  <a:schemeClr val="tx1"/>
                </a:solidFill>
              </a:rPr>
              <a:t>Back to menu</a:t>
            </a:r>
            <a:endParaRPr lang="en-US" sz="1400" dirty="0"/>
          </a:p>
        </p:txBody>
      </p:sp>
      <p:sp>
        <p:nvSpPr>
          <p:cNvPr id="7" name="Retake button">
            <a:hlinkClick r:id="rId5" action="ppaction://hlinksldjump" tooltip="Restart the quiz"/>
          </p:cNvPr>
          <p:cNvSpPr/>
          <p:nvPr/>
        </p:nvSpPr>
        <p:spPr>
          <a:xfrm>
            <a:off x="2560320" y="4160520"/>
            <a:ext cx="1645920" cy="420624"/>
          </a:xfrm>
          <a:prstGeom prst="roundRect">
            <a:avLst>
              <a:gd name="adj" fmla="val 50000"/>
            </a:avLst>
          </a:prstGeom>
          <a:solidFill>
            <a:schemeClr val="tx2"/>
          </a:solidFill>
          <a:ln/>
        </p:spPr>
        <p:txBody>
          <a:bodyPr wrap="square" lIns="0" tIns="0" rIns="0" bIns="0" rtlCol="0" anchor="ctr"/>
          <a:lstStyle/>
          <a:p>
            <a:pPr marL="0" indent="0" algn="ctr">
              <a:buNone/>
            </a:pPr>
            <a:r>
              <a:rPr lang="en-US" sz="1400" b="1" dirty="0">
                <a:solidFill>
                  <a:schemeClr val="bg1"/>
                </a:solidFill>
              </a:rPr>
              <a:t>Retake quiz</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6949440" cy="640080"/>
          </a:xfrm>
          <a:prstGeom prst="rect">
            <a:avLst/>
          </a:prstGeom>
          <a:noFill/>
          <a:ln/>
        </p:spPr>
        <p:txBody>
          <a:bodyPr wrap="square" lIns="0" tIns="0" rIns="0" bIns="0" rtlCol="0" anchor="ctr"/>
          <a:lstStyle/>
          <a:p>
            <a:pPr marL="0" indent="0" algn="l">
              <a:buNone/>
            </a:pPr>
            <a:r>
              <a:rPr lang="en-US" sz="3000" b="1" dirty="0">
                <a:solidFill>
                  <a:schemeClr val="tx1"/>
                </a:solidFill>
              </a:rPr>
              <a:t>Good latch: watch the video</a:t>
            </a:r>
            <a:endParaRPr lang="en-US" sz="3000" dirty="0"/>
          </a:p>
        </p:txBody>
      </p:sp>
      <p:sp>
        <p:nvSpPr>
          <p:cNvPr id="3" name="Menu button">
            <a:hlinkClick r:id="rId2" action="ppaction://hlinksldjump" tooltip="Back to the topic menu"/>
          </p:cNvPr>
          <p:cNvSpPr/>
          <p:nvPr/>
        </p:nvSpPr>
        <p:spPr>
          <a:xfrm>
            <a:off x="7635240" y="365760"/>
            <a:ext cx="1051560" cy="365760"/>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Menu</a:t>
            </a:r>
            <a:endParaRPr lang="en-US" sz="1400" dirty="0"/>
          </a:p>
        </p:txBody>
      </p:sp>
      <p:pic>
        <p:nvPicPr>
          <p:cNvPr id="6" name="Latch video" descr="Video: how to get a good latch"/>
          <p:cNvPicPr/>
          <p:nvPr>
            <a:videoFile r:link="rId5"/>
          </p:nvPr>
        </p:nvPicPr>
        <p:blipFill>
          <a:blip r:embed="rId6"/>
          <a:stretch>
            <a:fillRect/>
          </a:stretch>
        </p:blipFill>
        <p:spPr>
          <a:xfrm>
            <a:off x="1874519" y="1005840"/>
            <a:ext cx="5394960" cy="3034893"/>
          </a:xfrm>
          <a:prstGeom prst="rect">
            <a:avLst/>
          </a:prstGeom>
        </p:spPr>
      </p:pic>
      <p:sp>
        <p:nvSpPr>
          <p:cNvPr id="7" name="Video note"/>
          <p:cNvSpPr txBox="1"/>
          <p:nvPr/>
        </p:nvSpPr>
        <p:spPr>
          <a:xfrm>
            <a:off x="914400" y="4160520"/>
            <a:ext cx="7315200" cy="365760"/>
          </a:xfrm>
          <a:prstGeom prst="rect">
            <a:avLst/>
          </a:prstGeom>
          <a:noFill/>
        </p:spPr>
        <p:txBody>
          <a:bodyPr wrap="square" lIns="0" tIns="0" rIns="0" bIns="0" anchor="ctr"/>
          <a:lstStyle/>
          <a:p>
            <a:pPr algn="ctr">
              <a:buNone/>
            </a:pPr>
            <a:r>
              <a:rPr lang="en-US" sz="1100" dirty="0">
                <a:solidFill>
                  <a:schemeClr val="tx1"/>
                </a:solidFill>
              </a:rPr>
              <a:t>Tap the video to play. It streams online, so an internet connection is needed (youtu.be/GaX03lxP5CA).</a:t>
            </a:r>
          </a:p>
        </p:txBody>
      </p:sp>
      <p:sp>
        <p:nvSpPr>
          <p:cNvPr id="4" name="Back button">
            <a:hlinkClick r:id="rId3" action="ppaction://hlinksldjump" tooltip="Previous slide"/>
          </p:cNvPr>
          <p:cNvSpPr/>
          <p:nvPr/>
        </p:nvSpPr>
        <p:spPr>
          <a:xfrm>
            <a:off x="5989320" y="4636008"/>
            <a:ext cx="1051560" cy="347472"/>
          </a:xfrm>
          <a:prstGeom prst="roundRect">
            <a:avLst>
              <a:gd name="adj" fmla="val 50000"/>
            </a:avLst>
          </a:prstGeom>
          <a:solidFill>
            <a:schemeClr val="bg1"/>
          </a:solidFill>
          <a:ln/>
        </p:spPr>
        <p:txBody>
          <a:bodyPr wrap="square" lIns="0" tIns="0" rIns="0" bIns="0" rtlCol="0" anchor="ctr"/>
          <a:lstStyle/>
          <a:p>
            <a:pPr marL="0" indent="0" algn="ctr">
              <a:buNone/>
            </a:pPr>
            <a:r>
              <a:rPr lang="en-US" sz="1400" b="1" dirty="0">
                <a:solidFill>
                  <a:schemeClr val="tx1"/>
                </a:solidFill>
              </a:rPr>
              <a:t>‹ Back</a:t>
            </a:r>
            <a:endParaRPr lang="en-US" sz="1400" dirty="0"/>
          </a:p>
        </p:txBody>
      </p:sp>
      <p:sp>
        <p:nvSpPr>
          <p:cNvPr id="5" name="Next button">
            <a:hlinkClick r:id="rId4" action="ppaction://hlinksldjump" tooltip="Next slide"/>
          </p:cNvPr>
          <p:cNvSpPr/>
          <p:nvPr/>
        </p:nvSpPr>
        <p:spPr>
          <a:xfrm>
            <a:off x="7132320" y="4636008"/>
            <a:ext cx="1554480" cy="347472"/>
          </a:xfrm>
          <a:prstGeom prst="roundRect">
            <a:avLst>
              <a:gd name="adj" fmla="val 50000"/>
            </a:avLst>
          </a:prstGeom>
          <a:solidFill>
            <a:schemeClr val="tx1"/>
          </a:solidFill>
          <a:ln/>
        </p:spPr>
        <p:txBody>
          <a:bodyPr wrap="square" lIns="0" tIns="0" rIns="0" bIns="0" rtlCol="0" anchor="ctr"/>
          <a:lstStyle/>
          <a:p>
            <a:pPr marL="0" indent="0" algn="ctr">
              <a:buNone/>
            </a:pPr>
            <a:r>
              <a:rPr lang="en-US" sz="1400" b="1" dirty="0">
                <a:solidFill>
                  <a:schemeClr val="bg1"/>
                </a:solidFill>
              </a:rPr>
              <a:t>Milk storage ›</a:t>
            </a:r>
            <a:endParaRPr lang="en-US" sz="1400" dirty="0"/>
          </a:p>
        </p:txBody>
      </p:sp>
    </p:spTree>
  </p:cSld>
  <p:clrMapOvr>
    <a:masterClrMapping/>
  </p:clrMapOvr>
</p:sld>
</file>

<file path=ppt/theme/theme1.xml><?xml version="1.0" encoding="utf-8"?>
<a:theme xmlns:a="http://schemas.openxmlformats.org/drawingml/2006/main" name="Sunset Family">
  <a:themeElements>
    <a:clrScheme name="Sunset Family">
      <a:dk1>
        <a:srgbClr val="1B2540"/>
      </a:dk1>
      <a:lt1>
        <a:srgbClr val="FFFFFF"/>
      </a:lt1>
      <a:dk2>
        <a:srgbClr val="2E3A66"/>
      </a:dk2>
      <a:lt2>
        <a:srgbClr val="F2F5FA"/>
      </a:lt2>
      <a:accent1>
        <a:srgbClr val="D9661B"/>
      </a:accent1>
      <a:accent2>
        <a:srgbClr val="D6455D"/>
      </a:accent2>
      <a:accent3>
        <a:srgbClr val="F6B93B"/>
      </a:accent3>
      <a:accent4>
        <a:srgbClr val="237F73"/>
      </a:accent4>
      <a:accent5>
        <a:srgbClr val="6556B8"/>
      </a:accent5>
      <a:accent6>
        <a:srgbClr val="3B78C4"/>
      </a:accent6>
      <a:hlink>
        <a:srgbClr val="3B78C4"/>
      </a:hlink>
      <a:folHlink>
        <a:srgbClr val="6556B8"/>
      </a:folHlink>
    </a:clrScheme>
    <a:fontScheme name="Sunset Famil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1386</Words>
  <Application>Microsoft Office PowerPoint</Application>
  <PresentationFormat>On-screen Show (16:9)</PresentationFormat>
  <Paragraphs>237</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Cambria</vt:lpstr>
      <vt:lpstr>Sunset Family</vt:lpstr>
      <vt:lpstr>PowerPoint Presentation</vt:lpstr>
      <vt:lpstr>Pick a topic to explore</vt:lpstr>
      <vt:lpstr>The first hour matters</vt:lpstr>
      <vt:lpstr>Going home early</vt:lpstr>
      <vt:lpstr>Breastfeeding: position and latch</vt:lpstr>
      <vt:lpstr>How long can expressed milk keep?</vt:lpstr>
      <vt:lpstr>Read aloud, every day</vt:lpstr>
      <vt:lpstr>Protecting children from harm</vt:lpstr>
      <vt:lpstr>PowerPoint Presentation</vt:lpstr>
      <vt:lpstr>Question 1 of 4</vt:lpstr>
      <vt:lpstr>Correct!</vt:lpstr>
      <vt:lpstr>Not quite</vt:lpstr>
      <vt:lpstr>Question 2 of 4</vt:lpstr>
      <vt:lpstr>Correct!</vt:lpstr>
      <vt:lpstr>Not quite</vt:lpstr>
      <vt:lpstr>Question 3 of 4</vt:lpstr>
      <vt:lpstr>Correct!</vt:lpstr>
      <vt:lpstr>Not quite</vt:lpstr>
      <vt:lpstr>Question 4 of 4</vt:lpstr>
      <vt:lpstr>Correct!</vt:lpstr>
      <vt:lpstr>Not quite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Parenting Guide: Raising Healthy Children</dc:title>
  <dc:subject>Interactive parenting guide based on REdbook notes</dc:subject>
  <dc:creator>Justine Miguel F. Aguilos</dc:creator>
  <cp:lastModifiedBy>Jm Aguilos</cp:lastModifiedBy>
  <cp:revision>2</cp:revision>
  <dcterms:created xsi:type="dcterms:W3CDTF">2026-10-10T02:44:15Z</dcterms:created>
  <dcterms:modified xsi:type="dcterms:W3CDTF">2026-10-22T10:54:23Z</dcterms:modified>
</cp:coreProperties>
</file>