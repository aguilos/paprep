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300" r:id="rId40"/>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73CCF9B-F17B-5201-E2CB-806758DA6DD4}">
          <p14:sldIdLst>
            <p14:sldId id="256"/>
            <p14:sldId id="257"/>
          </p14:sldIdLst>
        </p14:section>
        <p14:section name="Topics" id="{A5F8A46F-E918-37A0-C5BA-C87059C064FC}">
          <p14:sldIdLst>
            <p14:sldId id="258"/>
            <p14:sldId id="259"/>
            <p14:sldId id="260"/>
            <p14:sldId id="261"/>
            <p14:sldId id="262"/>
            <p14:sldId id="263"/>
          </p14:sldIdLst>
        </p14:section>
        <p14:section name="Quiz" id="{0CBD4C80-D572-FAEE-2B5C-9B88E890B7EB}">
          <p14:sldIdLst>
            <p14:sldId id="265"/>
            <p14:sldId id="266"/>
            <p14:sldId id="267"/>
            <p14:sldId id="268"/>
            <p14:sldId id="269"/>
            <p14:sldId id="270"/>
            <p14:sldId id="271"/>
            <p14:sldId id="272"/>
            <p14:sldId id="273"/>
            <p14:sldId id="274"/>
            <p14:sldId id="275"/>
            <p14:sldId id="276"/>
            <p14:sldId id="277"/>
          </p14:sldIdLst>
        </p14:section>
        <p14:section name="Quiz" id="{95846BDA-B7A4-3D77-B505-810CA93C67A1}">
          <p14:sldIdLst/>
        </p14:section>
        <p14:section name="Wrap-up" id="{03C2262A-353F-6B08-D55C-12F3CB48E5F1}">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4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2877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Patakbuhin ang deck sa Slide Show mode para gumana ang mga card, button at sagot sa quiz. Batay sa REdbook notes (seksyong Parenting).</a:t>
            </a:r>
          </a:p>
        </p:txBody>
      </p:sp>
      <p:sp>
        <p:nvSpPr>
          <p:cNvPr id="4" name="Slide Number Placeholder 3"/>
          <p:cNvSpPr>
            <a:spLocks noGrp="1"/>
          </p:cNvSpPr>
          <p:nvPr>
            <p:ph type="sldNum" sz="quarter" idx="10"/>
          </p:nvPr>
        </p:nvSpPr>
        <p:spPr/>
        <p:txBody>
          <a:bodyPr/>
          <a:lstStyle/>
          <a:p>
            <a:fld id="{F7021451-1387-4CA6-816F-3879F97B5CBC}" type="slidenum">
              <a:rPr lang="fil-PH"/>
              <a:t>1</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Bawat card ay papunta sa isang paksa. May Menu button ang bawat slide para makabalik.</a:t>
            </a:r>
          </a:p>
        </p:txBody>
      </p:sp>
      <p:sp>
        <p:nvSpPr>
          <p:cNvPr id="4" name="Slide Number Placeholder 3"/>
          <p:cNvSpPr>
            <a:spLocks noGrp="1"/>
          </p:cNvSpPr>
          <p:nvPr>
            <p:ph type="sldNum" sz="quarter" idx="10"/>
          </p:nvPr>
        </p:nvSpPr>
        <p:spPr/>
        <p:txBody>
          <a:bodyPr/>
          <a:lstStyle/>
          <a:p>
            <a:fld id="{F7021451-1387-4CA6-816F-3879F97B5CBC}" type="slidenum">
              <a:rPr lang="fil-PH"/>
              <a:t>2</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Apat na time-bound na interbensyon. Kasama rin sa prenatal counseling ang eksklusibong pagpapasuso hanggang 6 buwan, hanggang 2 taon pataas, at pagsisimula o pagpapatuloy ng tetanus toxoid immunization habang buntis.</a:t>
            </a:r>
          </a:p>
        </p:txBody>
      </p:sp>
      <p:sp>
        <p:nvSpPr>
          <p:cNvPr id="4" name="Slide Number Placeholder 3"/>
          <p:cNvSpPr>
            <a:spLocks noGrp="1"/>
          </p:cNvSpPr>
          <p:nvPr>
            <p:ph type="sldNum" sz="quarter" idx="10"/>
          </p:nvPr>
        </p:nvSpPr>
        <p:spPr/>
        <p:txBody>
          <a:bodyPr/>
          <a:lstStyle/>
          <a:p>
            <a:fld id="{F7021451-1387-4CA6-816F-3879F97B5CBC}" type="slidenum">
              <a:rPr lang="fil-PH"/>
              <a:t>3</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4</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5</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6</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Dapat payuhan ng mga pediatrician ang mga magulang sa kahalagahan ng pagbabasa nang malakas sa unang mga taon ng buhay. Ayon sa notes, dapat i-verify sa pahina ang salita sa milestone chart.</a:t>
            </a:r>
          </a:p>
        </p:txBody>
      </p:sp>
      <p:sp>
        <p:nvSpPr>
          <p:cNvPr id="4" name="Slide Number Placeholder 3"/>
          <p:cNvSpPr>
            <a:spLocks noGrp="1"/>
          </p:cNvSpPr>
          <p:nvPr>
            <p:ph type="sldNum" sz="quarter" idx="10"/>
          </p:nvPr>
        </p:nvSpPr>
        <p:spPr/>
        <p:txBody>
          <a:bodyPr/>
          <a:lstStyle/>
          <a:p>
            <a:fld id="{F7021451-1387-4CA6-816F-3879F97B5CBC}" type="slidenum">
              <a:rPr lang="fil-PH"/>
              <a:t>7</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Walang iisang risk factor na nagpapahula ng child maltreatment, at walang iisang katangian na tumutukoy sa resilience ng bata sa traumatikong karanasan.</a:t>
            </a:r>
          </a:p>
        </p:txBody>
      </p:sp>
      <p:sp>
        <p:nvSpPr>
          <p:cNvPr id="4" name="Slide Number Placeholder 3"/>
          <p:cNvSpPr>
            <a:spLocks noGrp="1"/>
          </p:cNvSpPr>
          <p:nvPr>
            <p:ph type="sldNum" sz="quarter" idx="10"/>
          </p:nvPr>
        </p:nvSpPr>
        <p:spPr/>
        <p:txBody>
          <a:bodyPr/>
          <a:lstStyle/>
          <a:p>
            <a:fld id="{F7021451-1387-4CA6-816F-3879F97B5CBC}" type="slidenum">
              <a:rPr lang="fil-PH"/>
              <a:t>8</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9</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Tamang sagot: B. Ang mga sanggol na maagang na-discharge ay kailangan ng tiyak na appointment at pagsusuri sa loob ng 48 oras mula sa discharge.</a:t>
            </a:r>
          </a:p>
        </p:txBody>
      </p:sp>
      <p:sp>
        <p:nvSpPr>
          <p:cNvPr id="4" name="Slide Number Placeholder 3"/>
          <p:cNvSpPr>
            <a:spLocks noGrp="1"/>
          </p:cNvSpPr>
          <p:nvPr>
            <p:ph type="sldNum" sz="quarter" idx="10"/>
          </p:nvPr>
        </p:nvSpPr>
        <p:spPr/>
        <p:txBody>
          <a:bodyPr/>
          <a:lstStyle/>
          <a:p>
            <a:fld id="{F7021451-1387-4CA6-816F-3879F97B5CBC}" type="slidenum">
              <a:rPr lang="fil-PH"/>
              <a:t>10</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11</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12</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Tamang sagot: C. Refrigerator (4°C): hanggang 8 araw. Temperatura ng kuwarto na mas mababa sa 25°C: 4 na oras. Freezer ng 2-pinto na ref: 3 buwan.</a:t>
            </a:r>
          </a:p>
        </p:txBody>
      </p:sp>
      <p:sp>
        <p:nvSpPr>
          <p:cNvPr id="4" name="Slide Number Placeholder 3"/>
          <p:cNvSpPr>
            <a:spLocks noGrp="1"/>
          </p:cNvSpPr>
          <p:nvPr>
            <p:ph type="sldNum" sz="quarter" idx="10"/>
          </p:nvPr>
        </p:nvSpPr>
        <p:spPr/>
        <p:txBody>
          <a:bodyPr/>
          <a:lstStyle/>
          <a:p>
            <a:fld id="{F7021451-1387-4CA6-816F-3879F97B5CBC}" type="slidenum">
              <a:rPr lang="fil-PH"/>
              <a:t>13</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14</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15</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Tamang sagot: A. Tuwid ang ulo, likod at balakang ng sanggol at nakaharap sa suso: mukha sa mukha, dibdib sa dibdib, tiyan sa tiyan.</a:t>
            </a:r>
          </a:p>
        </p:txBody>
      </p:sp>
      <p:sp>
        <p:nvSpPr>
          <p:cNvPr id="4" name="Slide Number Placeholder 3"/>
          <p:cNvSpPr>
            <a:spLocks noGrp="1"/>
          </p:cNvSpPr>
          <p:nvPr>
            <p:ph type="sldNum" sz="quarter" idx="10"/>
          </p:nvPr>
        </p:nvSpPr>
        <p:spPr/>
        <p:txBody>
          <a:bodyPr/>
          <a:lstStyle/>
          <a:p>
            <a:fld id="{F7021451-1387-4CA6-816F-3879F97B5CBC}" type="slidenum">
              <a:rPr lang="fil-PH"/>
              <a:t>16</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17</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18</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Tamang sagot: B. Paniwalaan ang bata, pasalamatan, hayaang magkuwento nang walang leading questions, at humingi ng propesyonal na tulong.</a:t>
            </a:r>
          </a:p>
        </p:txBody>
      </p:sp>
      <p:sp>
        <p:nvSpPr>
          <p:cNvPr id="4" name="Slide Number Placeholder 3"/>
          <p:cNvSpPr>
            <a:spLocks noGrp="1"/>
          </p:cNvSpPr>
          <p:nvPr>
            <p:ph type="sldNum" sz="quarter" idx="10"/>
          </p:nvPr>
        </p:nvSpPr>
        <p:spPr/>
        <p:txBody>
          <a:bodyPr/>
          <a:lstStyle/>
          <a:p>
            <a:fld id="{F7021451-1387-4CA6-816F-3879F97B5CBC}" type="slidenum">
              <a:rPr lang="fil-PH"/>
              <a:t>19</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20</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21</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Pagtatapos. Pinagmulan: REdbook notes (seksyong Parenting).</a:t>
            </a:r>
          </a:p>
        </p:txBody>
      </p:sp>
      <p:sp>
        <p:nvSpPr>
          <p:cNvPr id="4" name="Slide Number Placeholder 3"/>
          <p:cNvSpPr>
            <a:spLocks noGrp="1"/>
          </p:cNvSpPr>
          <p:nvPr>
            <p:ph type="sldNum" sz="quarter" idx="10"/>
          </p:nvPr>
        </p:nvSpPr>
        <p:spPr/>
        <p:txBody>
          <a:bodyPr/>
          <a:lstStyle/>
          <a:p>
            <a:fld id="{F7021451-1387-4CA6-816F-3879F97B5CBC}" type="slidenum">
              <a:rPr lang="fil-PH"/>
              <a:t>22</a:t>
            </a:fld>
            <a:endParaRPr lang="fil-PH"/>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663440"/>
            <a:ext cx="1737360" cy="329184"/>
          </a:xfrm>
          <a:prstGeom prst="rect">
            <a:avLst/>
          </a:prstGeom>
          <a:noFill/>
          <a:ln/>
        </p:spPr>
        <p:txBody>
          <a:bodyPr wrap="square" lIns="0" tIns="0" rIns="0" bIns="0" rtlCol="0" anchor="ctr"/>
          <a:lstStyle/>
          <a:p>
            <a:pPr marL="0" indent="0">
              <a:buNone/>
            </a:pPr>
            <a:r>
              <a:rPr lang="en-US" sz="1000" dirty="0">
                <a:solidFill>
                  <a:schemeClr val="tx2"/>
                </a:solidFill>
              </a:rPr>
              <a:t>Parenting Guide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image" Target="../media/image6.png"/><Relationship Id="rId3" Type="http://schemas.openxmlformats.org/officeDocument/2006/relationships/slide" Target="slide9.xml"/><Relationship Id="rId7" Type="http://schemas.openxmlformats.org/officeDocument/2006/relationships/image" Target="../media/image3.png"/><Relationship Id="rId12" Type="http://schemas.openxmlformats.org/officeDocument/2006/relationships/slide" Target="slide8.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4.xml"/><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slide" Target="slide7.xml"/><Relationship Id="rId4" Type="http://schemas.openxmlformats.org/officeDocument/2006/relationships/slide" Target="slide3.xml"/><Relationship Id="rId9" Type="http://schemas.openxmlformats.org/officeDocument/2006/relationships/image" Target="../media/image4.png"/><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slide" Target="slide4.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9.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slide" Target="slide6.xml"/><Relationship Id="rId5" Type="http://schemas.openxmlformats.org/officeDocument/2006/relationships/slide" Target="slide4.xml"/><Relationship Id="rId4" Type="http://schemas.openxmlformats.org/officeDocument/2006/relationships/image" Target="../media/image10.png"/><Relationship Id="rId7" Type="http://schemas.openxmlformats.org/officeDocument/2006/relationships/slide" Target="slide23.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slide" Target="slide8.xml"/><Relationship Id="rId5" Type="http://schemas.openxmlformats.org/officeDocument/2006/relationships/slide" Target="slide6.xml"/><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slide" Target="slide9.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slide" Target="slide11.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0.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slide" Target="slide14.xml"/><Relationship Id="rId4" Type="http://schemas.openxmlformats.org/officeDocument/2006/relationships/slide" Target="slide1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3.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slide" Target="slide18.xml"/><Relationship Id="rId4" Type="http://schemas.openxmlformats.org/officeDocument/2006/relationships/slide" Target="slide1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9.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6.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slide" Target="slide20.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9.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video" Target="https://www.youtube.com/embed/GaX03lxP5CA" TargetMode="External"/><Relationship Id="rId6" Type="http://schemas.openxmlformats.org/officeDocument/2006/relationships/image" Target="../media/latch_video_poster.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background photo" descr="Silhouette of a mother and father lifting a baby against a sunset sky"/>
          <p:cNvPicPr>
            <a:picLocks noChangeAspect="1"/>
          </p:cNvPicPr>
          <p:nvPr/>
        </p:nvPicPr>
        <p:blipFill>
          <a:blip r:embed="rId3"/>
          <a:stretch>
            <a:fillRect/>
          </a:stretch>
        </p:blipFill>
        <p:spPr>
          <a:xfrm>
            <a:off x="0" y="0"/>
            <a:ext cx="9144000" cy="5143500"/>
          </a:xfrm>
          <a:prstGeom prst="rect">
            <a:avLst/>
          </a:prstGeom>
        </p:spPr>
      </p:pic>
      <p:sp>
        <p:nvSpPr>
          <p:cNvPr id="3" name="Eyebrow"/>
          <p:cNvSpPr txBox="1"/>
          <p:nvPr/>
        </p:nvSpPr>
        <p:spPr>
          <a:xfrm>
            <a:off x="548640" y="914400"/>
            <a:ext cx="4572000" cy="320040"/>
          </a:xfrm>
          <a:prstGeom prst="rect">
            <a:avLst/>
          </a:prstGeom>
          <a:noFill/>
          <a:ln/>
        </p:spPr>
        <p:txBody>
          <a:bodyPr wrap="square" lIns="0" tIns="0" rIns="0" bIns="0" rtlCol="0" anchor="ctr"/>
          <a:lstStyle/>
          <a:p>
            <a:pPr marL="0" indent="0">
              <a:buNone/>
            </a:pPr>
            <a:r>
              <a:rPr lang="fil-PH" sz="1400" b="1" kern="0" spc="400" dirty="0">
                <a:solidFill>
                  <a:schemeClr val="accent3"/>
                </a:solidFill>
              </a:rPr>
              <a:t>GABAY SA PAGPAPALAKI</a:t>
            </a:r>
            <a:endParaRPr lang="fil-PH" sz="1400" dirty="0"/>
          </a:p>
        </p:txBody>
      </p:sp>
      <p:sp>
        <p:nvSpPr>
          <p:cNvPr id="4" name="Deck title"/>
          <p:cNvSpPr txBox="1"/>
          <p:nvPr/>
        </p:nvSpPr>
        <p:spPr>
          <a:xfrm>
            <a:off x="548640" y="1325880"/>
            <a:ext cx="4846320" cy="1920240"/>
          </a:xfrm>
          <a:prstGeom prst="rect">
            <a:avLst/>
          </a:prstGeom>
          <a:noFill/>
          <a:ln/>
        </p:spPr>
        <p:txBody>
          <a:bodyPr wrap="square" lIns="0" tIns="0" rIns="0" bIns="0" rtlCol="0" anchor="t"/>
          <a:lstStyle/>
          <a:p>
            <a:pPr marL="0" indent="0">
              <a:buNone/>
            </a:pPr>
            <a:r>
              <a:rPr lang="fil-PH" sz="3800" b="1" dirty="0">
                <a:solidFill>
                  <a:schemeClr val="bg1"/>
                </a:solidFill>
                <a:latin typeface="+mj-lt" pitchFamily="34" charset="0"/>
                <a:ea typeface="+mj-lt" pitchFamily="34" charset="-122"/>
                <a:cs typeface="+mj-lt" pitchFamily="34" charset="-120"/>
              </a:rPr>
              <a:t>Pagpapalaki ng malusog na bata, mula pagsilang</a:t>
            </a:r>
            <a:endParaRPr lang="fil-PH" sz="3800" dirty="0"/>
          </a:p>
        </p:txBody>
      </p:sp>
      <p:sp>
        <p:nvSpPr>
          <p:cNvPr id="5" name="Subtitle"/>
          <p:cNvSpPr txBox="1"/>
          <p:nvPr/>
        </p:nvSpPr>
        <p:spPr>
          <a:xfrm>
            <a:off x="548640" y="3337560"/>
            <a:ext cx="4572000" cy="685800"/>
          </a:xfrm>
          <a:prstGeom prst="rect">
            <a:avLst/>
          </a:prstGeom>
          <a:noFill/>
          <a:ln/>
        </p:spPr>
        <p:txBody>
          <a:bodyPr wrap="square" lIns="0" tIns="0" rIns="0" bIns="0" rtlCol="0" anchor="t"/>
          <a:lstStyle/>
          <a:p>
            <a:pPr marL="0" indent="0">
              <a:buNone/>
            </a:pPr>
            <a:r>
              <a:rPr lang="fil-PH" sz="1600" dirty="0">
                <a:solidFill>
                  <a:schemeClr val="bg1"/>
                </a:solidFill>
              </a:rPr>
              <a:t>Gabay para sa mga magulang. Pindutin ang card para mag-explore, saka mag-quiz.</a:t>
            </a:r>
            <a:endParaRPr lang="fil-PH" sz="1600" dirty="0"/>
          </a:p>
        </p:txBody>
      </p:sp>
      <p:sp>
        <p:nvSpPr>
          <p:cNvPr id="6" name="Start button">
            <a:hlinkClick r:id="rId4" action="ppaction://hlinksldjump" tooltip="Open the topic menu"/>
          </p:cNvPr>
          <p:cNvSpPr/>
          <p:nvPr/>
        </p:nvSpPr>
        <p:spPr>
          <a:xfrm>
            <a:off x="548640" y="4206240"/>
            <a:ext cx="1828800" cy="420624"/>
          </a:xfrm>
          <a:prstGeom prst="roundRect">
            <a:avLst>
              <a:gd name="adj" fmla="val 50000"/>
            </a:avLst>
          </a:prstGeom>
          <a:solidFill>
            <a:schemeClr val="accent3"/>
          </a:solidFill>
          <a:ln/>
        </p:spPr>
        <p:txBody>
          <a:bodyPr wrap="square" lIns="0" tIns="0" rIns="0" bIns="0" rtlCol="0" anchor="ctr"/>
          <a:lstStyle/>
          <a:p>
            <a:pPr marL="0" indent="0" algn="ctr">
              <a:buNone/>
            </a:pPr>
            <a:r>
              <a:rPr lang="fil-PH" sz="1400" b="1" dirty="0">
                <a:solidFill>
                  <a:schemeClr val="tx1"/>
                </a:solidFill>
              </a:rPr>
              <a:t>Simulan</a:t>
            </a:r>
            <a:endParaRPr lang="fil-PH" sz="1400" dirty="0"/>
          </a:p>
        </p:txBody>
      </p:sp>
      <p:sp>
        <p:nvSpPr>
          <p:cNvPr id="7" name="Quiz button">
            <a:hlinkClick r:id="rId5" action="ppaction://hlinksldjump" tooltip="Jump to the quiz"/>
          </p:cNvPr>
          <p:cNvSpPr/>
          <p:nvPr/>
        </p:nvSpPr>
        <p:spPr>
          <a:xfrm>
            <a:off x="2560320" y="4206240"/>
            <a:ext cx="1645920" cy="420624"/>
          </a:xfrm>
          <a:prstGeom prst="roundRect">
            <a:avLst>
              <a:gd name="adj" fmla="val 50000"/>
            </a:avLst>
          </a:prstGeom>
          <a:solidFill>
            <a:schemeClr val="tx2"/>
          </a:solidFill>
          <a:ln/>
        </p:spPr>
        <p:txBody>
          <a:bodyPr wrap="square" lIns="0" tIns="0" rIns="0" bIns="0" rtlCol="0" anchor="ctr"/>
          <a:lstStyle/>
          <a:p>
            <a:pPr marL="0" indent="0" algn="ctr">
              <a:buNone/>
            </a:pPr>
            <a:r>
              <a:rPr lang="fil-PH" sz="1400" b="1" dirty="0">
                <a:solidFill>
                  <a:schemeClr val="bg1"/>
                </a:solidFill>
              </a:rPr>
              <a:t>Mag-quiz</a:t>
            </a:r>
            <a:endParaRPr lang="fil-PH"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Pumili ng paksang tuklasin</a:t>
            </a:r>
            <a:endParaRPr lang="fil-PH" sz="3000" dirty="0"/>
          </a:p>
        </p:txBody>
      </p:sp>
      <p:sp>
        <p:nvSpPr>
          <p:cNvPr id="3" name="Quiz shortcut">
            <a:hlinkClick r:id="rId3" action="ppaction://hlinksldjump" tooltip="Jump to the quiz"/>
          </p:cNvPr>
          <p:cNvSpPr/>
          <p:nvPr/>
        </p:nvSpPr>
        <p:spPr>
          <a:xfrm>
            <a:off x="6812280" y="365760"/>
            <a:ext cx="187452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Mag-quiz ›</a:t>
            </a:r>
            <a:endParaRPr lang="fil-PH" sz="1400" dirty="0"/>
          </a:p>
        </p:txBody>
      </p:sp>
      <p:sp>
        <p:nvSpPr>
          <p:cNvPr id="4" name="Menu card Newborn care">
            <a:hlinkClick r:id="rId4" action="ppaction://hlinksldjump" tooltip="Open Newborn care"/>
          </p:cNvPr>
          <p:cNvSpPr/>
          <p:nvPr/>
        </p:nvSpPr>
        <p:spPr>
          <a:xfrm>
            <a:off x="457200" y="118872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fil-PH" sz="1800" b="1" dirty="0">
                <a:solidFill>
                  <a:schemeClr val="tx1"/>
                </a:solidFill>
              </a:rPr>
              <a:t>Bagong silang</a:t>
            </a:r>
            <a:endParaRPr lang="fil-PH" sz="1800" dirty="0"/>
          </a:p>
          <a:p>
            <a:pPr marL="0" indent="0" algn="l">
              <a:buNone/>
            </a:pPr>
            <a:r>
              <a:rPr lang="fil-PH" sz="1400" dirty="0">
                <a:solidFill>
                  <a:schemeClr val="tx2"/>
                </a:solidFill>
              </a:rPr>
              <a:t>Ang unang oras</a:t>
            </a:r>
            <a:endParaRPr lang="fil-PH" sz="1800" dirty="0"/>
          </a:p>
        </p:txBody>
      </p:sp>
      <p:sp>
        <p:nvSpPr>
          <p:cNvPr id="5" name="Newborn care circle">
            <a:hlinkClick r:id="rId4" action="ppaction://hlinksldjump" tooltip="Open Newborn care"/>
          </p:cNvPr>
          <p:cNvSpPr/>
          <p:nvPr/>
        </p:nvSpPr>
        <p:spPr>
          <a:xfrm>
            <a:off x="640080" y="1371600"/>
            <a:ext cx="594360" cy="594360"/>
          </a:xfrm>
          <a:prstGeom prst="ellipse">
            <a:avLst/>
          </a:prstGeom>
          <a:solidFill>
            <a:schemeClr val="accent1"/>
          </a:solidFill>
          <a:ln w="12700">
            <a:solidFill>
              <a:schemeClr val="accent1"/>
            </a:solidFill>
            <a:prstDash val="solid"/>
          </a:ln>
        </p:spPr>
      </p:sp>
      <p:pic>
        <p:nvPicPr>
          <p:cNvPr id="6" name="Newborn care glyph" descr="Newborn care">
            <a:hlinkClick r:id="rId4" action="ppaction://hlinksldjump" tooltip="Open Newborn care"/>
          </p:cNvPr>
          <p:cNvPicPr>
            <a:picLocks noChangeAspect="1"/>
          </p:cNvPicPr>
          <p:nvPr/>
        </p:nvPicPr>
        <p:blipFill>
          <a:blip r:embed="rId5"/>
          <a:stretch>
            <a:fillRect/>
          </a:stretch>
        </p:blipFill>
        <p:spPr>
          <a:xfrm>
            <a:off x="794614" y="1526134"/>
            <a:ext cx="285293" cy="285293"/>
          </a:xfrm>
          <a:prstGeom prst="rect">
            <a:avLst/>
          </a:prstGeom>
        </p:spPr>
      </p:pic>
      <p:sp>
        <p:nvSpPr>
          <p:cNvPr id="7" name="Menu card Going home early">
            <a:hlinkClick r:id="rId6" action="ppaction://hlinksldjump" tooltip="Open Going home early"/>
          </p:cNvPr>
          <p:cNvSpPr/>
          <p:nvPr/>
        </p:nvSpPr>
        <p:spPr>
          <a:xfrm>
            <a:off x="3291840" y="118872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fil-PH" sz="1800" b="1" dirty="0">
                <a:solidFill>
                  <a:schemeClr val="tx1"/>
                </a:solidFill>
              </a:rPr>
              <a:t>Maagang pag-uwi</a:t>
            </a:r>
            <a:endParaRPr lang="fil-PH" sz="1800" dirty="0"/>
          </a:p>
          <a:p>
            <a:pPr marL="0" indent="0" algn="l">
              <a:buNone/>
            </a:pPr>
            <a:r>
              <a:rPr lang="fil-PH" sz="1400" dirty="0">
                <a:solidFill>
                  <a:schemeClr val="tx2"/>
                </a:solidFill>
              </a:rPr>
              <a:t>Discharge at follow-up</a:t>
            </a:r>
            <a:endParaRPr lang="fil-PH" sz="1800" dirty="0"/>
          </a:p>
        </p:txBody>
      </p:sp>
      <p:sp>
        <p:nvSpPr>
          <p:cNvPr id="8" name="Going home early circle">
            <a:hlinkClick r:id="rId6" action="ppaction://hlinksldjump" tooltip="Open Going home early"/>
          </p:cNvPr>
          <p:cNvSpPr/>
          <p:nvPr/>
        </p:nvSpPr>
        <p:spPr>
          <a:xfrm>
            <a:off x="3474720" y="1371600"/>
            <a:ext cx="594360" cy="594360"/>
          </a:xfrm>
          <a:prstGeom prst="ellipse">
            <a:avLst/>
          </a:prstGeom>
          <a:solidFill>
            <a:schemeClr val="accent4"/>
          </a:solidFill>
          <a:ln w="12700">
            <a:solidFill>
              <a:schemeClr val="accent4"/>
            </a:solidFill>
            <a:prstDash val="solid"/>
          </a:ln>
        </p:spPr>
      </p:sp>
      <p:pic>
        <p:nvPicPr>
          <p:cNvPr id="9" name="Going home early glyph" descr="Going home early">
            <a:hlinkClick r:id="rId6" action="ppaction://hlinksldjump" tooltip="Open Going home early"/>
          </p:cNvPr>
          <p:cNvPicPr>
            <a:picLocks noChangeAspect="1"/>
          </p:cNvPicPr>
          <p:nvPr/>
        </p:nvPicPr>
        <p:blipFill>
          <a:blip r:embed="rId7"/>
          <a:stretch>
            <a:fillRect/>
          </a:stretch>
        </p:blipFill>
        <p:spPr>
          <a:xfrm>
            <a:off x="3629254" y="1526134"/>
            <a:ext cx="285293" cy="285293"/>
          </a:xfrm>
          <a:prstGeom prst="rect">
            <a:avLst/>
          </a:prstGeom>
        </p:spPr>
      </p:pic>
      <p:sp>
        <p:nvSpPr>
          <p:cNvPr id="10" name="Menu card Breastfeeding">
            <a:hlinkClick r:id="rId8" action="ppaction://hlinksldjump" tooltip="Open Breastfeeding"/>
          </p:cNvPr>
          <p:cNvSpPr/>
          <p:nvPr/>
        </p:nvSpPr>
        <p:spPr>
          <a:xfrm>
            <a:off x="6126480" y="118872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fil-PH" sz="1800" b="1" dirty="0">
                <a:solidFill>
                  <a:schemeClr val="tx1"/>
                </a:solidFill>
              </a:rPr>
              <a:t>Pagpapasuso</a:t>
            </a:r>
            <a:endParaRPr lang="fil-PH" sz="1800" dirty="0"/>
          </a:p>
          <a:p>
            <a:pPr marL="0" indent="0" algn="l">
              <a:buNone/>
            </a:pPr>
            <a:r>
              <a:rPr lang="fil-PH" sz="1400" dirty="0">
                <a:solidFill>
                  <a:schemeClr val="tx2"/>
                </a:solidFill>
              </a:rPr>
              <a:t>Latch at imbakan ng gatas</a:t>
            </a:r>
            <a:endParaRPr lang="fil-PH" sz="1800" dirty="0"/>
          </a:p>
        </p:txBody>
      </p:sp>
      <p:sp>
        <p:nvSpPr>
          <p:cNvPr id="11" name="Breastfeeding circle">
            <a:hlinkClick r:id="rId8" action="ppaction://hlinksldjump" tooltip="Open Breastfeeding"/>
          </p:cNvPr>
          <p:cNvSpPr/>
          <p:nvPr/>
        </p:nvSpPr>
        <p:spPr>
          <a:xfrm>
            <a:off x="6309360" y="1371600"/>
            <a:ext cx="594360" cy="594360"/>
          </a:xfrm>
          <a:prstGeom prst="ellipse">
            <a:avLst/>
          </a:prstGeom>
          <a:solidFill>
            <a:schemeClr val="accent2"/>
          </a:solidFill>
          <a:ln w="12700">
            <a:solidFill>
              <a:schemeClr val="accent2"/>
            </a:solidFill>
            <a:prstDash val="solid"/>
          </a:ln>
        </p:spPr>
      </p:sp>
      <p:pic>
        <p:nvPicPr>
          <p:cNvPr id="12" name="Breastfeeding glyph" descr="Breastfeeding">
            <a:hlinkClick r:id="rId8" action="ppaction://hlinksldjump" tooltip="Open Breastfeeding"/>
          </p:cNvPr>
          <p:cNvPicPr>
            <a:picLocks noChangeAspect="1"/>
          </p:cNvPicPr>
          <p:nvPr/>
        </p:nvPicPr>
        <p:blipFill>
          <a:blip r:embed="rId9"/>
          <a:stretch>
            <a:fillRect/>
          </a:stretch>
        </p:blipFill>
        <p:spPr>
          <a:xfrm>
            <a:off x="6463894" y="1526134"/>
            <a:ext cx="285293" cy="285293"/>
          </a:xfrm>
          <a:prstGeom prst="rect">
            <a:avLst/>
          </a:prstGeom>
        </p:spPr>
      </p:pic>
      <p:sp>
        <p:nvSpPr>
          <p:cNvPr id="13" name="Menu card Reading aloud">
            <a:hlinkClick r:id="rId10" action="ppaction://hlinksldjump" tooltip="Open Reading aloud"/>
          </p:cNvPr>
          <p:cNvSpPr/>
          <p:nvPr/>
        </p:nvSpPr>
        <p:spPr>
          <a:xfrm>
            <a:off x="457200" y="292608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fil-PH" sz="1800" b="1" dirty="0">
                <a:solidFill>
                  <a:schemeClr val="tx1"/>
                </a:solidFill>
              </a:rPr>
              <a:t>Pagbabasa</a:t>
            </a:r>
            <a:endParaRPr lang="fil-PH" sz="1800" dirty="0"/>
          </a:p>
          <a:p>
            <a:pPr marL="0" indent="0" algn="l">
              <a:buNone/>
            </a:pPr>
            <a:r>
              <a:rPr lang="fil-PH" sz="1400" dirty="0">
                <a:solidFill>
                  <a:schemeClr val="tx2"/>
                </a:solidFill>
              </a:rPr>
              <a:t>Mga milestone mula 6 buwan</a:t>
            </a:r>
            <a:endParaRPr lang="fil-PH" sz="1800" dirty="0"/>
          </a:p>
        </p:txBody>
      </p:sp>
      <p:sp>
        <p:nvSpPr>
          <p:cNvPr id="14" name="Reading aloud circle">
            <a:hlinkClick r:id="rId10" action="ppaction://hlinksldjump" tooltip="Open Reading aloud"/>
          </p:cNvPr>
          <p:cNvSpPr/>
          <p:nvPr/>
        </p:nvSpPr>
        <p:spPr>
          <a:xfrm>
            <a:off x="640080" y="3108960"/>
            <a:ext cx="594360" cy="594360"/>
          </a:xfrm>
          <a:prstGeom prst="ellipse">
            <a:avLst/>
          </a:prstGeom>
          <a:solidFill>
            <a:schemeClr val="accent5"/>
          </a:solidFill>
          <a:ln w="12700">
            <a:solidFill>
              <a:schemeClr val="accent5"/>
            </a:solidFill>
            <a:prstDash val="solid"/>
          </a:ln>
        </p:spPr>
      </p:sp>
      <p:pic>
        <p:nvPicPr>
          <p:cNvPr id="15" name="Reading aloud glyph" descr="Reading aloud">
            <a:hlinkClick r:id="rId10" action="ppaction://hlinksldjump" tooltip="Open Reading aloud"/>
          </p:cNvPr>
          <p:cNvPicPr>
            <a:picLocks noChangeAspect="1"/>
          </p:cNvPicPr>
          <p:nvPr/>
        </p:nvPicPr>
        <p:blipFill>
          <a:blip r:embed="rId11"/>
          <a:stretch>
            <a:fillRect/>
          </a:stretch>
        </p:blipFill>
        <p:spPr>
          <a:xfrm>
            <a:off x="794614" y="3263494"/>
            <a:ext cx="285293" cy="285293"/>
          </a:xfrm>
          <a:prstGeom prst="rect">
            <a:avLst/>
          </a:prstGeom>
        </p:spPr>
      </p:pic>
      <p:sp>
        <p:nvSpPr>
          <p:cNvPr id="16" name="Menu card Child protection">
            <a:hlinkClick r:id="rId12" action="ppaction://hlinksldjump" tooltip="Open Child protection"/>
          </p:cNvPr>
          <p:cNvSpPr/>
          <p:nvPr/>
        </p:nvSpPr>
        <p:spPr>
          <a:xfrm>
            <a:off x="3291840" y="292608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fil-PH" sz="1800" b="1" dirty="0">
                <a:solidFill>
                  <a:schemeClr val="tx1"/>
                </a:solidFill>
              </a:rPr>
              <a:t>Proteksyon sa bata</a:t>
            </a:r>
            <a:endParaRPr lang="fil-PH" sz="1800" dirty="0"/>
          </a:p>
          <a:p>
            <a:pPr marL="0" indent="0" algn="l">
              <a:buNone/>
            </a:pPr>
            <a:r>
              <a:rPr lang="fil-PH" sz="1400" dirty="0">
                <a:solidFill>
                  <a:schemeClr val="tx2"/>
                </a:solidFill>
              </a:rPr>
              <a:t>Senyales at tamang tugon</a:t>
            </a:r>
            <a:endParaRPr lang="fil-PH" sz="1800" dirty="0"/>
          </a:p>
        </p:txBody>
      </p:sp>
      <p:sp>
        <p:nvSpPr>
          <p:cNvPr id="17" name="Child protection circle">
            <a:hlinkClick r:id="rId12" action="ppaction://hlinksldjump" tooltip="Open Child protection"/>
          </p:cNvPr>
          <p:cNvSpPr/>
          <p:nvPr/>
        </p:nvSpPr>
        <p:spPr>
          <a:xfrm>
            <a:off x="3474720" y="3108960"/>
            <a:ext cx="594360" cy="594360"/>
          </a:xfrm>
          <a:prstGeom prst="ellipse">
            <a:avLst/>
          </a:prstGeom>
          <a:solidFill>
            <a:schemeClr val="accent6"/>
          </a:solidFill>
          <a:ln w="12700">
            <a:solidFill>
              <a:schemeClr val="accent6"/>
            </a:solidFill>
            <a:prstDash val="solid"/>
          </a:ln>
        </p:spPr>
      </p:sp>
      <p:pic>
        <p:nvPicPr>
          <p:cNvPr id="18" name="Child protection glyph" descr="Child protection">
            <a:hlinkClick r:id="rId12" action="ppaction://hlinksldjump" tooltip="Open Child protection"/>
          </p:cNvPr>
          <p:cNvPicPr>
            <a:picLocks noChangeAspect="1"/>
          </p:cNvPicPr>
          <p:nvPr/>
        </p:nvPicPr>
        <p:blipFill>
          <a:blip r:embed="rId13"/>
          <a:stretch>
            <a:fillRect/>
          </a:stretch>
        </p:blipFill>
        <p:spPr>
          <a:xfrm>
            <a:off x="3629254" y="3263494"/>
            <a:ext cx="285293" cy="285293"/>
          </a:xfrm>
          <a:prstGeom prst="rect">
            <a:avLst/>
          </a:prstGeom>
        </p:spPr>
      </p:pic>
      <p:pic>
        <p:nvPicPr>
          <p:cNvPr id="21" name="Teen guidance glyph" descr="Teen guidance">
            <a:hlinkClick r:id="rId3" action="ppaction://hlinksldjump" tooltip="Open Teen guidance"/>
          </p:cNvPr>
          <p:cNvPicPr>
            <a:picLocks noChangeAspect="1"/>
          </p:cNvPicPr>
          <p:nvPr/>
        </p:nvPicPr>
        <p:blipFill>
          <a:blip r:embed="rId14"/>
          <a:stretch>
            <a:fillRect/>
          </a:stretch>
        </p:blipFill>
        <p:spPr>
          <a:xfrm>
            <a:off x="6463894" y="3263494"/>
            <a:ext cx="285293" cy="285293"/>
          </a:xfrm>
          <a:prstGeom prst="rect">
            <a:avLst/>
          </a:prstGeom>
        </p:spPr>
      </p:pic>
      <p:sp>
        <p:nvSpPr>
          <p:cNvPr id="22" name="Tip"/>
          <p:cNvSpPr txBox="1"/>
          <p:nvPr/>
        </p:nvSpPr>
        <p:spPr>
          <a:xfrm>
            <a:off x="2286000" y="4663440"/>
            <a:ext cx="4023360" cy="329184"/>
          </a:xfrm>
          <a:prstGeom prst="rect">
            <a:avLst/>
          </a:prstGeom>
          <a:noFill/>
          <a:ln/>
        </p:spPr>
        <p:txBody>
          <a:bodyPr wrap="square" lIns="0" tIns="0" rIns="0" bIns="0" rtlCol="0" anchor="ctr"/>
          <a:lstStyle/>
          <a:p>
            <a:pPr marL="0" indent="0">
              <a:buNone/>
            </a:pPr>
            <a:r>
              <a:rPr lang="fil-PH" sz="1000" dirty="0">
                <a:solidFill>
                  <a:schemeClr val="tx2"/>
                </a:solidFill>
              </a:rPr>
              <a:t>Tip: gamitin ang Slide Show mode para ma-click ang bawat card.</a:t>
            </a:r>
            <a:endParaRPr lang="fil-PH"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Mahalaga ang unang oras</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Step 1"/>
          <p:cNvSpPr/>
          <p:nvPr/>
        </p:nvSpPr>
        <p:spPr>
          <a:xfrm>
            <a:off x="457200" y="1143000"/>
            <a:ext cx="2468880" cy="1188720"/>
          </a:xfrm>
          <a:prstGeom prst="roundRect">
            <a:avLst>
              <a:gd name="adj" fmla="val 9231"/>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5" name="Step 1 badge"/>
          <p:cNvSpPr/>
          <p:nvPr/>
        </p:nvSpPr>
        <p:spPr>
          <a:xfrm>
            <a:off x="621792" y="1280160"/>
            <a:ext cx="420624" cy="420624"/>
          </a:xfrm>
          <a:prstGeom prst="ellipse">
            <a:avLst/>
          </a:prstGeom>
          <a:solidFill>
            <a:schemeClr val="accent1"/>
          </a:solidFill>
          <a:ln w="12700">
            <a:solidFill>
              <a:schemeClr val="accent1"/>
            </a:solidFill>
            <a:prstDash val="solid"/>
          </a:ln>
        </p:spPr>
      </p:sp>
      <p:sp>
        <p:nvSpPr>
          <p:cNvPr id="6" name="Step 1 number"/>
          <p:cNvSpPr txBox="1"/>
          <p:nvPr/>
        </p:nvSpPr>
        <p:spPr>
          <a:xfrm>
            <a:off x="621792" y="1280160"/>
            <a:ext cx="420624" cy="420624"/>
          </a:xfrm>
          <a:prstGeom prst="rect">
            <a:avLst/>
          </a:prstGeom>
          <a:noFill/>
          <a:ln/>
        </p:spPr>
        <p:txBody>
          <a:bodyPr wrap="square" lIns="0" tIns="0" rIns="0" bIns="0" rtlCol="0" anchor="ctr"/>
          <a:lstStyle/>
          <a:p>
            <a:pPr marL="0" indent="0" algn="ctr">
              <a:buNone/>
            </a:pPr>
            <a:r>
              <a:rPr lang="fil-PH" sz="1600" b="1" dirty="0">
                <a:solidFill>
                  <a:schemeClr val="bg1"/>
                </a:solidFill>
              </a:rPr>
              <a:t>1</a:t>
            </a:r>
            <a:endParaRPr lang="fil-PH" sz="1600" dirty="0"/>
          </a:p>
        </p:txBody>
      </p:sp>
      <p:sp>
        <p:nvSpPr>
          <p:cNvPr id="7" name="Step 1 heading"/>
          <p:cNvSpPr txBox="1"/>
          <p:nvPr/>
        </p:nvSpPr>
        <p:spPr>
          <a:xfrm>
            <a:off x="1152144" y="1280160"/>
            <a:ext cx="1645920" cy="420624"/>
          </a:xfrm>
          <a:prstGeom prst="rect">
            <a:avLst/>
          </a:prstGeom>
          <a:noFill/>
          <a:ln/>
        </p:spPr>
        <p:txBody>
          <a:bodyPr wrap="square" lIns="0" tIns="0" rIns="0" bIns="0" rtlCol="0" anchor="ctr"/>
          <a:lstStyle/>
          <a:p>
            <a:pPr marL="0" indent="0">
              <a:buNone/>
            </a:pPr>
            <a:r>
              <a:rPr lang="fil-PH" sz="1600" b="1" dirty="0">
                <a:solidFill>
                  <a:schemeClr val="tx1"/>
                </a:solidFill>
              </a:rPr>
              <a:t>Patuyuin</a:t>
            </a:r>
            <a:endParaRPr lang="fil-PH" sz="1600" dirty="0"/>
          </a:p>
        </p:txBody>
      </p:sp>
      <p:sp>
        <p:nvSpPr>
          <p:cNvPr id="8" name="Step 1 text"/>
          <p:cNvSpPr txBox="1"/>
          <p:nvPr/>
        </p:nvSpPr>
        <p:spPr>
          <a:xfrm>
            <a:off x="621792" y="1764792"/>
            <a:ext cx="2139696" cy="502920"/>
          </a:xfrm>
          <a:prstGeom prst="rect">
            <a:avLst/>
          </a:prstGeom>
          <a:noFill/>
          <a:ln/>
        </p:spPr>
        <p:txBody>
          <a:bodyPr wrap="square" lIns="0" tIns="0" rIns="0" bIns="0" rtlCol="0" anchor="t"/>
          <a:lstStyle/>
          <a:p>
            <a:pPr marL="0" indent="0">
              <a:buNone/>
            </a:pPr>
            <a:r>
              <a:rPr lang="fil-PH" sz="1400" dirty="0">
                <a:solidFill>
                  <a:schemeClr val="tx2"/>
                </a:solidFill>
              </a:rPr>
              <a:t>Agad at masusing pagpupunas sa bagong silang</a:t>
            </a:r>
            <a:endParaRPr lang="fil-PH" sz="1400" dirty="0"/>
          </a:p>
        </p:txBody>
      </p:sp>
      <p:sp>
        <p:nvSpPr>
          <p:cNvPr id="9" name="Step 2"/>
          <p:cNvSpPr/>
          <p:nvPr/>
        </p:nvSpPr>
        <p:spPr>
          <a:xfrm>
            <a:off x="3154680" y="1143000"/>
            <a:ext cx="2468880" cy="1188720"/>
          </a:xfrm>
          <a:prstGeom prst="roundRect">
            <a:avLst>
              <a:gd name="adj" fmla="val 9231"/>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0" name="Step 2 badge"/>
          <p:cNvSpPr/>
          <p:nvPr/>
        </p:nvSpPr>
        <p:spPr>
          <a:xfrm>
            <a:off x="3319272" y="1280160"/>
            <a:ext cx="420624" cy="420624"/>
          </a:xfrm>
          <a:prstGeom prst="ellipse">
            <a:avLst/>
          </a:prstGeom>
          <a:solidFill>
            <a:schemeClr val="accent2"/>
          </a:solidFill>
          <a:ln w="12700">
            <a:solidFill>
              <a:schemeClr val="accent2"/>
            </a:solidFill>
            <a:prstDash val="solid"/>
          </a:ln>
        </p:spPr>
      </p:sp>
      <p:sp>
        <p:nvSpPr>
          <p:cNvPr id="11" name="Step 2 number"/>
          <p:cNvSpPr txBox="1"/>
          <p:nvPr/>
        </p:nvSpPr>
        <p:spPr>
          <a:xfrm>
            <a:off x="3319272" y="1280160"/>
            <a:ext cx="420624" cy="420624"/>
          </a:xfrm>
          <a:prstGeom prst="rect">
            <a:avLst/>
          </a:prstGeom>
          <a:noFill/>
          <a:ln/>
        </p:spPr>
        <p:txBody>
          <a:bodyPr wrap="square" lIns="0" tIns="0" rIns="0" bIns="0" rtlCol="0" anchor="ctr"/>
          <a:lstStyle/>
          <a:p>
            <a:pPr marL="0" indent="0" algn="ctr">
              <a:buNone/>
            </a:pPr>
            <a:r>
              <a:rPr lang="fil-PH" sz="1600" b="1" dirty="0">
                <a:solidFill>
                  <a:schemeClr val="bg1"/>
                </a:solidFill>
              </a:rPr>
              <a:t>2</a:t>
            </a:r>
            <a:endParaRPr lang="fil-PH" sz="1600" dirty="0"/>
          </a:p>
        </p:txBody>
      </p:sp>
      <p:sp>
        <p:nvSpPr>
          <p:cNvPr id="12" name="Step 2 heading"/>
          <p:cNvSpPr txBox="1"/>
          <p:nvPr/>
        </p:nvSpPr>
        <p:spPr>
          <a:xfrm>
            <a:off x="3849624" y="1280160"/>
            <a:ext cx="1645920" cy="420624"/>
          </a:xfrm>
          <a:prstGeom prst="rect">
            <a:avLst/>
          </a:prstGeom>
          <a:noFill/>
          <a:ln/>
        </p:spPr>
        <p:txBody>
          <a:bodyPr wrap="square" lIns="0" tIns="0" rIns="0" bIns="0" rtlCol="0" anchor="ctr"/>
          <a:lstStyle/>
          <a:p>
            <a:pPr marL="0" indent="0">
              <a:buNone/>
            </a:pPr>
            <a:r>
              <a:rPr lang="fil-PH" sz="1600" b="1" dirty="0">
                <a:solidFill>
                  <a:schemeClr val="tx1"/>
                </a:solidFill>
              </a:rPr>
              <a:t>Skin-to-skin</a:t>
            </a:r>
            <a:endParaRPr lang="fil-PH" sz="1600" dirty="0"/>
          </a:p>
        </p:txBody>
      </p:sp>
      <p:sp>
        <p:nvSpPr>
          <p:cNvPr id="13" name="Step 2 text"/>
          <p:cNvSpPr txBox="1"/>
          <p:nvPr/>
        </p:nvSpPr>
        <p:spPr>
          <a:xfrm>
            <a:off x="3319272" y="1764792"/>
            <a:ext cx="2139696" cy="502920"/>
          </a:xfrm>
          <a:prstGeom prst="rect">
            <a:avLst/>
          </a:prstGeom>
          <a:noFill/>
          <a:ln/>
        </p:spPr>
        <p:txBody>
          <a:bodyPr wrap="square" lIns="0" tIns="0" rIns="0" bIns="0" rtlCol="0" anchor="t"/>
          <a:lstStyle/>
          <a:p>
            <a:pPr marL="0" indent="0">
              <a:buNone/>
            </a:pPr>
            <a:r>
              <a:rPr lang="fil-PH" sz="1400" dirty="0">
                <a:solidFill>
                  <a:schemeClr val="tx2"/>
                </a:solidFill>
              </a:rPr>
              <a:t>Maagang skin-to-skin contact ng ina at sanggol</a:t>
            </a:r>
            <a:endParaRPr lang="fil-PH" sz="1400" dirty="0"/>
          </a:p>
        </p:txBody>
      </p:sp>
      <p:sp>
        <p:nvSpPr>
          <p:cNvPr id="14" name="Step 3"/>
          <p:cNvSpPr/>
          <p:nvPr/>
        </p:nvSpPr>
        <p:spPr>
          <a:xfrm>
            <a:off x="457200" y="2468880"/>
            <a:ext cx="2468880" cy="1188720"/>
          </a:xfrm>
          <a:prstGeom prst="roundRect">
            <a:avLst>
              <a:gd name="adj" fmla="val 9231"/>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5" name="Step 3 badge"/>
          <p:cNvSpPr/>
          <p:nvPr/>
        </p:nvSpPr>
        <p:spPr>
          <a:xfrm>
            <a:off x="621792" y="2606040"/>
            <a:ext cx="420624" cy="420624"/>
          </a:xfrm>
          <a:prstGeom prst="ellipse">
            <a:avLst/>
          </a:prstGeom>
          <a:solidFill>
            <a:schemeClr val="accent4"/>
          </a:solidFill>
          <a:ln w="12700">
            <a:solidFill>
              <a:schemeClr val="accent4"/>
            </a:solidFill>
            <a:prstDash val="solid"/>
          </a:ln>
        </p:spPr>
      </p:sp>
      <p:sp>
        <p:nvSpPr>
          <p:cNvPr id="16" name="Step 3 number"/>
          <p:cNvSpPr txBox="1"/>
          <p:nvPr/>
        </p:nvSpPr>
        <p:spPr>
          <a:xfrm>
            <a:off x="621792" y="2606040"/>
            <a:ext cx="420624" cy="420624"/>
          </a:xfrm>
          <a:prstGeom prst="rect">
            <a:avLst/>
          </a:prstGeom>
          <a:noFill/>
          <a:ln/>
        </p:spPr>
        <p:txBody>
          <a:bodyPr wrap="square" lIns="0" tIns="0" rIns="0" bIns="0" rtlCol="0" anchor="ctr"/>
          <a:lstStyle/>
          <a:p>
            <a:pPr marL="0" indent="0" algn="ctr">
              <a:buNone/>
            </a:pPr>
            <a:r>
              <a:rPr lang="fil-PH" sz="1600" b="1" dirty="0">
                <a:solidFill>
                  <a:schemeClr val="bg1"/>
                </a:solidFill>
              </a:rPr>
              <a:t>3</a:t>
            </a:r>
            <a:endParaRPr lang="fil-PH" sz="1600" dirty="0"/>
          </a:p>
        </p:txBody>
      </p:sp>
      <p:sp>
        <p:nvSpPr>
          <p:cNvPr id="17" name="Step 3 heading"/>
          <p:cNvSpPr txBox="1"/>
          <p:nvPr/>
        </p:nvSpPr>
        <p:spPr>
          <a:xfrm>
            <a:off x="1152144" y="2606040"/>
            <a:ext cx="1645920" cy="420624"/>
          </a:xfrm>
          <a:prstGeom prst="rect">
            <a:avLst/>
          </a:prstGeom>
          <a:noFill/>
          <a:ln/>
        </p:spPr>
        <p:txBody>
          <a:bodyPr wrap="square" lIns="0" tIns="0" rIns="0" bIns="0" rtlCol="0" anchor="ctr"/>
          <a:lstStyle/>
          <a:p>
            <a:pPr marL="0" indent="0">
              <a:buNone/>
            </a:pPr>
            <a:r>
              <a:rPr lang="fil-PH" sz="1600" b="1" dirty="0">
                <a:solidFill>
                  <a:schemeClr val="tx1"/>
                </a:solidFill>
              </a:rPr>
              <a:t>Pusod</a:t>
            </a:r>
            <a:endParaRPr lang="fil-PH" sz="1600" dirty="0"/>
          </a:p>
        </p:txBody>
      </p:sp>
      <p:sp>
        <p:nvSpPr>
          <p:cNvPr id="18" name="Step 3 text"/>
          <p:cNvSpPr txBox="1"/>
          <p:nvPr/>
        </p:nvSpPr>
        <p:spPr>
          <a:xfrm>
            <a:off x="621792" y="3090672"/>
            <a:ext cx="2139696" cy="502920"/>
          </a:xfrm>
          <a:prstGeom prst="rect">
            <a:avLst/>
          </a:prstGeom>
          <a:noFill/>
          <a:ln/>
        </p:spPr>
        <p:txBody>
          <a:bodyPr wrap="square" lIns="0" tIns="0" rIns="0" bIns="0" rtlCol="0" anchor="t"/>
          <a:lstStyle/>
          <a:p>
            <a:pPr marL="0" indent="0">
              <a:buNone/>
            </a:pPr>
            <a:r>
              <a:rPr lang="fil-PH" sz="1400" dirty="0">
                <a:solidFill>
                  <a:schemeClr val="tx2"/>
                </a:solidFill>
              </a:rPr>
              <a:t>Tamang oras ng pag-clamp at pagputol ng pusod</a:t>
            </a:r>
            <a:endParaRPr lang="fil-PH" sz="1400" dirty="0"/>
          </a:p>
        </p:txBody>
      </p:sp>
      <p:sp>
        <p:nvSpPr>
          <p:cNvPr id="19" name="Step 4"/>
          <p:cNvSpPr/>
          <p:nvPr/>
        </p:nvSpPr>
        <p:spPr>
          <a:xfrm>
            <a:off x="3154680" y="2468880"/>
            <a:ext cx="2468880" cy="1188720"/>
          </a:xfrm>
          <a:prstGeom prst="roundRect">
            <a:avLst>
              <a:gd name="adj" fmla="val 9231"/>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0" name="Step 4 badge"/>
          <p:cNvSpPr/>
          <p:nvPr/>
        </p:nvSpPr>
        <p:spPr>
          <a:xfrm>
            <a:off x="3319272" y="2606040"/>
            <a:ext cx="420624" cy="420624"/>
          </a:xfrm>
          <a:prstGeom prst="ellipse">
            <a:avLst/>
          </a:prstGeom>
          <a:solidFill>
            <a:schemeClr val="accent5"/>
          </a:solidFill>
          <a:ln w="12700">
            <a:solidFill>
              <a:schemeClr val="accent5"/>
            </a:solidFill>
            <a:prstDash val="solid"/>
          </a:ln>
        </p:spPr>
      </p:sp>
      <p:sp>
        <p:nvSpPr>
          <p:cNvPr id="21" name="Step 4 number"/>
          <p:cNvSpPr txBox="1"/>
          <p:nvPr/>
        </p:nvSpPr>
        <p:spPr>
          <a:xfrm>
            <a:off x="3319272" y="2606040"/>
            <a:ext cx="420624" cy="420624"/>
          </a:xfrm>
          <a:prstGeom prst="rect">
            <a:avLst/>
          </a:prstGeom>
          <a:noFill/>
          <a:ln/>
        </p:spPr>
        <p:txBody>
          <a:bodyPr wrap="square" lIns="0" tIns="0" rIns="0" bIns="0" rtlCol="0" anchor="ctr"/>
          <a:lstStyle/>
          <a:p>
            <a:pPr marL="0" indent="0" algn="ctr">
              <a:buNone/>
            </a:pPr>
            <a:r>
              <a:rPr lang="fil-PH" sz="1600" b="1" dirty="0">
                <a:solidFill>
                  <a:schemeClr val="bg1"/>
                </a:solidFill>
              </a:rPr>
              <a:t>4</a:t>
            </a:r>
            <a:endParaRPr lang="fil-PH" sz="1600" dirty="0"/>
          </a:p>
        </p:txBody>
      </p:sp>
      <p:sp>
        <p:nvSpPr>
          <p:cNvPr id="22" name="Step 4 heading"/>
          <p:cNvSpPr txBox="1"/>
          <p:nvPr/>
        </p:nvSpPr>
        <p:spPr>
          <a:xfrm>
            <a:off x="3849624" y="2606040"/>
            <a:ext cx="1645920" cy="420624"/>
          </a:xfrm>
          <a:prstGeom prst="rect">
            <a:avLst/>
          </a:prstGeom>
          <a:noFill/>
          <a:ln/>
        </p:spPr>
        <p:txBody>
          <a:bodyPr wrap="square" lIns="0" tIns="0" rIns="0" bIns="0" rtlCol="0" anchor="ctr"/>
          <a:lstStyle/>
          <a:p>
            <a:pPr marL="0" indent="0">
              <a:buNone/>
            </a:pPr>
            <a:r>
              <a:rPr lang="fil-PH" sz="1600" b="1" dirty="0">
                <a:solidFill>
                  <a:schemeClr val="tx1"/>
                </a:solidFill>
              </a:rPr>
              <a:t>Magkasama</a:t>
            </a:r>
            <a:endParaRPr lang="fil-PH" sz="1600" dirty="0"/>
          </a:p>
        </p:txBody>
      </p:sp>
      <p:sp>
        <p:nvSpPr>
          <p:cNvPr id="23" name="Step 4 text"/>
          <p:cNvSpPr txBox="1"/>
          <p:nvPr/>
        </p:nvSpPr>
        <p:spPr>
          <a:xfrm>
            <a:off x="3319272" y="3090672"/>
            <a:ext cx="2139696" cy="502920"/>
          </a:xfrm>
          <a:prstGeom prst="rect">
            <a:avLst/>
          </a:prstGeom>
          <a:noFill/>
          <a:ln/>
        </p:spPr>
        <p:txBody>
          <a:bodyPr wrap="square" lIns="0" tIns="0" rIns="0" bIns="0" rtlCol="0" anchor="t"/>
          <a:lstStyle/>
          <a:p>
            <a:pPr marL="0" indent="0">
              <a:buNone/>
            </a:pPr>
            <a:r>
              <a:rPr lang="fil-PH" sz="1400" dirty="0">
                <a:solidFill>
                  <a:schemeClr val="tx2"/>
                </a:solidFill>
              </a:rPr>
              <a:t>Magkasama ang ina at sanggol para sa pagpapasuso</a:t>
            </a:r>
            <a:endParaRPr lang="fil-PH" sz="1400" dirty="0"/>
          </a:p>
        </p:txBody>
      </p:sp>
      <p:sp>
        <p:nvSpPr>
          <p:cNvPr id="24" name="Prenatal banner"/>
          <p:cNvSpPr/>
          <p:nvPr/>
        </p:nvSpPr>
        <p:spPr>
          <a:xfrm>
            <a:off x="457200" y="3840480"/>
            <a:ext cx="5166360" cy="731520"/>
          </a:xfrm>
          <a:prstGeom prst="roundRect">
            <a:avLst>
              <a:gd name="adj" fmla="val 12500"/>
            </a:avLst>
          </a:prstGeom>
          <a:solidFill>
            <a:schemeClr val="tx1"/>
          </a:solidFill>
          <a:ln w="12700">
            <a:solidFill>
              <a:schemeClr val="tx1"/>
            </a:solidFill>
            <a:prstDash val="solid"/>
          </a:ln>
        </p:spPr>
      </p:sp>
      <p:sp>
        <p:nvSpPr>
          <p:cNvPr id="25" name="Prenatal text"/>
          <p:cNvSpPr txBox="1"/>
          <p:nvPr/>
        </p:nvSpPr>
        <p:spPr>
          <a:xfrm>
            <a:off x="621792" y="3840480"/>
            <a:ext cx="4846320" cy="731520"/>
          </a:xfrm>
          <a:prstGeom prst="rect">
            <a:avLst/>
          </a:prstGeom>
          <a:noFill/>
          <a:ln/>
        </p:spPr>
        <p:txBody>
          <a:bodyPr wrap="square" lIns="0" tIns="0" rIns="0" bIns="0" rtlCol="0" anchor="ctr"/>
          <a:lstStyle/>
          <a:p>
            <a:pPr marL="0" indent="0">
              <a:buNone/>
            </a:pPr>
            <a:r>
              <a:rPr lang="fil-PH" sz="1400" b="1" dirty="0">
                <a:solidFill>
                  <a:schemeClr val="accent3"/>
                </a:solidFill>
              </a:rPr>
              <a:t>Saklaw din bago manganak: </a:t>
            </a:r>
            <a:r>
              <a:rPr lang="fil-PH" sz="1400" dirty="0">
                <a:solidFill>
                  <a:schemeClr val="bg1"/>
                </a:solidFill>
              </a:rPr>
              <a:t>rooming-in, Kangaroo Mother Care, newborn at hearing screening, at bakuna sa Hepatitis B at BCG.</a:t>
            </a:r>
            <a:endParaRPr lang="fil-PH" sz="1400" dirty="0"/>
          </a:p>
        </p:txBody>
      </p:sp>
      <p:pic>
        <p:nvPicPr>
          <p:cNvPr id="26" name="Family photo" descr="Parents lifting a baby into the sky at sunset"/>
          <p:cNvPicPr>
            <a:picLocks noChangeAspect="1"/>
          </p:cNvPicPr>
          <p:nvPr/>
        </p:nvPicPr>
        <p:blipFill>
          <a:blip r:embed="rId4"/>
          <a:stretch>
            <a:fillRect/>
          </a:stretch>
        </p:blipFill>
        <p:spPr>
          <a:xfrm>
            <a:off x="5852160" y="1143000"/>
            <a:ext cx="2834640" cy="3429000"/>
          </a:xfrm>
          <a:prstGeom prst="rect">
            <a:avLst/>
          </a:prstGeom>
        </p:spPr>
      </p:pic>
      <p:sp>
        <p:nvSpPr>
          <p:cNvPr id="27" name="Back button">
            <a:hlinkClick r:id="rId3"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28" name="Next button">
            <a:hlinkClick r:id="rId5"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Maagang pag-uwi</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Follow-up card"/>
          <p:cNvSpPr/>
          <p:nvPr/>
        </p:nvSpPr>
        <p:spPr>
          <a:xfrm>
            <a:off x="457200" y="1143000"/>
            <a:ext cx="2560320" cy="3383280"/>
          </a:xfrm>
          <a:prstGeom prst="roundRect">
            <a:avLst>
              <a:gd name="adj" fmla="val 4286"/>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5" name="Clock circle"/>
          <p:cNvSpPr/>
          <p:nvPr/>
        </p:nvSpPr>
        <p:spPr>
          <a:xfrm>
            <a:off x="640080" y="1325880"/>
            <a:ext cx="548640" cy="548640"/>
          </a:xfrm>
          <a:prstGeom prst="ellipse">
            <a:avLst/>
          </a:prstGeom>
          <a:solidFill>
            <a:schemeClr val="accent1"/>
          </a:solidFill>
          <a:ln w="12700">
            <a:solidFill>
              <a:schemeClr val="accent1"/>
            </a:solidFill>
            <a:prstDash val="solid"/>
          </a:ln>
        </p:spPr>
      </p:sp>
      <p:pic>
        <p:nvPicPr>
          <p:cNvPr id="6" name="Clock glyph" descr="Clock"/>
          <p:cNvPicPr>
            <a:picLocks noChangeAspect="1"/>
          </p:cNvPicPr>
          <p:nvPr/>
        </p:nvPicPr>
        <p:blipFill>
          <a:blip r:embed="rId4"/>
          <a:stretch>
            <a:fillRect/>
          </a:stretch>
        </p:blipFill>
        <p:spPr>
          <a:xfrm>
            <a:off x="782726" y="1468526"/>
            <a:ext cx="263347" cy="263347"/>
          </a:xfrm>
          <a:prstGeom prst="rect">
            <a:avLst/>
          </a:prstGeom>
        </p:spPr>
      </p:pic>
      <p:sp>
        <p:nvSpPr>
          <p:cNvPr id="7" name="Follow-up stat"/>
          <p:cNvSpPr txBox="1"/>
          <p:nvPr/>
        </p:nvSpPr>
        <p:spPr>
          <a:xfrm>
            <a:off x="640080" y="2011680"/>
            <a:ext cx="2194560" cy="594360"/>
          </a:xfrm>
          <a:prstGeom prst="rect">
            <a:avLst/>
          </a:prstGeom>
          <a:noFill/>
          <a:ln/>
        </p:spPr>
        <p:txBody>
          <a:bodyPr wrap="square" lIns="0" tIns="0" rIns="0" bIns="0" rtlCol="0" anchor="ctr"/>
          <a:lstStyle/>
          <a:p>
            <a:pPr marL="0" indent="0">
              <a:buNone/>
            </a:pPr>
            <a:r>
              <a:rPr lang="fil-PH" sz="3000" b="1" dirty="0">
                <a:solidFill>
                  <a:schemeClr val="accent1"/>
                </a:solidFill>
                <a:latin typeface="+mj-lt" pitchFamily="34" charset="0"/>
                <a:ea typeface="+mj-lt" pitchFamily="34" charset="-122"/>
                <a:cs typeface="+mj-lt" pitchFamily="34" charset="-120"/>
              </a:rPr>
              <a:t>48 oras</a:t>
            </a:r>
            <a:endParaRPr lang="fil-PH" sz="3000" dirty="0"/>
          </a:p>
        </p:txBody>
      </p:sp>
      <p:sp>
        <p:nvSpPr>
          <p:cNvPr id="8" name="Follow-up text"/>
          <p:cNvSpPr txBox="1"/>
          <p:nvPr/>
        </p:nvSpPr>
        <p:spPr>
          <a:xfrm>
            <a:off x="640080" y="2697480"/>
            <a:ext cx="2194560" cy="1737360"/>
          </a:xfrm>
          <a:prstGeom prst="rect">
            <a:avLst/>
          </a:prstGeom>
          <a:noFill/>
          <a:ln/>
        </p:spPr>
        <p:txBody>
          <a:bodyPr wrap="square" lIns="0" tIns="0" rIns="0" bIns="0" rtlCol="0" anchor="t"/>
          <a:lstStyle/>
          <a:p>
            <a:pPr marL="0" indent="0">
              <a:buNone/>
            </a:pPr>
            <a:r>
              <a:rPr lang="fil-PH" sz="1400" dirty="0">
                <a:solidFill>
                  <a:schemeClr val="tx2"/>
                </a:solidFill>
              </a:rPr>
              <a:t>Ang bagong silang na pinauwi bago ang 48 oras ay kailangan ng tiyak na appointment at pagsusuri sa loob ng 48 oras mula sa discharge.</a:t>
            </a:r>
            <a:endParaRPr lang="fil-PH" sz="1400" dirty="0"/>
          </a:p>
        </p:txBody>
      </p:sp>
      <p:sp>
        <p:nvSpPr>
          <p:cNvPr id="9" name="Criteria label"/>
          <p:cNvSpPr txBox="1"/>
          <p:nvPr/>
        </p:nvSpPr>
        <p:spPr>
          <a:xfrm>
            <a:off x="3246120" y="1097280"/>
            <a:ext cx="5394960" cy="274320"/>
          </a:xfrm>
          <a:prstGeom prst="rect">
            <a:avLst/>
          </a:prstGeom>
          <a:noFill/>
          <a:ln/>
        </p:spPr>
        <p:txBody>
          <a:bodyPr wrap="square" lIns="0" tIns="0" rIns="0" bIns="0" rtlCol="0" anchor="ctr"/>
          <a:lstStyle/>
          <a:p>
            <a:pPr marL="0" indent="0">
              <a:buNone/>
            </a:pPr>
            <a:r>
              <a:rPr lang="fil-PH" sz="1200" b="1" dirty="0">
                <a:solidFill>
                  <a:schemeClr val="tx2"/>
                </a:solidFill>
              </a:rPr>
              <a:t>Pamantayan para sa discharge</a:t>
            </a:r>
            <a:endParaRPr lang="fil-PH" sz="1200" dirty="0"/>
          </a:p>
        </p:txBody>
      </p:sp>
      <p:sp>
        <p:nvSpPr>
          <p:cNvPr id="10" name="Criterion 1"/>
          <p:cNvSpPr/>
          <p:nvPr/>
        </p:nvSpPr>
        <p:spPr>
          <a:xfrm>
            <a:off x="3246120" y="141732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1" name="Criterion 1 circle"/>
          <p:cNvSpPr/>
          <p:nvPr/>
        </p:nvSpPr>
        <p:spPr>
          <a:xfrm>
            <a:off x="3383280" y="1691640"/>
            <a:ext cx="411480" cy="411480"/>
          </a:xfrm>
          <a:prstGeom prst="ellipse">
            <a:avLst/>
          </a:prstGeom>
          <a:solidFill>
            <a:schemeClr val="accent4"/>
          </a:solidFill>
          <a:ln w="12700">
            <a:solidFill>
              <a:schemeClr val="accent4"/>
            </a:solidFill>
            <a:prstDash val="solid"/>
          </a:ln>
        </p:spPr>
      </p:sp>
      <p:pic>
        <p:nvPicPr>
          <p:cNvPr id="12" name="Criterion 1 glyph" descr="Criterion 1"/>
          <p:cNvPicPr>
            <a:picLocks noChangeAspect="1"/>
          </p:cNvPicPr>
          <p:nvPr/>
        </p:nvPicPr>
        <p:blipFill>
          <a:blip r:embed="rId5"/>
          <a:stretch>
            <a:fillRect/>
          </a:stretch>
        </p:blipFill>
        <p:spPr>
          <a:xfrm>
            <a:off x="3490265" y="1798625"/>
            <a:ext cx="197510" cy="197510"/>
          </a:xfrm>
          <a:prstGeom prst="rect">
            <a:avLst/>
          </a:prstGeom>
        </p:spPr>
      </p:pic>
      <p:sp>
        <p:nvSpPr>
          <p:cNvPr id="13" name="Criterion 1 text"/>
          <p:cNvSpPr txBox="1"/>
          <p:nvPr/>
        </p:nvSpPr>
        <p:spPr>
          <a:xfrm>
            <a:off x="3904488" y="1463040"/>
            <a:ext cx="1920240" cy="868680"/>
          </a:xfrm>
          <a:prstGeom prst="rect">
            <a:avLst/>
          </a:prstGeom>
          <a:noFill/>
          <a:ln/>
        </p:spPr>
        <p:txBody>
          <a:bodyPr wrap="square" lIns="0" tIns="0" rIns="0" bIns="0" rtlCol="0" anchor="ctr"/>
          <a:lstStyle/>
          <a:p>
            <a:pPr marL="0" indent="0">
              <a:buNone/>
            </a:pPr>
            <a:r>
              <a:rPr lang="fil-PH" sz="1400" dirty="0">
                <a:solidFill>
                  <a:schemeClr val="tx1"/>
                </a:solidFill>
              </a:rPr>
              <a:t>Walang komplikasyon sa pagbubuntis, panganganak at postpartum</a:t>
            </a:r>
            <a:endParaRPr lang="fil-PH" sz="1400" dirty="0"/>
          </a:p>
        </p:txBody>
      </p:sp>
      <p:sp>
        <p:nvSpPr>
          <p:cNvPr id="14" name="Criterion 2"/>
          <p:cNvSpPr/>
          <p:nvPr/>
        </p:nvSpPr>
        <p:spPr>
          <a:xfrm>
            <a:off x="6035040" y="141732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5" name="Criterion 2 circle"/>
          <p:cNvSpPr/>
          <p:nvPr/>
        </p:nvSpPr>
        <p:spPr>
          <a:xfrm>
            <a:off x="6172200" y="1691640"/>
            <a:ext cx="411480" cy="411480"/>
          </a:xfrm>
          <a:prstGeom prst="ellipse">
            <a:avLst/>
          </a:prstGeom>
          <a:solidFill>
            <a:schemeClr val="accent4"/>
          </a:solidFill>
          <a:ln w="12700">
            <a:solidFill>
              <a:schemeClr val="accent4"/>
            </a:solidFill>
            <a:prstDash val="solid"/>
          </a:ln>
        </p:spPr>
      </p:sp>
      <p:pic>
        <p:nvPicPr>
          <p:cNvPr id="16" name="Criterion 2 glyph" descr="Criterion 2"/>
          <p:cNvPicPr>
            <a:picLocks noChangeAspect="1"/>
          </p:cNvPicPr>
          <p:nvPr/>
        </p:nvPicPr>
        <p:blipFill>
          <a:blip r:embed="rId5"/>
          <a:stretch>
            <a:fillRect/>
          </a:stretch>
        </p:blipFill>
        <p:spPr>
          <a:xfrm>
            <a:off x="6279185" y="1798625"/>
            <a:ext cx="197510" cy="197510"/>
          </a:xfrm>
          <a:prstGeom prst="rect">
            <a:avLst/>
          </a:prstGeom>
        </p:spPr>
      </p:pic>
      <p:sp>
        <p:nvSpPr>
          <p:cNvPr id="17" name="Criterion 2 text"/>
          <p:cNvSpPr txBox="1"/>
          <p:nvPr/>
        </p:nvSpPr>
        <p:spPr>
          <a:xfrm>
            <a:off x="6693408" y="1463040"/>
            <a:ext cx="1920240" cy="868680"/>
          </a:xfrm>
          <a:prstGeom prst="rect">
            <a:avLst/>
          </a:prstGeom>
          <a:noFill/>
          <a:ln/>
        </p:spPr>
        <p:txBody>
          <a:bodyPr wrap="square" lIns="0" tIns="0" rIns="0" bIns="0" rtlCol="0" anchor="ctr"/>
          <a:lstStyle/>
          <a:p>
            <a:pPr marL="0" indent="0">
              <a:buNone/>
            </a:pPr>
            <a:r>
              <a:rPr lang="fil-PH" sz="1400" dirty="0">
                <a:solidFill>
                  <a:schemeClr val="tx1"/>
                </a:solidFill>
              </a:rPr>
              <a:t>Normal na panganak, 37 linggo, matatag ang vital signs sa 12 oras</a:t>
            </a:r>
            <a:endParaRPr lang="fil-PH" sz="1400" dirty="0"/>
          </a:p>
        </p:txBody>
      </p:sp>
      <p:sp>
        <p:nvSpPr>
          <p:cNvPr id="18" name="Criterion 3"/>
          <p:cNvSpPr/>
          <p:nvPr/>
        </p:nvSpPr>
        <p:spPr>
          <a:xfrm>
            <a:off x="3246120" y="246888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9" name="Criterion 3 circle"/>
          <p:cNvSpPr/>
          <p:nvPr/>
        </p:nvSpPr>
        <p:spPr>
          <a:xfrm>
            <a:off x="3383280" y="2743200"/>
            <a:ext cx="411480" cy="411480"/>
          </a:xfrm>
          <a:prstGeom prst="ellipse">
            <a:avLst/>
          </a:prstGeom>
          <a:solidFill>
            <a:schemeClr val="accent4"/>
          </a:solidFill>
          <a:ln w="12700">
            <a:solidFill>
              <a:schemeClr val="accent4"/>
            </a:solidFill>
            <a:prstDash val="solid"/>
          </a:ln>
        </p:spPr>
      </p:sp>
      <p:pic>
        <p:nvPicPr>
          <p:cNvPr id="20" name="Criterion 3 glyph" descr="Criterion 3"/>
          <p:cNvPicPr>
            <a:picLocks noChangeAspect="1"/>
          </p:cNvPicPr>
          <p:nvPr/>
        </p:nvPicPr>
        <p:blipFill>
          <a:blip r:embed="rId5"/>
          <a:stretch>
            <a:fillRect/>
          </a:stretch>
        </p:blipFill>
        <p:spPr>
          <a:xfrm>
            <a:off x="3490265" y="2850185"/>
            <a:ext cx="197510" cy="197510"/>
          </a:xfrm>
          <a:prstGeom prst="rect">
            <a:avLst/>
          </a:prstGeom>
        </p:spPr>
      </p:pic>
      <p:sp>
        <p:nvSpPr>
          <p:cNvPr id="21" name="Criterion 3 text"/>
          <p:cNvSpPr txBox="1"/>
          <p:nvPr/>
        </p:nvSpPr>
        <p:spPr>
          <a:xfrm>
            <a:off x="3904488" y="2514600"/>
            <a:ext cx="1920240" cy="868680"/>
          </a:xfrm>
          <a:prstGeom prst="rect">
            <a:avLst/>
          </a:prstGeom>
          <a:noFill/>
          <a:ln/>
        </p:spPr>
        <p:txBody>
          <a:bodyPr wrap="square" lIns="0" tIns="0" rIns="0" bIns="0" rtlCol="0" anchor="ctr"/>
          <a:lstStyle/>
          <a:p>
            <a:pPr marL="0" indent="0">
              <a:buNone/>
            </a:pPr>
            <a:r>
              <a:rPr lang="fil-PH" sz="1400" dirty="0">
                <a:solidFill>
                  <a:schemeClr val="tx1"/>
                </a:solidFill>
              </a:rPr>
              <a:t>Umihi na at dumumi nang hindi bababa sa isang beses</a:t>
            </a:r>
            <a:endParaRPr lang="fil-PH" sz="1400" dirty="0"/>
          </a:p>
        </p:txBody>
      </p:sp>
      <p:sp>
        <p:nvSpPr>
          <p:cNvPr id="22" name="Criterion 4"/>
          <p:cNvSpPr/>
          <p:nvPr/>
        </p:nvSpPr>
        <p:spPr>
          <a:xfrm>
            <a:off x="6035040" y="246888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3" name="Criterion 4 circle"/>
          <p:cNvSpPr/>
          <p:nvPr/>
        </p:nvSpPr>
        <p:spPr>
          <a:xfrm>
            <a:off x="6172200" y="2743200"/>
            <a:ext cx="411480" cy="411480"/>
          </a:xfrm>
          <a:prstGeom prst="ellipse">
            <a:avLst/>
          </a:prstGeom>
          <a:solidFill>
            <a:schemeClr val="accent4"/>
          </a:solidFill>
          <a:ln w="12700">
            <a:solidFill>
              <a:schemeClr val="accent4"/>
            </a:solidFill>
            <a:prstDash val="solid"/>
          </a:ln>
        </p:spPr>
      </p:sp>
      <p:pic>
        <p:nvPicPr>
          <p:cNvPr id="24" name="Criterion 4 glyph" descr="Criterion 4"/>
          <p:cNvPicPr>
            <a:picLocks noChangeAspect="1"/>
          </p:cNvPicPr>
          <p:nvPr/>
        </p:nvPicPr>
        <p:blipFill>
          <a:blip r:embed="rId5"/>
          <a:stretch>
            <a:fillRect/>
          </a:stretch>
        </p:blipFill>
        <p:spPr>
          <a:xfrm>
            <a:off x="6279185" y="2850185"/>
            <a:ext cx="197510" cy="197510"/>
          </a:xfrm>
          <a:prstGeom prst="rect">
            <a:avLst/>
          </a:prstGeom>
        </p:spPr>
      </p:pic>
      <p:sp>
        <p:nvSpPr>
          <p:cNvPr id="25" name="Criterion 4 text"/>
          <p:cNvSpPr txBox="1"/>
          <p:nvPr/>
        </p:nvSpPr>
        <p:spPr>
          <a:xfrm>
            <a:off x="6693408" y="2514600"/>
            <a:ext cx="1920240" cy="868680"/>
          </a:xfrm>
          <a:prstGeom prst="rect">
            <a:avLst/>
          </a:prstGeom>
          <a:noFill/>
          <a:ln/>
        </p:spPr>
        <p:txBody>
          <a:bodyPr wrap="square" lIns="0" tIns="0" rIns="0" bIns="0" rtlCol="0" anchor="ctr"/>
          <a:lstStyle/>
          <a:p>
            <a:pPr marL="0" indent="0">
              <a:buNone/>
            </a:pPr>
            <a:r>
              <a:rPr lang="fil-PH" sz="1400" dirty="0">
                <a:solidFill>
                  <a:schemeClr val="tx1"/>
                </a:solidFill>
              </a:rPr>
              <a:t>Magandang latch, paglipat ng gatas, paglunok at pagkabusog</a:t>
            </a:r>
            <a:endParaRPr lang="fil-PH" sz="1400" dirty="0"/>
          </a:p>
        </p:txBody>
      </p:sp>
      <p:sp>
        <p:nvSpPr>
          <p:cNvPr id="26" name="Criterion 5"/>
          <p:cNvSpPr/>
          <p:nvPr/>
        </p:nvSpPr>
        <p:spPr>
          <a:xfrm>
            <a:off x="3246120" y="352044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7" name="Criterion 5 circle"/>
          <p:cNvSpPr/>
          <p:nvPr/>
        </p:nvSpPr>
        <p:spPr>
          <a:xfrm>
            <a:off x="3383280" y="3794760"/>
            <a:ext cx="411480" cy="411480"/>
          </a:xfrm>
          <a:prstGeom prst="ellipse">
            <a:avLst/>
          </a:prstGeom>
          <a:solidFill>
            <a:schemeClr val="accent4"/>
          </a:solidFill>
          <a:ln w="12700">
            <a:solidFill>
              <a:schemeClr val="accent4"/>
            </a:solidFill>
            <a:prstDash val="solid"/>
          </a:ln>
        </p:spPr>
      </p:sp>
      <p:pic>
        <p:nvPicPr>
          <p:cNvPr id="28" name="Criterion 5 glyph" descr="Criterion 5"/>
          <p:cNvPicPr>
            <a:picLocks noChangeAspect="1"/>
          </p:cNvPicPr>
          <p:nvPr/>
        </p:nvPicPr>
        <p:blipFill>
          <a:blip r:embed="rId5"/>
          <a:stretch>
            <a:fillRect/>
          </a:stretch>
        </p:blipFill>
        <p:spPr>
          <a:xfrm>
            <a:off x="3490265" y="3901745"/>
            <a:ext cx="197510" cy="197510"/>
          </a:xfrm>
          <a:prstGeom prst="rect">
            <a:avLst/>
          </a:prstGeom>
        </p:spPr>
      </p:pic>
      <p:sp>
        <p:nvSpPr>
          <p:cNvPr id="29" name="Criterion 5 text"/>
          <p:cNvSpPr txBox="1"/>
          <p:nvPr/>
        </p:nvSpPr>
        <p:spPr>
          <a:xfrm>
            <a:off x="3904488" y="3566160"/>
            <a:ext cx="1920240" cy="868680"/>
          </a:xfrm>
          <a:prstGeom prst="rect">
            <a:avLst/>
          </a:prstGeom>
          <a:noFill/>
          <a:ln/>
        </p:spPr>
        <p:txBody>
          <a:bodyPr wrap="square" lIns="0" tIns="0" rIns="0" bIns="0" rtlCol="0" anchor="ctr"/>
          <a:lstStyle/>
          <a:p>
            <a:pPr marL="0" indent="0">
              <a:buNone/>
            </a:pPr>
            <a:r>
              <a:rPr lang="fil-PH" sz="1400" dirty="0">
                <a:solidFill>
                  <a:schemeClr val="tx1"/>
                </a:solidFill>
              </a:rPr>
              <a:t>Walang malubhang paninilaw sa unang 24 oras</a:t>
            </a:r>
            <a:endParaRPr lang="fil-PH" sz="1400" dirty="0"/>
          </a:p>
        </p:txBody>
      </p:sp>
      <p:sp>
        <p:nvSpPr>
          <p:cNvPr id="30" name="Criterion 6"/>
          <p:cNvSpPr/>
          <p:nvPr/>
        </p:nvSpPr>
        <p:spPr>
          <a:xfrm>
            <a:off x="6035040" y="352044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31" name="Criterion 6 circle"/>
          <p:cNvSpPr/>
          <p:nvPr/>
        </p:nvSpPr>
        <p:spPr>
          <a:xfrm>
            <a:off x="6172200" y="3794760"/>
            <a:ext cx="411480" cy="411480"/>
          </a:xfrm>
          <a:prstGeom prst="ellipse">
            <a:avLst/>
          </a:prstGeom>
          <a:solidFill>
            <a:schemeClr val="accent4"/>
          </a:solidFill>
          <a:ln w="12700">
            <a:solidFill>
              <a:schemeClr val="accent4"/>
            </a:solidFill>
            <a:prstDash val="solid"/>
          </a:ln>
        </p:spPr>
      </p:sp>
      <p:pic>
        <p:nvPicPr>
          <p:cNvPr id="32" name="Criterion 6 glyph" descr="Criterion 6"/>
          <p:cNvPicPr>
            <a:picLocks noChangeAspect="1"/>
          </p:cNvPicPr>
          <p:nvPr/>
        </p:nvPicPr>
        <p:blipFill>
          <a:blip r:embed="rId5"/>
          <a:stretch>
            <a:fillRect/>
          </a:stretch>
        </p:blipFill>
        <p:spPr>
          <a:xfrm>
            <a:off x="6279185" y="3901745"/>
            <a:ext cx="197510" cy="197510"/>
          </a:xfrm>
          <a:prstGeom prst="rect">
            <a:avLst/>
          </a:prstGeom>
        </p:spPr>
      </p:pic>
      <p:sp>
        <p:nvSpPr>
          <p:cNvPr id="33" name="Criterion 6 text"/>
          <p:cNvSpPr txBox="1"/>
          <p:nvPr/>
        </p:nvSpPr>
        <p:spPr>
          <a:xfrm>
            <a:off x="6693408" y="3566160"/>
            <a:ext cx="1920240" cy="868680"/>
          </a:xfrm>
          <a:prstGeom prst="rect">
            <a:avLst/>
          </a:prstGeom>
          <a:noFill/>
          <a:ln/>
        </p:spPr>
        <p:txBody>
          <a:bodyPr wrap="square" lIns="0" tIns="0" rIns="0" bIns="0" rtlCol="0" anchor="ctr"/>
          <a:lstStyle/>
          <a:p>
            <a:pPr marL="0" indent="0">
              <a:buNone/>
            </a:pPr>
            <a:r>
              <a:rPr lang="fil-PH" sz="1400" dirty="0">
                <a:solidFill>
                  <a:schemeClr val="tx1"/>
                </a:solidFill>
              </a:rPr>
              <a:t>Kayang alagaan ng magulang ang sanggol; napalakas ang edukasyon sa pagpapakain</a:t>
            </a:r>
            <a:endParaRPr lang="fil-PH" sz="1400" dirty="0"/>
          </a:p>
        </p:txBody>
      </p:sp>
      <p:sp>
        <p:nvSpPr>
          <p:cNvPr id="34" name="Back button">
            <a:hlinkClick r:id="rId6"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35" name="Next button">
            <a:hlinkClick r:id="rId7"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Pagpapasuso: posisyon at latch</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Latch card"/>
          <p:cNvSpPr/>
          <p:nvPr/>
        </p:nvSpPr>
        <p:spPr>
          <a:xfrm>
            <a:off x="457200" y="1143000"/>
            <a:ext cx="4206240" cy="3383280"/>
          </a:xfrm>
          <a:prstGeom prst="roundRect">
            <a:avLst>
              <a:gd name="adj" fmla="val 3243"/>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5" name="Latch circle"/>
          <p:cNvSpPr/>
          <p:nvPr/>
        </p:nvSpPr>
        <p:spPr>
          <a:xfrm>
            <a:off x="640080" y="1307592"/>
            <a:ext cx="457200" cy="457200"/>
          </a:xfrm>
          <a:prstGeom prst="ellipse">
            <a:avLst/>
          </a:prstGeom>
          <a:solidFill>
            <a:schemeClr val="accent2"/>
          </a:solidFill>
          <a:ln w="12700">
            <a:solidFill>
              <a:schemeClr val="accent2"/>
            </a:solidFill>
            <a:prstDash val="solid"/>
          </a:ln>
        </p:spPr>
      </p:sp>
      <p:pic>
        <p:nvPicPr>
          <p:cNvPr id="6" name="Latch glyph" descr="Latch"/>
          <p:cNvPicPr>
            <a:picLocks noChangeAspect="1"/>
          </p:cNvPicPr>
          <p:nvPr/>
        </p:nvPicPr>
        <p:blipFill>
          <a:blip r:embed="rId4"/>
          <a:stretch>
            <a:fillRect/>
          </a:stretch>
        </p:blipFill>
        <p:spPr>
          <a:xfrm>
            <a:off x="758952" y="1426464"/>
            <a:ext cx="219456" cy="219456"/>
          </a:xfrm>
          <a:prstGeom prst="rect">
            <a:avLst/>
          </a:prstGeom>
        </p:spPr>
      </p:pic>
      <p:sp>
        <p:nvSpPr>
          <p:cNvPr id="7" name="Latch heading"/>
          <p:cNvSpPr txBox="1"/>
          <p:nvPr/>
        </p:nvSpPr>
        <p:spPr>
          <a:xfrm>
            <a:off x="1207008" y="1307592"/>
            <a:ext cx="3291840" cy="457200"/>
          </a:xfrm>
          <a:prstGeom prst="rect">
            <a:avLst/>
          </a:prstGeom>
          <a:noFill/>
          <a:ln/>
        </p:spPr>
        <p:txBody>
          <a:bodyPr wrap="square" lIns="0" tIns="0" rIns="0" bIns="0" rtlCol="0" anchor="ctr"/>
          <a:lstStyle/>
          <a:p>
            <a:pPr marL="0" indent="0">
              <a:buNone/>
            </a:pPr>
            <a:r>
              <a:rPr lang="fil-PH" sz="1800" b="1" dirty="0">
                <a:solidFill>
                  <a:schemeClr val="tx1"/>
                </a:solidFill>
              </a:rPr>
              <a:t>Magandang latch</a:t>
            </a:r>
            <a:endParaRPr lang="fil-PH" sz="1800" dirty="0"/>
          </a:p>
        </p:txBody>
      </p:sp>
      <p:sp>
        <p:nvSpPr>
          <p:cNvPr id="8" name="Latch list"/>
          <p:cNvSpPr txBox="1"/>
          <p:nvPr/>
        </p:nvSpPr>
        <p:spPr>
          <a:xfrm>
            <a:off x="640080" y="1920240"/>
            <a:ext cx="3840480" cy="2514600"/>
          </a:xfrm>
          <a:prstGeom prst="rect">
            <a:avLst/>
          </a:prstGeom>
          <a:noFill/>
          <a:ln/>
        </p:spPr>
        <p:txBody>
          <a:bodyPr wrap="square" lIns="0" tIns="0" rIns="0" bIns="0" rtlCol="0" anchor="t"/>
          <a:lstStyle/>
          <a:p>
            <a:pPr marL="177800" indent="-177800">
              <a:spcAft>
                <a:spcPts val="600"/>
              </a:spcAft>
              <a:buSzPct val="100000"/>
              <a:buChar char="•"/>
            </a:pPr>
            <a:r>
              <a:rPr lang="fil-PH" sz="1500" dirty="0">
                <a:solidFill>
                  <a:schemeClr val="tx2"/>
                </a:solidFill>
              </a:rPr>
              <a:t>Tuwid ang ulo, likod at balakang ng sanggol, nakaharap sa suso</a:t>
            </a:r>
            <a:endParaRPr lang="fil-PH" sz="1500" dirty="0"/>
          </a:p>
          <a:p>
            <a:pPr marL="177800" indent="-177800">
              <a:spcAft>
                <a:spcPts val="600"/>
              </a:spcAft>
              <a:buSzPct val="100000"/>
              <a:buChar char="•"/>
            </a:pPr>
            <a:r>
              <a:rPr lang="fil-PH" sz="1500" dirty="0">
                <a:solidFill>
                  <a:schemeClr val="tx2"/>
                </a:solidFill>
              </a:rPr>
              <a:t>Mukha sa mukha, dibdib sa dibdib, tiyan sa tiyan</a:t>
            </a:r>
            <a:endParaRPr lang="fil-PH" sz="1500" dirty="0"/>
          </a:p>
          <a:p>
            <a:pPr marL="177800" indent="-177800">
              <a:spcAft>
                <a:spcPts val="600"/>
              </a:spcAft>
              <a:buSzPct val="100000"/>
              <a:buChar char="•"/>
            </a:pPr>
            <a:r>
              <a:rPr lang="fil-PH" sz="1500" dirty="0">
                <a:solidFill>
                  <a:schemeClr val="tx2"/>
                </a:solidFill>
              </a:rPr>
              <a:t>Alalayan ang suso gamit ang C-hold</a:t>
            </a:r>
            <a:endParaRPr lang="fil-PH" sz="1500" dirty="0"/>
          </a:p>
          <a:p>
            <a:pPr marL="177800" indent="-177800">
              <a:spcAft>
                <a:spcPts val="600"/>
              </a:spcAft>
              <a:buSzPct val="100000"/>
              <a:buChar char="•"/>
            </a:pPr>
            <a:r>
              <a:rPr lang="fil-PH" sz="1500" dirty="0">
                <a:solidFill>
                  <a:schemeClr val="tx2"/>
                </a:solidFill>
              </a:rPr>
              <a:t>Dumidikit ang baba sa suso, nakalabas ang ibabang labi</a:t>
            </a:r>
            <a:endParaRPr lang="fil-PH" sz="1500" dirty="0"/>
          </a:p>
          <a:p>
            <a:pPr marL="177800" indent="-177800">
              <a:spcAft>
                <a:spcPts val="600"/>
              </a:spcAft>
              <a:buSzPct val="100000"/>
              <a:buChar char="•"/>
            </a:pPr>
            <a:r>
              <a:rPr lang="fil-PH" sz="1500" dirty="0">
                <a:solidFill>
                  <a:schemeClr val="tx2"/>
                </a:solidFill>
              </a:rPr>
              <a:t>Isinusubo ng sanggol ang utong at mga 1 pulgada ng areola</a:t>
            </a:r>
            <a:endParaRPr lang="fil-PH" sz="1500" dirty="0"/>
          </a:p>
        </p:txBody>
      </p:sp>
      <p:sp>
        <p:nvSpPr>
          <p:cNvPr id="9" name="Stat 6 months"/>
          <p:cNvSpPr/>
          <p:nvPr/>
        </p:nvSpPr>
        <p:spPr>
          <a:xfrm>
            <a:off x="4937760" y="1143000"/>
            <a:ext cx="182880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0" name="6 months stat"/>
          <p:cNvSpPr txBox="1"/>
          <p:nvPr/>
        </p:nvSpPr>
        <p:spPr>
          <a:xfrm>
            <a:off x="5120640" y="1280160"/>
            <a:ext cx="1463040" cy="502920"/>
          </a:xfrm>
          <a:prstGeom prst="rect">
            <a:avLst/>
          </a:prstGeom>
          <a:noFill/>
          <a:ln/>
        </p:spPr>
        <p:txBody>
          <a:bodyPr wrap="square" lIns="0" tIns="0" rIns="0" bIns="0" rtlCol="0" anchor="ctr"/>
          <a:lstStyle/>
          <a:p>
            <a:pPr marL="0" indent="0">
              <a:buNone/>
            </a:pPr>
            <a:r>
              <a:rPr lang="fil-PH" sz="2400" b="1" dirty="0">
                <a:solidFill>
                  <a:schemeClr val="accent1"/>
                </a:solidFill>
                <a:latin typeface="+mj-lt" pitchFamily="34" charset="0"/>
                <a:ea typeface="+mj-lt" pitchFamily="34" charset="-122"/>
                <a:cs typeface="+mj-lt" pitchFamily="34" charset="-120"/>
              </a:rPr>
              <a:t>6 buwan</a:t>
            </a:r>
            <a:endParaRPr lang="fil-PH" sz="2400" dirty="0"/>
          </a:p>
        </p:txBody>
      </p:sp>
      <p:sp>
        <p:nvSpPr>
          <p:cNvPr id="11" name="6 months text"/>
          <p:cNvSpPr txBox="1"/>
          <p:nvPr/>
        </p:nvSpPr>
        <p:spPr>
          <a:xfrm>
            <a:off x="5120640" y="1828800"/>
            <a:ext cx="1463040" cy="868680"/>
          </a:xfrm>
          <a:prstGeom prst="rect">
            <a:avLst/>
          </a:prstGeom>
          <a:noFill/>
          <a:ln/>
        </p:spPr>
        <p:txBody>
          <a:bodyPr wrap="square" lIns="0" tIns="0" rIns="0" bIns="0" rtlCol="0" anchor="t"/>
          <a:lstStyle/>
          <a:p>
            <a:pPr marL="0" indent="0">
              <a:buNone/>
            </a:pPr>
            <a:r>
              <a:rPr lang="fil-PH" sz="1400" dirty="0">
                <a:solidFill>
                  <a:schemeClr val="tx2"/>
                </a:solidFill>
              </a:rPr>
              <a:t>Eksklusibong pagpapasuso</a:t>
            </a:r>
            <a:endParaRPr lang="fil-PH" sz="1400" dirty="0"/>
          </a:p>
        </p:txBody>
      </p:sp>
      <p:sp>
        <p:nvSpPr>
          <p:cNvPr id="12" name="Stat 2 years+"/>
          <p:cNvSpPr/>
          <p:nvPr/>
        </p:nvSpPr>
        <p:spPr>
          <a:xfrm>
            <a:off x="6858000" y="1143000"/>
            <a:ext cx="182880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3" name="2 years+ stat"/>
          <p:cNvSpPr txBox="1"/>
          <p:nvPr/>
        </p:nvSpPr>
        <p:spPr>
          <a:xfrm>
            <a:off x="7040880" y="1280160"/>
            <a:ext cx="1463040" cy="502920"/>
          </a:xfrm>
          <a:prstGeom prst="rect">
            <a:avLst/>
          </a:prstGeom>
          <a:noFill/>
          <a:ln/>
        </p:spPr>
        <p:txBody>
          <a:bodyPr wrap="square" lIns="0" tIns="0" rIns="0" bIns="0" rtlCol="0" anchor="ctr"/>
          <a:lstStyle/>
          <a:p>
            <a:pPr marL="0" indent="0">
              <a:buNone/>
            </a:pPr>
            <a:r>
              <a:rPr lang="fil-PH" sz="2400" b="1" dirty="0">
                <a:solidFill>
                  <a:schemeClr val="accent2"/>
                </a:solidFill>
                <a:latin typeface="+mj-lt" pitchFamily="34" charset="0"/>
                <a:ea typeface="+mj-lt" pitchFamily="34" charset="-122"/>
                <a:cs typeface="+mj-lt" pitchFamily="34" charset="-120"/>
              </a:rPr>
              <a:t>2 taon+</a:t>
            </a:r>
            <a:endParaRPr lang="fil-PH" sz="2400" dirty="0"/>
          </a:p>
        </p:txBody>
      </p:sp>
      <p:sp>
        <p:nvSpPr>
          <p:cNvPr id="14" name="2 years+ text"/>
          <p:cNvSpPr txBox="1"/>
          <p:nvPr/>
        </p:nvSpPr>
        <p:spPr>
          <a:xfrm>
            <a:off x="7040880" y="1828800"/>
            <a:ext cx="1463040" cy="868680"/>
          </a:xfrm>
          <a:prstGeom prst="rect">
            <a:avLst/>
          </a:prstGeom>
          <a:noFill/>
          <a:ln/>
        </p:spPr>
        <p:txBody>
          <a:bodyPr wrap="square" lIns="0" tIns="0" rIns="0" bIns="0" rtlCol="0" anchor="t"/>
          <a:lstStyle/>
          <a:p>
            <a:pPr marL="0" indent="0">
              <a:buNone/>
            </a:pPr>
            <a:r>
              <a:rPr lang="fil-PH" sz="1400" dirty="0">
                <a:solidFill>
                  <a:schemeClr val="tx2"/>
                </a:solidFill>
              </a:rPr>
              <a:t>Ituloy ang pagpapasuso, at lampas pa</a:t>
            </a:r>
            <a:endParaRPr lang="fil-PH" sz="1400" dirty="0"/>
          </a:p>
        </p:txBody>
      </p:sp>
      <p:sp>
        <p:nvSpPr>
          <p:cNvPr id="15" name="Stat 15–30"/>
          <p:cNvSpPr/>
          <p:nvPr/>
        </p:nvSpPr>
        <p:spPr>
          <a:xfrm>
            <a:off x="4937760" y="2880360"/>
            <a:ext cx="182880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6" name="15–30 stat"/>
          <p:cNvSpPr txBox="1"/>
          <p:nvPr/>
        </p:nvSpPr>
        <p:spPr>
          <a:xfrm>
            <a:off x="5120640" y="3017520"/>
            <a:ext cx="1463040" cy="502920"/>
          </a:xfrm>
          <a:prstGeom prst="rect">
            <a:avLst/>
          </a:prstGeom>
          <a:noFill/>
          <a:ln/>
        </p:spPr>
        <p:txBody>
          <a:bodyPr wrap="square" lIns="0" tIns="0" rIns="0" bIns="0" rtlCol="0" anchor="ctr"/>
          <a:lstStyle/>
          <a:p>
            <a:pPr marL="0" indent="0">
              <a:buNone/>
            </a:pPr>
            <a:r>
              <a:rPr lang="fil-PH" sz="2400" b="1" dirty="0">
                <a:solidFill>
                  <a:schemeClr val="accent4"/>
                </a:solidFill>
                <a:latin typeface="+mj-lt" pitchFamily="34" charset="0"/>
                <a:ea typeface="+mj-lt" pitchFamily="34" charset="-122"/>
                <a:cs typeface="+mj-lt" pitchFamily="34" charset="-120"/>
              </a:rPr>
              <a:t>15–30</a:t>
            </a:r>
            <a:endParaRPr lang="fil-PH" sz="2400" dirty="0"/>
          </a:p>
        </p:txBody>
      </p:sp>
      <p:sp>
        <p:nvSpPr>
          <p:cNvPr id="17" name="15–30 text"/>
          <p:cNvSpPr txBox="1"/>
          <p:nvPr/>
        </p:nvSpPr>
        <p:spPr>
          <a:xfrm>
            <a:off x="5120640" y="3566160"/>
            <a:ext cx="1463040" cy="868680"/>
          </a:xfrm>
          <a:prstGeom prst="rect">
            <a:avLst/>
          </a:prstGeom>
          <a:noFill/>
          <a:ln/>
        </p:spPr>
        <p:txBody>
          <a:bodyPr wrap="square" lIns="0" tIns="0" rIns="0" bIns="0" rtlCol="0" anchor="t"/>
          <a:lstStyle/>
          <a:p>
            <a:pPr marL="0" indent="0">
              <a:buNone/>
            </a:pPr>
            <a:r>
              <a:rPr lang="fil-PH" sz="1400" dirty="0">
                <a:solidFill>
                  <a:schemeClr val="tx2"/>
                </a:solidFill>
              </a:rPr>
              <a:t>Minuto ng pagsuso sa bawat suso</a:t>
            </a:r>
            <a:endParaRPr lang="fil-PH" sz="1400" dirty="0"/>
          </a:p>
        </p:txBody>
      </p:sp>
      <p:sp>
        <p:nvSpPr>
          <p:cNvPr id="18" name="Stat 8–10+"/>
          <p:cNvSpPr/>
          <p:nvPr/>
        </p:nvSpPr>
        <p:spPr>
          <a:xfrm>
            <a:off x="6858000" y="2880360"/>
            <a:ext cx="182880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9" name="8–10+ stat"/>
          <p:cNvSpPr txBox="1"/>
          <p:nvPr/>
        </p:nvSpPr>
        <p:spPr>
          <a:xfrm>
            <a:off x="7040880" y="3017520"/>
            <a:ext cx="1463040" cy="502920"/>
          </a:xfrm>
          <a:prstGeom prst="rect">
            <a:avLst/>
          </a:prstGeom>
          <a:noFill/>
          <a:ln/>
        </p:spPr>
        <p:txBody>
          <a:bodyPr wrap="square" lIns="0" tIns="0" rIns="0" bIns="0" rtlCol="0" anchor="ctr"/>
          <a:lstStyle/>
          <a:p>
            <a:pPr marL="0" indent="0">
              <a:buNone/>
            </a:pPr>
            <a:r>
              <a:rPr lang="fil-PH" sz="2400" b="1" dirty="0">
                <a:solidFill>
                  <a:schemeClr val="accent5"/>
                </a:solidFill>
                <a:latin typeface="+mj-lt" pitchFamily="34" charset="0"/>
                <a:ea typeface="+mj-lt" pitchFamily="34" charset="-122"/>
                <a:cs typeface="+mj-lt" pitchFamily="34" charset="-120"/>
              </a:rPr>
              <a:t>8–10+</a:t>
            </a:r>
            <a:endParaRPr lang="fil-PH" sz="2400" dirty="0"/>
          </a:p>
        </p:txBody>
      </p:sp>
      <p:sp>
        <p:nvSpPr>
          <p:cNvPr id="20" name="8–10+ text"/>
          <p:cNvSpPr txBox="1"/>
          <p:nvPr/>
        </p:nvSpPr>
        <p:spPr>
          <a:xfrm>
            <a:off x="7040880" y="3566160"/>
            <a:ext cx="1463040" cy="868680"/>
          </a:xfrm>
          <a:prstGeom prst="rect">
            <a:avLst/>
          </a:prstGeom>
          <a:noFill/>
          <a:ln/>
        </p:spPr>
        <p:txBody>
          <a:bodyPr wrap="square" lIns="0" tIns="0" rIns="0" bIns="0" rtlCol="0" anchor="t"/>
          <a:lstStyle/>
          <a:p>
            <a:pPr marL="0" indent="0">
              <a:buNone/>
            </a:pPr>
            <a:r>
              <a:rPr lang="fil-PH" sz="1400" dirty="0">
                <a:solidFill>
                  <a:schemeClr val="tx2"/>
                </a:solidFill>
              </a:rPr>
              <a:t>Beses kada araw para tuloy ang suplay ng gatas</a:t>
            </a:r>
            <a:endParaRPr lang="fil-PH" sz="1400" dirty="0"/>
          </a:p>
        </p:txBody>
      </p:sp>
      <p:sp>
        <p:nvSpPr>
          <p:cNvPr id="21" name="Back button">
            <a:hlinkClick r:id="rId5" action="ppaction://hlinksldjump" tooltip="Previous slide"/>
          </p:cNvPr>
          <p:cNvSpPr/>
          <p:nvPr/>
        </p:nvSpPr>
        <p:spPr>
          <a:xfrm>
            <a:off x="59893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22" name="Next button">
            <a:hlinkClick r:id="rId6" action="ppaction://hlinksldjump" tooltip="Next slide"/>
          </p:cNvPr>
          <p:cNvSpPr/>
          <p:nvPr/>
        </p:nvSpPr>
        <p:spPr>
          <a:xfrm>
            <a:off x="7132320" y="4636008"/>
            <a:ext cx="15544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Pag-iimbak ›</a:t>
            </a:r>
            <a:endParaRPr lang="fil-PH" sz="1400" dirty="0"/>
          </a:p>
        </p:txBody>
      </p:sp>
      <p:sp>
        <p:nvSpPr>
          <p:cNvPr id="30" name="Watch video button">
            <a:hlinkClick r:id="rId7" action="ppaction://hlinksldjump" tooltip="Panoorin ›"/>
          </p:cNvPr>
          <p:cNvSpPr/>
          <p:nvPr/>
        </p:nvSpPr>
        <p:spPr>
          <a:xfrm>
            <a:off x="3246120" y="1371600"/>
            <a:ext cx="1371600" cy="329184"/>
          </a:xfrm>
          <a:prstGeom prst="roundRect">
            <a:avLst>
              <a:gd name="adj" fmla="val 50000"/>
            </a:avLst>
          </a:prstGeom>
          <a:solidFill>
            <a:schemeClr val="tx1"/>
          </a:solidFill>
          <a:ln/>
        </p:spPr>
        <p:txBody>
          <a:bodyPr wrap="square" lIns="0" tIns="0" rIns="0" bIns="0" rtlCol="0" anchor="ctr"/>
          <a:lstStyle/>
          <a:p>
            <a:pPr marL="0" indent="0" algn="ctr">
              <a:buNone/>
            </a:pPr>
            <a:r>
              <a:rPr lang="fil-PH" sz="1200" b="1" dirty="0">
                <a:solidFill>
                  <a:schemeClr val="bg1"/>
                </a:solidFill>
              </a:rPr>
              <a:t>Panoorin ›</a:t>
            </a:r>
            <a:endParaRPr lang="fil-PH"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Tagal ng pinigang gatas</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graphicFrame>
        <p:nvGraphicFramePr>
          <p:cNvPr id="7" name="Milk storage table"/>
          <p:cNvGraphicFramePr>
            <a:graphicFrameLocks noGrp="1"/>
          </p:cNvGraphicFramePr>
          <p:nvPr>
            <p:extLst>
              <p:ext uri="{D42A27DB-BD31-4B8C-83A1-F6EECF244321}">
                <p14:modId xmlns:p14="http://schemas.microsoft.com/office/powerpoint/2010/main" val="1579011935"/>
              </p:ext>
            </p:extLst>
          </p:nvPr>
        </p:nvGraphicFramePr>
        <p:xfrm>
          <a:off x="457200" y="1143000"/>
          <a:ext cx="5394960" cy="3200400"/>
        </p:xfrm>
        <a:graphic>
          <a:graphicData uri="http://schemas.openxmlformats.org/drawingml/2006/table">
            <a:tbl>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57200">
                <a:tc>
                  <a:txBody>
                    <a:bodyPr/>
                    <a:lstStyle/>
                    <a:p>
                      <a:pPr marL="0" indent="0">
                        <a:buNone/>
                      </a:pPr>
                      <a:r>
                        <a:rPr lang="fil-PH" sz="1400" b="1" dirty="0">
                          <a:solidFill>
                            <a:srgbClr val="FFFFFF"/>
                          </a:solidFill>
                          <a:latin typeface="Calibri" pitchFamily="34" charset="0"/>
                          <a:ea typeface="Calibri" pitchFamily="34" charset="-122"/>
                          <a:cs typeface="Calibri" pitchFamily="34" charset="-120"/>
                        </a:rPr>
                        <a:t>Saan iniimbak</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1B2540"/>
                    </a:solidFill>
                  </a:tcPr>
                </a:tc>
                <a:tc>
                  <a:txBody>
                    <a:bodyPr/>
                    <a:lstStyle/>
                    <a:p>
                      <a:pPr marL="0" indent="0">
                        <a:buNone/>
                      </a:pPr>
                      <a:r>
                        <a:rPr lang="fil-PH" sz="1400" b="1" dirty="0">
                          <a:solidFill>
                            <a:srgbClr val="FFFFFF"/>
                          </a:solidFill>
                          <a:latin typeface="Calibri" pitchFamily="34" charset="0"/>
                          <a:ea typeface="Calibri" pitchFamily="34" charset="-122"/>
                          <a:cs typeface="Calibri" pitchFamily="34" charset="-120"/>
                        </a:rPr>
                        <a:t>Pinakamatagal</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1B2540"/>
                    </a:solidFill>
                  </a:tcPr>
                </a:tc>
                <a:extLst>
                  <a:ext uri="{0D108BD9-81ED-4DB2-BD59-A6C34878D82A}">
                    <a16:rowId xmlns:a16="http://schemas.microsoft.com/office/drawing/2014/main" val="10000"/>
                  </a:ext>
                </a:extLst>
              </a:tr>
              <a:tr h="457200">
                <a:tc>
                  <a:txBody>
                    <a:bodyPr/>
                    <a:lstStyle/>
                    <a:p>
                      <a:pPr marL="0" indent="0">
                        <a:buNone/>
                      </a:pPr>
                      <a:r>
                        <a:rPr lang="fil-PH" sz="1400" dirty="0">
                          <a:solidFill>
                            <a:srgbClr val="1B2540"/>
                          </a:solidFill>
                          <a:latin typeface="Calibri" pitchFamily="34" charset="0"/>
                          <a:ea typeface="Calibri" pitchFamily="34" charset="-122"/>
                          <a:cs typeface="Calibri" pitchFamily="34" charset="-120"/>
                        </a:rPr>
                        <a:t>Temperatura ng kuwarto, mas mababa sa 25°C</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tc>
                  <a:txBody>
                    <a:bodyPr/>
                    <a:lstStyle/>
                    <a:p>
                      <a:pPr marL="0" indent="0">
                        <a:buNone/>
                      </a:pPr>
                      <a:r>
                        <a:rPr lang="fil-PH" sz="1400" b="1" dirty="0">
                          <a:solidFill>
                            <a:srgbClr val="D9661B"/>
                          </a:solidFill>
                          <a:latin typeface="Calibri" pitchFamily="34" charset="0"/>
                          <a:ea typeface="Calibri" pitchFamily="34" charset="-122"/>
                          <a:cs typeface="Calibri" pitchFamily="34" charset="-120"/>
                        </a:rPr>
                        <a:t>4 na oras</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fil-PH" sz="1400" dirty="0">
                          <a:solidFill>
                            <a:srgbClr val="1B2540"/>
                          </a:solidFill>
                          <a:latin typeface="Calibri" pitchFamily="34" charset="0"/>
                          <a:ea typeface="Calibri" pitchFamily="34" charset="-122"/>
                          <a:cs typeface="Calibri" pitchFamily="34" charset="-120"/>
                        </a:rPr>
                        <a:t>Temperatura ng kuwarto, higit sa 25°C</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tc>
                  <a:txBody>
                    <a:bodyPr/>
                    <a:lstStyle/>
                    <a:p>
                      <a:pPr marL="0" indent="0">
                        <a:buNone/>
                      </a:pPr>
                      <a:r>
                        <a:rPr lang="fil-PH" sz="1400" b="1" dirty="0">
                          <a:solidFill>
                            <a:srgbClr val="D9661B"/>
                          </a:solidFill>
                          <a:latin typeface="Calibri" pitchFamily="34" charset="0"/>
                          <a:ea typeface="Calibri" pitchFamily="34" charset="-122"/>
                          <a:cs typeface="Calibri" pitchFamily="34" charset="-120"/>
                        </a:rPr>
                        <a:t>1 oras</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457200">
                <a:tc>
                  <a:txBody>
                    <a:bodyPr/>
                    <a:lstStyle/>
                    <a:p>
                      <a:pPr marL="0" indent="0">
                        <a:buNone/>
                      </a:pPr>
                      <a:r>
                        <a:rPr lang="fil-PH" sz="1400" dirty="0">
                          <a:solidFill>
                            <a:srgbClr val="1B2540"/>
                          </a:solidFill>
                          <a:latin typeface="Calibri" pitchFamily="34" charset="0"/>
                          <a:ea typeface="Calibri" pitchFamily="34" charset="-122"/>
                          <a:cs typeface="Calibri" pitchFamily="34" charset="-120"/>
                        </a:rPr>
                        <a:t>Refrigerator, 4°C</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tc>
                  <a:txBody>
                    <a:bodyPr/>
                    <a:lstStyle/>
                    <a:p>
                      <a:pPr marL="0" indent="0">
                        <a:buNone/>
                      </a:pPr>
                      <a:r>
                        <a:rPr lang="fil-PH" sz="1400" b="1" dirty="0">
                          <a:solidFill>
                            <a:srgbClr val="D9661B"/>
                          </a:solidFill>
                          <a:latin typeface="Calibri" pitchFamily="34" charset="0"/>
                          <a:ea typeface="Calibri" pitchFamily="34" charset="-122"/>
                          <a:cs typeface="Calibri" pitchFamily="34" charset="-120"/>
                        </a:rPr>
                        <a:t>8 araw</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fil-PH" sz="1400" dirty="0">
                          <a:solidFill>
                            <a:srgbClr val="1B2540"/>
                          </a:solidFill>
                          <a:latin typeface="Calibri" pitchFamily="34" charset="0"/>
                          <a:ea typeface="Calibri" pitchFamily="34" charset="-122"/>
                          <a:cs typeface="Calibri" pitchFamily="34" charset="-120"/>
                        </a:rPr>
                        <a:t>Freezer ng 1-pinto na refrigerator</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tc>
                  <a:txBody>
                    <a:bodyPr/>
                    <a:lstStyle/>
                    <a:p>
                      <a:pPr marL="0" indent="0">
                        <a:buNone/>
                      </a:pPr>
                      <a:r>
                        <a:rPr lang="fil-PH" sz="1400" b="1" dirty="0">
                          <a:solidFill>
                            <a:srgbClr val="D9661B"/>
                          </a:solidFill>
                          <a:latin typeface="Calibri" pitchFamily="34" charset="0"/>
                          <a:ea typeface="Calibri" pitchFamily="34" charset="-122"/>
                          <a:cs typeface="Calibri" pitchFamily="34" charset="-120"/>
                        </a:rPr>
                        <a:t>2 linggo</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457200">
                <a:tc>
                  <a:txBody>
                    <a:bodyPr/>
                    <a:lstStyle/>
                    <a:p>
                      <a:pPr marL="0" indent="0">
                        <a:buNone/>
                      </a:pPr>
                      <a:r>
                        <a:rPr lang="fil-PH" sz="1400" dirty="0">
                          <a:solidFill>
                            <a:srgbClr val="1B2540"/>
                          </a:solidFill>
                          <a:latin typeface="Calibri" pitchFamily="34" charset="0"/>
                          <a:ea typeface="Calibri" pitchFamily="34" charset="-122"/>
                          <a:cs typeface="Calibri" pitchFamily="34" charset="-120"/>
                        </a:rPr>
                        <a:t>Freezer ng 2-pinto na refrigerator</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tc>
                  <a:txBody>
                    <a:bodyPr/>
                    <a:lstStyle/>
                    <a:p>
                      <a:pPr marL="0" indent="0">
                        <a:buNone/>
                      </a:pPr>
                      <a:r>
                        <a:rPr lang="fil-PH" sz="1400" b="1" dirty="0">
                          <a:solidFill>
                            <a:srgbClr val="D9661B"/>
                          </a:solidFill>
                          <a:latin typeface="Calibri" pitchFamily="34" charset="0"/>
                          <a:ea typeface="Calibri" pitchFamily="34" charset="-122"/>
                          <a:cs typeface="Calibri" pitchFamily="34" charset="-120"/>
                        </a:rPr>
                        <a:t>3 buwan</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fil-PH" sz="1400" dirty="0">
                          <a:solidFill>
                            <a:srgbClr val="1B2540"/>
                          </a:solidFill>
                          <a:latin typeface="Calibri" pitchFamily="34" charset="0"/>
                          <a:ea typeface="Calibri" pitchFamily="34" charset="-122"/>
                          <a:cs typeface="Calibri" pitchFamily="34" charset="-120"/>
                        </a:rPr>
                        <a:t>Deep freezer, pirmi sa −20°C</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tc>
                  <a:txBody>
                    <a:bodyPr/>
                    <a:lstStyle/>
                    <a:p>
                      <a:pPr marL="0" indent="0">
                        <a:buNone/>
                      </a:pPr>
                      <a:r>
                        <a:rPr lang="fil-PH" sz="1400" b="1" dirty="0">
                          <a:solidFill>
                            <a:srgbClr val="D9661B"/>
                          </a:solidFill>
                          <a:latin typeface="Calibri" pitchFamily="34" charset="0"/>
                          <a:ea typeface="Calibri" pitchFamily="34" charset="-122"/>
                          <a:cs typeface="Calibri" pitchFamily="34" charset="-120"/>
                        </a:rPr>
                        <a:t>6 buwan</a:t>
                      </a:r>
                      <a:endParaRPr lang="fil-PH"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bl>
          </a:graphicData>
        </a:graphic>
      </p:graphicFrame>
      <p:sp>
        <p:nvSpPr>
          <p:cNvPr id="5" name="Container tip card"/>
          <p:cNvSpPr/>
          <p:nvPr/>
        </p:nvSpPr>
        <p:spPr>
          <a:xfrm>
            <a:off x="6126480" y="1143000"/>
            <a:ext cx="2560320" cy="3200400"/>
          </a:xfrm>
          <a:prstGeom prst="roundRect">
            <a:avLst>
              <a:gd name="adj" fmla="val 4286"/>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6" name="Container circle"/>
          <p:cNvSpPr/>
          <p:nvPr/>
        </p:nvSpPr>
        <p:spPr>
          <a:xfrm>
            <a:off x="6309360" y="1325880"/>
            <a:ext cx="548640" cy="548640"/>
          </a:xfrm>
          <a:prstGeom prst="ellipse">
            <a:avLst/>
          </a:prstGeom>
          <a:solidFill>
            <a:schemeClr val="accent4"/>
          </a:solidFill>
          <a:ln w="12700">
            <a:solidFill>
              <a:schemeClr val="accent4"/>
            </a:solidFill>
            <a:prstDash val="solid"/>
          </a:ln>
        </p:spPr>
      </p:sp>
      <p:pic>
        <p:nvPicPr>
          <p:cNvPr id="4" name="Container glyph" descr="Container"/>
          <p:cNvPicPr>
            <a:picLocks noChangeAspect="1"/>
          </p:cNvPicPr>
          <p:nvPr/>
        </p:nvPicPr>
        <p:blipFill>
          <a:blip r:embed="rId4"/>
          <a:stretch>
            <a:fillRect/>
          </a:stretch>
        </p:blipFill>
        <p:spPr>
          <a:xfrm>
            <a:off x="6452006" y="1468526"/>
            <a:ext cx="263347" cy="263347"/>
          </a:xfrm>
          <a:prstGeom prst="rect">
            <a:avLst/>
          </a:prstGeom>
        </p:spPr>
      </p:pic>
      <p:sp>
        <p:nvSpPr>
          <p:cNvPr id="8" name="Tip heading"/>
          <p:cNvSpPr txBox="1"/>
          <p:nvPr/>
        </p:nvSpPr>
        <p:spPr>
          <a:xfrm>
            <a:off x="6309360" y="2011680"/>
            <a:ext cx="2194560" cy="594360"/>
          </a:xfrm>
          <a:prstGeom prst="rect">
            <a:avLst/>
          </a:prstGeom>
          <a:noFill/>
          <a:ln/>
        </p:spPr>
        <p:txBody>
          <a:bodyPr wrap="square" lIns="0" tIns="0" rIns="0" bIns="0" rtlCol="0" anchor="t"/>
          <a:lstStyle/>
          <a:p>
            <a:pPr marL="0" indent="0">
              <a:buNone/>
            </a:pPr>
            <a:r>
              <a:rPr lang="fil-PH" sz="1600" b="1" dirty="0">
                <a:solidFill>
                  <a:schemeClr val="tx1"/>
                </a:solidFill>
              </a:rPr>
              <a:t>Piliin ang tamang lalagyan</a:t>
            </a:r>
            <a:endParaRPr lang="fil-PH" sz="1600" dirty="0"/>
          </a:p>
        </p:txBody>
      </p:sp>
      <p:sp>
        <p:nvSpPr>
          <p:cNvPr id="9" name="Tip text"/>
          <p:cNvSpPr txBox="1"/>
          <p:nvPr/>
        </p:nvSpPr>
        <p:spPr>
          <a:xfrm>
            <a:off x="6309360" y="2697480"/>
            <a:ext cx="2194560" cy="1554480"/>
          </a:xfrm>
          <a:prstGeom prst="rect">
            <a:avLst/>
          </a:prstGeom>
          <a:noFill/>
          <a:ln/>
        </p:spPr>
        <p:txBody>
          <a:bodyPr wrap="square" lIns="0" tIns="0" rIns="0" bIns="0" rtlCol="0" anchor="t"/>
          <a:lstStyle/>
          <a:p>
            <a:pPr marL="0" indent="0">
              <a:buNone/>
            </a:pPr>
            <a:r>
              <a:rPr lang="fil-PH" sz="1400" dirty="0">
                <a:solidFill>
                  <a:schemeClr val="tx2"/>
                </a:solidFill>
              </a:rPr>
              <a:t>Gumamit ng sterile na polypropylene na lalagyan (malabo at matigas na plastik). Lagyan ng petsa at oras ang bawat isa.</a:t>
            </a:r>
            <a:endParaRPr lang="fil-PH" sz="1400" dirty="0"/>
          </a:p>
        </p:txBody>
      </p:sp>
      <p:sp>
        <p:nvSpPr>
          <p:cNvPr id="10" name="Back button">
            <a:hlinkClick r:id="rId5"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11" name="Next button">
            <a:hlinkClick r:id="rId6"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Magbasa nang malakas, araw-araw</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pic>
        <p:nvPicPr>
          <p:cNvPr id="4" name="Father and child photo" descr="Father crouching on the beach giving a high five to his toddler at sunset"/>
          <p:cNvPicPr>
            <a:picLocks noChangeAspect="1"/>
          </p:cNvPicPr>
          <p:nvPr/>
        </p:nvPicPr>
        <p:blipFill>
          <a:blip r:embed="rId4"/>
          <a:stretch>
            <a:fillRect/>
          </a:stretch>
        </p:blipFill>
        <p:spPr>
          <a:xfrm>
            <a:off x="457200" y="1143000"/>
            <a:ext cx="2468880" cy="1600200"/>
          </a:xfrm>
          <a:prstGeom prst="rect">
            <a:avLst/>
          </a:prstGeom>
        </p:spPr>
      </p:pic>
      <p:sp>
        <p:nvSpPr>
          <p:cNvPr id="5" name="Why read card"/>
          <p:cNvSpPr/>
          <p:nvPr/>
        </p:nvSpPr>
        <p:spPr>
          <a:xfrm>
            <a:off x="457200" y="2880360"/>
            <a:ext cx="246888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6" name="Why heading"/>
          <p:cNvSpPr txBox="1"/>
          <p:nvPr/>
        </p:nvSpPr>
        <p:spPr>
          <a:xfrm>
            <a:off x="621792" y="2971800"/>
            <a:ext cx="2194560" cy="347472"/>
          </a:xfrm>
          <a:prstGeom prst="rect">
            <a:avLst/>
          </a:prstGeom>
          <a:noFill/>
          <a:ln/>
        </p:spPr>
        <p:txBody>
          <a:bodyPr wrap="square" lIns="0" tIns="0" rIns="0" bIns="0" rtlCol="0" anchor="ctr"/>
          <a:lstStyle/>
          <a:p>
            <a:pPr marL="0" indent="0">
              <a:buNone/>
            </a:pPr>
            <a:r>
              <a:rPr lang="fil-PH" sz="1600" b="1" dirty="0">
                <a:solidFill>
                  <a:schemeClr val="tx1"/>
                </a:solidFill>
              </a:rPr>
              <a:t>Bakit mahalaga</a:t>
            </a:r>
            <a:endParaRPr lang="fil-PH" sz="1600" dirty="0"/>
          </a:p>
        </p:txBody>
      </p:sp>
      <p:sp>
        <p:nvSpPr>
          <p:cNvPr id="7" name="Why text"/>
          <p:cNvSpPr txBox="1"/>
          <p:nvPr/>
        </p:nvSpPr>
        <p:spPr>
          <a:xfrm>
            <a:off x="621792" y="3364992"/>
            <a:ext cx="2157984" cy="1097280"/>
          </a:xfrm>
          <a:prstGeom prst="rect">
            <a:avLst/>
          </a:prstGeom>
          <a:noFill/>
          <a:ln/>
        </p:spPr>
        <p:txBody>
          <a:bodyPr wrap="square" lIns="0" tIns="0" rIns="0" bIns="0" rtlCol="0" anchor="t"/>
          <a:lstStyle/>
          <a:p>
            <a:pPr marL="0" indent="0">
              <a:buNone/>
            </a:pPr>
            <a:r>
              <a:rPr lang="fil-PH" sz="1400" dirty="0">
                <a:solidFill>
                  <a:schemeClr val="tx2"/>
                </a:solidFill>
              </a:rPr>
              <a:t>Pinauunlad nito ang wika at literasiya, kaya handa ang bata sa pag-aaral at pagbabasa sa paaralan.</a:t>
            </a:r>
            <a:endParaRPr lang="fil-PH" sz="1400" dirty="0"/>
          </a:p>
        </p:txBody>
      </p:sp>
      <p:sp>
        <p:nvSpPr>
          <p:cNvPr id="8" name="Col age"/>
          <p:cNvSpPr txBox="1"/>
          <p:nvPr/>
        </p:nvSpPr>
        <p:spPr>
          <a:xfrm>
            <a:off x="3154680" y="1097280"/>
            <a:ext cx="914400" cy="274320"/>
          </a:xfrm>
          <a:prstGeom prst="rect">
            <a:avLst/>
          </a:prstGeom>
          <a:noFill/>
          <a:ln/>
        </p:spPr>
        <p:txBody>
          <a:bodyPr wrap="square" lIns="0" tIns="0" rIns="0" bIns="0" rtlCol="0" anchor="ctr"/>
          <a:lstStyle/>
          <a:p>
            <a:pPr marL="0" indent="0">
              <a:buNone/>
            </a:pPr>
            <a:r>
              <a:rPr lang="fil-PH" sz="1200" b="1" dirty="0">
                <a:solidFill>
                  <a:schemeClr val="tx2"/>
                </a:solidFill>
              </a:rPr>
              <a:t>Edad</a:t>
            </a:r>
            <a:endParaRPr lang="fil-PH" sz="1200" dirty="0"/>
          </a:p>
        </p:txBody>
      </p:sp>
      <p:sp>
        <p:nvSpPr>
          <p:cNvPr id="9" name="Col child"/>
          <p:cNvSpPr txBox="1"/>
          <p:nvPr/>
        </p:nvSpPr>
        <p:spPr>
          <a:xfrm>
            <a:off x="4206240" y="1097280"/>
            <a:ext cx="2011680" cy="274320"/>
          </a:xfrm>
          <a:prstGeom prst="rect">
            <a:avLst/>
          </a:prstGeom>
          <a:noFill/>
          <a:ln/>
        </p:spPr>
        <p:txBody>
          <a:bodyPr wrap="square" lIns="0" tIns="0" rIns="0" bIns="0" rtlCol="0" anchor="ctr"/>
          <a:lstStyle/>
          <a:p>
            <a:pPr marL="0" indent="0">
              <a:buNone/>
            </a:pPr>
            <a:r>
              <a:rPr lang="fil-PH" sz="1200" b="1" dirty="0">
                <a:solidFill>
                  <a:schemeClr val="tx2"/>
                </a:solidFill>
              </a:rPr>
              <a:t>Ang anak mo</a:t>
            </a:r>
            <a:endParaRPr lang="fil-PH" sz="1200" dirty="0"/>
          </a:p>
        </p:txBody>
      </p:sp>
      <p:sp>
        <p:nvSpPr>
          <p:cNvPr id="10" name="Col parent"/>
          <p:cNvSpPr txBox="1"/>
          <p:nvPr/>
        </p:nvSpPr>
        <p:spPr>
          <a:xfrm>
            <a:off x="6400800" y="1097280"/>
            <a:ext cx="2194560" cy="274320"/>
          </a:xfrm>
          <a:prstGeom prst="rect">
            <a:avLst/>
          </a:prstGeom>
          <a:noFill/>
          <a:ln/>
        </p:spPr>
        <p:txBody>
          <a:bodyPr wrap="square" lIns="0" tIns="0" rIns="0" bIns="0" rtlCol="0" anchor="ctr"/>
          <a:lstStyle/>
          <a:p>
            <a:pPr marL="0" indent="0">
              <a:buNone/>
            </a:pPr>
            <a:r>
              <a:rPr lang="fil-PH" sz="1200" b="1" dirty="0">
                <a:solidFill>
                  <a:schemeClr val="tx2"/>
                </a:solidFill>
              </a:rPr>
              <a:t>Magagawa mo</a:t>
            </a:r>
            <a:endParaRPr lang="fil-PH" sz="1200" dirty="0"/>
          </a:p>
        </p:txBody>
      </p:sp>
      <p:sp>
        <p:nvSpPr>
          <p:cNvPr id="11" name="Row 6–12 mo"/>
          <p:cNvSpPr/>
          <p:nvPr/>
        </p:nvSpPr>
        <p:spPr>
          <a:xfrm>
            <a:off x="3154680" y="1417320"/>
            <a:ext cx="5532120" cy="704088"/>
          </a:xfrm>
          <a:prstGeom prst="roundRect">
            <a:avLst>
              <a:gd name="adj" fmla="val 1558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2" name="Age 6–12 mo"/>
          <p:cNvSpPr/>
          <p:nvPr/>
        </p:nvSpPr>
        <p:spPr>
          <a:xfrm>
            <a:off x="3264408" y="1572768"/>
            <a:ext cx="914400" cy="393192"/>
          </a:xfrm>
          <a:prstGeom prst="roundRect">
            <a:avLst>
              <a:gd name="adj" fmla="val 18605"/>
            </a:avLst>
          </a:prstGeom>
          <a:solidFill>
            <a:schemeClr val="accent1"/>
          </a:solidFill>
          <a:ln/>
        </p:spPr>
        <p:txBody>
          <a:bodyPr wrap="square" lIns="0" tIns="0" rIns="0" bIns="0" rtlCol="0" anchor="ctr"/>
          <a:lstStyle/>
          <a:p>
            <a:pPr marL="0" indent="0" algn="ctr">
              <a:buNone/>
            </a:pPr>
            <a:r>
              <a:rPr lang="fil-PH" sz="1400" b="1" dirty="0">
                <a:solidFill>
                  <a:schemeClr val="bg1"/>
                </a:solidFill>
              </a:rPr>
              <a:t>6–12 bw</a:t>
            </a:r>
            <a:endParaRPr lang="fil-PH" sz="1400" dirty="0"/>
          </a:p>
        </p:txBody>
      </p:sp>
      <p:sp>
        <p:nvSpPr>
          <p:cNvPr id="13" name="Child 6–12 mo"/>
          <p:cNvSpPr txBox="1"/>
          <p:nvPr/>
        </p:nvSpPr>
        <p:spPr>
          <a:xfrm>
            <a:off x="4297680" y="1453896"/>
            <a:ext cx="2011680" cy="630936"/>
          </a:xfrm>
          <a:prstGeom prst="rect">
            <a:avLst/>
          </a:prstGeom>
          <a:noFill/>
          <a:ln/>
        </p:spPr>
        <p:txBody>
          <a:bodyPr wrap="square" lIns="0" tIns="0" rIns="0" bIns="0" rtlCol="0" anchor="ctr"/>
          <a:lstStyle/>
          <a:p>
            <a:pPr marL="0" indent="0">
              <a:buNone/>
            </a:pPr>
            <a:r>
              <a:rPr lang="fil-PH" sz="1400" dirty="0">
                <a:solidFill>
                  <a:schemeClr val="tx1"/>
                </a:solidFill>
              </a:rPr>
              <a:t>Nagbubuklat ng pahina nang may tulong</a:t>
            </a:r>
            <a:endParaRPr lang="fil-PH" sz="1400" dirty="0"/>
          </a:p>
        </p:txBody>
      </p:sp>
      <p:sp>
        <p:nvSpPr>
          <p:cNvPr id="14" name="Parent 6–12 mo"/>
          <p:cNvSpPr txBox="1"/>
          <p:nvPr/>
        </p:nvSpPr>
        <p:spPr>
          <a:xfrm>
            <a:off x="6400800" y="1453896"/>
            <a:ext cx="2194560" cy="630936"/>
          </a:xfrm>
          <a:prstGeom prst="rect">
            <a:avLst/>
          </a:prstGeom>
          <a:noFill/>
          <a:ln/>
        </p:spPr>
        <p:txBody>
          <a:bodyPr wrap="square" lIns="0" tIns="0" rIns="0" bIns="0" rtlCol="0" anchor="ctr"/>
          <a:lstStyle/>
          <a:p>
            <a:pPr marL="0" indent="0">
              <a:buNone/>
            </a:pPr>
            <a:r>
              <a:rPr lang="fil-PH" sz="1400" dirty="0">
                <a:solidFill>
                  <a:schemeClr val="tx2"/>
                </a:solidFill>
              </a:rPr>
              <a:t>Ituro at pangalanan ang mga larawan</a:t>
            </a:r>
            <a:endParaRPr lang="fil-PH" sz="1400" dirty="0"/>
          </a:p>
        </p:txBody>
      </p:sp>
      <p:sp>
        <p:nvSpPr>
          <p:cNvPr id="15" name="Row 12–18 mo"/>
          <p:cNvSpPr/>
          <p:nvPr/>
        </p:nvSpPr>
        <p:spPr>
          <a:xfrm>
            <a:off x="3154680" y="2194560"/>
            <a:ext cx="5532120" cy="704088"/>
          </a:xfrm>
          <a:prstGeom prst="roundRect">
            <a:avLst>
              <a:gd name="adj" fmla="val 1558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6" name="Age 12–18 mo"/>
          <p:cNvSpPr/>
          <p:nvPr/>
        </p:nvSpPr>
        <p:spPr>
          <a:xfrm>
            <a:off x="3264408" y="2350008"/>
            <a:ext cx="914400" cy="393192"/>
          </a:xfrm>
          <a:prstGeom prst="roundRect">
            <a:avLst>
              <a:gd name="adj" fmla="val 18605"/>
            </a:avLst>
          </a:prstGeom>
          <a:solidFill>
            <a:schemeClr val="accent2"/>
          </a:solidFill>
          <a:ln/>
        </p:spPr>
        <p:txBody>
          <a:bodyPr wrap="square" lIns="0" tIns="0" rIns="0" bIns="0" rtlCol="0" anchor="ctr"/>
          <a:lstStyle/>
          <a:p>
            <a:pPr marL="0" indent="0" algn="ctr">
              <a:buNone/>
            </a:pPr>
            <a:r>
              <a:rPr lang="fil-PH" sz="1400" b="1" dirty="0">
                <a:solidFill>
                  <a:schemeClr val="bg1"/>
                </a:solidFill>
              </a:rPr>
              <a:t>12–18 bw</a:t>
            </a:r>
            <a:endParaRPr lang="fil-PH" sz="1400" dirty="0"/>
          </a:p>
        </p:txBody>
      </p:sp>
      <p:sp>
        <p:nvSpPr>
          <p:cNvPr id="17" name="Child 12–18 mo"/>
          <p:cNvSpPr txBox="1"/>
          <p:nvPr/>
        </p:nvSpPr>
        <p:spPr>
          <a:xfrm>
            <a:off x="4297680" y="2231136"/>
            <a:ext cx="2011680" cy="630936"/>
          </a:xfrm>
          <a:prstGeom prst="rect">
            <a:avLst/>
          </a:prstGeom>
          <a:noFill/>
          <a:ln/>
        </p:spPr>
        <p:txBody>
          <a:bodyPr wrap="square" lIns="0" tIns="0" rIns="0" bIns="0" rtlCol="0" anchor="ctr"/>
          <a:lstStyle/>
          <a:p>
            <a:pPr marL="0" indent="0">
              <a:buNone/>
            </a:pPr>
            <a:r>
              <a:rPr lang="fil-PH" sz="1400" dirty="0">
                <a:solidFill>
                  <a:schemeClr val="tx1"/>
                </a:solidFill>
              </a:rPr>
              <a:t>Nakauupo nang walang suporta; hindi na isinusubo ang libro</a:t>
            </a:r>
            <a:endParaRPr lang="fil-PH" sz="1400" dirty="0"/>
          </a:p>
        </p:txBody>
      </p:sp>
      <p:sp>
        <p:nvSpPr>
          <p:cNvPr id="18" name="Parent 12–18 mo"/>
          <p:cNvSpPr txBox="1"/>
          <p:nvPr/>
        </p:nvSpPr>
        <p:spPr>
          <a:xfrm>
            <a:off x="6400800" y="2231136"/>
            <a:ext cx="2194560" cy="630936"/>
          </a:xfrm>
          <a:prstGeom prst="rect">
            <a:avLst/>
          </a:prstGeom>
          <a:noFill/>
          <a:ln/>
        </p:spPr>
        <p:txBody>
          <a:bodyPr wrap="square" lIns="0" tIns="0" rIns="0" bIns="0" rtlCol="0" anchor="ctr"/>
          <a:lstStyle/>
          <a:p>
            <a:pPr marL="0" indent="0">
              <a:buNone/>
            </a:pPr>
            <a:r>
              <a:rPr lang="fil-PH" sz="1400" dirty="0">
                <a:solidFill>
                  <a:schemeClr val="tx2"/>
                </a:solidFill>
              </a:rPr>
              <a:t>Tumugon kapag gusto ng anak mong magbasa</a:t>
            </a:r>
            <a:endParaRPr lang="fil-PH" sz="1400" dirty="0"/>
          </a:p>
        </p:txBody>
      </p:sp>
      <p:sp>
        <p:nvSpPr>
          <p:cNvPr id="19" name="Row 18–24 mo"/>
          <p:cNvSpPr/>
          <p:nvPr/>
        </p:nvSpPr>
        <p:spPr>
          <a:xfrm>
            <a:off x="3154680" y="2971800"/>
            <a:ext cx="5532120" cy="704088"/>
          </a:xfrm>
          <a:prstGeom prst="roundRect">
            <a:avLst>
              <a:gd name="adj" fmla="val 1558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0" name="Age 18–24 mo"/>
          <p:cNvSpPr/>
          <p:nvPr/>
        </p:nvSpPr>
        <p:spPr>
          <a:xfrm>
            <a:off x="3264408" y="3127248"/>
            <a:ext cx="914400" cy="393192"/>
          </a:xfrm>
          <a:prstGeom prst="roundRect">
            <a:avLst>
              <a:gd name="adj" fmla="val 18605"/>
            </a:avLst>
          </a:prstGeom>
          <a:solidFill>
            <a:schemeClr val="accent4"/>
          </a:solidFill>
          <a:ln/>
        </p:spPr>
        <p:txBody>
          <a:bodyPr wrap="square" lIns="0" tIns="0" rIns="0" bIns="0" rtlCol="0" anchor="ctr"/>
          <a:lstStyle/>
          <a:p>
            <a:pPr marL="0" indent="0" algn="ctr">
              <a:buNone/>
            </a:pPr>
            <a:r>
              <a:rPr lang="fil-PH" sz="1400" b="1" dirty="0">
                <a:solidFill>
                  <a:schemeClr val="bg1"/>
                </a:solidFill>
              </a:rPr>
              <a:t>18–24 bw</a:t>
            </a:r>
            <a:endParaRPr lang="fil-PH" sz="1400" dirty="0"/>
          </a:p>
        </p:txBody>
      </p:sp>
      <p:sp>
        <p:nvSpPr>
          <p:cNvPr id="21" name="Child 18–24 mo"/>
          <p:cNvSpPr txBox="1"/>
          <p:nvPr/>
        </p:nvSpPr>
        <p:spPr>
          <a:xfrm>
            <a:off x="4297680" y="3008376"/>
            <a:ext cx="2011680" cy="630936"/>
          </a:xfrm>
          <a:prstGeom prst="rect">
            <a:avLst/>
          </a:prstGeom>
          <a:noFill/>
          <a:ln/>
        </p:spPr>
        <p:txBody>
          <a:bodyPr wrap="square" lIns="0" tIns="0" rIns="0" bIns="0" rtlCol="0" anchor="ctr"/>
          <a:lstStyle/>
          <a:p>
            <a:pPr marL="0" indent="0">
              <a:buNone/>
            </a:pPr>
            <a:r>
              <a:rPr lang="fil-PH" sz="1400" dirty="0">
                <a:solidFill>
                  <a:schemeClr val="tx1"/>
                </a:solidFill>
              </a:rPr>
              <a:t>Nagbubuklat ng board book; nakapagpapangalan ng larawan</a:t>
            </a:r>
            <a:endParaRPr lang="fil-PH" sz="1400" dirty="0"/>
          </a:p>
        </p:txBody>
      </p:sp>
      <p:sp>
        <p:nvSpPr>
          <p:cNvPr id="22" name="Parent 18–24 mo"/>
          <p:cNvSpPr txBox="1"/>
          <p:nvPr/>
        </p:nvSpPr>
        <p:spPr>
          <a:xfrm>
            <a:off x="6400800" y="3008376"/>
            <a:ext cx="2194560" cy="630936"/>
          </a:xfrm>
          <a:prstGeom prst="rect">
            <a:avLst/>
          </a:prstGeom>
          <a:noFill/>
          <a:ln/>
        </p:spPr>
        <p:txBody>
          <a:bodyPr wrap="square" lIns="0" tIns="0" rIns="0" bIns="0" rtlCol="0" anchor="ctr"/>
          <a:lstStyle/>
          <a:p>
            <a:pPr marL="0" indent="0">
              <a:buNone/>
            </a:pPr>
            <a:r>
              <a:rPr lang="fil-PH" sz="1400" dirty="0">
                <a:solidFill>
                  <a:schemeClr val="tx2"/>
                </a:solidFill>
              </a:rPr>
              <a:t>Iugnay ang mga libro sa araw-araw; magbigay ng krayola at papel</a:t>
            </a:r>
            <a:endParaRPr lang="fil-PH" sz="1400" dirty="0"/>
          </a:p>
        </p:txBody>
      </p:sp>
      <p:sp>
        <p:nvSpPr>
          <p:cNvPr id="23" name="Row 3 yrs+"/>
          <p:cNvSpPr/>
          <p:nvPr/>
        </p:nvSpPr>
        <p:spPr>
          <a:xfrm>
            <a:off x="3154680" y="3749040"/>
            <a:ext cx="5532120" cy="704088"/>
          </a:xfrm>
          <a:prstGeom prst="roundRect">
            <a:avLst>
              <a:gd name="adj" fmla="val 1558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4" name="Age 3 yrs+"/>
          <p:cNvSpPr/>
          <p:nvPr/>
        </p:nvSpPr>
        <p:spPr>
          <a:xfrm>
            <a:off x="3264408" y="3904488"/>
            <a:ext cx="914400" cy="393192"/>
          </a:xfrm>
          <a:prstGeom prst="roundRect">
            <a:avLst>
              <a:gd name="adj" fmla="val 18605"/>
            </a:avLst>
          </a:prstGeom>
          <a:solidFill>
            <a:schemeClr val="accent5"/>
          </a:solidFill>
          <a:ln/>
        </p:spPr>
        <p:txBody>
          <a:bodyPr wrap="square" lIns="0" tIns="0" rIns="0" bIns="0" rtlCol="0" anchor="ctr"/>
          <a:lstStyle/>
          <a:p>
            <a:pPr marL="0" indent="0" algn="ctr">
              <a:buNone/>
            </a:pPr>
            <a:r>
              <a:rPr lang="fil-PH" sz="1400" b="1" dirty="0">
                <a:solidFill>
                  <a:schemeClr val="bg1"/>
                </a:solidFill>
              </a:rPr>
              <a:t>3 taon+</a:t>
            </a:r>
            <a:endParaRPr lang="fil-PH" sz="1400" dirty="0"/>
          </a:p>
        </p:txBody>
      </p:sp>
      <p:sp>
        <p:nvSpPr>
          <p:cNvPr id="25" name="Child 3 yrs+"/>
          <p:cNvSpPr txBox="1"/>
          <p:nvPr/>
        </p:nvSpPr>
        <p:spPr>
          <a:xfrm>
            <a:off x="4297680" y="3785616"/>
            <a:ext cx="2011680" cy="630936"/>
          </a:xfrm>
          <a:prstGeom prst="rect">
            <a:avLst/>
          </a:prstGeom>
          <a:noFill/>
          <a:ln/>
        </p:spPr>
        <p:txBody>
          <a:bodyPr wrap="square" lIns="0" tIns="0" rIns="0" bIns="0" rtlCol="0" anchor="ctr"/>
          <a:lstStyle/>
          <a:p>
            <a:pPr marL="0" indent="0">
              <a:buNone/>
            </a:pPr>
            <a:r>
              <a:rPr lang="fil-PH" sz="1400" dirty="0">
                <a:solidFill>
                  <a:schemeClr val="tx1"/>
                </a:solidFill>
              </a:rPr>
              <a:t>Mahusay humawak ng libro; mahilig sa mas mahabang kuwento</a:t>
            </a:r>
            <a:endParaRPr lang="fil-PH" sz="1400" dirty="0"/>
          </a:p>
        </p:txBody>
      </p:sp>
      <p:sp>
        <p:nvSpPr>
          <p:cNvPr id="26" name="Parent 3 yrs+"/>
          <p:cNvSpPr txBox="1"/>
          <p:nvPr/>
        </p:nvSpPr>
        <p:spPr>
          <a:xfrm>
            <a:off x="6400800" y="3785616"/>
            <a:ext cx="2194560" cy="630936"/>
          </a:xfrm>
          <a:prstGeom prst="rect">
            <a:avLst/>
          </a:prstGeom>
          <a:noFill/>
          <a:ln/>
        </p:spPr>
        <p:txBody>
          <a:bodyPr wrap="square" lIns="0" tIns="0" rIns="0" bIns="0" rtlCol="0" anchor="ctr"/>
          <a:lstStyle/>
          <a:p>
            <a:pPr marL="0" indent="0">
              <a:buNone/>
            </a:pPr>
            <a:r>
              <a:rPr lang="fil-PH" sz="1400" dirty="0">
                <a:solidFill>
                  <a:schemeClr val="tx2"/>
                </a:solidFill>
              </a:rPr>
              <a:t>Itanong ang “Ano ang nangyayari?”</a:t>
            </a:r>
            <a:endParaRPr lang="fil-PH" sz="1400" dirty="0"/>
          </a:p>
        </p:txBody>
      </p:sp>
      <p:sp>
        <p:nvSpPr>
          <p:cNvPr id="27" name="Back button">
            <a:hlinkClick r:id="rId5"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28" name="Next button">
            <a:hlinkClick r:id="rId6"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Protektahan ang bata sa pinsala</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Safety step 1"/>
          <p:cNvSpPr/>
          <p:nvPr/>
        </p:nvSpPr>
        <p:spPr>
          <a:xfrm>
            <a:off x="457200" y="1143000"/>
            <a:ext cx="1920240" cy="2423160"/>
          </a:xfrm>
          <a:prstGeom prst="roundRect">
            <a:avLst>
              <a:gd name="adj" fmla="val 571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5" name="Safety 1 badge"/>
          <p:cNvSpPr/>
          <p:nvPr/>
        </p:nvSpPr>
        <p:spPr>
          <a:xfrm>
            <a:off x="621792" y="1307592"/>
            <a:ext cx="457200" cy="457200"/>
          </a:xfrm>
          <a:prstGeom prst="ellipse">
            <a:avLst/>
          </a:prstGeom>
          <a:solidFill>
            <a:schemeClr val="accent1"/>
          </a:solidFill>
          <a:ln w="12700">
            <a:solidFill>
              <a:schemeClr val="accent1"/>
            </a:solidFill>
            <a:prstDash val="solid"/>
          </a:ln>
        </p:spPr>
      </p:sp>
      <p:sp>
        <p:nvSpPr>
          <p:cNvPr id="6" name="Safety 1 number"/>
          <p:cNvSpPr txBox="1"/>
          <p:nvPr/>
        </p:nvSpPr>
        <p:spPr>
          <a:xfrm>
            <a:off x="621792" y="1307592"/>
            <a:ext cx="457200" cy="457200"/>
          </a:xfrm>
          <a:prstGeom prst="rect">
            <a:avLst/>
          </a:prstGeom>
          <a:noFill/>
          <a:ln/>
        </p:spPr>
        <p:txBody>
          <a:bodyPr wrap="square" lIns="0" tIns="0" rIns="0" bIns="0" rtlCol="0" anchor="ctr"/>
          <a:lstStyle/>
          <a:p>
            <a:pPr marL="0" indent="0" algn="ctr">
              <a:buNone/>
            </a:pPr>
            <a:r>
              <a:rPr lang="fil-PH" sz="1800" b="1" dirty="0">
                <a:solidFill>
                  <a:schemeClr val="bg1"/>
                </a:solidFill>
              </a:rPr>
              <a:t>1</a:t>
            </a:r>
            <a:endParaRPr lang="fil-PH" sz="1800" dirty="0"/>
          </a:p>
        </p:txBody>
      </p:sp>
      <p:sp>
        <p:nvSpPr>
          <p:cNvPr id="7" name="Safety 1 heading"/>
          <p:cNvSpPr txBox="1"/>
          <p:nvPr/>
        </p:nvSpPr>
        <p:spPr>
          <a:xfrm>
            <a:off x="621792" y="1856232"/>
            <a:ext cx="1600200" cy="457200"/>
          </a:xfrm>
          <a:prstGeom prst="rect">
            <a:avLst/>
          </a:prstGeom>
          <a:noFill/>
          <a:ln/>
        </p:spPr>
        <p:txBody>
          <a:bodyPr wrap="square" lIns="0" tIns="0" rIns="0" bIns="0" rtlCol="0" anchor="t"/>
          <a:lstStyle/>
          <a:p>
            <a:pPr marL="0" indent="0">
              <a:buNone/>
            </a:pPr>
            <a:r>
              <a:rPr lang="fil-PH" sz="1600" b="1" dirty="0">
                <a:solidFill>
                  <a:schemeClr val="tx1"/>
                </a:solidFill>
              </a:rPr>
              <a:t>Alamin ang totoo</a:t>
            </a:r>
            <a:endParaRPr lang="fil-PH" sz="1600" dirty="0"/>
          </a:p>
        </p:txBody>
      </p:sp>
      <p:sp>
        <p:nvSpPr>
          <p:cNvPr id="8" name="Safety 1 text"/>
          <p:cNvSpPr txBox="1"/>
          <p:nvPr/>
        </p:nvSpPr>
        <p:spPr>
          <a:xfrm>
            <a:off x="621792" y="2331720"/>
            <a:ext cx="1627632" cy="1188720"/>
          </a:xfrm>
          <a:prstGeom prst="rect">
            <a:avLst/>
          </a:prstGeom>
          <a:noFill/>
          <a:ln/>
        </p:spPr>
        <p:txBody>
          <a:bodyPr wrap="square" lIns="0" tIns="0" rIns="0" bIns="0" rtlCol="0" anchor="t"/>
          <a:lstStyle/>
          <a:p>
            <a:pPr marL="0" indent="0">
              <a:buNone/>
            </a:pPr>
            <a:r>
              <a:rPr lang="fil-PH" sz="1400" dirty="0">
                <a:solidFill>
                  <a:schemeClr val="tx2"/>
                </a:solidFill>
              </a:rPr>
              <a:t>Karamihan ng nang-aabuso ay kakilala. Halos pareho ang dalas sa lalaki at babae.</a:t>
            </a:r>
            <a:endParaRPr lang="fil-PH" sz="1400" dirty="0"/>
          </a:p>
        </p:txBody>
      </p:sp>
      <p:sp>
        <p:nvSpPr>
          <p:cNvPr id="9" name="Safety step 2"/>
          <p:cNvSpPr/>
          <p:nvPr/>
        </p:nvSpPr>
        <p:spPr>
          <a:xfrm>
            <a:off x="2560320" y="1143000"/>
            <a:ext cx="1920240" cy="2423160"/>
          </a:xfrm>
          <a:prstGeom prst="roundRect">
            <a:avLst>
              <a:gd name="adj" fmla="val 571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0" name="Safety 2 badge"/>
          <p:cNvSpPr/>
          <p:nvPr/>
        </p:nvSpPr>
        <p:spPr>
          <a:xfrm>
            <a:off x="2724912" y="1307592"/>
            <a:ext cx="457200" cy="457200"/>
          </a:xfrm>
          <a:prstGeom prst="ellipse">
            <a:avLst/>
          </a:prstGeom>
          <a:solidFill>
            <a:schemeClr val="accent2"/>
          </a:solidFill>
          <a:ln w="12700">
            <a:solidFill>
              <a:schemeClr val="accent2"/>
            </a:solidFill>
            <a:prstDash val="solid"/>
          </a:ln>
        </p:spPr>
      </p:sp>
      <p:sp>
        <p:nvSpPr>
          <p:cNvPr id="11" name="Safety 2 number"/>
          <p:cNvSpPr txBox="1"/>
          <p:nvPr/>
        </p:nvSpPr>
        <p:spPr>
          <a:xfrm>
            <a:off x="2724912" y="1307592"/>
            <a:ext cx="457200" cy="457200"/>
          </a:xfrm>
          <a:prstGeom prst="rect">
            <a:avLst/>
          </a:prstGeom>
          <a:noFill/>
          <a:ln/>
        </p:spPr>
        <p:txBody>
          <a:bodyPr wrap="square" lIns="0" tIns="0" rIns="0" bIns="0" rtlCol="0" anchor="ctr"/>
          <a:lstStyle/>
          <a:p>
            <a:pPr marL="0" indent="0" algn="ctr">
              <a:buNone/>
            </a:pPr>
            <a:r>
              <a:rPr lang="fil-PH" sz="1800" b="1" dirty="0">
                <a:solidFill>
                  <a:schemeClr val="bg1"/>
                </a:solidFill>
              </a:rPr>
              <a:t>2</a:t>
            </a:r>
            <a:endParaRPr lang="fil-PH" sz="1800" dirty="0"/>
          </a:p>
        </p:txBody>
      </p:sp>
      <p:sp>
        <p:nvSpPr>
          <p:cNvPr id="12" name="Safety 2 heading"/>
          <p:cNvSpPr txBox="1"/>
          <p:nvPr/>
        </p:nvSpPr>
        <p:spPr>
          <a:xfrm>
            <a:off x="2724912" y="1856232"/>
            <a:ext cx="1600200" cy="457200"/>
          </a:xfrm>
          <a:prstGeom prst="rect">
            <a:avLst/>
          </a:prstGeom>
          <a:noFill/>
          <a:ln/>
        </p:spPr>
        <p:txBody>
          <a:bodyPr wrap="square" lIns="0" tIns="0" rIns="0" bIns="0" rtlCol="0" anchor="t"/>
          <a:lstStyle/>
          <a:p>
            <a:pPr marL="0" indent="0">
              <a:buNone/>
            </a:pPr>
            <a:r>
              <a:rPr lang="fil-PH" sz="1600" b="1" dirty="0">
                <a:solidFill>
                  <a:schemeClr val="tx1"/>
                </a:solidFill>
              </a:rPr>
              <a:t>Iwas-panganib</a:t>
            </a:r>
            <a:endParaRPr lang="fil-PH" sz="1600" dirty="0"/>
          </a:p>
        </p:txBody>
      </p:sp>
      <p:sp>
        <p:nvSpPr>
          <p:cNvPr id="13" name="Safety 2 text"/>
          <p:cNvSpPr txBox="1"/>
          <p:nvPr/>
        </p:nvSpPr>
        <p:spPr>
          <a:xfrm>
            <a:off x="2724912" y="2331720"/>
            <a:ext cx="1627632" cy="1188720"/>
          </a:xfrm>
          <a:prstGeom prst="rect">
            <a:avLst/>
          </a:prstGeom>
          <a:noFill/>
          <a:ln/>
        </p:spPr>
        <p:txBody>
          <a:bodyPr wrap="square" lIns="0" tIns="0" rIns="0" bIns="0" rtlCol="0" anchor="t"/>
          <a:lstStyle/>
          <a:p>
            <a:pPr marL="0" indent="0">
              <a:buNone/>
            </a:pPr>
            <a:r>
              <a:rPr lang="fil-PH" sz="1400" dirty="0">
                <a:solidFill>
                  <a:schemeClr val="tx2"/>
                </a:solidFill>
              </a:rPr>
              <a:t>Iwasan ang isang adulto lang sa isang bata: dito nangyayari ang mahigit 80% ng kaso.</a:t>
            </a:r>
            <a:endParaRPr lang="fil-PH" sz="1400" dirty="0"/>
          </a:p>
        </p:txBody>
      </p:sp>
      <p:sp>
        <p:nvSpPr>
          <p:cNvPr id="14" name="Safety step 3"/>
          <p:cNvSpPr/>
          <p:nvPr/>
        </p:nvSpPr>
        <p:spPr>
          <a:xfrm>
            <a:off x="4663440" y="1143000"/>
            <a:ext cx="1920240" cy="2423160"/>
          </a:xfrm>
          <a:prstGeom prst="roundRect">
            <a:avLst>
              <a:gd name="adj" fmla="val 571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5" name="Safety 3 badge"/>
          <p:cNvSpPr/>
          <p:nvPr/>
        </p:nvSpPr>
        <p:spPr>
          <a:xfrm>
            <a:off x="4828032" y="1307592"/>
            <a:ext cx="457200" cy="457200"/>
          </a:xfrm>
          <a:prstGeom prst="ellipse">
            <a:avLst/>
          </a:prstGeom>
          <a:solidFill>
            <a:schemeClr val="accent4"/>
          </a:solidFill>
          <a:ln w="12700">
            <a:solidFill>
              <a:schemeClr val="accent4"/>
            </a:solidFill>
            <a:prstDash val="solid"/>
          </a:ln>
        </p:spPr>
      </p:sp>
      <p:sp>
        <p:nvSpPr>
          <p:cNvPr id="16" name="Safety 3 number"/>
          <p:cNvSpPr txBox="1"/>
          <p:nvPr/>
        </p:nvSpPr>
        <p:spPr>
          <a:xfrm>
            <a:off x="4828032" y="1307592"/>
            <a:ext cx="457200" cy="457200"/>
          </a:xfrm>
          <a:prstGeom prst="rect">
            <a:avLst/>
          </a:prstGeom>
          <a:noFill/>
          <a:ln/>
        </p:spPr>
        <p:txBody>
          <a:bodyPr wrap="square" lIns="0" tIns="0" rIns="0" bIns="0" rtlCol="0" anchor="ctr"/>
          <a:lstStyle/>
          <a:p>
            <a:pPr marL="0" indent="0" algn="ctr">
              <a:buNone/>
            </a:pPr>
            <a:r>
              <a:rPr lang="fil-PH" sz="1800" b="1" dirty="0">
                <a:solidFill>
                  <a:schemeClr val="bg1"/>
                </a:solidFill>
              </a:rPr>
              <a:t>3</a:t>
            </a:r>
            <a:endParaRPr lang="fil-PH" sz="1800" dirty="0"/>
          </a:p>
        </p:txBody>
      </p:sp>
      <p:sp>
        <p:nvSpPr>
          <p:cNvPr id="17" name="Safety 3 heading"/>
          <p:cNvSpPr txBox="1"/>
          <p:nvPr/>
        </p:nvSpPr>
        <p:spPr>
          <a:xfrm>
            <a:off x="4828032" y="1856232"/>
            <a:ext cx="1600200" cy="457200"/>
          </a:xfrm>
          <a:prstGeom prst="rect">
            <a:avLst/>
          </a:prstGeom>
          <a:noFill/>
          <a:ln/>
        </p:spPr>
        <p:txBody>
          <a:bodyPr wrap="square" lIns="0" tIns="0" rIns="0" bIns="0" rtlCol="0" anchor="t"/>
          <a:lstStyle/>
          <a:p>
            <a:pPr marL="0" indent="0">
              <a:buNone/>
            </a:pPr>
            <a:r>
              <a:rPr lang="fil-PH" sz="1600" b="1" dirty="0">
                <a:solidFill>
                  <a:schemeClr val="tx1"/>
                </a:solidFill>
              </a:rPr>
              <a:t>Pag-usapan ito</a:t>
            </a:r>
            <a:endParaRPr lang="fil-PH" sz="1600" dirty="0"/>
          </a:p>
        </p:txBody>
      </p:sp>
      <p:sp>
        <p:nvSpPr>
          <p:cNvPr id="18" name="Safety 3 text"/>
          <p:cNvSpPr txBox="1"/>
          <p:nvPr/>
        </p:nvSpPr>
        <p:spPr>
          <a:xfrm>
            <a:off x="4828032" y="2331720"/>
            <a:ext cx="1627632" cy="1188720"/>
          </a:xfrm>
          <a:prstGeom prst="rect">
            <a:avLst/>
          </a:prstGeom>
          <a:noFill/>
          <a:ln/>
        </p:spPr>
        <p:txBody>
          <a:bodyPr wrap="square" lIns="0" tIns="0" rIns="0" bIns="0" rtlCol="0" anchor="t"/>
          <a:lstStyle/>
          <a:p>
            <a:pPr marL="0" indent="0">
              <a:buNone/>
            </a:pPr>
            <a:r>
              <a:rPr lang="fil-PH" sz="1400" dirty="0">
                <a:solidFill>
                  <a:schemeClr val="tx2"/>
                </a:solidFill>
              </a:rPr>
              <a:t>Ituro sa mga bata kung aling bahagi ng katawan ang hindi dapat hawakan ng iba.</a:t>
            </a:r>
            <a:endParaRPr lang="fil-PH" sz="1400" dirty="0"/>
          </a:p>
        </p:txBody>
      </p:sp>
      <p:sp>
        <p:nvSpPr>
          <p:cNvPr id="19" name="Safety step 4"/>
          <p:cNvSpPr/>
          <p:nvPr/>
        </p:nvSpPr>
        <p:spPr>
          <a:xfrm>
            <a:off x="6766560" y="1143000"/>
            <a:ext cx="1920240" cy="2423160"/>
          </a:xfrm>
          <a:prstGeom prst="roundRect">
            <a:avLst>
              <a:gd name="adj" fmla="val 571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0" name="Safety 4 badge"/>
          <p:cNvSpPr/>
          <p:nvPr/>
        </p:nvSpPr>
        <p:spPr>
          <a:xfrm>
            <a:off x="6931152" y="1307592"/>
            <a:ext cx="457200" cy="457200"/>
          </a:xfrm>
          <a:prstGeom prst="ellipse">
            <a:avLst/>
          </a:prstGeom>
          <a:solidFill>
            <a:schemeClr val="accent5"/>
          </a:solidFill>
          <a:ln w="12700">
            <a:solidFill>
              <a:schemeClr val="accent5"/>
            </a:solidFill>
            <a:prstDash val="solid"/>
          </a:ln>
        </p:spPr>
      </p:sp>
      <p:sp>
        <p:nvSpPr>
          <p:cNvPr id="21" name="Safety 4 number"/>
          <p:cNvSpPr txBox="1"/>
          <p:nvPr/>
        </p:nvSpPr>
        <p:spPr>
          <a:xfrm>
            <a:off x="6931152" y="1307592"/>
            <a:ext cx="457200" cy="457200"/>
          </a:xfrm>
          <a:prstGeom prst="rect">
            <a:avLst/>
          </a:prstGeom>
          <a:noFill/>
          <a:ln/>
        </p:spPr>
        <p:txBody>
          <a:bodyPr wrap="square" lIns="0" tIns="0" rIns="0" bIns="0" rtlCol="0" anchor="ctr"/>
          <a:lstStyle/>
          <a:p>
            <a:pPr marL="0" indent="0" algn="ctr">
              <a:buNone/>
            </a:pPr>
            <a:r>
              <a:rPr lang="fil-PH" sz="1800" b="1" dirty="0">
                <a:solidFill>
                  <a:schemeClr val="bg1"/>
                </a:solidFill>
              </a:rPr>
              <a:t>4</a:t>
            </a:r>
            <a:endParaRPr lang="fil-PH" sz="1800" dirty="0"/>
          </a:p>
        </p:txBody>
      </p:sp>
      <p:sp>
        <p:nvSpPr>
          <p:cNvPr id="22" name="Safety 4 heading"/>
          <p:cNvSpPr txBox="1"/>
          <p:nvPr/>
        </p:nvSpPr>
        <p:spPr>
          <a:xfrm>
            <a:off x="6931152" y="1856232"/>
            <a:ext cx="1600200" cy="457200"/>
          </a:xfrm>
          <a:prstGeom prst="rect">
            <a:avLst/>
          </a:prstGeom>
          <a:noFill/>
          <a:ln/>
        </p:spPr>
        <p:txBody>
          <a:bodyPr wrap="square" lIns="0" tIns="0" rIns="0" bIns="0" rtlCol="0" anchor="t"/>
          <a:lstStyle/>
          <a:p>
            <a:pPr marL="0" indent="0">
              <a:buNone/>
            </a:pPr>
            <a:r>
              <a:rPr lang="fil-PH" sz="1600" b="1" dirty="0">
                <a:solidFill>
                  <a:schemeClr val="tx1"/>
                </a:solidFill>
              </a:rPr>
              <a:t>Senyales</a:t>
            </a:r>
            <a:endParaRPr lang="fil-PH" sz="1600" dirty="0"/>
          </a:p>
        </p:txBody>
      </p:sp>
      <p:sp>
        <p:nvSpPr>
          <p:cNvPr id="23" name="Safety 4 text"/>
          <p:cNvSpPr txBox="1"/>
          <p:nvPr/>
        </p:nvSpPr>
        <p:spPr>
          <a:xfrm>
            <a:off x="6931152" y="2331720"/>
            <a:ext cx="1627632" cy="1188720"/>
          </a:xfrm>
          <a:prstGeom prst="rect">
            <a:avLst/>
          </a:prstGeom>
          <a:noFill/>
          <a:ln/>
        </p:spPr>
        <p:txBody>
          <a:bodyPr wrap="square" lIns="0" tIns="0" rIns="0" bIns="0" rtlCol="0" anchor="t"/>
          <a:lstStyle/>
          <a:p>
            <a:pPr marL="0" indent="0">
              <a:buNone/>
            </a:pPr>
            <a:r>
              <a:rPr lang="fil-PH" sz="1400" dirty="0">
                <a:solidFill>
                  <a:schemeClr val="tx2"/>
                </a:solidFill>
              </a:rPr>
              <a:t>Pagiging mailap, hindi maipaliwanag na galit, takot sa isang tao, o biglang pagbaba sa paaralan.</a:t>
            </a:r>
            <a:endParaRPr lang="fil-PH" sz="1400" dirty="0"/>
          </a:p>
        </p:txBody>
      </p:sp>
      <p:sp>
        <p:nvSpPr>
          <p:cNvPr id="24" name="If a child tells you banner"/>
          <p:cNvSpPr/>
          <p:nvPr/>
        </p:nvSpPr>
        <p:spPr>
          <a:xfrm>
            <a:off x="457200" y="3703320"/>
            <a:ext cx="8229600" cy="868680"/>
          </a:xfrm>
          <a:prstGeom prst="roundRect">
            <a:avLst>
              <a:gd name="adj" fmla="val 12632"/>
            </a:avLst>
          </a:prstGeom>
          <a:solidFill>
            <a:schemeClr val="tx1"/>
          </a:solidFill>
          <a:ln w="12700">
            <a:solidFill>
              <a:schemeClr val="tx1"/>
            </a:solidFill>
            <a:prstDash val="solid"/>
          </a:ln>
        </p:spPr>
      </p:sp>
      <p:sp>
        <p:nvSpPr>
          <p:cNvPr id="25" name="If a child tells you text"/>
          <p:cNvSpPr txBox="1"/>
          <p:nvPr/>
        </p:nvSpPr>
        <p:spPr>
          <a:xfrm>
            <a:off x="640080" y="3703320"/>
            <a:ext cx="7863840" cy="868680"/>
          </a:xfrm>
          <a:prstGeom prst="rect">
            <a:avLst/>
          </a:prstGeom>
          <a:noFill/>
          <a:ln/>
        </p:spPr>
        <p:txBody>
          <a:bodyPr wrap="square" lIns="0" tIns="0" rIns="0" bIns="0" rtlCol="0" anchor="ctr"/>
          <a:lstStyle/>
          <a:p>
            <a:pPr marL="0" indent="0">
              <a:buNone/>
            </a:pPr>
            <a:r>
              <a:rPr lang="fil-PH" sz="1400" b="1" dirty="0">
                <a:solidFill>
                  <a:schemeClr val="accent3"/>
                </a:solidFill>
              </a:rPr>
              <a:t>Kapag may sinabi sa iyo ang bata: </a:t>
            </a:r>
            <a:r>
              <a:rPr lang="fil-PH" sz="1400" dirty="0">
                <a:solidFill>
                  <a:schemeClr val="bg1"/>
                </a:solidFill>
              </a:rPr>
              <a:t>paniwalaan sila, pasalamatan sa tapang na magsabi, hayaang magkuwento nang walang leading questions, at humingi ng propesyonal na tulong. May Child Protection Units sa PGH, PCMC at East Avenue Medical Center.</a:t>
            </a:r>
            <a:endParaRPr lang="fil-PH" sz="1400" dirty="0"/>
          </a:p>
        </p:txBody>
      </p:sp>
      <p:sp>
        <p:nvSpPr>
          <p:cNvPr id="26" name="Back button">
            <a:hlinkClick r:id="rId4"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27" name="Next button">
            <a:hlinkClick r:id="rId5"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High five photo" descr="A father and his toddler high-five at sunset on the beach"/>
          <p:cNvPicPr>
            <a:picLocks noChangeAspect="1"/>
          </p:cNvPicPr>
          <p:nvPr/>
        </p:nvPicPr>
        <p:blipFill>
          <a:blip r:embed="rId3"/>
          <a:stretch>
            <a:fillRect/>
          </a:stretch>
        </p:blipFill>
        <p:spPr>
          <a:xfrm>
            <a:off x="4754880" y="0"/>
            <a:ext cx="4389120" cy="5143500"/>
          </a:xfrm>
          <a:prstGeom prst="rect">
            <a:avLst/>
          </a:prstGeom>
        </p:spPr>
      </p:pic>
      <p:sp>
        <p:nvSpPr>
          <p:cNvPr id="3" name="Eyebrow"/>
          <p:cNvSpPr txBox="1"/>
          <p:nvPr/>
        </p:nvSpPr>
        <p:spPr>
          <a:xfrm>
            <a:off x="548640" y="1097280"/>
            <a:ext cx="3931920" cy="320040"/>
          </a:xfrm>
          <a:prstGeom prst="rect">
            <a:avLst/>
          </a:prstGeom>
          <a:noFill/>
          <a:ln/>
        </p:spPr>
        <p:txBody>
          <a:bodyPr wrap="square" lIns="0" tIns="0" rIns="0" bIns="0" rtlCol="0" anchor="ctr"/>
          <a:lstStyle/>
          <a:p>
            <a:pPr marL="0" indent="0">
              <a:buNone/>
            </a:pPr>
            <a:r>
              <a:rPr lang="fil-PH" sz="1400" b="1" kern="0" spc="400" dirty="0">
                <a:solidFill>
                  <a:schemeClr val="accent3"/>
                </a:solidFill>
              </a:rPr>
              <a:t>MABILIS NA QUIZ</a:t>
            </a:r>
            <a:endParaRPr lang="fil-PH" sz="1400" dirty="0"/>
          </a:p>
        </p:txBody>
      </p:sp>
      <p:sp>
        <p:nvSpPr>
          <p:cNvPr id="4" name="Quiz title"/>
          <p:cNvSpPr txBox="1"/>
          <p:nvPr/>
        </p:nvSpPr>
        <p:spPr>
          <a:xfrm>
            <a:off x="548640" y="1508760"/>
            <a:ext cx="3931920" cy="1280160"/>
          </a:xfrm>
          <a:prstGeom prst="rect">
            <a:avLst/>
          </a:prstGeom>
          <a:noFill/>
          <a:ln/>
        </p:spPr>
        <p:txBody>
          <a:bodyPr wrap="square" lIns="0" tIns="0" rIns="0" bIns="0" rtlCol="0" anchor="t"/>
          <a:lstStyle/>
          <a:p>
            <a:pPr marL="0" indent="0">
              <a:buNone/>
            </a:pPr>
            <a:r>
              <a:rPr lang="fil-PH" sz="3600" b="1" dirty="0">
                <a:solidFill>
                  <a:schemeClr val="bg1"/>
                </a:solidFill>
                <a:latin typeface="+mj-lt" pitchFamily="34" charset="0"/>
                <a:ea typeface="+mj-lt" pitchFamily="34" charset="-122"/>
                <a:cs typeface="+mj-lt" pitchFamily="34" charset="-120"/>
              </a:rPr>
              <a:t>Subukan ang natutunan mo</a:t>
            </a:r>
            <a:endParaRPr lang="fil-PH" sz="3600" dirty="0"/>
          </a:p>
        </p:txBody>
      </p:sp>
      <p:sp>
        <p:nvSpPr>
          <p:cNvPr id="5" name="Quiz instructions"/>
          <p:cNvSpPr txBox="1"/>
          <p:nvPr/>
        </p:nvSpPr>
        <p:spPr>
          <a:xfrm>
            <a:off x="548640" y="2926080"/>
            <a:ext cx="3840480" cy="822960"/>
          </a:xfrm>
          <a:prstGeom prst="rect">
            <a:avLst/>
          </a:prstGeom>
          <a:noFill/>
          <a:ln/>
        </p:spPr>
        <p:txBody>
          <a:bodyPr wrap="square" lIns="0" tIns="0" rIns="0" bIns="0" rtlCol="0" anchor="t"/>
          <a:lstStyle/>
          <a:p>
            <a:pPr marL="0" indent="0">
              <a:buNone/>
            </a:pPr>
            <a:r>
              <a:rPr lang="fil-PH" sz="1600" dirty="0">
                <a:solidFill>
                  <a:schemeClr val="bg1"/>
                </a:solidFill>
              </a:rPr>
              <a:t>4 na tanong. Pindutin ang sagot para malaman kung tama ka. Mali? Puwede kang sumubok muli.</a:t>
            </a:r>
            <a:endParaRPr lang="fil-PH" sz="1600" dirty="0"/>
          </a:p>
        </p:txBody>
      </p:sp>
      <p:sp>
        <p:nvSpPr>
          <p:cNvPr id="6" name="Start quiz">
            <a:hlinkClick r:id="rId4" action="ppaction://hlinksldjump" tooltip="Go to question 1"/>
          </p:cNvPr>
          <p:cNvSpPr/>
          <p:nvPr/>
        </p:nvSpPr>
        <p:spPr>
          <a:xfrm>
            <a:off x="548640" y="3977640"/>
            <a:ext cx="1645920" cy="420624"/>
          </a:xfrm>
          <a:prstGeom prst="roundRect">
            <a:avLst>
              <a:gd name="adj" fmla="val 50000"/>
            </a:avLst>
          </a:prstGeom>
          <a:solidFill>
            <a:schemeClr val="accent3"/>
          </a:solidFill>
          <a:ln/>
        </p:spPr>
        <p:txBody>
          <a:bodyPr wrap="square" lIns="0" tIns="0" rIns="0" bIns="0" rtlCol="0" anchor="ctr"/>
          <a:lstStyle/>
          <a:p>
            <a:pPr marL="0" indent="0" algn="ctr">
              <a:buNone/>
            </a:pPr>
            <a:r>
              <a:rPr lang="fil-PH" sz="1400" b="1" dirty="0">
                <a:solidFill>
                  <a:schemeClr val="tx1"/>
                </a:solidFill>
              </a:rPr>
              <a:t>Simulan ang quiz</a:t>
            </a:r>
            <a:endParaRPr lang="fil-PH" sz="1400" dirty="0"/>
          </a:p>
        </p:txBody>
      </p:sp>
      <p:sp>
        <p:nvSpPr>
          <p:cNvPr id="7" name="Menu button">
            <a:hlinkClick r:id="rId5" action="ppaction://hlinksldjump" tooltip="Back to the topic menu"/>
          </p:cNvPr>
          <p:cNvSpPr/>
          <p:nvPr/>
        </p:nvSpPr>
        <p:spPr>
          <a:xfrm>
            <a:off x="2377440" y="3977640"/>
            <a:ext cx="1280160" cy="420624"/>
          </a:xfrm>
          <a:prstGeom prst="roundRect">
            <a:avLst>
              <a:gd name="adj" fmla="val 50000"/>
            </a:avLst>
          </a:prstGeom>
          <a:solidFill>
            <a:schemeClr val="tx2"/>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Tanong 1 ng 4</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fil-PH" sz="1200" b="1" kern="0" spc="200" dirty="0">
                <a:solidFill>
                  <a:schemeClr val="accent1"/>
                </a:solidFill>
              </a:rPr>
              <a:t>MAAGANG DISCHARGE</a:t>
            </a:r>
            <a:endParaRPr lang="fil-PH"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Ang bagong silang ay pinauwi wala pang 48 oras matapos ipanganak. Ano ang dapat sumunod?</a:t>
            </a:r>
            <a:endParaRPr lang="fil-PH"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A    </a:t>
            </a:r>
            <a:r>
              <a:rPr lang="fil-PH" sz="1600" dirty="0">
                <a:solidFill>
                  <a:schemeClr val="tx1"/>
                </a:solidFill>
              </a:rPr>
              <a:t>Hindi kailangan ng visit hanggang sa 6-linggong check</a:t>
            </a:r>
            <a:endParaRPr lang="fil-PH"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B    </a:t>
            </a:r>
            <a:r>
              <a:rPr lang="fil-PH" sz="1600" dirty="0">
                <a:solidFill>
                  <a:schemeClr val="tx1"/>
                </a:solidFill>
              </a:rPr>
              <a:t>Check-up sa loob ng 48 oras mula sa discharge</a:t>
            </a:r>
            <a:endParaRPr lang="fil-PH" sz="2000" dirty="0"/>
          </a:p>
        </p:txBody>
      </p:sp>
      <p:sp>
        <p:nvSpPr>
          <p:cNvPr id="8" name="Answer C">
            <a:hlinkClick r:id="rId4"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C    </a:t>
            </a:r>
            <a:r>
              <a:rPr lang="fil-PH" sz="1600" dirty="0">
                <a:solidFill>
                  <a:schemeClr val="tx1"/>
                </a:solidFill>
              </a:rPr>
              <a:t>Visit pagkalipas ng isang buwan</a:t>
            </a:r>
            <a:endParaRPr lang="fil-PH"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Tama!</a:t>
            </a:r>
            <a:endParaRPr lang="fil-PH"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Check-up sa loob ng 48 oras mula sa discharge</a:t>
            </a:r>
            <a:endParaRPr lang="fil-PH"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fil-PH" sz="1800" dirty="0">
                <a:solidFill>
                  <a:schemeClr val="tx2"/>
                </a:solidFill>
              </a:rPr>
              <a:t>Ang mga sanggol na maagang na-discharge ay kailangan ng tiyak na appointment at pagsusuri sa loob ng 48 oras mula sa discharge.</a:t>
            </a:r>
            <a:endParaRPr lang="fil-PH"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na tanong ›</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Hindi pa tama</a:t>
            </a:r>
            <a:endParaRPr lang="fil-PH"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fil-PH" sz="1400" b="1" dirty="0">
                <a:solidFill>
                  <a:schemeClr val="accent2"/>
                </a:solidFill>
              </a:rPr>
              <a:t>Hint</a:t>
            </a:r>
            <a:endParaRPr lang="fil-PH"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Isipin kung gaano kabilis dapat muling makita ang sanggol na maagang na-discharge.</a:t>
            </a:r>
            <a:endParaRPr lang="fil-PH"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Subukan muli</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Tanong 2 ng 4</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fil-PH" sz="1200" b="1" kern="0" spc="200" dirty="0">
                <a:solidFill>
                  <a:schemeClr val="accent1"/>
                </a:solidFill>
              </a:rPr>
              <a:t>PAGPAPASUSO</a:t>
            </a:r>
            <a:endParaRPr lang="fil-PH"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Gaano katagal maiimbak ang pinigang gatas ng ina sa refrigerator na 4°C?</a:t>
            </a:r>
            <a:endParaRPr lang="fil-PH"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A    </a:t>
            </a:r>
            <a:r>
              <a:rPr lang="fil-PH" sz="1600" dirty="0">
                <a:solidFill>
                  <a:schemeClr val="tx1"/>
                </a:solidFill>
              </a:rPr>
              <a:t>4 na oras</a:t>
            </a:r>
            <a:endParaRPr lang="fil-PH" sz="2000" dirty="0"/>
          </a:p>
        </p:txBody>
      </p:sp>
      <p:sp>
        <p:nvSpPr>
          <p:cNvPr id="7" name="Answer B">
            <a:hlinkClick r:id="rId4"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B    </a:t>
            </a:r>
            <a:r>
              <a:rPr lang="fil-PH" sz="1600" dirty="0">
                <a:solidFill>
                  <a:schemeClr val="tx1"/>
                </a:solidFill>
              </a:rPr>
              <a:t>3 buwan</a:t>
            </a:r>
            <a:endParaRPr lang="fil-PH"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C    </a:t>
            </a:r>
            <a:r>
              <a:rPr lang="fil-PH" sz="1600" dirty="0">
                <a:solidFill>
                  <a:schemeClr val="tx1"/>
                </a:solidFill>
              </a:rPr>
              <a:t>8 araw</a:t>
            </a:r>
            <a:endParaRPr lang="fil-PH"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Tama!</a:t>
            </a:r>
            <a:endParaRPr lang="fil-PH"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8 araw</a:t>
            </a:r>
            <a:endParaRPr lang="fil-PH"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fil-PH" sz="1800" dirty="0">
                <a:solidFill>
                  <a:schemeClr val="tx2"/>
                </a:solidFill>
              </a:rPr>
              <a:t>Refrigerator (4°C): hanggang 8 araw. Temperatura ng kuwarto na mas mababa sa 25°C: 4 na oras. Freezer ng 2-pinto na ref: 3 buwan.</a:t>
            </a:r>
            <a:endParaRPr lang="fil-PH"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na tanong ›</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Hindi pa tama</a:t>
            </a:r>
            <a:endParaRPr lang="fil-PH"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fil-PH" sz="1400" b="1" dirty="0">
                <a:solidFill>
                  <a:schemeClr val="accent2"/>
                </a:solidFill>
              </a:rPr>
              <a:t>Hint</a:t>
            </a:r>
            <a:endParaRPr lang="fil-PH"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Ang imbak sa ref ay sinusukat sa araw, hindi oras o buwan.</a:t>
            </a:r>
            <a:endParaRPr lang="fil-PH"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Subukan muli</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Tanong 3 ng 4</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fil-PH" sz="1200" b="1" kern="0" spc="200" dirty="0">
                <a:solidFill>
                  <a:schemeClr val="accent1"/>
                </a:solidFill>
              </a:rPr>
              <a:t>PAGPAPASUSO</a:t>
            </a:r>
            <a:endParaRPr lang="fil-PH"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Alin ang naglalarawan ng magandang posisyon sa pagpapasuso?</a:t>
            </a:r>
            <a:endParaRPr lang="fil-PH"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A    </a:t>
            </a:r>
            <a:r>
              <a:rPr lang="fil-PH" sz="1600" dirty="0">
                <a:solidFill>
                  <a:schemeClr val="tx1"/>
                </a:solidFill>
              </a:rPr>
              <a:t>Tiyan sa tiyan, dibdib sa dibdib, mukha sa mukha</a:t>
            </a:r>
            <a:endParaRPr lang="fil-PH"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B    </a:t>
            </a:r>
            <a:r>
              <a:rPr lang="fil-PH" sz="1600" dirty="0">
                <a:solidFill>
                  <a:schemeClr val="tx1"/>
                </a:solidFill>
              </a:rPr>
              <a:t>Nakahiga sa likod ang sanggol, nakatalikod ang ulo</a:t>
            </a:r>
            <a:endParaRPr lang="fil-PH"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C    </a:t>
            </a:r>
            <a:r>
              <a:rPr lang="fil-PH" sz="1600" dirty="0">
                <a:solidFill>
                  <a:schemeClr val="tx1"/>
                </a:solidFill>
              </a:rPr>
              <a:t>Dulo lang ng utong ang nasa bibig</a:t>
            </a:r>
            <a:endParaRPr lang="fil-PH"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Tama!</a:t>
            </a:r>
            <a:endParaRPr lang="fil-PH"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Tiyan sa tiyan, dibdib sa dibdib, mukha sa mukha</a:t>
            </a:r>
            <a:endParaRPr lang="fil-PH"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fil-PH" sz="1800" dirty="0">
                <a:solidFill>
                  <a:schemeClr val="tx2"/>
                </a:solidFill>
              </a:rPr>
              <a:t>Tuwid ang ulo, likod at balakang ng sanggol at nakaharap sa suso: mukha sa mukha, dibdib sa dibdib, tiyan sa tiyan.</a:t>
            </a:r>
            <a:endParaRPr lang="fil-PH"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na tanong ›</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Hindi pa tama</a:t>
            </a:r>
            <a:endParaRPr lang="fil-PH"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fil-PH" sz="1400" b="1" dirty="0">
                <a:solidFill>
                  <a:schemeClr val="accent2"/>
                </a:solidFill>
              </a:rPr>
              <a:t>Hint</a:t>
            </a:r>
            <a:endParaRPr lang="fil-PH"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Dapat nakaharap ang sanggol sa suso, buong nakaharap sa ina.</a:t>
            </a:r>
            <a:endParaRPr lang="fil-PH"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Subukan muli</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Tanong 4 ng 4</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fil-PH" sz="1200" b="1" kern="0" spc="200" dirty="0">
                <a:solidFill>
                  <a:schemeClr val="accent1"/>
                </a:solidFill>
              </a:rPr>
              <a:t>PROTEKSYON SA BATA</a:t>
            </a:r>
            <a:endParaRPr lang="fil-PH"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May sinabi ang isang bata na may nananakit sa kanya. Ano ang unang gagawin mo?</a:t>
            </a:r>
            <a:endParaRPr lang="fil-PH"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A    </a:t>
            </a:r>
            <a:r>
              <a:rPr lang="fil-PH" sz="1600" dirty="0">
                <a:solidFill>
                  <a:schemeClr val="tx1"/>
                </a:solidFill>
              </a:rPr>
              <a:t>Maghintay at tingnan kung mauulit</a:t>
            </a:r>
            <a:endParaRPr lang="fil-PH"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B    </a:t>
            </a:r>
            <a:r>
              <a:rPr lang="fil-PH" sz="1600" dirty="0">
                <a:solidFill>
                  <a:schemeClr val="tx1"/>
                </a:solidFill>
              </a:rPr>
              <a:t>Paniwalaan ang bata at pasalamatan sa tapang na magsabi</a:t>
            </a:r>
            <a:endParaRPr lang="fil-PH" sz="2000" dirty="0"/>
          </a:p>
        </p:txBody>
      </p:sp>
      <p:sp>
        <p:nvSpPr>
          <p:cNvPr id="8" name="Answer C">
            <a:hlinkClick r:id="rId4"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fil-PH" sz="2000" b="1" dirty="0">
                <a:solidFill>
                  <a:schemeClr val="accent1"/>
                </a:solidFill>
              </a:rPr>
              <a:t>C    </a:t>
            </a:r>
            <a:r>
              <a:rPr lang="fil-PH" sz="1600" dirty="0">
                <a:solidFill>
                  <a:schemeClr val="tx1"/>
                </a:solidFill>
              </a:rPr>
              <a:t>Magtanong nang maraming detalye para patunayan ang kuwento</a:t>
            </a:r>
            <a:endParaRPr lang="fil-PH"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Tama!</a:t>
            </a:r>
            <a:endParaRPr lang="fil-PH"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Paniwalaan ang bata at pasalamatan sa tapang na magsabi</a:t>
            </a:r>
            <a:endParaRPr lang="fil-PH"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fil-PH" sz="1800" dirty="0">
                <a:solidFill>
                  <a:schemeClr val="tx2"/>
                </a:solidFill>
              </a:rPr>
              <a:t>Paniwalaan ang bata, pasalamatan, hayaang magkuwento nang walang leading questions, at humingi ng propesyonal na tulong.</a:t>
            </a:r>
            <a:endParaRPr lang="fil-PH"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Tapusin ›</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Hindi pa tama</a:t>
            </a:r>
            <a:endParaRPr lang="fil-PH"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fil-PH" sz="1400" b="1" dirty="0">
                <a:solidFill>
                  <a:schemeClr val="accent2"/>
                </a:solidFill>
              </a:rPr>
              <a:t>Hint</a:t>
            </a:r>
            <a:endParaRPr lang="fil-PH"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Magsimula sa tiwala at pasasalamat. Iwasan ang leading questions.</a:t>
            </a:r>
            <a:endParaRPr lang="fil-PH"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Subukan muli</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Family photo" descr="Silhouette of two parents swinging a child between them in a sunny field"/>
          <p:cNvPicPr>
            <a:picLocks noChangeAspect="1"/>
          </p:cNvPicPr>
          <p:nvPr/>
        </p:nvPicPr>
        <p:blipFill>
          <a:blip r:embed="rId3"/>
          <a:stretch>
            <a:fillRect/>
          </a:stretch>
        </p:blipFill>
        <p:spPr>
          <a:xfrm>
            <a:off x="4937760" y="0"/>
            <a:ext cx="4206240" cy="5143500"/>
          </a:xfrm>
          <a:prstGeom prst="rect">
            <a:avLst/>
          </a:prstGeom>
        </p:spPr>
      </p:pic>
      <p:sp>
        <p:nvSpPr>
          <p:cNvPr id="3" name="Eyebrow"/>
          <p:cNvSpPr txBox="1"/>
          <p:nvPr/>
        </p:nvSpPr>
        <p:spPr>
          <a:xfrm>
            <a:off x="548640" y="640080"/>
            <a:ext cx="4023360" cy="320040"/>
          </a:xfrm>
          <a:prstGeom prst="rect">
            <a:avLst/>
          </a:prstGeom>
          <a:noFill/>
          <a:ln/>
        </p:spPr>
        <p:txBody>
          <a:bodyPr wrap="square" lIns="0" tIns="0" rIns="0" bIns="0" rtlCol="0" anchor="ctr"/>
          <a:lstStyle/>
          <a:p>
            <a:pPr marL="0" indent="0">
              <a:buNone/>
            </a:pPr>
            <a:r>
              <a:rPr lang="fil-PH" sz="1400" b="1" kern="0" spc="400" dirty="0">
                <a:solidFill>
                  <a:schemeClr val="accent3"/>
                </a:solidFill>
              </a:rPr>
              <a:t>MAHUSAY!</a:t>
            </a:r>
            <a:endParaRPr lang="fil-PH" sz="1400" dirty="0"/>
          </a:p>
        </p:txBody>
      </p:sp>
      <p:sp>
        <p:nvSpPr>
          <p:cNvPr id="4" name="Closing title"/>
          <p:cNvSpPr txBox="1"/>
          <p:nvPr/>
        </p:nvSpPr>
        <p:spPr>
          <a:xfrm>
            <a:off x="548640" y="1005840"/>
            <a:ext cx="4114800" cy="1188720"/>
          </a:xfrm>
          <a:prstGeom prst="rect">
            <a:avLst/>
          </a:prstGeom>
          <a:noFill/>
          <a:ln/>
        </p:spPr>
        <p:txBody>
          <a:bodyPr wrap="square" lIns="0" tIns="0" rIns="0" bIns="0" rtlCol="0" anchor="t"/>
          <a:lstStyle/>
          <a:p>
            <a:pPr marL="0" indent="0">
              <a:buNone/>
            </a:pPr>
            <a:r>
              <a:rPr lang="fil-PH" sz="3400" b="1" dirty="0">
                <a:solidFill>
                  <a:schemeClr val="bg1"/>
                </a:solidFill>
                <a:latin typeface="+mj-lt" pitchFamily="34" charset="0"/>
                <a:ea typeface="+mj-lt" pitchFamily="34" charset="-122"/>
                <a:cs typeface="+mj-lt" pitchFamily="34" charset="-120"/>
              </a:rPr>
              <a:t>Maliit na gawi, malaking bukas</a:t>
            </a:r>
            <a:endParaRPr lang="fil-PH" sz="3400" dirty="0"/>
          </a:p>
        </p:txBody>
      </p:sp>
      <p:sp>
        <p:nvSpPr>
          <p:cNvPr id="5" name="Takeaways"/>
          <p:cNvSpPr txBox="1"/>
          <p:nvPr/>
        </p:nvSpPr>
        <p:spPr>
          <a:xfrm>
            <a:off x="548640" y="2286000"/>
            <a:ext cx="4114800" cy="1645920"/>
          </a:xfrm>
          <a:prstGeom prst="rect">
            <a:avLst/>
          </a:prstGeom>
          <a:noFill/>
          <a:ln/>
        </p:spPr>
        <p:txBody>
          <a:bodyPr wrap="square" lIns="0" tIns="0" rIns="0" bIns="0" rtlCol="0" anchor="t"/>
          <a:lstStyle/>
          <a:p>
            <a:pPr marL="177800" indent="-177800">
              <a:spcAft>
                <a:spcPts val="800"/>
              </a:spcAft>
              <a:buSzPct val="100000"/>
              <a:buChar char="•"/>
            </a:pPr>
            <a:r>
              <a:rPr lang="fil-PH" sz="1600" dirty="0">
                <a:solidFill>
                  <a:schemeClr val="bg1"/>
                </a:solidFill>
              </a:rPr>
              <a:t>Magsimula nang maayos: patuyuin, skin-to-skin, magkasama</a:t>
            </a:r>
            <a:endParaRPr lang="fil-PH" sz="1600" dirty="0"/>
          </a:p>
          <a:p>
            <a:pPr marL="177800" indent="-177800">
              <a:spcAft>
                <a:spcPts val="800"/>
              </a:spcAft>
              <a:buSzPct val="100000"/>
              <a:buChar char="•"/>
            </a:pPr>
            <a:r>
              <a:rPr lang="fil-PH" sz="1600" dirty="0">
                <a:solidFill>
                  <a:schemeClr val="bg1"/>
                </a:solidFill>
              </a:rPr>
              <a:t>Tamang latch, ligtas na pag-iimbak ng gatas</a:t>
            </a:r>
            <a:endParaRPr lang="fil-PH" sz="1600" dirty="0"/>
          </a:p>
          <a:p>
            <a:pPr marL="177800" indent="-177800">
              <a:spcAft>
                <a:spcPts val="800"/>
              </a:spcAft>
              <a:buSzPct val="100000"/>
              <a:buChar char="•"/>
            </a:pPr>
            <a:r>
              <a:rPr lang="fil-PH" sz="1600" dirty="0">
                <a:solidFill>
                  <a:schemeClr val="bg1"/>
                </a:solidFill>
              </a:rPr>
              <a:t>Magbasa nang malakas araw-araw</a:t>
            </a:r>
            <a:endParaRPr lang="fil-PH" sz="1600" dirty="0"/>
          </a:p>
          <a:p>
            <a:pPr marL="177800" indent="-177800">
              <a:spcAft>
                <a:spcPts val="800"/>
              </a:spcAft>
              <a:buSzPct val="100000"/>
              <a:buChar char="•"/>
            </a:pPr>
            <a:r>
              <a:rPr lang="fil-PH" sz="1600" dirty="0">
                <a:solidFill>
                  <a:schemeClr val="bg1"/>
                </a:solidFill>
              </a:rPr>
              <a:t>Laging paniwalaan ang batang nagsasabi sa iyo</a:t>
            </a:r>
            <a:endParaRPr lang="fil-PH" sz="1600" dirty="0"/>
          </a:p>
        </p:txBody>
      </p:sp>
      <p:sp>
        <p:nvSpPr>
          <p:cNvPr id="6" name="Menu button">
            <a:hlinkClick r:id="rId4" action="ppaction://hlinksldjump" tooltip="Open the topic menu"/>
          </p:cNvPr>
          <p:cNvSpPr/>
          <p:nvPr/>
        </p:nvSpPr>
        <p:spPr>
          <a:xfrm>
            <a:off x="548640" y="4160520"/>
            <a:ext cx="1828800" cy="420624"/>
          </a:xfrm>
          <a:prstGeom prst="roundRect">
            <a:avLst>
              <a:gd name="adj" fmla="val 50000"/>
            </a:avLst>
          </a:prstGeom>
          <a:solidFill>
            <a:schemeClr val="accent3"/>
          </a:solidFill>
          <a:ln/>
        </p:spPr>
        <p:txBody>
          <a:bodyPr wrap="square" lIns="0" tIns="0" rIns="0" bIns="0" rtlCol="0" anchor="ctr"/>
          <a:lstStyle/>
          <a:p>
            <a:pPr marL="0" indent="0" algn="ctr">
              <a:buNone/>
            </a:pPr>
            <a:r>
              <a:rPr lang="fil-PH" sz="1400" b="1" dirty="0">
                <a:solidFill>
                  <a:schemeClr val="tx1"/>
                </a:solidFill>
              </a:rPr>
              <a:t>Bumalik sa menu</a:t>
            </a:r>
            <a:endParaRPr lang="fil-PH" sz="1400" dirty="0"/>
          </a:p>
        </p:txBody>
      </p:sp>
      <p:sp>
        <p:nvSpPr>
          <p:cNvPr id="7" name="Retake button">
            <a:hlinkClick r:id="rId5" action="ppaction://hlinksldjump" tooltip="Restart the quiz"/>
          </p:cNvPr>
          <p:cNvSpPr/>
          <p:nvPr/>
        </p:nvSpPr>
        <p:spPr>
          <a:xfrm>
            <a:off x="2560320" y="4160520"/>
            <a:ext cx="1645920" cy="420624"/>
          </a:xfrm>
          <a:prstGeom prst="roundRect">
            <a:avLst>
              <a:gd name="adj" fmla="val 50000"/>
            </a:avLst>
          </a:prstGeom>
          <a:solidFill>
            <a:schemeClr val="tx2"/>
          </a:solidFill>
          <a:ln/>
        </p:spPr>
        <p:txBody>
          <a:bodyPr wrap="square" lIns="0" tIns="0" rIns="0" bIns="0" rtlCol="0" anchor="ctr"/>
          <a:lstStyle/>
          <a:p>
            <a:pPr marL="0" indent="0" algn="ctr">
              <a:buNone/>
            </a:pPr>
            <a:r>
              <a:rPr lang="fil-PH" sz="1400" b="1" dirty="0">
                <a:solidFill>
                  <a:schemeClr val="bg1"/>
                </a:solidFill>
              </a:rPr>
              <a:t>Ulitin ang quiz</a:t>
            </a:r>
            <a:endParaRPr lang="fil-PH"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Magandang latch: panoorin ang video</a:t>
            </a:r>
            <a:endParaRPr lang="fil-PH" sz="3000" dirty="0"/>
          </a:p>
        </p:txBody>
      </p:sp>
      <p:sp>
        <p:nvSpPr>
          <p:cNvPr id="3" name="Menu button">
            <a:hlinkClick r:id="rId2"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pic>
        <p:nvPicPr>
          <p:cNvPr id="6" name="Latch video" descr="Video: how to get a good latch"/>
          <p:cNvPicPr/>
          <p:nvPr>
            <a:videoFile r:link="rId5"/>
          </p:nvPr>
        </p:nvPicPr>
        <p:blipFill>
          <a:blip r:embed="rId6"/>
          <a:stretch>
            <a:fillRect/>
          </a:stretch>
        </p:blipFill>
        <p:spPr>
          <a:xfrm>
            <a:off x="1874519" y="1005840"/>
            <a:ext cx="5394960" cy="3034893"/>
          </a:xfrm>
          <a:prstGeom prst="rect">
            <a:avLst/>
          </a:prstGeom>
        </p:spPr>
      </p:pic>
      <p:sp>
        <p:nvSpPr>
          <p:cNvPr id="7" name="Video note"/>
          <p:cNvSpPr txBox="1"/>
          <p:nvPr/>
        </p:nvSpPr>
        <p:spPr>
          <a:xfrm>
            <a:off x="914400" y="4160520"/>
            <a:ext cx="7315200" cy="365760"/>
          </a:xfrm>
          <a:prstGeom prst="rect">
            <a:avLst/>
          </a:prstGeom>
          <a:noFill/>
        </p:spPr>
        <p:txBody>
          <a:bodyPr wrap="square" lIns="0" tIns="0" rIns="0" bIns="0" anchor="ctr"/>
          <a:lstStyle/>
          <a:p>
            <a:pPr algn="ctr">
              <a:buNone/>
            </a:pPr>
            <a:r>
              <a:rPr lang="en-US" sz="1100" dirty="0">
                <a:solidFill>
                  <a:schemeClr val="tx1"/>
                </a:solidFill>
              </a:rPr>
              <a:t>I-click ang video para i-play. Online ito, kaya kailangan ng internet (youtu.be/GaX03lxP5CA).</a:t>
            </a:r>
          </a:p>
        </p:txBody>
      </p:sp>
      <p:sp>
        <p:nvSpPr>
          <p:cNvPr id="4" name="Back button">
            <a:hlinkClick r:id="rId3" action="ppaction://hlinksldjump" tooltip="Previous slide"/>
          </p:cNvPr>
          <p:cNvSpPr/>
          <p:nvPr/>
        </p:nvSpPr>
        <p:spPr>
          <a:xfrm>
            <a:off x="59893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5" name="Next button">
            <a:hlinkClick r:id="rId4" action="ppaction://hlinksldjump" tooltip="Next slide"/>
          </p:cNvPr>
          <p:cNvSpPr/>
          <p:nvPr/>
        </p:nvSpPr>
        <p:spPr>
          <a:xfrm>
            <a:off x="7132320" y="4636008"/>
            <a:ext cx="15544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Pag-iimbak ›</a:t>
            </a:r>
            <a:endParaRPr lang="fil-PH" sz="1400" dirty="0"/>
          </a:p>
        </p:txBody>
      </p:sp>
    </p:spTree>
  </p:cSld>
  <p:clrMapOvr>
    <a:masterClrMapping/>
  </p:clrMapOvr>
</p:sld>
</file>

<file path=ppt/theme/theme1.xml><?xml version="1.0" encoding="utf-8"?>
<a:theme xmlns:a="http://schemas.openxmlformats.org/drawingml/2006/main" name="Sunset Family">
  <a:themeElements>
    <a:clrScheme name="Sunset Family">
      <a:dk1>
        <a:srgbClr val="1B2540"/>
      </a:dk1>
      <a:lt1>
        <a:srgbClr val="FFFFFF"/>
      </a:lt1>
      <a:dk2>
        <a:srgbClr val="2E3A66"/>
      </a:dk2>
      <a:lt2>
        <a:srgbClr val="F2F5FA"/>
      </a:lt2>
      <a:accent1>
        <a:srgbClr val="D9661B"/>
      </a:accent1>
      <a:accent2>
        <a:srgbClr val="D6455D"/>
      </a:accent2>
      <a:accent3>
        <a:srgbClr val="F6B93B"/>
      </a:accent3>
      <a:accent4>
        <a:srgbClr val="237F73"/>
      </a:accent4>
      <a:accent5>
        <a:srgbClr val="6556B8"/>
      </a:accent5>
      <a:accent6>
        <a:srgbClr val="3B78C4"/>
      </a:accent6>
      <a:hlink>
        <a:srgbClr val="3B78C4"/>
      </a:hlink>
      <a:folHlink>
        <a:srgbClr val="6556B8"/>
      </a:folHlink>
    </a:clrScheme>
    <a:fontScheme name="Sunset Famil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1386</Words>
  <Application>Microsoft Office PowerPoint</Application>
  <PresentationFormat>On-screen Show (16:9)</PresentationFormat>
  <Paragraphs>237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Sunset Family</vt:lpstr>
      <vt:lpstr>PowerPoint Presentation</vt:lpstr>
      <vt:lpstr>Pick a topic to explore</vt:lpstr>
      <vt:lpstr>The first hour matters</vt:lpstr>
      <vt:lpstr>Going home early</vt:lpstr>
      <vt:lpstr>Breastfeeding: position and latch</vt:lpstr>
      <vt:lpstr>How long can expressed milk keep?</vt:lpstr>
      <vt:lpstr>Read aloud, every day</vt:lpstr>
      <vt:lpstr>Protecting children from harm</vt:lpstr>
      <vt:lpstr>PowerPoint Presentation</vt:lpstr>
      <vt:lpstr>Question 1 of 4</vt:lpstr>
      <vt:lpstr>Correct!</vt:lpstr>
      <vt:lpstr>Not quite</vt:lpstr>
      <vt:lpstr>Question 2 of 4</vt:lpstr>
      <vt:lpstr>Correct!</vt:lpstr>
      <vt:lpstr>Not quite</vt:lpstr>
      <vt:lpstr>Question 3 of 4</vt:lpstr>
      <vt:lpstr>Correct!</vt:lpstr>
      <vt:lpstr>Not quite</vt:lpstr>
      <vt:lpstr>Question 4 of 4</vt:lpstr>
      <vt:lpstr>Correct!</vt:lpstr>
      <vt:lpstr>Not quite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Gabay sa Pagpapalaki</dc:title>
  <dc:subject>Interactive parenting guide based on REdbook notes</dc:subject>
  <dc:creator>Justine Miguel F. Aguilos</dc:creator>
  <cp:lastModifiedBy>Jm Aguilos</cp:lastModifiedBy>
  <cp:revision>2</cp:revision>
  <dcterms:created xsi:type="dcterms:W3CDTF">2026-10-10T02:44:15Z</dcterms:created>
  <dcterms:modified xsi:type="dcterms:W3CDTF">2026-10-22T10:54:23Z</dcterms:modified>
</cp:coreProperties>
</file>